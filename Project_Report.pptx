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charts/chart1.xml" ContentType="application/vnd.openxmlformats-officedocument.drawingml.chart+xml"/>
  <Override PartName="/ppt/slideMasters/slideMaster24.xml" ContentType="application/vnd.openxmlformats-officedocument.presentationml.slideMaster+xml"/>
  <Override PartName="/ppt/slides/slide24.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e6eed642-637a-5beb-643e-a49fc20f6a9b}">
          <p14:sldIdLst>
            <p14:sldId id="256"/>
            <p14:sldId id="257"/>
          </p14:sldIdLst>
        </p14:section>
        <p14:section name="Part 01  Mission" id="{670ac974-4343-5169-9dac-f7edd4eceae4}">
          <p14:sldIdLst>
            <p14:sldId id="258"/>
            <p14:sldId id="259"/>
            <p14:sldId id="260"/>
            <p14:sldId id="261"/>
          </p14:sldIdLst>
        </p14:section>
        <p14:section name="Part 02  Solution and Design" id="{f09bcfef-7874-a8b9-0fd8-b619053d5f9c}">
          <p14:sldIdLst>
            <p14:sldId id="262"/>
            <p14:sldId id="263"/>
            <p14:sldId id="264"/>
            <p14:sldId id="265"/>
            <p14:sldId id="266"/>
            <p14:sldId id="267"/>
            <p14:sldId id="268"/>
            <p14:sldId id="269"/>
            <p14:sldId id="270"/>
            <p14:sldId id="271"/>
          </p14:sldIdLst>
        </p14:section>
        <p14:section name="Part 03  The Application" id="{e78782bd-a6f7-c581-0b2d-dde4206b43bd}">
          <p14:sldIdLst>
            <p14:sldId id="272"/>
            <p14:sldId id="273"/>
            <p14:sldId id="274"/>
            <p14:sldId id="275"/>
            <p14:sldId id="276"/>
          </p14:sldIdLst>
        </p14:section>
        <p14:section name="Part 04  Proof and Quality" id="{d2dd227c-bddf-9bb1-a316-eac6cc7c2380}">
          <p14:sldIdLst>
            <p14:sldId id="277"/>
            <p14:sldId id="278"/>
            <p14:sldId id="279"/>
            <p14:sldId id="280"/>
            <p14:sldId id="281"/>
            <p14:sldId id="282"/>
          </p14:sldIdLst>
        </p14:section>
        <p14:section name="Part 05  Landing" id="{17bc8ea1-551d-bc30-c5f4-bff9bca602cb}">
          <p14:sldIdLst>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Tests</c:v>
                </c:pt>
              </c:strCache>
            </c:strRef>
          </c:tx>
          <c:spPr>
            <a:solidFill>
              <a:srgbClr val="4C8DFF"/>
            </a:solidFill>
            <a:effectLst/>
          </c:spPr>
          <c:invertIfNegative val="0"/>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cat>
            <c:multiLvlStrRef>
              <c:f>Sheet1!$A$2:$A$7</c:f>
              <c:multiLvlStrCache>
                <c:ptCount val="6"/>
                <c:lvl>
                  <c:pt idx="0">
                    <c:v>GUI smoke</c:v>
                  </c:pt>
                  <c:pt idx="1">
                    <c:v>Analytics</c:v>
                  </c:pt>
                  <c:pt idx="2">
                    <c:v>Data processing</c:v>
                  </c:pt>
                  <c:pt idx="3">
                    <c:v>Validation</c:v>
                  </c:pt>
                  <c:pt idx="4">
                    <c:v>Regressions</c:v>
                  </c:pt>
                  <c:pt idx="5">
                    <c:v>Database</c:v>
                  </c:pt>
                </c:lvl>
              </c:multiLvlStrCache>
            </c:multiLvlStrRef>
          </c:cat>
          <c:val>
            <c:numRef>
              <c:f>Sheet1!$B$2:$B$7</c:f>
              <c:numCache>
                <c:formatCode>General</c:formatCode>
                <c:ptCount val="6"/>
                <c:pt idx="0">
                  <c:v>15</c:v>
                </c:pt>
                <c:pt idx="1">
                  <c:v>13</c:v>
                </c:pt>
                <c:pt idx="2">
                  <c:v>11</c:v>
                </c:pt>
                <c:pt idx="3">
                  <c:v>9</c:v>
                </c:pt>
                <c:pt idx="4">
                  <c:v>9</c:v>
                </c:pt>
                <c:pt idx="5">
                  <c:v>8</c:v>
                </c:pt>
              </c:numCache>
            </c:numRef>
          </c:val>
        </c:ser>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1F5F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EBB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A"/>
                </a:solidFill>
                <a:latin typeface="+mn-lt"/>
              </a:defRPr>
            </a:pPr>
            <a:r>
              <a:rPr sz="1400" b="0" i="0" u="none" strike="noStrike">
                <a:solidFill>
                  <a:srgbClr val="F1F5FA"/>
                </a:solidFill>
                <a:latin typeface="+mn-lt"/>
              </a:rPr>
              <a:t>Flight conditions</a:t>
            </a:r>
          </a:p>
        </c:rich>
      </c:tx>
      <c:layout/>
      <c:overlay val="0"/>
    </c:title>
    <c:autoTitleDeleted val="0"/>
    <c:plotArea>
      <c:layout/>
      <c:doughnutChart>
        <c:varyColors val="1"/>
        <c:ser>
          <c:idx val="0"/>
          <c:order val="0"/>
          <c:tx>
            <c:strRef>
              <c:f>Sheet1!$B$1</c:f>
              <c:strCache>
                <c:ptCount val="1"/>
                <c:pt idx="0">
                  <c:v>Flights</c:v>
                </c:pt>
              </c:strCache>
            </c:strRef>
          </c:tx>
          <c:spPr>
            <a:solidFill>
              <a:schemeClr val="accent1"/>
            </a:solidFill>
            <a:ln w="9525" cap="flat">
              <a:solidFill>
                <a:srgbClr val="F9F9F9"/>
              </a:solidFill>
              <a:prstDash val="solid"/>
              <a:round/>
            </a:ln>
            <a:effectLst/>
          </c:spPr>
          <c:dPt>
            <c:idx val="0"/>
            <c:bubble3D val="0"/>
            <c:spPr>
              <a:solidFill>
                <a:srgbClr val="34D399"/>
              </a:solidFill>
              <a:effectLst/>
            </c:spPr>
          </c:dPt>
          <c:dPt>
            <c:idx val="1"/>
            <c:bubble3D val="0"/>
            <c:spPr>
              <a:solidFill>
                <a:srgbClr val="F5B544"/>
              </a:solidFill>
              <a:effectLst/>
            </c:spPr>
          </c:dPt>
          <c:dLbls>
            <c:dLbl>
              <c:idx val="0"/>
              <c:numFmt formatCode="General" sourceLinked="0"/>
              <c:spPr/>
              <c:txPr>
                <a:bodyPr/>
                <a:lstStyle/>
                <a:p>
                  <a:pPr>
                    <a:defRPr sz="1200" b="0" i="0" u="none" strike="noStrike">
                      <a:solidFill>
                        <a:srgbClr val="060F24"/>
                      </a:solidFill>
                      <a:latin typeface="+mn-lt"/>
                    </a:defRPr>
                  </a:pPr>
                </a:p>
              </c:txPr>
              <c:showLegendKey val="0"/>
              <c:showVal val="1"/>
              <c:showCatName val="0"/>
              <c:showSerName val="0"/>
              <c:showPercent val="0"/>
              <c:showBubbleSize val="0"/>
            </c:dLbl>
            <c:dLbl>
              <c:idx val="1"/>
              <c:numFmt formatCode="General" sourceLinked="0"/>
              <c:spPr/>
              <c:txPr>
                <a:bodyPr/>
                <a:lstStyle/>
                <a:p>
                  <a:pPr>
                    <a:defRPr sz="1200" b="0" i="0" u="none" strike="noStrike">
                      <a:solidFill>
                        <a:srgbClr val="060F24"/>
                      </a:solidFill>
                      <a:latin typeface="+mn-lt"/>
                    </a:defRPr>
                  </a:pPr>
                </a:p>
              </c:txPr>
              <c:showLegendKey val="0"/>
              <c:showVal val="1"/>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On Time</c:v>
                </c:pt>
                <c:pt idx="1">
                  <c:v>Delayed</c:v>
                </c:pt>
              </c:strCache>
            </c:strRef>
          </c:cat>
          <c:val>
            <c:numRef>
              <c:f>Sheet1!$B$2:$B$3</c:f>
              <c:numCache>
                <c:ptCount val="2"/>
                <c:pt idx="0">
                  <c:v>124</c:v>
                </c:pt>
                <c:pt idx="1">
                  <c:v>9</c:v>
                </c:pt>
              </c:numCache>
            </c:numRef>
          </c:val>
        </c:ser>
        <c:firstSliceAng val="0"/>
        <c:holeSize val="62"/>
      </c:doughnutChart>
      <c:spPr>
        <a:noFill/>
        <a:ln>
          <a:noFill/>
        </a:ln>
        <a:effectLst/>
      </c:spPr>
    </c:plotArea>
    <c:legend>
      <c:legendPos val="b"/>
      <c:overlay val="0"/>
      <c:txPr>
        <a:bodyPr/>
        <a:lstStyle/>
        <a:p>
          <a:pPr>
            <a:defRPr sz="1200">
              <a:solidFill>
                <a:srgbClr val="F1F5FA"/>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A"/>
                </a:solidFill>
                <a:latin typeface="+mn-lt"/>
              </a:defRPr>
            </a:pPr>
            <a:r>
              <a:rPr sz="1400" b="0" i="0" u="none" strike="noStrike">
                <a:solidFill>
                  <a:srgbClr val="F1F5FA"/>
                </a:solidFill>
                <a:latin typeface="+mn-lt"/>
              </a:rPr>
              <a:t>Busiest departure airports</a:t>
            </a:r>
          </a:p>
        </c:rich>
      </c:tx>
      <c:layout/>
      <c:overlay val="0"/>
    </c:title>
    <c:autoTitleDeleted val="0"/>
    <c:plotArea>
      <c:layout/>
      <c:barChart>
        <c:barDir val="bar"/>
        <c:grouping val="clustered"/>
        <c:varyColors val="0"/>
        <c:ser>
          <c:idx val="0"/>
          <c:order val="0"/>
          <c:tx>
            <c:strRef>
              <c:f>Sheet1!$B$1</c:f>
              <c:strCache>
                <c:ptCount val="1"/>
                <c:pt idx="0">
                  <c:v>Departures</c:v>
                </c:pt>
              </c:strCache>
            </c:strRef>
          </c:tx>
          <c:spPr>
            <a:solidFill>
              <a:srgbClr val="2DD4BF"/>
            </a:solidFill>
            <a:effectLst/>
          </c:spPr>
          <c:invertIfNegative val="0"/>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cat>
            <c:multiLvlStrRef>
              <c:f>Sheet1!$A$2:$A$6</c:f>
              <c:multiLvlStrCache>
                <c:ptCount val="5"/>
                <c:lvl>
                  <c:pt idx="0">
                    <c:v>TFU</c:v>
                  </c:pt>
                  <c:pt idx="1">
                    <c:v>BKK</c:v>
                  </c:pt>
                  <c:pt idx="2">
                    <c:v>LHW</c:v>
                  </c:pt>
                  <c:pt idx="3">
                    <c:v>CMB</c:v>
                  </c:pt>
                  <c:pt idx="4">
                    <c:v>DOH</c:v>
                  </c:pt>
                </c:lvl>
              </c:multiLvlStrCache>
            </c:multiLvlStrRef>
          </c:cat>
          <c:val>
            <c:numRef>
              <c:f>Sheet1!$B$2:$B$6</c:f>
              <c:numCache>
                <c:formatCode>General</c:formatCode>
                <c:ptCount val="5"/>
                <c:pt idx="0">
                  <c:v>28</c:v>
                </c:pt>
                <c:pt idx="1">
                  <c:v>14</c:v>
                </c:pt>
                <c:pt idx="2">
                  <c:v>13</c:v>
                </c:pt>
                <c:pt idx="3">
                  <c:v>11</c:v>
                </c:pt>
                <c:pt idx="4">
                  <c:v>11</c:v>
                </c:pt>
              </c:numCache>
            </c:numRef>
          </c:val>
        </c:ser>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1F5F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EBB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F1F5FA"/>
                </a:solidFill>
                <a:latin typeface="+mn-lt"/>
              </a:defRPr>
            </a:pPr>
            <a:r>
              <a:rPr sz="1400" b="0" i="0" u="none" strike="noStrike">
                <a:solidFill>
                  <a:srgbClr val="F1F5FA"/>
                </a:solidFill>
                <a:latin typeface="+mn-lt"/>
              </a:rPr>
              <a:t>Busiest routes</a:t>
            </a:r>
          </a:p>
        </c:rich>
      </c:tx>
      <c:layout/>
      <c:overlay val="0"/>
    </c:title>
    <c:autoTitleDeleted val="0"/>
    <c:plotArea>
      <c:layout/>
      <c:barChart>
        <c:barDir val="bar"/>
        <c:grouping val="clustered"/>
        <c:varyColors val="0"/>
        <c:ser>
          <c:idx val="0"/>
          <c:order val="0"/>
          <c:tx>
            <c:strRef>
              <c:f>Sheet1!$B$1</c:f>
              <c:strCache>
                <c:ptCount val="1"/>
                <c:pt idx="0">
                  <c:v>Flights</c:v>
                </c:pt>
              </c:strCache>
            </c:strRef>
          </c:tx>
          <c:spPr>
            <a:solidFill>
              <a:srgbClr val="F5B544"/>
            </a:solidFill>
            <a:effectLst/>
          </c:spPr>
          <c:invertIfNegative val="0"/>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cat>
            <c:multiLvlStrRef>
              <c:f>Sheet1!$A$2:$A$6</c:f>
              <c:multiLvlStrCache>
                <c:ptCount val="5"/>
                <c:lvl>
                  <c:pt idx="0">
                    <c:v>BKK-SAI</c:v>
                  </c:pt>
                  <c:pt idx="1">
                    <c:v>DOH-CMB</c:v>
                  </c:pt>
                  <c:pt idx="2">
                    <c:v>TSN-LFQ</c:v>
                  </c:pt>
                  <c:pt idx="3">
                    <c:v>NQZ-ALA</c:v>
                  </c:pt>
                  <c:pt idx="4">
                    <c:v>SAI-HAN</c:v>
                  </c:pt>
                </c:lvl>
              </c:multiLvlStrCache>
            </c:multiLvlStrRef>
          </c:cat>
          <c:val>
            <c:numRef>
              <c:f>Sheet1!$B$2:$B$6</c:f>
              <c:numCache>
                <c:formatCode>General</c:formatCode>
                <c:ptCount val="5"/>
                <c:pt idx="0">
                  <c:v>14</c:v>
                </c:pt>
                <c:pt idx="1">
                  <c:v>11</c:v>
                </c:pt>
                <c:pt idx="2">
                  <c:v>8</c:v>
                </c:pt>
                <c:pt idx="3">
                  <c:v>5</c:v>
                </c:pt>
                <c:pt idx="4">
                  <c:v>4</c:v>
                </c:pt>
              </c:numCache>
            </c:numRef>
          </c:val>
        </c:ser>
        <c:dLbls>
          <c:numFmt formatCode="#,##0" sourceLinked="0"/>
          <c:txPr>
            <a:bodyPr/>
            <a:lstStyle/>
            <a:p>
              <a:pPr>
                <a:defRPr b="0" i="0" strike="noStrike" sz="1200" u="none">
                  <a:solidFill>
                    <a:srgbClr val="F1F5FA"/>
                  </a:solidFill>
                  <a:latin typeface="+mn-lt"/>
                </a:defRPr>
              </a:pPr>
            </a:p>
          </c:txPr>
          <c:showLegendKey val="0"/>
          <c:showVal val="0"/>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F1F5FA"/>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AEBBD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1 minute). Let the takeoff animation play: the plane climbs along the dashed route while the title appears letter by letter.
Say: "SkyLens turns raw, nested flight data from a live aviation API into validated, stored and analysed information that anyone can explore in a desktop dashboard or a terminal app."
Presenter controls: slide starts automatically. Press once to continue.
LIKELY VIVA QUESTION: What does the name mean? -&gt; A lens that brings flight and airport data into focus: retrieval, validation, storage, analytics and visualisation in one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(1 minute). Five legs, like a boarding pass: Mission, Solution and Design, The Application, Proof and Quality, and the landing (conclusion and future work).
The small plane at the bottom of every slide shows how far we are along the journey.
Presenter controls: the five cards appear automatically one after another.
VIVA TIP: if the examiner wants to jump ahead, every leg starts with a full-screen section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 GLANCE (1.5 minutes). One sentence: SkyLens retrieves real flight and airport data, validates and cleans it, stores it in SQLite and turns it into analytics, charts and an interactive dashboard.
All six numbers on the right were measured from the delivered project: 2 front-ends, 9 GUI pages, 8 chart builders, 42 stored columns per flight, 65 automated tests, about 5.9 thousand lines of Python including tests.
VIVA QUESTION: Why two front-ends? -&gt; Both sit on the same service, analytics and database code, which proves the core is UI-independent and testable. The terminal app is lightweight; the GUI is for exploration.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(2 minutes). Core message: raw API output is not analysis-ready.
Evidence from the project: each record nests departure, arrival, airline, flight, aircraft and live blocks. In the stored table, 2,056 of 5,586 cells (37%) are empty because many fields are legitimately null.
The four problems: nested noisy responses, strict free-tier quota (about 100 requests a month), no delay causes, and plan restrictions (HTTP only, restricted lookup endpoints).
VIVA QUESTION: Why does the quota matter for design? -&gt; Every call is precious, so every retrieval is archived as raw JSON and persisted in SQLite; the app keeps working on stored data when the quota is gone.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AND SCOPE (2 minutes). Left: five objectives that the project fulfils. Right: what is in scope and, just as important, what is deliberately out of scope.
Click once to reveal the scope boxes after you have explained the objectives.
Out of scope is a strength: the app never claims weather caused a delay unless the source confirms it, and never assumes paid endpoints exist.
VIVA QUESTION: Why derive airports from flights instead of calling an airports endpoint? -&gt; The paid /v1/airports directory is not assumed to be available; the embedded airport blocks in each flight give real data from the same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RAW API VS SKYLENS (2 minutes). Start with the real raw record on the left (trimmed for the slide). Click once: the nested JSON fades out and the same flight appears as one clean, flat database row.
This flight is NZ282, Auckland to Singapore, taken from the project's own archived data. The row is exactly what is stored in SQLite, including the derived route AKL-SIN and the is_delayed flag.
Then walk the four comparison rows: structure, quality, persistence, insight.
VIVA QUESTION: Is the derived route a database column? -&gt; Yes, route, is_delayed and max_delay_min are derived during pandas processing and stored.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SOLUTION AND DESIGN (15 seconds). Let the plane cross behind the title and the clouds. Next: the six-stage pipeline, then the layered architecture, technology stack, data model, API integration and validation.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SOLUTION (2 minutes). Click once per stage so you control the pace: API, validation, processing, storage, analytics, presentation.
Key design idea: validation happens before transformation, and stored data is the single source of truth, so both front-ends always agree.
NEXT SLIDE uses the Morph transition: these same six boxes will move into the layered architecture. Do not skip the animation; it shows that the pipeline and the architecture are the same system seen from two angles.
VIVA QUESTION: Why validate before pandas? -&gt; Rejected records are reported instead of silently fixed, so bad data never reaches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(2.5 minutes). The Morph transition just moved the six pipeline boxes into their architectural layers.
Top to bottom: presentation (terminal app and PySide6 GUI), the shared service layer, the domain layer (validation models, pandas processing, analytics and charts), the data layer (SQLite plus archived raw JSON and processed CSV) and the external systems (AviationStack and Open-Meteo).
config.py and utils.py are cross-cutting: paths, .env settings, logging and error types.
VIVA QUESTIONS: Where does business logic live? -&gt; in src/, never in the GUI. How are GUI and terminal kept consistent? -&gt; both call service.py, database.py and analytics.py.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STACK (1.5 minutes). Nine libraries, each with one clear job. Versions are the minimums from requirements.txt.
Data sources: AviationStack for flights and Open-Meteo (free, no key) for optional weather context.
VIVA QUESTIONS: Why SQLite? -&gt; zero-setup, file-based, ideal for a single-user desktop tool and for persisting a limited API quota. Why Pydantic? -&gt; declarative validation with clear error messages per record. Why PySide6? -&gt; official Qt for Python bindings, native widgets and threads.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WORKFLOW (2.5 minutes). Follow the six steps lighting up in order: fetch, validate, flatten, store, derive airports, read.
Deduplication: the natural key is flight_date + flight_iata + dep_iata + arr_iata. The table is declared UNIQUE on that key with ON CONFLICT REPLACE, so retrieving the same flight again updates it instead of duplicating it.
Proof from the real run log: 100 + 25 + 10 = 135 records fetched over three successful refreshes, 133 unique rows in the database.
VIVA QUESTION: What happens on re-retrieval? -&gt; the row is replaced with the newer data; the refresh_log records every attempt.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FOLDER STRUCTURE (1.5 minutes). Entry points in main_task are thin launchers (gui_main.py is 24 lines). All logic sits in src/. Data is kept in data/raw (untouched API JSON) and data/processed (cleaned CSV). The database lives in database/. Tests are separate and run without network or API key.
Secrets: the real .env is git-ignored; .env.example is the template.
VIVA QUESTION: Why archive raw JSON? -&gt; reproducibility and quota: a retrieved response is never lost and can be reprocessed.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MODULES (2 minutes). Nine building blocks with real line counts from the delivered code: config 158, api_client 221, models 165, data_processor 271, database 403, analytics 289, visualizations 307, service 120, and the GUI package with nine files and about 2,360 lines.
Highlight service.py: one refresh_data() function used by both front-ends: fetch, validate, transform, store, log.
VIVA QUESTION: Where are errors defined? -&gt; utils.py has AppError with APIError, AuthenticationError, RateLimitError, ValidationFailedError and DatabaseError.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DATABASE DESIGN (2.5 minutes). Three SQLite tables. flights has 42 columns grouped as identity, airline, departure, arrival, aircraft and live data, and derived fields. It is UNIQUE on the natural key with ON CONFLICT REPLACE and indexed on status, airline, departure and arrival codes.
airports (76 rows) is derived from the airport blocks inside flights, with departures, arrivals and sightings counts. refresh_log (4 rows) is an audit trail with fetched, valid and stored counts and a status, including failed attempts.
Click through the three tables one by one.
VIVA QUESTION: Why derive airports? -&gt; the free plan does not guarantee an airports endpoint; this keeps the Airports page real and consistent with the flights.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INTEGRATION (2.5 minutes). Left: the single endpoint used, /v1/flights, with optional filters. The key comes from .env and is masked in the GUI.
Middle: how failures are handled: the provider's reason is surfaced (for example HTTP 403), quota and authentication problems map to dedicated error types, restricted endpoints and HTTPS-only restrictions are handled gracefully, and the app keeps working on stored data.
Right: optional Open-Meteo weather context, informational only. The project never attributes a delay to weather unless the flight source confirms it.
Real evidence: the latest refresh in the project log failed with HTTP 403 and the app reported it clearly while keeping the 133 stored flights usable.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VALIDATION AND PROCESSING (2.5 minutes). Left, the Pydantic gate: status must be one of six known values, dates must be ISO, delays cannot be negative, coordinates must be in range, IATA codes are upper-cased, and missing nested blocks are allowed where the API returns null.
Right, the pandas transformation: flatten nested blocks, parse timestamps to UTC, derive route, is_delayed and max_delay_min, drop unidentifiable rows, de-duplicate on the natural key, derive airports.
Evidence: in the real runs all 135 fetched records were valid. Nine unit tests pin the validation behaviour including bad status, bad date, negative delay and invalid latitude.
VIVA QUESTION: What if a record is bad? -&gt; it is rejected and reported with its error, never silently repaired.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THE APPLICATION (15 seconds). Now the visible side: the PySide6 desktop GUI and the terminal app on the same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DESKTOP GUI (2.5 minutes). This is a real screenshot of the running application on the stored dataset, captured headlessly from the delivered code.
Click to reveal four numbered callouts: 1 KPI cards (133 flights, 133 scheduled or active, 9 delayed, 76 airports, 2.5 min average delay); 2 the flight status donut with Save PNG; 3 quick actions; 4 the flight-conditions bar (On Time 124, Delayed 9, Cancelled 0).
Network work runs on background threads so the window never freezes.
NEXT SLIDE uses Morph: this screenshot shrinks into a gallery of the other pages.
VIVA QUESTION: How is the GUI kept responsive? -&gt; workers.py runs tasks on background threads with callbacks on the GUI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 TOUR (2 minutes). Morph just shrank the Overview screenshot into this gallery. Walk the four analytical pages: Flight Analytics (status, top airlines, routes, hours), Airport Analytics (busiest departure and arrival airports), Flight Explorer (search, status and delay filters, sortable table) and Delay Analysis (distribution, mean delay and flights with reported delays).
All nine pages: Overview, Flight Analytics, Airport Analytics, Flight Explorer, Delay Analysis, Weather Insights, Data Management, Settings, About.
VIVA QUESTION: Does search work on the whole dataset? -&gt; yes, it filters the stored dataset by text, status, route and delayed-only, with match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FRONT-ENDS (2 minutes). Left: the terminal application's real main menu with 11 actions: overview, retrieve data with filters, view flights and airports, search and filter, statistics, exploratory analysis, visualisations saved as PNG, database information, export and configuration status.
Right: the GUI's Data Management page, with filtered retrieval, local database status and CSV or JSON export. The file path shown is the project-relative database location.
Both use service.py, database.py, analytics.py and visualizations.py; only the presentation differs.
VIVA QUESTION: Why keep a terminal app? -&gt; scripting, headless servers and a minimal interface; it also demonstrates that the core is UI-independent.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FLIGHT CONDITIONS (2.5 minutes). The status bar at the bottom of the GUI is computed from stored rows with this rule ladder, first match wins: Cancelled, Delayed N min, Weather Alert (only when confirmed), Incident or Diverted, On Time, Landed, Status Unknown.
Weather categories are unused on the free plan because the API gives no delay causes. This is deliberate honesty, not a missing feature.
Real numbers on the right come from the stored dataset: 124 On Time, 9 Delayed, 0 Cancelled; 66 of 133 flights carry delay data; 6.8% delayed; average delay 2.5 minutes with a median of 0; worst delay 65 minutes.
VIVA QUESTION: How do you avoid looping over rows? -&gt; condition_counts() is vectorised in pandas and a test pins it against the row-level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PROOF AND QUALITY (15 seconds). Now evidence: the test suite, the real stored results, the pipeline run history, the challenges solved and the honest limitations.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(2.5 minutes). 65 automated pytest tests, all passing; I ran the suite while preparing this deck and it finished in about 6 seconds.
Distribution: GUI smoke 15, analytics 13, data processing 11, validation 9, regressions 9, database 8.
Method: a bundled AviationStack-shaped fixture, so no network or API key is needed; the GUI is driven headlessly with the Qt offscreen platform (page loading, empty states, threading, sorting, refresh workflow, shutdown); regression tests pin bugs that were fixed: .env files with a UTF-8 BOM, API error bodies, and connection handling.
VIVA QUESTION: How do you test the GUI without a screen? -&gt; QT_QPA_PLATFORM=offscreen runs real widgets headlessly.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(3 minutes). Every figure comes from the project's own SQLite database and analytics functions; nothing is estimated.
Dataset: 133 flights, 76 airports, 81 airlines, 75 distinct routes, flight dates 2026-10-09 to 2026-10-10, 9 delayed flights (6.8%).
Charts: flight conditions 124 on time and 9 delayed; busiest departure airports Chengdu Tianfu 28, Bangkok Suvarnabhumi 14, Lanzhou 13, Colombo 11, Doha 11; busiest routes Bangkok to Siem Reap 14, Doha to Colombo 11, Tianjin to Lijiang 8.
Be careful in the viva: this is a snapshot of about two days from the free tier, so describe it as a demonstration of the analytics, not as a statistical study of global aviation.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PIPELINE RUNS (2 minutes). This table is the real refresh_log from the delivered database.
Runs 1 to 3 succeeded: 100, 25 and 10 records fetched, all valid, all stored. Together that is 135 attempted inserts, but only 133 unique flights are in the database, because the natural-key upsert replaced repeats.
Run 4 on 2026-10-11 failed with HTTP 403 and fetched nothing. The app logged it, reported the provider's reason and kept serving the 133 stored flights. That is the resilience design working on real data.
VIVA QUESTION: Why did run 4 fail? -&gt; the API returned HTTP 403, typically a free-plan or key restriction; the log message records it and the app did not crash.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CHALLENGES AND SOLUTIONS (2.5 minutes). Six real engineering problems, each with the implemented answer: limited quota, provider errors, a .env BOM bug, UI responsiveness, duplicate flights, and HTTP-only access on the free plan.
Three are covered by tests: the BOM, API error bodies and the duplicate upsert.
VIVA QUESTION: What was the hardest bug? -&gt; A .env saved with a UTF-8 BOM made the API key look missing; config now reads with utf-8-sig and a regression test pins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LIMITATIONS (2 minutes). Being explicit about limits is a strength in a viva.
1 The stored data is a snapshot of two flight dates, not history. 2 The free tier allows about 100 requests a month. 3 The API gives no delay causes, so weather labels stay unused. 4 Only 66 of 133 flights carry delay values. 5 None of the 133 stored flights has a live position, so the live map is empty. 6 Weather Insights shows Not configured until a location is set in Settings.
VIVA QUESTION: Does this invalidate your results? -&gt; No; the analytics are correct for the data held. The limits define what conclusions can responsibly be drawn.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(1.5 minutes). Restate the objectives and tick each one: retrieval, validation, persistence, analytics, two front-ends. Close with the evidence: 65 of 65 tests pass, 133 flights, 76 airports, no duplicate rows.
Key message: SkyLens turns raw flight JSON into trustworthy, explorable insight, and it is honest about what the data cannot say.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FUTURE ENHANCEMENTS (1.5 minutes). These are proposals, not implemented features. Say so clearly.
Next: scheduled refresh within the quota so history accumulates. Then: trend analysis of delay patterns by airline, airport and hour across days. Later: a simple delay-prediction model, once enough history exists; richer lookup endpoints on a paid plan; a live map when positions are available; and an installer for non-technical users.
VIVA QUESTION: Why not predict delays now? -&gt; two days of data and no delay causes cannot support a defensible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Let the plane land while you thank the audience, then invite questions.
PREPARED VIVA ANSWERS: Why SQLite? Why Pydantic? How is deduplication done? How are API failures handled? How is the GUI tested? Why are weather labels unused? What are the limitations? What would you build next? Each is answered in the speaker notes of slides 6, 9, 11, 14, 15, 16, 23, 25, 26, 27 and 29.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_NIGHT-image-1.jpe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DIVIDER_A-image-1.jpe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DIVIDER_B-image-1.jpe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DIVIDER_C-image-1.jpe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CONTENT-image-1.jpe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NIGH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_B">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_C">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58368"/>
            <a:ext cx="1106424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373368"/>
            <a:ext cx="2743200" cy="274320"/>
          </a:xfrm>
          <a:prstGeom prst="rect">
            <a:avLst/>
          </a:prstGeom>
          <a:noFill/>
          <a:ln/>
        </p:spPr>
        <p:txBody>
          <a:bodyPr wrap="square" lIns="0" tIns="0" rIns="0" bIns="0" rtlCol="0" anchor="ctr"/>
          <a:lstStyle/>
          <a:p>
            <a:pPr indent="0" marL="0">
              <a:buNone/>
            </a:pPr>
            <a:r>
              <a:rPr lang="en-US" sz="1000" spc="100" kern="0" dirty="0">
                <a:solidFill>
                  <a:schemeClr val="bg2"/>
                </a:solidFill>
              </a:rPr>
              <a:t>SKYLENS  ·  FLIGHT ANALYTICS</a:t>
            </a:r>
            <a:endParaRPr lang="en-US" sz="1000" dirty="0"/>
          </a:p>
        </p:txBody>
      </p:sp>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6.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6.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6.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6.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6.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6.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slideLayout" Target="../slideLayouts/slideLayout6.xml"/><Relationship Id="rId1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6.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6.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6.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6.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6.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4.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6.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6.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6.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6.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5.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3-1.png"/><Relationship Id="rId3" Type="http://schemas.openxmlformats.org/officeDocument/2006/relationships/image" Target="../media/image-23-2.png"/><Relationship Id="rId4" Type="http://schemas.openxmlformats.org/officeDocument/2006/relationships/image" Target="../media/image-23-3.png"/><Relationship Id="rId5" Type="http://schemas.openxmlformats.org/officeDocument/2006/relationships/image" Target="../media/image-23-4.png"/><Relationship Id="rId6" Type="http://schemas.openxmlformats.org/officeDocument/2006/relationships/image" Target="../media/image-23-5.png"/><Relationship Id="rId7" Type="http://schemas.openxmlformats.org/officeDocument/2006/relationships/slideLayout" Target="../slideLayouts/slideLayout6.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image" Target="../media/image-24-1.png"/><Relationship Id="rId5" Type="http://schemas.openxmlformats.org/officeDocument/2006/relationships/slideLayout" Target="../slideLayouts/slideLayout6.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6.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6.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image" Target="../media/image-27-7.png"/><Relationship Id="rId8" Type="http://schemas.openxmlformats.org/officeDocument/2006/relationships/slideLayout" Target="../slideLayouts/slideLayout6.xml"/><Relationship Id="rId9"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image" Target="../media/image-28-5.png"/><Relationship Id="rId6" Type="http://schemas.openxmlformats.org/officeDocument/2006/relationships/image" Target="../media/image-28-6.png"/><Relationship Id="rId7" Type="http://schemas.openxmlformats.org/officeDocument/2006/relationships/slideLayout" Target="../slideLayouts/slideLayout6.xml"/><Relationship Id="rId8"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6.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image" Target="../media/image-30-3.png"/><Relationship Id="rId4" Type="http://schemas.openxmlformats.org/officeDocument/2006/relationships/image" Target="../media/image-30-4.png"/><Relationship Id="rId5" Type="http://schemas.openxmlformats.org/officeDocument/2006/relationships/slideLayout" Target="../slideLayouts/slideLayout2.xml"/><Relationship Id="rId6"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cloud1" descr="Cloud">    </p:cNvPr>
          <p:cNvPicPr>
            <a:picLocks noChangeAspect="1"/>
          </p:cNvPicPr>
          <p:nvPr/>
        </p:nvPicPr>
        <p:blipFill>
          <a:blip r:embed="rId1"/>
          <a:stretch>
            <a:fillRect/>
          </a:stretch>
        </p:blipFill>
        <p:spPr>
          <a:xfrm>
            <a:off x="-1280160" y="5074920"/>
            <a:ext cx="6035040" cy="2534717"/>
          </a:xfrm>
          <a:prstGeom prst="rect">
            <a:avLst/>
          </a:prstGeom>
        </p:spPr>
      </p:pic>
      <p:pic>
        <p:nvPicPr>
          <p:cNvPr id="4" name="cloud2" descr="Cloud">    </p:cNvPr>
          <p:cNvPicPr>
            <a:picLocks noChangeAspect="1"/>
          </p:cNvPicPr>
          <p:nvPr/>
        </p:nvPicPr>
        <p:blipFill>
          <a:blip r:embed="rId2"/>
          <a:stretch>
            <a:fillRect/>
          </a:stretch>
        </p:blipFill>
        <p:spPr>
          <a:xfrm>
            <a:off x="7589520" y="5486400"/>
            <a:ext cx="6217920" cy="2611526"/>
          </a:xfrm>
          <a:prstGeom prst="rect">
            <a:avLst/>
          </a:prstGeom>
        </p:spPr>
      </p:pic>
      <p:pic>
        <p:nvPicPr>
          <p:cNvPr id="5" name="trail3" descr="Dashed flight route">    </p:cNvPr>
          <p:cNvPicPr>
            <a:picLocks noChangeAspect="1"/>
          </p:cNvPicPr>
          <p:nvPr/>
        </p:nvPicPr>
        <p:blipFill>
          <a:blip r:embed="rId3"/>
          <a:stretch>
            <a:fillRect/>
          </a:stretch>
        </p:blipFill>
        <p:spPr>
          <a:xfrm>
            <a:off x="365760" y="1234440"/>
            <a:ext cx="11064240" cy="5075985"/>
          </a:xfrm>
          <a:prstGeom prst="rect">
            <a:avLst/>
          </a:prstGeom>
        </p:spPr>
      </p:pic>
      <p:pic>
        <p:nvPicPr>
          <p:cNvPr id="6" name="!!plane" descr="Airplane">    </p:cNvPr>
          <p:cNvPicPr>
            <a:picLocks noChangeAspect="1"/>
          </p:cNvPicPr>
          <p:nvPr/>
        </p:nvPicPr>
        <p:blipFill>
          <a:blip r:embed="rId4"/>
          <a:stretch>
            <a:fillRect/>
          </a:stretch>
        </p:blipFill>
        <p:spPr>
          <a:xfrm rot="39064">
            <a:off x="-160020" y="5496437"/>
            <a:ext cx="1417320" cy="1260086"/>
          </a:xfrm>
          <a:prstGeom prst="rect">
            <a:avLst/>
          </a:prstGeom>
        </p:spPr>
      </p:pic>
      <p:sp>
        <p:nvSpPr>
          <p:cNvPr id="7" name="kicker"/>
          <p:cNvSpPr txBox="1"/>
          <p:nvPr/>
        </p:nvSpPr>
        <p:spPr>
          <a:xfrm>
            <a:off x="868680" y="1051560"/>
            <a:ext cx="7315200" cy="320040"/>
          </a:xfrm>
          <a:prstGeom prst="rect">
            <a:avLst/>
          </a:prstGeom>
          <a:noFill/>
          <a:ln/>
        </p:spPr>
        <p:txBody>
          <a:bodyPr wrap="square" lIns="0" tIns="0" rIns="0" bIns="0" rtlCol="0" anchor="t"/>
          <a:lstStyle/>
          <a:p>
            <a:pPr algn="l" indent="0" marL="0">
              <a:buNone/>
            </a:pPr>
            <a:r>
              <a:rPr lang="en-US" sz="1500" b="1" spc="500" kern="0" dirty="0">
                <a:solidFill>
                  <a:schemeClr val="accent2"/>
                </a:solidFill>
              </a:rPr>
              <a:t>FLIGHT AND AIRPORT ANALYTICS</a:t>
            </a:r>
            <a:endParaRPr lang="en-US" sz="1500" dirty="0"/>
          </a:p>
        </p:txBody>
      </p:sp>
      <p:sp>
        <p:nvSpPr>
          <p:cNvPr id="8" name="hero"/>
          <p:cNvSpPr txBox="1"/>
          <p:nvPr/>
        </p:nvSpPr>
        <p:spPr>
          <a:xfrm>
            <a:off x="822960" y="1371600"/>
            <a:ext cx="8229600" cy="1737360"/>
          </a:xfrm>
          <a:prstGeom prst="rect">
            <a:avLst/>
          </a:prstGeom>
          <a:noFill/>
          <a:ln/>
        </p:spPr>
        <p:txBody>
          <a:bodyPr wrap="square" lIns="0" tIns="0" rIns="0" bIns="0" rtlCol="0" anchor="ctr"/>
          <a:lstStyle/>
          <a:p>
            <a:pPr algn="l" indent="0" marL="0">
              <a:buNone/>
            </a:pPr>
            <a:r>
              <a:rPr lang="en-US" sz="10400" b="1" dirty="0">
                <a:solidFill>
                  <a:schemeClr val="bg1"/>
                </a:solidFill>
                <a:latin typeface="+mj-lt" pitchFamily="34" charset="0"/>
                <a:ea typeface="+mj-lt" pitchFamily="34" charset="-122"/>
                <a:cs typeface="+mj-lt" pitchFamily="34" charset="-120"/>
              </a:rPr>
              <a:t>SkyLens</a:t>
            </a:r>
            <a:endParaRPr lang="en-US" sz="10400" dirty="0"/>
          </a:p>
        </p:txBody>
      </p:sp>
      <p:sp>
        <p:nvSpPr>
          <p:cNvPr id="9" name="sub"/>
          <p:cNvSpPr txBox="1"/>
          <p:nvPr/>
        </p:nvSpPr>
        <p:spPr>
          <a:xfrm>
            <a:off x="868680" y="3154680"/>
            <a:ext cx="6766560" cy="914400"/>
          </a:xfrm>
          <a:prstGeom prst="rect">
            <a:avLst/>
          </a:prstGeom>
          <a:noFill/>
          <a:ln/>
        </p:spPr>
        <p:txBody>
          <a:bodyPr wrap="square" lIns="0" tIns="0" rIns="0" bIns="0" rtlCol="0" anchor="t"/>
          <a:lstStyle/>
          <a:p>
            <a:pPr algn="l" indent="0" marL="0">
              <a:buNone/>
            </a:pPr>
            <a:r>
              <a:rPr lang="en-US" sz="2600" dirty="0">
                <a:solidFill>
                  <a:schemeClr val="bg1"/>
                </a:solidFill>
              </a:rPr>
              <a:t>From live AviationStack data to a desktop analytics cockpit</a:t>
            </a:r>
            <a:endParaRPr lang="en-US" sz="2600" dirty="0"/>
          </a:p>
        </p:txBody>
      </p:sp>
      <p:sp>
        <p:nvSpPr>
          <p:cNvPr id="10" name="tech"/>
          <p:cNvSpPr txBox="1"/>
          <p:nvPr/>
        </p:nvSpPr>
        <p:spPr>
          <a:xfrm>
            <a:off x="868680" y="4114800"/>
            <a:ext cx="7315200" cy="365760"/>
          </a:xfrm>
          <a:prstGeom prst="rect">
            <a:avLst/>
          </a:prstGeom>
          <a:noFill/>
          <a:ln/>
        </p:spPr>
        <p:txBody>
          <a:bodyPr wrap="square" lIns="0" tIns="0" rIns="0" bIns="0" rtlCol="0" anchor="t"/>
          <a:lstStyle/>
          <a:p>
            <a:pPr algn="l" indent="0" marL="0">
              <a:buNone/>
            </a:pPr>
            <a:r>
              <a:rPr lang="en-US" sz="1600" dirty="0">
                <a:solidFill>
                  <a:schemeClr val="accent3"/>
                </a:solidFill>
              </a:rPr>
              <a:t>Python  ·  PySide6  ·  pandas  ·  Pydantic  ·  SQLite</a:t>
            </a:r>
            <a:endParaRPr lang="en-US" sz="16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nodeType="withEffect">
                                  <p:stCondLst>
                                    <p:cond delay="0"/>
                                  </p:stCondLst>
                                  <p:childTnLst>
                                    <p:animMotion origin="layout" path="M 0 0 L 0.09 0 E" pathEditMode="relative" rAng="0" ptsTypes="AA">
                                      <p:cBhvr>
                                        <p:cTn id="5" dur="16000" fill="hold"/>
                                        <p:tgtEl>
                                          <p:spTgt spid="3"/>
                                        </p:tgtEl>
                                        <p:attrNameLst>
                                          <p:attrName>ppt_x</p:attrName>
                                          <p:attrName>ppt_y</p:attrName>
                                        </p:attrNameLst>
                                      </p:cBhvr>
                                      <p:rCtr x="0.045" y="0"/>
                                    </p:animMotion>
                                  </p:childTnLst>
                                </p:cTn>
                              </p:par>
                              <p:par>
                                <p:cTn id="8" presetID="0" presetClass="path" presetSubtype="0" fill="hold" nodeType="withEffect">
                                  <p:stCondLst>
                                    <p:cond delay="0"/>
                                  </p:stCondLst>
                                  <p:childTnLst>
                                    <p:animMotion origin="layout" path="M 0 0 L -0.075 0 E" pathEditMode="relative" rAng="0" ptsTypes="AA">
                                      <p:cBhvr>
                                        <p:cTn id="7" dur="18000" fill="hold"/>
                                        <p:tgtEl>
                                          <p:spTgt spid="4"/>
                                        </p:tgtEl>
                                        <p:attrNameLst>
                                          <p:attrName>ppt_x</p:attrName>
                                          <p:attrName>ppt_y</p:attrName>
                                        </p:attrNameLst>
                                      </p:cBhvr>
                                      <p:rCtr x="-0.0375" y="0"/>
                                    </p:animMotion>
                                  </p:childTnLst>
                                </p:cTn>
                              </p:par>
                              <p:par>
                                <p:cTn id="9" presetID="22" presetClass="entr" presetSubtype="8" fill="hold" accel="40000" decel="25000" nodeType="withEffect">
                                  <p:stCondLst>
                                    <p:cond delay="1020"/>
                                  </p:stCondLst>
                                  <p:childTnLst>
                                    <p:set>
                                      <p:cBhvr>
                                        <p:cTn id="10" dur="1" fill="hold">
                                          <p:stCondLst>
                                            <p:cond delay="0"/>
                                          </p:stCondLst>
                                        </p:cTn>
                                        <p:tgtEl>
                                          <p:spTgt spid="5"/>
                                        </p:tgtEl>
                                        <p:attrNameLst>
                                          <p:attrName>style.visibility</p:attrName>
                                        </p:attrNameLst>
                                      </p:cBhvr>
                                      <p:to>
                                        <p:strVal val="visible"/>
                                      </p:to>
                                    </p:set>
                                    <p:animEffect transition="in" filter="wipe(left)">
                                      <p:cBhvr>
                                        <p:cTn id="11" dur="5600"/>
                                        <p:tgtEl>
                                          <p:spTgt spid="5"/>
                                        </p:tgtEl>
                                      </p:cBhvr>
                                    </p:animEffect>
                                  </p:childTnLst>
                                </p:cTn>
                              </p:par>
                              <p:par>
                                <p:cTn id="13" presetID="0" presetClass="path" presetSubtype="0" fill="hold" accel="40000" decel="25000" nodeType="withEffect">
                                  <p:stCondLst>
                                    <p:cond delay="900"/>
                                  </p:stCondLst>
                                  <p:childTnLst>
                                    <p:animMotion origin="layout" path="M 0 0 C 0.33001 0.00667 0.60752 -0.2 0.87752 -0.68667 E" pathEditMode="relative" rAng="0" ptsTypes="AAAA">
                                      <p:cBhvr>
                                        <p:cTn id="12" dur="5500" fill="hold"/>
                                        <p:tgtEl>
                                          <p:spTgt spid="6"/>
                                        </p:tgtEl>
                                        <p:attrNameLst>
                                          <p:attrName>ppt_x</p:attrName>
                                          <p:attrName>ppt_y</p:attrName>
                                        </p:attrNameLst>
                                      </p:cBhvr>
                                      <p:rCtr x="0.43876" y="-0.34333"/>
                                    </p:animMotion>
                                  </p:childTnLst>
                                </p:cTn>
                              </p:par>
                              <p:par>
                                <p:cTn id="15" presetID="8" presetClass="emph" presetSubtype="0" fill="hold" nodeType="withEffect">
                                  <p:stCondLst>
                                    <p:cond delay="900"/>
                                  </p:stCondLst>
                                  <p:childTnLst>
                                    <p:animRot by="-445800">
                                      <p:cBhvr>
                                        <p:cTn id="14" dur="917" fill="hold"/>
                                        <p:tgtEl>
                                          <p:spTgt spid="6"/>
                                        </p:tgtEl>
                                        <p:attrNameLst>
                                          <p:attrName>r</p:attrName>
                                        </p:attrNameLst>
                                      </p:cBhvr>
                                    </p:animRot>
                                  </p:childTnLst>
                                </p:cTn>
                              </p:par>
                              <p:par>
                                <p:cTn id="17" presetID="8" presetClass="emph" presetSubtype="0" fill="hold" nodeType="withEffect">
                                  <p:stCondLst>
                                    <p:cond delay="1817"/>
                                  </p:stCondLst>
                                  <p:childTnLst>
                                    <p:animRot by="-493800">
                                      <p:cBhvr>
                                        <p:cTn id="16" dur="917" fill="hold"/>
                                        <p:tgtEl>
                                          <p:spTgt spid="6"/>
                                        </p:tgtEl>
                                        <p:attrNameLst>
                                          <p:attrName>r</p:attrName>
                                        </p:attrNameLst>
                                      </p:cBhvr>
                                    </p:animRot>
                                  </p:childTnLst>
                                </p:cTn>
                              </p:par>
                              <p:par>
                                <p:cTn id="19" presetID="8" presetClass="emph" presetSubtype="0" fill="hold" nodeType="withEffect">
                                  <p:stCondLst>
                                    <p:cond delay="2733"/>
                                  </p:stCondLst>
                                  <p:childTnLst>
                                    <p:animRot by="-510600">
                                      <p:cBhvr>
                                        <p:cTn id="18" dur="917" fill="hold"/>
                                        <p:tgtEl>
                                          <p:spTgt spid="6"/>
                                        </p:tgtEl>
                                        <p:attrNameLst>
                                          <p:attrName>r</p:attrName>
                                        </p:attrNameLst>
                                      </p:cBhvr>
                                    </p:animRot>
                                  </p:childTnLst>
                                </p:cTn>
                              </p:par>
                              <p:par>
                                <p:cTn id="21" presetID="8" presetClass="emph" presetSubtype="0" fill="hold" nodeType="withEffect">
                                  <p:stCondLst>
                                    <p:cond delay="3650"/>
                                  </p:stCondLst>
                                  <p:childTnLst>
                                    <p:animRot by="-491400">
                                      <p:cBhvr>
                                        <p:cTn id="20" dur="917" fill="hold"/>
                                        <p:tgtEl>
                                          <p:spTgt spid="6"/>
                                        </p:tgtEl>
                                        <p:attrNameLst>
                                          <p:attrName>r</p:attrName>
                                        </p:attrNameLst>
                                      </p:cBhvr>
                                    </p:animRot>
                                  </p:childTnLst>
                                </p:cTn>
                              </p:par>
                              <p:par>
                                <p:cTn id="23" presetID="8" presetClass="emph" presetSubtype="0" fill="hold" nodeType="withEffect">
                                  <p:stCondLst>
                                    <p:cond delay="4567"/>
                                  </p:stCondLst>
                                  <p:childTnLst>
                                    <p:animRot by="-442800">
                                      <p:cBhvr>
                                        <p:cTn id="22" dur="917" fill="hold"/>
                                        <p:tgtEl>
                                          <p:spTgt spid="6"/>
                                        </p:tgtEl>
                                        <p:attrNameLst>
                                          <p:attrName>r</p:attrName>
                                        </p:attrNameLst>
                                      </p:cBhvr>
                                    </p:animRot>
                                  </p:childTnLst>
                                </p:cTn>
                              </p:par>
                              <p:par>
                                <p:cTn id="25" presetID="8" presetClass="emph" presetSubtype="0" fill="hold" nodeType="withEffect">
                                  <p:stCondLst>
                                    <p:cond delay="5483"/>
                                  </p:stCondLst>
                                  <p:childTnLst>
                                    <p:animRot by="-379200">
                                      <p:cBhvr>
                                        <p:cTn id="24" dur="917" fill="hold"/>
                                        <p:tgtEl>
                                          <p:spTgt spid="6"/>
                                        </p:tgtEl>
                                        <p:attrNameLst>
                                          <p:attrName>r</p:attrName>
                                        </p:attrNameLst>
                                      </p:cBhvr>
                                    </p:animRot>
                                  </p:childTnLst>
                                </p:cTn>
                              </p:par>
                              <p:par>
                                <p:cTn id="27" presetID="6" presetClass="emph" presetSubtype="0" fill="hold" accel="40000" decel="25000" nodeType="withEffect">
                                  <p:stCondLst>
                                    <p:cond delay="900"/>
                                  </p:stCondLst>
                                  <p:childTnLst>
                                    <p:animScale>
                                      <p:cBhvr>
                                        <p:cTn id="26" dur="5500" fill="hold"/>
                                        <p:tgtEl>
                                          <p:spTgt spid="6"/>
                                        </p:tgtEl>
                                      </p:cBhvr>
                                      <p:by x="130000" y="130000"/>
                                    </p:animScale>
                                  </p:childTnLst>
                                </p:cTn>
                              </p:par>
                              <p:par>
                                <p:cTn id="28" presetID="10" presetClass="entr" presetSubtype="0" fill="hold" grpId="0" nodeType="withEffect">
                                  <p:stCondLst>
                                    <p:cond delay="20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800"/>
                                        <p:tgtEl>
                                          <p:spTgt spid="7"/>
                                        </p:tgtEl>
                                      </p:cBhvr>
                                    </p:animEffect>
                                  </p:childTnLst>
                                </p:cTn>
                              </p:par>
                              <p:par>
                                <p:cTn id="31" presetID="42" presetClass="entr" presetSubtype="0" fill="hold" grpId="0" nodeType="withEffect">
                                  <p:stCondLst>
                                    <p:cond delay="500"/>
                                  </p:stCondLst>
                                  <p:iterate type="lt">
                                    <p:tmPct val="10000"/>
                                  </p:iterate>
                                  <p:childTnLst>
                                    <p:set>
                                      <p:cBhvr>
                                        <p:cTn id="32" dur="1" fill="hold">
                                          <p:stCondLst>
                                            <p:cond delay="0"/>
                                          </p:stCondLst>
                                        </p:cTn>
                                        <p:tgtEl>
                                          <p:spTgt spid="8">
                                            <p:txEl>
                                              <p:pRg st="0" end="0"/>
                                            </p:txEl>
                                          </p:spTgt>
                                        </p:tgtEl>
                                        <p:attrNameLst>
                                          <p:attrName>style.visibility</p:attrName>
                                        </p:attrNameLst>
                                      </p:cBhvr>
                                      <p:to>
                                        <p:strVal val="visible"/>
                                      </p:to>
                                    </p:set>
                                    <p:anim calcmode="lin" valueType="num">
                                      <p:cBhvr additive="base">
                                        <p:cTn id="33" dur="800" fill="hold"/>
                                        <p:tgtEl>
                                          <p:spTgt spid="8">
                                            <p:txEl>
                                              <p:pRg st="0" end="0"/>
                                            </p:txEl>
                                          </p:spTgt>
                                        </p:tgtEl>
                                        <p:attrNameLst>
                                          <p:attrName>ppt_y</p:attrName>
                                        </p:attrNameLst>
                                      </p:cBhvr>
                                      <p:tavLst>
                                        <p:tav tm="0">
                                          <p:val>
                                            <p:strVal val="#ppt_y+.1"/>
                                          </p:val>
                                        </p:tav>
                                        <p:tav tm="100000">
                                          <p:val>
                                            <p:strVal val="#ppt_y"/>
                                          </p:val>
                                        </p:tav>
                                      </p:tavLst>
                                    </p:anim>
                                    <p:animEffect transition="in" filter="fade">
                                      <p:cBhvr>
                                        <p:cTn id="34" dur="800"/>
                                        <p:tgtEl>
                                          <p:spTgt spid="8">
                                            <p:txEl>
                                              <p:pRg st="0" end="0"/>
                                            </p:txEl>
                                          </p:spTgt>
                                        </p:tgtEl>
                                      </p:cBhvr>
                                    </p:animEffect>
                                  </p:childTnLst>
                                </p:cTn>
                              </p:par>
                              <p:par>
                                <p:cTn id="35" presetID="22" presetClass="entr" presetSubtype="8" fill="hold" grpId="0" nodeType="withEffect">
                                  <p:stCondLst>
                                    <p:cond delay="150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1000"/>
                                        <p:tgtEl>
                                          <p:spTgt spid="9"/>
                                        </p:tgtEl>
                                      </p:cBhvr>
                                    </p:animEffect>
                                  </p:childTnLst>
                                </p:cTn>
                              </p:par>
                              <p:par>
                                <p:cTn id="38" presetID="10" presetClass="entr" presetSubtype="0" fill="hold" grpId="0" nodeType="withEffect">
                                  <p:stCondLst>
                                    <p:cond delay="2400"/>
                                  </p:stCondLst>
                                  <p:childTnLst>
                                    <p:set>
                                      <p:cBhvr>
                                        <p:cTn id="39" dur="1" fill="hold">
                                          <p:stCondLst>
                                            <p:cond delay="0"/>
                                          </p:stCondLst>
                                        </p:cTn>
                                        <p:tgtEl>
                                          <p:spTgt spid="10"/>
                                        </p:tgtEl>
                                        <p:attrNameLst>
                                          <p:attrName>style.visibility</p:attrName>
                                        </p:attrNameLst>
                                      </p:cBhvr>
                                      <p:to>
                                        <p:strVal val="visible"/>
                                      </p:to>
                                    </p:set>
                                    <p:animEffect transition="in" filter="fade">
                                      <p:cBhvr>
                                        <p:cTn id="40" dur="8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build="p"/>
      <p:bldP spid="9" grpId="0" animBg="1"/>
      <p:bldP spid="1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AGENDA</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Flight plan for today</a:t>
            </a:r>
            <a:endParaRPr lang="en-US" sz="3600" dirty="0"/>
          </a:p>
        </p:txBody>
      </p:sp>
      <p:sp>
        <p:nvSpPr>
          <p:cNvPr id="5" name="ag0card"/>
          <p:cNvSpPr/>
          <p:nvPr/>
        </p:nvSpPr>
        <p:spPr>
          <a:xfrm>
            <a:off x="54864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6" name="ag0num"/>
          <p:cNvSpPr txBox="1"/>
          <p:nvPr/>
        </p:nvSpPr>
        <p:spPr>
          <a:xfrm>
            <a:off x="777240" y="1965960"/>
            <a:ext cx="1097280" cy="731520"/>
          </a:xfrm>
          <a:prstGeom prst="rect">
            <a:avLst/>
          </a:prstGeom>
          <a:noFill/>
          <a:ln/>
        </p:spPr>
        <p:txBody>
          <a:bodyPr wrap="square" lIns="0" tIns="0" rIns="0" bIns="0" rtlCol="0" anchor="t"/>
          <a:lstStyle/>
          <a:p>
            <a:pPr algn="l" indent="0" marL="0">
              <a:buNone/>
            </a:pPr>
            <a:r>
              <a:rPr lang="en-US" sz="4000" b="1" dirty="0">
                <a:solidFill>
                  <a:schemeClr val="accent3"/>
                </a:solidFill>
                <a:latin typeface="+mj-lt" pitchFamily="34" charset="0"/>
                <a:ea typeface="+mj-lt" pitchFamily="34" charset="-122"/>
                <a:cs typeface="+mj-lt" pitchFamily="34" charset="-120"/>
              </a:rPr>
              <a:t>01</a:t>
            </a:r>
            <a:endParaRPr lang="en-US" sz="4000" dirty="0"/>
          </a:p>
        </p:txBody>
      </p:sp>
      <p:sp>
        <p:nvSpPr>
          <p:cNvPr id="7" name="ag0b_c"/>
          <p:cNvSpPr/>
          <p:nvPr/>
        </p:nvSpPr>
        <p:spPr>
          <a:xfrm>
            <a:off x="1783080" y="2011680"/>
            <a:ext cx="640080" cy="640080"/>
          </a:xfrm>
          <a:prstGeom prst="ellipse">
            <a:avLst/>
          </a:prstGeom>
          <a:solidFill>
            <a:schemeClr val="accent3">
              <a:alpha val="28000"/>
            </a:schemeClr>
          </a:solidFill>
          <a:ln/>
        </p:spPr>
      </p:sp>
      <p:pic>
        <p:nvPicPr>
          <p:cNvPr id="8" name="ag0b_i" descr="LuTarget">    </p:cNvPr>
          <p:cNvPicPr>
            <a:picLocks noChangeAspect="1"/>
          </p:cNvPicPr>
          <p:nvPr/>
        </p:nvPicPr>
        <p:blipFill>
          <a:blip r:embed="rId1"/>
          <a:stretch>
            <a:fillRect/>
          </a:stretch>
        </p:blipFill>
        <p:spPr>
          <a:xfrm>
            <a:off x="1943100" y="2171700"/>
            <a:ext cx="320040" cy="320040"/>
          </a:xfrm>
          <a:prstGeom prst="rect">
            <a:avLst/>
          </a:prstGeom>
        </p:spPr>
      </p:pic>
      <p:sp>
        <p:nvSpPr>
          <p:cNvPr id="9" name="ag0ttl"/>
          <p:cNvSpPr txBox="1"/>
          <p:nvPr/>
        </p:nvSpPr>
        <p:spPr>
          <a:xfrm>
            <a:off x="77724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Mission</a:t>
            </a:r>
            <a:endParaRPr lang="en-US" sz="2100" dirty="0"/>
          </a:p>
        </p:txBody>
      </p:sp>
      <p:sp>
        <p:nvSpPr>
          <p:cNvPr id="10" name="ag0desc"/>
          <p:cNvSpPr txBox="1"/>
          <p:nvPr/>
        </p:nvSpPr>
        <p:spPr>
          <a:xfrm>
            <a:off x="77724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Why SkyLens exists: the problem, objectives and scope</a:t>
            </a:r>
            <a:endParaRPr lang="en-US" sz="1400" dirty="0"/>
          </a:p>
        </p:txBody>
      </p:sp>
      <p:sp>
        <p:nvSpPr>
          <p:cNvPr id="11" name="ag0perf"/>
          <p:cNvSpPr/>
          <p:nvPr/>
        </p:nvSpPr>
        <p:spPr>
          <a:xfrm>
            <a:off x="731520" y="5212080"/>
            <a:ext cx="1737360" cy="0"/>
          </a:xfrm>
          <a:prstGeom prst="line">
            <a:avLst/>
          </a:prstGeom>
          <a:noFill/>
          <a:ln w="12700">
            <a:solidFill>
              <a:schemeClr val="bg2">
                <a:alpha val="50000"/>
              </a:schemeClr>
            </a:solidFill>
            <a:prstDash val="dash"/>
          </a:ln>
        </p:spPr>
      </p:sp>
      <p:sp>
        <p:nvSpPr>
          <p:cNvPr id="12" name="ag0rng"/>
          <p:cNvSpPr txBox="1"/>
          <p:nvPr/>
        </p:nvSpPr>
        <p:spPr>
          <a:xfrm>
            <a:off x="777240" y="5349240"/>
            <a:ext cx="1645920" cy="365760"/>
          </a:xfrm>
          <a:prstGeom prst="rect">
            <a:avLst/>
          </a:prstGeom>
          <a:noFill/>
          <a:ln/>
        </p:spPr>
        <p:txBody>
          <a:bodyPr wrap="square" lIns="0" tIns="0" rIns="0" bIns="0" rtlCol="0" anchor="t"/>
          <a:lstStyle/>
          <a:p>
            <a:pPr algn="l" indent="0" marL="0">
              <a:buNone/>
            </a:pPr>
            <a:r>
              <a:rPr lang="en-US" sz="1300" b="1" dirty="0">
                <a:solidFill>
                  <a:schemeClr val="accent3"/>
                </a:solidFill>
              </a:rPr>
              <a:t>Slides 3–6</a:t>
            </a:r>
            <a:endParaRPr lang="en-US" sz="1300" dirty="0"/>
          </a:p>
        </p:txBody>
      </p:sp>
      <p:sp>
        <p:nvSpPr>
          <p:cNvPr id="13" name="ag1card"/>
          <p:cNvSpPr/>
          <p:nvPr/>
        </p:nvSpPr>
        <p:spPr>
          <a:xfrm>
            <a:off x="278892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14" name="ag1num"/>
          <p:cNvSpPr txBox="1"/>
          <p:nvPr/>
        </p:nvSpPr>
        <p:spPr>
          <a:xfrm>
            <a:off x="3017520" y="1965960"/>
            <a:ext cx="1097280" cy="731520"/>
          </a:xfrm>
          <a:prstGeom prst="rect">
            <a:avLst/>
          </a:prstGeom>
          <a:noFill/>
          <a:ln/>
        </p:spPr>
        <p:txBody>
          <a:bodyPr wrap="square" lIns="0" tIns="0" rIns="0" bIns="0" rtlCol="0" anchor="t"/>
          <a:lstStyle/>
          <a:p>
            <a:pPr algn="l" indent="0" marL="0">
              <a:buNone/>
            </a:pPr>
            <a:r>
              <a:rPr lang="en-US" sz="4000" b="1" dirty="0">
                <a:solidFill>
                  <a:schemeClr val="accent1"/>
                </a:solidFill>
                <a:latin typeface="+mj-lt" pitchFamily="34" charset="0"/>
                <a:ea typeface="+mj-lt" pitchFamily="34" charset="-122"/>
                <a:cs typeface="+mj-lt" pitchFamily="34" charset="-120"/>
              </a:rPr>
              <a:t>02</a:t>
            </a:r>
            <a:endParaRPr lang="en-US" sz="4000" dirty="0"/>
          </a:p>
        </p:txBody>
      </p:sp>
      <p:sp>
        <p:nvSpPr>
          <p:cNvPr id="15" name="ag1b_c"/>
          <p:cNvSpPr/>
          <p:nvPr/>
        </p:nvSpPr>
        <p:spPr>
          <a:xfrm>
            <a:off x="4023360" y="2011680"/>
            <a:ext cx="640080" cy="640080"/>
          </a:xfrm>
          <a:prstGeom prst="ellipse">
            <a:avLst/>
          </a:prstGeom>
          <a:solidFill>
            <a:schemeClr val="accent1">
              <a:alpha val="28000"/>
            </a:schemeClr>
          </a:solidFill>
          <a:ln/>
        </p:spPr>
      </p:sp>
      <p:pic>
        <p:nvPicPr>
          <p:cNvPr id="16" name="ag1b_i" descr="LuLayers">    </p:cNvPr>
          <p:cNvPicPr>
            <a:picLocks noChangeAspect="1"/>
          </p:cNvPicPr>
          <p:nvPr/>
        </p:nvPicPr>
        <p:blipFill>
          <a:blip r:embed="rId2"/>
          <a:stretch>
            <a:fillRect/>
          </a:stretch>
        </p:blipFill>
        <p:spPr>
          <a:xfrm>
            <a:off x="4183380" y="2171700"/>
            <a:ext cx="320040" cy="320040"/>
          </a:xfrm>
          <a:prstGeom prst="rect">
            <a:avLst/>
          </a:prstGeom>
        </p:spPr>
      </p:pic>
      <p:sp>
        <p:nvSpPr>
          <p:cNvPr id="17" name="ag1ttl"/>
          <p:cNvSpPr txBox="1"/>
          <p:nvPr/>
        </p:nvSpPr>
        <p:spPr>
          <a:xfrm>
            <a:off x="301752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Solution and design</a:t>
            </a:r>
            <a:endParaRPr lang="en-US" sz="2100" dirty="0"/>
          </a:p>
        </p:txBody>
      </p:sp>
      <p:sp>
        <p:nvSpPr>
          <p:cNvPr id="18" name="ag1desc"/>
          <p:cNvSpPr txBox="1"/>
          <p:nvPr/>
        </p:nvSpPr>
        <p:spPr>
          <a:xfrm>
            <a:off x="301752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Pipeline, architecture, data model, API and validation</a:t>
            </a:r>
            <a:endParaRPr lang="en-US" sz="1400" dirty="0"/>
          </a:p>
        </p:txBody>
      </p:sp>
      <p:sp>
        <p:nvSpPr>
          <p:cNvPr id="19" name="ag1perf"/>
          <p:cNvSpPr/>
          <p:nvPr/>
        </p:nvSpPr>
        <p:spPr>
          <a:xfrm>
            <a:off x="2971800" y="5212080"/>
            <a:ext cx="1737360" cy="0"/>
          </a:xfrm>
          <a:prstGeom prst="line">
            <a:avLst/>
          </a:prstGeom>
          <a:noFill/>
          <a:ln w="12700">
            <a:solidFill>
              <a:schemeClr val="bg2">
                <a:alpha val="50000"/>
              </a:schemeClr>
            </a:solidFill>
            <a:prstDash val="dash"/>
          </a:ln>
        </p:spPr>
      </p:sp>
      <p:sp>
        <p:nvSpPr>
          <p:cNvPr id="20" name="ag1rng"/>
          <p:cNvSpPr txBox="1"/>
          <p:nvPr/>
        </p:nvSpPr>
        <p:spPr>
          <a:xfrm>
            <a:off x="3017520" y="5349240"/>
            <a:ext cx="1645920" cy="365760"/>
          </a:xfrm>
          <a:prstGeom prst="rect">
            <a:avLst/>
          </a:prstGeom>
          <a:noFill/>
          <a:ln/>
        </p:spPr>
        <p:txBody>
          <a:bodyPr wrap="square" lIns="0" tIns="0" rIns="0" bIns="0" rtlCol="0" anchor="t"/>
          <a:lstStyle/>
          <a:p>
            <a:pPr algn="l" indent="0" marL="0">
              <a:buNone/>
            </a:pPr>
            <a:r>
              <a:rPr lang="en-US" sz="1300" b="1" dirty="0">
                <a:solidFill>
                  <a:schemeClr val="accent1"/>
                </a:solidFill>
              </a:rPr>
              <a:t>Slides 7–16</a:t>
            </a:r>
            <a:endParaRPr lang="en-US" sz="1300" dirty="0"/>
          </a:p>
        </p:txBody>
      </p:sp>
      <p:sp>
        <p:nvSpPr>
          <p:cNvPr id="21" name="ag2card"/>
          <p:cNvSpPr/>
          <p:nvPr/>
        </p:nvSpPr>
        <p:spPr>
          <a:xfrm>
            <a:off x="502920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22" name="ag2num"/>
          <p:cNvSpPr txBox="1"/>
          <p:nvPr/>
        </p:nvSpPr>
        <p:spPr>
          <a:xfrm>
            <a:off x="5257800" y="1965960"/>
            <a:ext cx="1097280" cy="731520"/>
          </a:xfrm>
          <a:prstGeom prst="rect">
            <a:avLst/>
          </a:prstGeom>
          <a:noFill/>
          <a:ln/>
        </p:spPr>
        <p:txBody>
          <a:bodyPr wrap="square" lIns="0" tIns="0" rIns="0" bIns="0" rtlCol="0" anchor="t"/>
          <a:lstStyle/>
          <a:p>
            <a:pPr algn="l" indent="0" marL="0">
              <a:buNone/>
            </a:pPr>
            <a:r>
              <a:rPr lang="en-US" sz="4000" b="1" dirty="0">
                <a:solidFill>
                  <a:schemeClr val="accent2"/>
                </a:solidFill>
                <a:latin typeface="+mj-lt" pitchFamily="34" charset="0"/>
                <a:ea typeface="+mj-lt" pitchFamily="34" charset="-122"/>
                <a:cs typeface="+mj-lt" pitchFamily="34" charset="-120"/>
              </a:rPr>
              <a:t>03</a:t>
            </a:r>
            <a:endParaRPr lang="en-US" sz="4000" dirty="0"/>
          </a:p>
        </p:txBody>
      </p:sp>
      <p:sp>
        <p:nvSpPr>
          <p:cNvPr id="23" name="ag2b_c"/>
          <p:cNvSpPr/>
          <p:nvPr/>
        </p:nvSpPr>
        <p:spPr>
          <a:xfrm>
            <a:off x="6263640" y="2011680"/>
            <a:ext cx="640080" cy="640080"/>
          </a:xfrm>
          <a:prstGeom prst="ellipse">
            <a:avLst/>
          </a:prstGeom>
          <a:solidFill>
            <a:schemeClr val="accent2">
              <a:alpha val="28000"/>
            </a:schemeClr>
          </a:solidFill>
          <a:ln/>
        </p:spPr>
      </p:sp>
      <p:pic>
        <p:nvPicPr>
          <p:cNvPr id="24" name="ag2b_i" descr="LuMonitor">    </p:cNvPr>
          <p:cNvPicPr>
            <a:picLocks noChangeAspect="1"/>
          </p:cNvPicPr>
          <p:nvPr/>
        </p:nvPicPr>
        <p:blipFill>
          <a:blip r:embed="rId3"/>
          <a:stretch>
            <a:fillRect/>
          </a:stretch>
        </p:blipFill>
        <p:spPr>
          <a:xfrm>
            <a:off x="6423660" y="2171700"/>
            <a:ext cx="320040" cy="320040"/>
          </a:xfrm>
          <a:prstGeom prst="rect">
            <a:avLst/>
          </a:prstGeom>
        </p:spPr>
      </p:pic>
      <p:sp>
        <p:nvSpPr>
          <p:cNvPr id="25" name="ag2ttl"/>
          <p:cNvSpPr txBox="1"/>
          <p:nvPr/>
        </p:nvSpPr>
        <p:spPr>
          <a:xfrm>
            <a:off x="525780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The application</a:t>
            </a:r>
            <a:endParaRPr lang="en-US" sz="2100" dirty="0"/>
          </a:p>
        </p:txBody>
      </p:sp>
      <p:sp>
        <p:nvSpPr>
          <p:cNvPr id="26" name="ag2desc"/>
          <p:cNvSpPr txBox="1"/>
          <p:nvPr/>
        </p:nvSpPr>
        <p:spPr>
          <a:xfrm>
            <a:off x="525780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Desktop GUI, terminal app and flight conditions</a:t>
            </a:r>
            <a:endParaRPr lang="en-US" sz="1400" dirty="0"/>
          </a:p>
        </p:txBody>
      </p:sp>
      <p:sp>
        <p:nvSpPr>
          <p:cNvPr id="27" name="ag2perf"/>
          <p:cNvSpPr/>
          <p:nvPr/>
        </p:nvSpPr>
        <p:spPr>
          <a:xfrm>
            <a:off x="5212080" y="5212080"/>
            <a:ext cx="1737360" cy="0"/>
          </a:xfrm>
          <a:prstGeom prst="line">
            <a:avLst/>
          </a:prstGeom>
          <a:noFill/>
          <a:ln w="12700">
            <a:solidFill>
              <a:schemeClr val="bg2">
                <a:alpha val="50000"/>
              </a:schemeClr>
            </a:solidFill>
            <a:prstDash val="dash"/>
          </a:ln>
        </p:spPr>
      </p:sp>
      <p:sp>
        <p:nvSpPr>
          <p:cNvPr id="28" name="ag2rng"/>
          <p:cNvSpPr txBox="1"/>
          <p:nvPr/>
        </p:nvSpPr>
        <p:spPr>
          <a:xfrm>
            <a:off x="5257800" y="5349240"/>
            <a:ext cx="1645920" cy="365760"/>
          </a:xfrm>
          <a:prstGeom prst="rect">
            <a:avLst/>
          </a:prstGeom>
          <a:noFill/>
          <a:ln/>
        </p:spPr>
        <p:txBody>
          <a:bodyPr wrap="square" lIns="0" tIns="0" rIns="0" bIns="0" rtlCol="0" anchor="t"/>
          <a:lstStyle/>
          <a:p>
            <a:pPr algn="l" indent="0" marL="0">
              <a:buNone/>
            </a:pPr>
            <a:r>
              <a:rPr lang="en-US" sz="1300" b="1" dirty="0">
                <a:solidFill>
                  <a:schemeClr val="accent2"/>
                </a:solidFill>
              </a:rPr>
              <a:t>Slides 17–21</a:t>
            </a:r>
            <a:endParaRPr lang="en-US" sz="1300" dirty="0"/>
          </a:p>
        </p:txBody>
      </p:sp>
      <p:sp>
        <p:nvSpPr>
          <p:cNvPr id="29" name="ag3card"/>
          <p:cNvSpPr/>
          <p:nvPr/>
        </p:nvSpPr>
        <p:spPr>
          <a:xfrm>
            <a:off x="726948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30" name="ag3num"/>
          <p:cNvSpPr txBox="1"/>
          <p:nvPr/>
        </p:nvSpPr>
        <p:spPr>
          <a:xfrm>
            <a:off x="7498080" y="1965960"/>
            <a:ext cx="1097280" cy="731520"/>
          </a:xfrm>
          <a:prstGeom prst="rect">
            <a:avLst/>
          </a:prstGeom>
          <a:noFill/>
          <a:ln/>
        </p:spPr>
        <p:txBody>
          <a:bodyPr wrap="square" lIns="0" tIns="0" rIns="0" bIns="0" rtlCol="0" anchor="t"/>
          <a:lstStyle/>
          <a:p>
            <a:pPr algn="l" indent="0" marL="0">
              <a:buNone/>
            </a:pPr>
            <a:r>
              <a:rPr lang="en-US" sz="4000" b="1" dirty="0">
                <a:solidFill>
                  <a:schemeClr val="accent6"/>
                </a:solidFill>
                <a:latin typeface="+mj-lt" pitchFamily="34" charset="0"/>
                <a:ea typeface="+mj-lt" pitchFamily="34" charset="-122"/>
                <a:cs typeface="+mj-lt" pitchFamily="34" charset="-120"/>
              </a:rPr>
              <a:t>04</a:t>
            </a:r>
            <a:endParaRPr lang="en-US" sz="4000" dirty="0"/>
          </a:p>
        </p:txBody>
      </p:sp>
      <p:sp>
        <p:nvSpPr>
          <p:cNvPr id="31" name="ag3b_c"/>
          <p:cNvSpPr/>
          <p:nvPr/>
        </p:nvSpPr>
        <p:spPr>
          <a:xfrm>
            <a:off x="8503920" y="2011680"/>
            <a:ext cx="640080" cy="640080"/>
          </a:xfrm>
          <a:prstGeom prst="ellipse">
            <a:avLst/>
          </a:prstGeom>
          <a:solidFill>
            <a:schemeClr val="accent6">
              <a:alpha val="28000"/>
            </a:schemeClr>
          </a:solidFill>
          <a:ln/>
        </p:spPr>
      </p:sp>
      <p:pic>
        <p:nvPicPr>
          <p:cNvPr id="32" name="ag3b_i" descr="LuShieldCheck">    </p:cNvPr>
          <p:cNvPicPr>
            <a:picLocks noChangeAspect="1"/>
          </p:cNvPicPr>
          <p:nvPr/>
        </p:nvPicPr>
        <p:blipFill>
          <a:blip r:embed="rId4"/>
          <a:stretch>
            <a:fillRect/>
          </a:stretch>
        </p:blipFill>
        <p:spPr>
          <a:xfrm>
            <a:off x="8663940" y="2171700"/>
            <a:ext cx="320040" cy="320040"/>
          </a:xfrm>
          <a:prstGeom prst="rect">
            <a:avLst/>
          </a:prstGeom>
        </p:spPr>
      </p:pic>
      <p:sp>
        <p:nvSpPr>
          <p:cNvPr id="33" name="ag3ttl"/>
          <p:cNvSpPr txBox="1"/>
          <p:nvPr/>
        </p:nvSpPr>
        <p:spPr>
          <a:xfrm>
            <a:off x="749808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Proof and quality</a:t>
            </a:r>
            <a:endParaRPr lang="en-US" sz="2100" dirty="0"/>
          </a:p>
        </p:txBody>
      </p:sp>
      <p:sp>
        <p:nvSpPr>
          <p:cNvPr id="34" name="ag3desc"/>
          <p:cNvSpPr txBox="1"/>
          <p:nvPr/>
        </p:nvSpPr>
        <p:spPr>
          <a:xfrm>
            <a:off x="749808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Testing, verified results, challenges, limitations</a:t>
            </a:r>
            <a:endParaRPr lang="en-US" sz="1400" dirty="0"/>
          </a:p>
        </p:txBody>
      </p:sp>
      <p:sp>
        <p:nvSpPr>
          <p:cNvPr id="35" name="ag3perf"/>
          <p:cNvSpPr/>
          <p:nvPr/>
        </p:nvSpPr>
        <p:spPr>
          <a:xfrm>
            <a:off x="7452360" y="5212080"/>
            <a:ext cx="1737360" cy="0"/>
          </a:xfrm>
          <a:prstGeom prst="line">
            <a:avLst/>
          </a:prstGeom>
          <a:noFill/>
          <a:ln w="12700">
            <a:solidFill>
              <a:schemeClr val="bg2">
                <a:alpha val="50000"/>
              </a:schemeClr>
            </a:solidFill>
            <a:prstDash val="dash"/>
          </a:ln>
        </p:spPr>
      </p:sp>
      <p:sp>
        <p:nvSpPr>
          <p:cNvPr id="36" name="ag3rng"/>
          <p:cNvSpPr txBox="1"/>
          <p:nvPr/>
        </p:nvSpPr>
        <p:spPr>
          <a:xfrm>
            <a:off x="7498080" y="5349240"/>
            <a:ext cx="1645920" cy="365760"/>
          </a:xfrm>
          <a:prstGeom prst="rect">
            <a:avLst/>
          </a:prstGeom>
          <a:noFill/>
          <a:ln/>
        </p:spPr>
        <p:txBody>
          <a:bodyPr wrap="square" lIns="0" tIns="0" rIns="0" bIns="0" rtlCol="0" anchor="t"/>
          <a:lstStyle/>
          <a:p>
            <a:pPr algn="l" indent="0" marL="0">
              <a:buNone/>
            </a:pPr>
            <a:r>
              <a:rPr lang="en-US" sz="1300" b="1" dirty="0">
                <a:solidFill>
                  <a:schemeClr val="accent6"/>
                </a:solidFill>
              </a:rPr>
              <a:t>Slides 22–27</a:t>
            </a:r>
            <a:endParaRPr lang="en-US" sz="1300" dirty="0"/>
          </a:p>
        </p:txBody>
      </p:sp>
      <p:sp>
        <p:nvSpPr>
          <p:cNvPr id="37" name="ag4card"/>
          <p:cNvSpPr/>
          <p:nvPr/>
        </p:nvSpPr>
        <p:spPr>
          <a:xfrm>
            <a:off x="9509760" y="1783080"/>
            <a:ext cx="2103120" cy="4114800"/>
          </a:xfrm>
          <a:prstGeom prst="roundRect">
            <a:avLst>
              <a:gd name="adj" fmla="val 5217"/>
            </a:avLst>
          </a:prstGeom>
          <a:solidFill>
            <a:schemeClr val="bg1">
              <a:alpha val="9000"/>
            </a:schemeClr>
          </a:solidFill>
          <a:ln w="9525">
            <a:solidFill>
              <a:schemeClr val="bg1">
                <a:alpha val="22000"/>
              </a:schemeClr>
            </a:solidFill>
            <a:prstDash val="solid"/>
          </a:ln>
        </p:spPr>
      </p:sp>
      <p:sp>
        <p:nvSpPr>
          <p:cNvPr id="38" name="ag4num"/>
          <p:cNvSpPr txBox="1"/>
          <p:nvPr/>
        </p:nvSpPr>
        <p:spPr>
          <a:xfrm>
            <a:off x="9738360" y="1965960"/>
            <a:ext cx="1097280" cy="731520"/>
          </a:xfrm>
          <a:prstGeom prst="rect">
            <a:avLst/>
          </a:prstGeom>
          <a:noFill/>
          <a:ln/>
        </p:spPr>
        <p:txBody>
          <a:bodyPr wrap="square" lIns="0" tIns="0" rIns="0" bIns="0" rtlCol="0" anchor="t"/>
          <a:lstStyle/>
          <a:p>
            <a:pPr algn="l" indent="0" marL="0">
              <a:buNone/>
            </a:pPr>
            <a:r>
              <a:rPr lang="en-US" sz="4000" b="1" dirty="0">
                <a:solidFill>
                  <a:schemeClr val="accent4"/>
                </a:solidFill>
                <a:latin typeface="+mj-lt" pitchFamily="34" charset="0"/>
                <a:ea typeface="+mj-lt" pitchFamily="34" charset="-122"/>
                <a:cs typeface="+mj-lt" pitchFamily="34" charset="-120"/>
              </a:rPr>
              <a:t>05</a:t>
            </a:r>
            <a:endParaRPr lang="en-US" sz="4000" dirty="0"/>
          </a:p>
        </p:txBody>
      </p:sp>
      <p:sp>
        <p:nvSpPr>
          <p:cNvPr id="39" name="ag4b_c"/>
          <p:cNvSpPr/>
          <p:nvPr/>
        </p:nvSpPr>
        <p:spPr>
          <a:xfrm>
            <a:off x="10744200" y="2011680"/>
            <a:ext cx="640080" cy="640080"/>
          </a:xfrm>
          <a:prstGeom prst="ellipse">
            <a:avLst/>
          </a:prstGeom>
          <a:solidFill>
            <a:schemeClr val="accent4">
              <a:alpha val="28000"/>
            </a:schemeClr>
          </a:solidFill>
          <a:ln/>
        </p:spPr>
      </p:sp>
      <p:pic>
        <p:nvPicPr>
          <p:cNvPr id="40" name="ag4b_i" descr="LuFlag">    </p:cNvPr>
          <p:cNvPicPr>
            <a:picLocks noChangeAspect="1"/>
          </p:cNvPicPr>
          <p:nvPr/>
        </p:nvPicPr>
        <p:blipFill>
          <a:blip r:embed="rId5"/>
          <a:stretch>
            <a:fillRect/>
          </a:stretch>
        </p:blipFill>
        <p:spPr>
          <a:xfrm>
            <a:off x="10904220" y="2171700"/>
            <a:ext cx="320040" cy="320040"/>
          </a:xfrm>
          <a:prstGeom prst="rect">
            <a:avLst/>
          </a:prstGeom>
        </p:spPr>
      </p:pic>
      <p:sp>
        <p:nvSpPr>
          <p:cNvPr id="41" name="ag4ttl"/>
          <p:cNvSpPr txBox="1"/>
          <p:nvPr/>
        </p:nvSpPr>
        <p:spPr>
          <a:xfrm>
            <a:off x="9738360" y="2926080"/>
            <a:ext cx="1645920" cy="822960"/>
          </a:xfrm>
          <a:prstGeom prst="rect">
            <a:avLst/>
          </a:prstGeom>
          <a:noFill/>
          <a:ln/>
        </p:spPr>
        <p:txBody>
          <a:bodyPr wrap="square" lIns="0" tIns="0" rIns="0" bIns="0" rtlCol="0" anchor="t"/>
          <a:lstStyle/>
          <a:p>
            <a:pPr algn="l" indent="0" marL="0">
              <a:buNone/>
            </a:pPr>
            <a:r>
              <a:rPr lang="en-US" sz="2100" b="1" dirty="0">
                <a:solidFill>
                  <a:schemeClr val="bg1"/>
                </a:solidFill>
              </a:rPr>
              <a:t>Landing</a:t>
            </a:r>
            <a:endParaRPr lang="en-US" sz="2100" dirty="0"/>
          </a:p>
        </p:txBody>
      </p:sp>
      <p:sp>
        <p:nvSpPr>
          <p:cNvPr id="42" name="ag4desc"/>
          <p:cNvSpPr txBox="1"/>
          <p:nvPr/>
        </p:nvSpPr>
        <p:spPr>
          <a:xfrm>
            <a:off x="9738360" y="3794760"/>
            <a:ext cx="1645920" cy="1371600"/>
          </a:xfrm>
          <a:prstGeom prst="rect">
            <a:avLst/>
          </a:prstGeom>
          <a:noFill/>
          <a:ln/>
        </p:spPr>
        <p:txBody>
          <a:bodyPr wrap="square" lIns="0" tIns="0" rIns="0" bIns="0" rtlCol="0" anchor="t"/>
          <a:lstStyle/>
          <a:p>
            <a:pPr algn="l" indent="0" marL="0">
              <a:buNone/>
            </a:pPr>
            <a:r>
              <a:rPr lang="en-US" sz="1400" dirty="0">
                <a:solidFill>
                  <a:schemeClr val="bg2"/>
                </a:solidFill>
              </a:rPr>
              <a:t>Conclusion, future enhancements and questions</a:t>
            </a:r>
            <a:endParaRPr lang="en-US" sz="1400" dirty="0"/>
          </a:p>
        </p:txBody>
      </p:sp>
      <p:sp>
        <p:nvSpPr>
          <p:cNvPr id="43" name="ag4perf"/>
          <p:cNvSpPr/>
          <p:nvPr/>
        </p:nvSpPr>
        <p:spPr>
          <a:xfrm>
            <a:off x="9692640" y="5212080"/>
            <a:ext cx="1737360" cy="0"/>
          </a:xfrm>
          <a:prstGeom prst="line">
            <a:avLst/>
          </a:prstGeom>
          <a:noFill/>
          <a:ln w="12700">
            <a:solidFill>
              <a:schemeClr val="bg2">
                <a:alpha val="50000"/>
              </a:schemeClr>
            </a:solidFill>
            <a:prstDash val="dash"/>
          </a:ln>
        </p:spPr>
      </p:sp>
      <p:sp>
        <p:nvSpPr>
          <p:cNvPr id="44" name="ag4rng"/>
          <p:cNvSpPr txBox="1"/>
          <p:nvPr/>
        </p:nvSpPr>
        <p:spPr>
          <a:xfrm>
            <a:off x="9738360" y="5349240"/>
            <a:ext cx="1645920" cy="365760"/>
          </a:xfrm>
          <a:prstGeom prst="rect">
            <a:avLst/>
          </a:prstGeom>
          <a:noFill/>
          <a:ln/>
        </p:spPr>
        <p:txBody>
          <a:bodyPr wrap="square" lIns="0" tIns="0" rIns="0" bIns="0" rtlCol="0" anchor="t"/>
          <a:lstStyle/>
          <a:p>
            <a:pPr algn="l" indent="0" marL="0">
              <a:buNone/>
            </a:pPr>
            <a:r>
              <a:rPr lang="en-US" sz="1300" b="1" dirty="0">
                <a:solidFill>
                  <a:schemeClr val="accent4"/>
                </a:solidFill>
              </a:rPr>
              <a:t>Slides 28–30</a:t>
            </a:r>
            <a:endParaRPr lang="en-US" sz="1300" dirty="0"/>
          </a:p>
        </p:txBody>
      </p:sp>
      <p:sp>
        <p:nvSpPr>
          <p:cNvPr id="45" name="track"/>
          <p:cNvSpPr/>
          <p:nvPr/>
        </p:nvSpPr>
        <p:spPr>
          <a:xfrm>
            <a:off x="3383280" y="6510528"/>
            <a:ext cx="7132320" cy="0"/>
          </a:xfrm>
          <a:prstGeom prst="line">
            <a:avLst/>
          </a:prstGeom>
          <a:noFill/>
          <a:ln w="12700">
            <a:solidFill>
              <a:schemeClr val="bg2">
                <a:alpha val="45000"/>
              </a:schemeClr>
            </a:solidFill>
            <a:prstDash val="dash"/>
          </a:ln>
        </p:spPr>
      </p:sp>
      <p:sp>
        <p:nvSpPr>
          <p:cNvPr id="46" name="wp0"/>
          <p:cNvSpPr/>
          <p:nvPr/>
        </p:nvSpPr>
        <p:spPr>
          <a:xfrm>
            <a:off x="3834016" y="6469380"/>
            <a:ext cx="82296" cy="82296"/>
          </a:xfrm>
          <a:prstGeom prst="ellipse">
            <a:avLst/>
          </a:prstGeom>
          <a:solidFill>
            <a:schemeClr val="bg2">
              <a:alpha val="60000"/>
            </a:schemeClr>
          </a:solidFill>
          <a:ln/>
        </p:spPr>
      </p:sp>
      <p:sp>
        <p:nvSpPr>
          <p:cNvPr id="47" name="wp1"/>
          <p:cNvSpPr/>
          <p:nvPr/>
        </p:nvSpPr>
        <p:spPr>
          <a:xfrm>
            <a:off x="4817784" y="6469380"/>
            <a:ext cx="82296" cy="82296"/>
          </a:xfrm>
          <a:prstGeom prst="ellipse">
            <a:avLst/>
          </a:prstGeom>
          <a:solidFill>
            <a:schemeClr val="bg2">
              <a:alpha val="60000"/>
            </a:schemeClr>
          </a:solidFill>
          <a:ln/>
        </p:spPr>
      </p:sp>
      <p:sp>
        <p:nvSpPr>
          <p:cNvPr id="48" name="wp2"/>
          <p:cNvSpPr/>
          <p:nvPr/>
        </p:nvSpPr>
        <p:spPr>
          <a:xfrm>
            <a:off x="7277205" y="6469380"/>
            <a:ext cx="82296" cy="82296"/>
          </a:xfrm>
          <a:prstGeom prst="ellipse">
            <a:avLst/>
          </a:prstGeom>
          <a:solidFill>
            <a:schemeClr val="bg2">
              <a:alpha val="60000"/>
            </a:schemeClr>
          </a:solidFill>
          <a:ln/>
        </p:spPr>
      </p:sp>
      <p:sp>
        <p:nvSpPr>
          <p:cNvPr id="49" name="wp3"/>
          <p:cNvSpPr/>
          <p:nvPr/>
        </p:nvSpPr>
        <p:spPr>
          <a:xfrm>
            <a:off x="8506915" y="6469380"/>
            <a:ext cx="82296" cy="82296"/>
          </a:xfrm>
          <a:prstGeom prst="ellipse">
            <a:avLst/>
          </a:prstGeom>
          <a:solidFill>
            <a:schemeClr val="bg2">
              <a:alpha val="60000"/>
            </a:schemeClr>
          </a:solidFill>
          <a:ln/>
        </p:spPr>
      </p:sp>
      <p:sp>
        <p:nvSpPr>
          <p:cNvPr id="50" name="wp4"/>
          <p:cNvSpPr/>
          <p:nvPr/>
        </p:nvSpPr>
        <p:spPr>
          <a:xfrm>
            <a:off x="9982568" y="6469380"/>
            <a:ext cx="82296" cy="82296"/>
          </a:xfrm>
          <a:prstGeom prst="ellipse">
            <a:avLst/>
          </a:prstGeom>
          <a:solidFill>
            <a:schemeClr val="bg2">
              <a:alpha val="60000"/>
            </a:schemeClr>
          </a:solidFill>
          <a:ln/>
        </p:spPr>
      </p:sp>
      <p:sp>
        <p:nvSpPr>
          <p:cNvPr id="51" name="progress_ext"/>
          <p:cNvSpPr/>
          <p:nvPr/>
        </p:nvSpPr>
        <p:spPr>
          <a:xfrm>
            <a:off x="3383280" y="6510528"/>
            <a:ext cx="245942" cy="0"/>
          </a:xfrm>
          <a:prstGeom prst="line">
            <a:avLst/>
          </a:prstGeom>
          <a:noFill/>
          <a:ln w="28575">
            <a:solidFill>
              <a:schemeClr val="accent2"/>
            </a:solidFill>
            <a:prstDash val="solid"/>
          </a:ln>
        </p:spPr>
      </p:sp>
      <p:pic>
        <p:nvPicPr>
          <p:cNvPr id="52" name="!!tracker" descr="Progress marker">    </p:cNvPr>
          <p:cNvPicPr>
            <a:picLocks noChangeAspect="1"/>
          </p:cNvPicPr>
          <p:nvPr/>
        </p:nvPicPr>
        <p:blipFill>
          <a:blip r:embed="rId6"/>
          <a:stretch>
            <a:fillRect/>
          </a:stretch>
        </p:blipFill>
        <p:spPr>
          <a:xfrm>
            <a:off x="3200400"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3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ppt_y</p:attrName>
                                        </p:attrNameLst>
                                      </p:cBhvr>
                                      <p:tavLst>
                                        <p:tav tm="0">
                                          <p:val>
                                            <p:strVal val="#ppt_y+.1"/>
                                          </p:val>
                                        </p:tav>
                                        <p:tav tm="100000">
                                          <p:val>
                                            <p:strVal val="#ppt_y"/>
                                          </p:val>
                                        </p:tav>
                                      </p:tavLst>
                                    </p:anim>
                                    <p:animEffect transition="in" filter="fade">
                                      <p:cBhvr>
                                        <p:cTn id="16" dur="600"/>
                                        <p:tgtEl>
                                          <p:spTgt spid="5"/>
                                        </p:tgtEl>
                                      </p:cBhvr>
                                    </p:animEffect>
                                  </p:childTnLst>
                                </p:cTn>
                              </p:par>
                              <p:par>
                                <p:cTn id="17" presetID="42" presetClass="entr" presetSubtype="0" fill="hold" grpId="0" nodeType="withEffect">
                                  <p:stCondLst>
                                    <p:cond delay="3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ppt_y</p:attrName>
                                        </p:attrNameLst>
                                      </p:cBhvr>
                                      <p:tavLst>
                                        <p:tav tm="0">
                                          <p:val>
                                            <p:strVal val="#ppt_y+.1"/>
                                          </p:val>
                                        </p:tav>
                                        <p:tav tm="100000">
                                          <p:val>
                                            <p:strVal val="#ppt_y"/>
                                          </p:val>
                                        </p:tav>
                                      </p:tavLst>
                                    </p:anim>
                                    <p:animEffect transition="in" filter="fade">
                                      <p:cBhvr>
                                        <p:cTn id="20" dur="600"/>
                                        <p:tgtEl>
                                          <p:spTgt spid="6"/>
                                        </p:tgtEl>
                                      </p:cBhvr>
                                    </p:animEffect>
                                  </p:childTnLst>
                                </p:cTn>
                              </p:par>
                              <p:par>
                                <p:cTn id="21" presetID="42" presetClass="entr" presetSubtype="0" fill="hold" grpId="0" nodeType="withEffect">
                                  <p:stCondLst>
                                    <p:cond delay="3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par>
                                <p:cTn id="25" presetID="42" presetClass="entr" presetSubtype="0" fill="hold" nodeType="withEffect">
                                  <p:stCondLst>
                                    <p:cond delay="3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600" fill="hold"/>
                                        <p:tgtEl>
                                          <p:spTgt spid="8"/>
                                        </p:tgtEl>
                                        <p:attrNameLst>
                                          <p:attrName>ppt_y</p:attrName>
                                        </p:attrNameLst>
                                      </p:cBhvr>
                                      <p:tavLst>
                                        <p:tav tm="0">
                                          <p:val>
                                            <p:strVal val="#ppt_y+.1"/>
                                          </p:val>
                                        </p:tav>
                                        <p:tav tm="100000">
                                          <p:val>
                                            <p:strVal val="#ppt_y"/>
                                          </p:val>
                                        </p:tav>
                                      </p:tavLst>
                                    </p:anim>
                                    <p:animEffect transition="in" filter="fade">
                                      <p:cBhvr>
                                        <p:cTn id="28" dur="600"/>
                                        <p:tgtEl>
                                          <p:spTgt spid="8"/>
                                        </p:tgtEl>
                                      </p:cBhvr>
                                    </p:animEffect>
                                  </p:childTnLst>
                                </p:cTn>
                              </p:par>
                              <p:par>
                                <p:cTn id="29" presetID="42" presetClass="entr" presetSubtype="0" fill="hold" grpId="0" nodeType="withEffect">
                                  <p:stCondLst>
                                    <p:cond delay="3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ppt_y</p:attrName>
                                        </p:attrNameLst>
                                      </p:cBhvr>
                                      <p:tavLst>
                                        <p:tav tm="0">
                                          <p:val>
                                            <p:strVal val="#ppt_y+.1"/>
                                          </p:val>
                                        </p:tav>
                                        <p:tav tm="100000">
                                          <p:val>
                                            <p:strVal val="#ppt_y"/>
                                          </p:val>
                                        </p:tav>
                                      </p:tavLst>
                                    </p:anim>
                                    <p:animEffect transition="in" filter="fade">
                                      <p:cBhvr>
                                        <p:cTn id="32" dur="600"/>
                                        <p:tgtEl>
                                          <p:spTgt spid="9"/>
                                        </p:tgtEl>
                                      </p:cBhvr>
                                    </p:animEffect>
                                  </p:childTnLst>
                                </p:cTn>
                              </p:par>
                              <p:par>
                                <p:cTn id="33" presetID="42" presetClass="entr" presetSubtype="0" fill="hold" grpId="0" nodeType="withEffect">
                                  <p:stCondLst>
                                    <p:cond delay="3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600" fill="hold"/>
                                        <p:tgtEl>
                                          <p:spTgt spid="10"/>
                                        </p:tgtEl>
                                        <p:attrNameLst>
                                          <p:attrName>ppt_y</p:attrName>
                                        </p:attrNameLst>
                                      </p:cBhvr>
                                      <p:tavLst>
                                        <p:tav tm="0">
                                          <p:val>
                                            <p:strVal val="#ppt_y+.1"/>
                                          </p:val>
                                        </p:tav>
                                        <p:tav tm="100000">
                                          <p:val>
                                            <p:strVal val="#ppt_y"/>
                                          </p:val>
                                        </p:tav>
                                      </p:tavLst>
                                    </p:anim>
                                    <p:animEffect transition="in" filter="fade">
                                      <p:cBhvr>
                                        <p:cTn id="36" dur="600"/>
                                        <p:tgtEl>
                                          <p:spTgt spid="10"/>
                                        </p:tgtEl>
                                      </p:cBhvr>
                                    </p:animEffect>
                                  </p:childTnLst>
                                </p:cTn>
                              </p:par>
                              <p:par>
                                <p:cTn id="37" presetID="42" presetClass="entr" presetSubtype="0" fill="hold" grpId="0" nodeType="withEffect">
                                  <p:stCondLst>
                                    <p:cond delay="30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600" fill="hold"/>
                                        <p:tgtEl>
                                          <p:spTgt spid="11"/>
                                        </p:tgtEl>
                                        <p:attrNameLst>
                                          <p:attrName>ppt_y</p:attrName>
                                        </p:attrNameLst>
                                      </p:cBhvr>
                                      <p:tavLst>
                                        <p:tav tm="0">
                                          <p:val>
                                            <p:strVal val="#ppt_y+.1"/>
                                          </p:val>
                                        </p:tav>
                                        <p:tav tm="100000">
                                          <p:val>
                                            <p:strVal val="#ppt_y"/>
                                          </p:val>
                                        </p:tav>
                                      </p:tavLst>
                                    </p:anim>
                                    <p:animEffect transition="in" filter="fade">
                                      <p:cBhvr>
                                        <p:cTn id="40" dur="600"/>
                                        <p:tgtEl>
                                          <p:spTgt spid="11"/>
                                        </p:tgtEl>
                                      </p:cBhvr>
                                    </p:animEffect>
                                  </p:childTnLst>
                                </p:cTn>
                              </p:par>
                              <p:par>
                                <p:cTn id="41" presetID="42" presetClass="entr" presetSubtype="0" fill="hold" grpId="0" nodeType="withEffect">
                                  <p:stCondLst>
                                    <p:cond delay="30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600" fill="hold"/>
                                        <p:tgtEl>
                                          <p:spTgt spid="12"/>
                                        </p:tgtEl>
                                        <p:attrNameLst>
                                          <p:attrName>ppt_y</p:attrName>
                                        </p:attrNameLst>
                                      </p:cBhvr>
                                      <p:tavLst>
                                        <p:tav tm="0">
                                          <p:val>
                                            <p:strVal val="#ppt_y+.1"/>
                                          </p:val>
                                        </p:tav>
                                        <p:tav tm="100000">
                                          <p:val>
                                            <p:strVal val="#ppt_y"/>
                                          </p:val>
                                        </p:tav>
                                      </p:tavLst>
                                    </p:anim>
                                    <p:animEffect transition="in" filter="fade">
                                      <p:cBhvr>
                                        <p:cTn id="44" dur="600"/>
                                        <p:tgtEl>
                                          <p:spTgt spid="12"/>
                                        </p:tgtEl>
                                      </p:cBhvr>
                                    </p:animEffect>
                                  </p:childTnLst>
                                </p:cTn>
                              </p:par>
                              <p:par>
                                <p:cTn id="45" presetID="42" presetClass="entr" presetSubtype="0" fill="hold" grpId="0" nodeType="withEffect">
                                  <p:stCondLst>
                                    <p:cond delay="45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600" fill="hold"/>
                                        <p:tgtEl>
                                          <p:spTgt spid="13"/>
                                        </p:tgtEl>
                                        <p:attrNameLst>
                                          <p:attrName>ppt_y</p:attrName>
                                        </p:attrNameLst>
                                      </p:cBhvr>
                                      <p:tavLst>
                                        <p:tav tm="0">
                                          <p:val>
                                            <p:strVal val="#ppt_y+.1"/>
                                          </p:val>
                                        </p:tav>
                                        <p:tav tm="100000">
                                          <p:val>
                                            <p:strVal val="#ppt_y"/>
                                          </p:val>
                                        </p:tav>
                                      </p:tavLst>
                                    </p:anim>
                                    <p:animEffect transition="in" filter="fade">
                                      <p:cBhvr>
                                        <p:cTn id="48" dur="600"/>
                                        <p:tgtEl>
                                          <p:spTgt spid="13"/>
                                        </p:tgtEl>
                                      </p:cBhvr>
                                    </p:animEffect>
                                  </p:childTnLst>
                                </p:cTn>
                              </p:par>
                              <p:par>
                                <p:cTn id="49" presetID="42" presetClass="entr" presetSubtype="0" fill="hold" grpId="0" nodeType="withEffect">
                                  <p:stCondLst>
                                    <p:cond delay="45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600" fill="hold"/>
                                        <p:tgtEl>
                                          <p:spTgt spid="14"/>
                                        </p:tgtEl>
                                        <p:attrNameLst>
                                          <p:attrName>ppt_y</p:attrName>
                                        </p:attrNameLst>
                                      </p:cBhvr>
                                      <p:tavLst>
                                        <p:tav tm="0">
                                          <p:val>
                                            <p:strVal val="#ppt_y+.1"/>
                                          </p:val>
                                        </p:tav>
                                        <p:tav tm="100000">
                                          <p:val>
                                            <p:strVal val="#ppt_y"/>
                                          </p:val>
                                        </p:tav>
                                      </p:tavLst>
                                    </p:anim>
                                    <p:animEffect transition="in" filter="fade">
                                      <p:cBhvr>
                                        <p:cTn id="52" dur="600"/>
                                        <p:tgtEl>
                                          <p:spTgt spid="14"/>
                                        </p:tgtEl>
                                      </p:cBhvr>
                                    </p:animEffect>
                                  </p:childTnLst>
                                </p:cTn>
                              </p:par>
                              <p:par>
                                <p:cTn id="53" presetID="42" presetClass="entr" presetSubtype="0" fill="hold" grpId="0" nodeType="withEffect">
                                  <p:stCondLst>
                                    <p:cond delay="45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600" fill="hold"/>
                                        <p:tgtEl>
                                          <p:spTgt spid="15"/>
                                        </p:tgtEl>
                                        <p:attrNameLst>
                                          <p:attrName>ppt_y</p:attrName>
                                        </p:attrNameLst>
                                      </p:cBhvr>
                                      <p:tavLst>
                                        <p:tav tm="0">
                                          <p:val>
                                            <p:strVal val="#ppt_y+.1"/>
                                          </p:val>
                                        </p:tav>
                                        <p:tav tm="100000">
                                          <p:val>
                                            <p:strVal val="#ppt_y"/>
                                          </p:val>
                                        </p:tav>
                                      </p:tavLst>
                                    </p:anim>
                                    <p:animEffect transition="in" filter="fade">
                                      <p:cBhvr>
                                        <p:cTn id="56" dur="600"/>
                                        <p:tgtEl>
                                          <p:spTgt spid="15"/>
                                        </p:tgtEl>
                                      </p:cBhvr>
                                    </p:animEffect>
                                  </p:childTnLst>
                                </p:cTn>
                              </p:par>
                              <p:par>
                                <p:cTn id="57" presetID="42" presetClass="entr" presetSubtype="0" fill="hold" nodeType="withEffect">
                                  <p:stCondLst>
                                    <p:cond delay="45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600" fill="hold"/>
                                        <p:tgtEl>
                                          <p:spTgt spid="16"/>
                                        </p:tgtEl>
                                        <p:attrNameLst>
                                          <p:attrName>ppt_y</p:attrName>
                                        </p:attrNameLst>
                                      </p:cBhvr>
                                      <p:tavLst>
                                        <p:tav tm="0">
                                          <p:val>
                                            <p:strVal val="#ppt_y+.1"/>
                                          </p:val>
                                        </p:tav>
                                        <p:tav tm="100000">
                                          <p:val>
                                            <p:strVal val="#ppt_y"/>
                                          </p:val>
                                        </p:tav>
                                      </p:tavLst>
                                    </p:anim>
                                    <p:animEffect transition="in" filter="fade">
                                      <p:cBhvr>
                                        <p:cTn id="60" dur="600"/>
                                        <p:tgtEl>
                                          <p:spTgt spid="16"/>
                                        </p:tgtEl>
                                      </p:cBhvr>
                                    </p:animEffect>
                                  </p:childTnLst>
                                </p:cTn>
                              </p:par>
                              <p:par>
                                <p:cTn id="61" presetID="42" presetClass="entr" presetSubtype="0" fill="hold" grpId="0" nodeType="withEffect">
                                  <p:stCondLst>
                                    <p:cond delay="45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600" fill="hold"/>
                                        <p:tgtEl>
                                          <p:spTgt spid="17"/>
                                        </p:tgtEl>
                                        <p:attrNameLst>
                                          <p:attrName>ppt_y</p:attrName>
                                        </p:attrNameLst>
                                      </p:cBhvr>
                                      <p:tavLst>
                                        <p:tav tm="0">
                                          <p:val>
                                            <p:strVal val="#ppt_y+.1"/>
                                          </p:val>
                                        </p:tav>
                                        <p:tav tm="100000">
                                          <p:val>
                                            <p:strVal val="#ppt_y"/>
                                          </p:val>
                                        </p:tav>
                                      </p:tavLst>
                                    </p:anim>
                                    <p:animEffect transition="in" filter="fade">
                                      <p:cBhvr>
                                        <p:cTn id="64" dur="600"/>
                                        <p:tgtEl>
                                          <p:spTgt spid="17"/>
                                        </p:tgtEl>
                                      </p:cBhvr>
                                    </p:animEffect>
                                  </p:childTnLst>
                                </p:cTn>
                              </p:par>
                              <p:par>
                                <p:cTn id="65" presetID="42" presetClass="entr" presetSubtype="0" fill="hold" grpId="0" nodeType="withEffect">
                                  <p:stCondLst>
                                    <p:cond delay="45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600" fill="hold"/>
                                        <p:tgtEl>
                                          <p:spTgt spid="18"/>
                                        </p:tgtEl>
                                        <p:attrNameLst>
                                          <p:attrName>ppt_y</p:attrName>
                                        </p:attrNameLst>
                                      </p:cBhvr>
                                      <p:tavLst>
                                        <p:tav tm="0">
                                          <p:val>
                                            <p:strVal val="#ppt_y+.1"/>
                                          </p:val>
                                        </p:tav>
                                        <p:tav tm="100000">
                                          <p:val>
                                            <p:strVal val="#ppt_y"/>
                                          </p:val>
                                        </p:tav>
                                      </p:tavLst>
                                    </p:anim>
                                    <p:animEffect transition="in" filter="fade">
                                      <p:cBhvr>
                                        <p:cTn id="68" dur="600"/>
                                        <p:tgtEl>
                                          <p:spTgt spid="18"/>
                                        </p:tgtEl>
                                      </p:cBhvr>
                                    </p:animEffect>
                                  </p:childTnLst>
                                </p:cTn>
                              </p:par>
                              <p:par>
                                <p:cTn id="69" presetID="42" presetClass="entr" presetSubtype="0" fill="hold" grpId="0" nodeType="withEffect">
                                  <p:stCondLst>
                                    <p:cond delay="45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600" fill="hold"/>
                                        <p:tgtEl>
                                          <p:spTgt spid="19"/>
                                        </p:tgtEl>
                                        <p:attrNameLst>
                                          <p:attrName>ppt_y</p:attrName>
                                        </p:attrNameLst>
                                      </p:cBhvr>
                                      <p:tavLst>
                                        <p:tav tm="0">
                                          <p:val>
                                            <p:strVal val="#ppt_y+.1"/>
                                          </p:val>
                                        </p:tav>
                                        <p:tav tm="100000">
                                          <p:val>
                                            <p:strVal val="#ppt_y"/>
                                          </p:val>
                                        </p:tav>
                                      </p:tavLst>
                                    </p:anim>
                                    <p:animEffect transition="in" filter="fade">
                                      <p:cBhvr>
                                        <p:cTn id="72" dur="600"/>
                                        <p:tgtEl>
                                          <p:spTgt spid="19"/>
                                        </p:tgtEl>
                                      </p:cBhvr>
                                    </p:animEffect>
                                  </p:childTnLst>
                                </p:cTn>
                              </p:par>
                              <p:par>
                                <p:cTn id="73" presetID="42" presetClass="entr" presetSubtype="0" fill="hold" grpId="0" nodeType="withEffect">
                                  <p:stCondLst>
                                    <p:cond delay="45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600" fill="hold"/>
                                        <p:tgtEl>
                                          <p:spTgt spid="20"/>
                                        </p:tgtEl>
                                        <p:attrNameLst>
                                          <p:attrName>ppt_y</p:attrName>
                                        </p:attrNameLst>
                                      </p:cBhvr>
                                      <p:tavLst>
                                        <p:tav tm="0">
                                          <p:val>
                                            <p:strVal val="#ppt_y+.1"/>
                                          </p:val>
                                        </p:tav>
                                        <p:tav tm="100000">
                                          <p:val>
                                            <p:strVal val="#ppt_y"/>
                                          </p:val>
                                        </p:tav>
                                      </p:tavLst>
                                    </p:anim>
                                    <p:animEffect transition="in" filter="fade">
                                      <p:cBhvr>
                                        <p:cTn id="76" dur="600"/>
                                        <p:tgtEl>
                                          <p:spTgt spid="20"/>
                                        </p:tgtEl>
                                      </p:cBhvr>
                                    </p:animEffect>
                                  </p:childTnLst>
                                </p:cTn>
                              </p:par>
                              <p:par>
                                <p:cTn id="77" presetID="42" presetClass="entr" presetSubtype="0" fill="hold" grpId="0" nodeType="withEffect">
                                  <p:stCondLst>
                                    <p:cond delay="90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600" fill="hold"/>
                                        <p:tgtEl>
                                          <p:spTgt spid="21"/>
                                        </p:tgtEl>
                                        <p:attrNameLst>
                                          <p:attrName>ppt_y</p:attrName>
                                        </p:attrNameLst>
                                      </p:cBhvr>
                                      <p:tavLst>
                                        <p:tav tm="0">
                                          <p:val>
                                            <p:strVal val="#ppt_y+.1"/>
                                          </p:val>
                                        </p:tav>
                                        <p:tav tm="100000">
                                          <p:val>
                                            <p:strVal val="#ppt_y"/>
                                          </p:val>
                                        </p:tav>
                                      </p:tavLst>
                                    </p:anim>
                                    <p:animEffect transition="in" filter="fade">
                                      <p:cBhvr>
                                        <p:cTn id="80" dur="600"/>
                                        <p:tgtEl>
                                          <p:spTgt spid="21"/>
                                        </p:tgtEl>
                                      </p:cBhvr>
                                    </p:animEffect>
                                  </p:childTnLst>
                                </p:cTn>
                              </p:par>
                              <p:par>
                                <p:cTn id="81" presetID="42" presetClass="entr" presetSubtype="0" fill="hold" grpId="0" nodeType="withEffect">
                                  <p:stCondLst>
                                    <p:cond delay="90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600" fill="hold"/>
                                        <p:tgtEl>
                                          <p:spTgt spid="22"/>
                                        </p:tgtEl>
                                        <p:attrNameLst>
                                          <p:attrName>ppt_y</p:attrName>
                                        </p:attrNameLst>
                                      </p:cBhvr>
                                      <p:tavLst>
                                        <p:tav tm="0">
                                          <p:val>
                                            <p:strVal val="#ppt_y+.1"/>
                                          </p:val>
                                        </p:tav>
                                        <p:tav tm="100000">
                                          <p:val>
                                            <p:strVal val="#ppt_y"/>
                                          </p:val>
                                        </p:tav>
                                      </p:tavLst>
                                    </p:anim>
                                    <p:animEffect transition="in" filter="fade">
                                      <p:cBhvr>
                                        <p:cTn id="84" dur="600"/>
                                        <p:tgtEl>
                                          <p:spTgt spid="22"/>
                                        </p:tgtEl>
                                      </p:cBhvr>
                                    </p:animEffect>
                                  </p:childTnLst>
                                </p:cTn>
                              </p:par>
                              <p:par>
                                <p:cTn id="85" presetID="42" presetClass="entr" presetSubtype="0" fill="hold" grpId="0" nodeType="withEffect">
                                  <p:stCondLst>
                                    <p:cond delay="90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600" fill="hold"/>
                                        <p:tgtEl>
                                          <p:spTgt spid="23"/>
                                        </p:tgtEl>
                                        <p:attrNameLst>
                                          <p:attrName>ppt_y</p:attrName>
                                        </p:attrNameLst>
                                      </p:cBhvr>
                                      <p:tavLst>
                                        <p:tav tm="0">
                                          <p:val>
                                            <p:strVal val="#ppt_y+.1"/>
                                          </p:val>
                                        </p:tav>
                                        <p:tav tm="100000">
                                          <p:val>
                                            <p:strVal val="#ppt_y"/>
                                          </p:val>
                                        </p:tav>
                                      </p:tavLst>
                                    </p:anim>
                                    <p:animEffect transition="in" filter="fade">
                                      <p:cBhvr>
                                        <p:cTn id="88" dur="600"/>
                                        <p:tgtEl>
                                          <p:spTgt spid="23"/>
                                        </p:tgtEl>
                                      </p:cBhvr>
                                    </p:animEffect>
                                  </p:childTnLst>
                                </p:cTn>
                              </p:par>
                              <p:par>
                                <p:cTn id="89" presetID="42" presetClass="entr" presetSubtype="0" fill="hold" nodeType="withEffect">
                                  <p:stCondLst>
                                    <p:cond delay="90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600" fill="hold"/>
                                        <p:tgtEl>
                                          <p:spTgt spid="24"/>
                                        </p:tgtEl>
                                        <p:attrNameLst>
                                          <p:attrName>ppt_y</p:attrName>
                                        </p:attrNameLst>
                                      </p:cBhvr>
                                      <p:tavLst>
                                        <p:tav tm="0">
                                          <p:val>
                                            <p:strVal val="#ppt_y+.1"/>
                                          </p:val>
                                        </p:tav>
                                        <p:tav tm="100000">
                                          <p:val>
                                            <p:strVal val="#ppt_y"/>
                                          </p:val>
                                        </p:tav>
                                      </p:tavLst>
                                    </p:anim>
                                    <p:animEffect transition="in" filter="fade">
                                      <p:cBhvr>
                                        <p:cTn id="92" dur="600"/>
                                        <p:tgtEl>
                                          <p:spTgt spid="24"/>
                                        </p:tgtEl>
                                      </p:cBhvr>
                                    </p:animEffect>
                                  </p:childTnLst>
                                </p:cTn>
                              </p:par>
                              <p:par>
                                <p:cTn id="93" presetID="42" presetClass="entr" presetSubtype="0" fill="hold" grpId="0" nodeType="withEffect">
                                  <p:stCondLst>
                                    <p:cond delay="9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600" fill="hold"/>
                                        <p:tgtEl>
                                          <p:spTgt spid="25"/>
                                        </p:tgtEl>
                                        <p:attrNameLst>
                                          <p:attrName>ppt_y</p:attrName>
                                        </p:attrNameLst>
                                      </p:cBhvr>
                                      <p:tavLst>
                                        <p:tav tm="0">
                                          <p:val>
                                            <p:strVal val="#ppt_y+.1"/>
                                          </p:val>
                                        </p:tav>
                                        <p:tav tm="100000">
                                          <p:val>
                                            <p:strVal val="#ppt_y"/>
                                          </p:val>
                                        </p:tav>
                                      </p:tavLst>
                                    </p:anim>
                                    <p:animEffect transition="in" filter="fade">
                                      <p:cBhvr>
                                        <p:cTn id="96" dur="600"/>
                                        <p:tgtEl>
                                          <p:spTgt spid="25"/>
                                        </p:tgtEl>
                                      </p:cBhvr>
                                    </p:animEffect>
                                  </p:childTnLst>
                                </p:cTn>
                              </p:par>
                              <p:par>
                                <p:cTn id="97" presetID="42" presetClass="entr" presetSubtype="0" fill="hold" grpId="0" nodeType="withEffect">
                                  <p:stCondLst>
                                    <p:cond delay="9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600" fill="hold"/>
                                        <p:tgtEl>
                                          <p:spTgt spid="26"/>
                                        </p:tgtEl>
                                        <p:attrNameLst>
                                          <p:attrName>ppt_y</p:attrName>
                                        </p:attrNameLst>
                                      </p:cBhvr>
                                      <p:tavLst>
                                        <p:tav tm="0">
                                          <p:val>
                                            <p:strVal val="#ppt_y+.1"/>
                                          </p:val>
                                        </p:tav>
                                        <p:tav tm="100000">
                                          <p:val>
                                            <p:strVal val="#ppt_y"/>
                                          </p:val>
                                        </p:tav>
                                      </p:tavLst>
                                    </p:anim>
                                    <p:animEffect transition="in" filter="fade">
                                      <p:cBhvr>
                                        <p:cTn id="100" dur="600"/>
                                        <p:tgtEl>
                                          <p:spTgt spid="26"/>
                                        </p:tgtEl>
                                      </p:cBhvr>
                                    </p:animEffect>
                                  </p:childTnLst>
                                </p:cTn>
                              </p:par>
                              <p:par>
                                <p:cTn id="101" presetID="42" presetClass="entr" presetSubtype="0" fill="hold" grpId="0" nodeType="withEffect">
                                  <p:stCondLst>
                                    <p:cond delay="9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600" fill="hold"/>
                                        <p:tgtEl>
                                          <p:spTgt spid="27"/>
                                        </p:tgtEl>
                                        <p:attrNameLst>
                                          <p:attrName>ppt_y</p:attrName>
                                        </p:attrNameLst>
                                      </p:cBhvr>
                                      <p:tavLst>
                                        <p:tav tm="0">
                                          <p:val>
                                            <p:strVal val="#ppt_y+.1"/>
                                          </p:val>
                                        </p:tav>
                                        <p:tav tm="100000">
                                          <p:val>
                                            <p:strVal val="#ppt_y"/>
                                          </p:val>
                                        </p:tav>
                                      </p:tavLst>
                                    </p:anim>
                                    <p:animEffect transition="in" filter="fade">
                                      <p:cBhvr>
                                        <p:cTn id="104" dur="600"/>
                                        <p:tgtEl>
                                          <p:spTgt spid="27"/>
                                        </p:tgtEl>
                                      </p:cBhvr>
                                    </p:animEffect>
                                  </p:childTnLst>
                                </p:cTn>
                              </p:par>
                              <p:par>
                                <p:cTn id="105" presetID="42" presetClass="entr" presetSubtype="0" fill="hold" grpId="0" nodeType="withEffect">
                                  <p:stCondLst>
                                    <p:cond delay="9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600" fill="hold"/>
                                        <p:tgtEl>
                                          <p:spTgt spid="28"/>
                                        </p:tgtEl>
                                        <p:attrNameLst>
                                          <p:attrName>ppt_y</p:attrName>
                                        </p:attrNameLst>
                                      </p:cBhvr>
                                      <p:tavLst>
                                        <p:tav tm="0">
                                          <p:val>
                                            <p:strVal val="#ppt_y+.1"/>
                                          </p:val>
                                        </p:tav>
                                        <p:tav tm="100000">
                                          <p:val>
                                            <p:strVal val="#ppt_y"/>
                                          </p:val>
                                        </p:tav>
                                      </p:tavLst>
                                    </p:anim>
                                    <p:animEffect transition="in" filter="fade">
                                      <p:cBhvr>
                                        <p:cTn id="108" dur="600"/>
                                        <p:tgtEl>
                                          <p:spTgt spid="28"/>
                                        </p:tgtEl>
                                      </p:cBhvr>
                                    </p:animEffect>
                                  </p:childTnLst>
                                </p:cTn>
                              </p:par>
                              <p:par>
                                <p:cTn id="109" presetID="42" presetClass="entr" presetSubtype="0" fill="hold" grpId="0" nodeType="withEffect">
                                  <p:stCondLst>
                                    <p:cond delay="135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600" fill="hold"/>
                                        <p:tgtEl>
                                          <p:spTgt spid="29"/>
                                        </p:tgtEl>
                                        <p:attrNameLst>
                                          <p:attrName>ppt_y</p:attrName>
                                        </p:attrNameLst>
                                      </p:cBhvr>
                                      <p:tavLst>
                                        <p:tav tm="0">
                                          <p:val>
                                            <p:strVal val="#ppt_y+.1"/>
                                          </p:val>
                                        </p:tav>
                                        <p:tav tm="100000">
                                          <p:val>
                                            <p:strVal val="#ppt_y"/>
                                          </p:val>
                                        </p:tav>
                                      </p:tavLst>
                                    </p:anim>
                                    <p:animEffect transition="in" filter="fade">
                                      <p:cBhvr>
                                        <p:cTn id="112" dur="600"/>
                                        <p:tgtEl>
                                          <p:spTgt spid="29"/>
                                        </p:tgtEl>
                                      </p:cBhvr>
                                    </p:animEffect>
                                  </p:childTnLst>
                                </p:cTn>
                              </p:par>
                              <p:par>
                                <p:cTn id="113" presetID="42" presetClass="entr" presetSubtype="0" fill="hold" grpId="0" nodeType="withEffect">
                                  <p:stCondLst>
                                    <p:cond delay="135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600" fill="hold"/>
                                        <p:tgtEl>
                                          <p:spTgt spid="30"/>
                                        </p:tgtEl>
                                        <p:attrNameLst>
                                          <p:attrName>ppt_y</p:attrName>
                                        </p:attrNameLst>
                                      </p:cBhvr>
                                      <p:tavLst>
                                        <p:tav tm="0">
                                          <p:val>
                                            <p:strVal val="#ppt_y+.1"/>
                                          </p:val>
                                        </p:tav>
                                        <p:tav tm="100000">
                                          <p:val>
                                            <p:strVal val="#ppt_y"/>
                                          </p:val>
                                        </p:tav>
                                      </p:tavLst>
                                    </p:anim>
                                    <p:animEffect transition="in" filter="fade">
                                      <p:cBhvr>
                                        <p:cTn id="116" dur="600"/>
                                        <p:tgtEl>
                                          <p:spTgt spid="30"/>
                                        </p:tgtEl>
                                      </p:cBhvr>
                                    </p:animEffect>
                                  </p:childTnLst>
                                </p:cTn>
                              </p:par>
                              <p:par>
                                <p:cTn id="117" presetID="42" presetClass="entr" presetSubtype="0" fill="hold" grpId="0" nodeType="withEffect">
                                  <p:stCondLst>
                                    <p:cond delay="135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600" fill="hold"/>
                                        <p:tgtEl>
                                          <p:spTgt spid="31"/>
                                        </p:tgtEl>
                                        <p:attrNameLst>
                                          <p:attrName>ppt_y</p:attrName>
                                        </p:attrNameLst>
                                      </p:cBhvr>
                                      <p:tavLst>
                                        <p:tav tm="0">
                                          <p:val>
                                            <p:strVal val="#ppt_y+.1"/>
                                          </p:val>
                                        </p:tav>
                                        <p:tav tm="100000">
                                          <p:val>
                                            <p:strVal val="#ppt_y"/>
                                          </p:val>
                                        </p:tav>
                                      </p:tavLst>
                                    </p:anim>
                                    <p:animEffect transition="in" filter="fade">
                                      <p:cBhvr>
                                        <p:cTn id="120" dur="600"/>
                                        <p:tgtEl>
                                          <p:spTgt spid="31"/>
                                        </p:tgtEl>
                                      </p:cBhvr>
                                    </p:animEffect>
                                  </p:childTnLst>
                                </p:cTn>
                              </p:par>
                              <p:par>
                                <p:cTn id="121" presetID="42" presetClass="entr" presetSubtype="0" fill="hold" nodeType="withEffect">
                                  <p:stCondLst>
                                    <p:cond delay="135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600" fill="hold"/>
                                        <p:tgtEl>
                                          <p:spTgt spid="32"/>
                                        </p:tgtEl>
                                        <p:attrNameLst>
                                          <p:attrName>ppt_y</p:attrName>
                                        </p:attrNameLst>
                                      </p:cBhvr>
                                      <p:tavLst>
                                        <p:tav tm="0">
                                          <p:val>
                                            <p:strVal val="#ppt_y+.1"/>
                                          </p:val>
                                        </p:tav>
                                        <p:tav tm="100000">
                                          <p:val>
                                            <p:strVal val="#ppt_y"/>
                                          </p:val>
                                        </p:tav>
                                      </p:tavLst>
                                    </p:anim>
                                    <p:animEffect transition="in" filter="fade">
                                      <p:cBhvr>
                                        <p:cTn id="124" dur="600"/>
                                        <p:tgtEl>
                                          <p:spTgt spid="32"/>
                                        </p:tgtEl>
                                      </p:cBhvr>
                                    </p:animEffect>
                                  </p:childTnLst>
                                </p:cTn>
                              </p:par>
                              <p:par>
                                <p:cTn id="125" presetID="42" presetClass="entr" presetSubtype="0" fill="hold" grpId="0" nodeType="withEffect">
                                  <p:stCondLst>
                                    <p:cond delay="135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600" fill="hold"/>
                                        <p:tgtEl>
                                          <p:spTgt spid="33"/>
                                        </p:tgtEl>
                                        <p:attrNameLst>
                                          <p:attrName>ppt_y</p:attrName>
                                        </p:attrNameLst>
                                      </p:cBhvr>
                                      <p:tavLst>
                                        <p:tav tm="0">
                                          <p:val>
                                            <p:strVal val="#ppt_y+.1"/>
                                          </p:val>
                                        </p:tav>
                                        <p:tav tm="100000">
                                          <p:val>
                                            <p:strVal val="#ppt_y"/>
                                          </p:val>
                                        </p:tav>
                                      </p:tavLst>
                                    </p:anim>
                                    <p:animEffect transition="in" filter="fade">
                                      <p:cBhvr>
                                        <p:cTn id="128" dur="600"/>
                                        <p:tgtEl>
                                          <p:spTgt spid="33"/>
                                        </p:tgtEl>
                                      </p:cBhvr>
                                    </p:animEffect>
                                  </p:childTnLst>
                                </p:cTn>
                              </p:par>
                              <p:par>
                                <p:cTn id="129" presetID="42" presetClass="entr" presetSubtype="0" fill="hold" grpId="0" nodeType="withEffect">
                                  <p:stCondLst>
                                    <p:cond delay="135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600" fill="hold"/>
                                        <p:tgtEl>
                                          <p:spTgt spid="34"/>
                                        </p:tgtEl>
                                        <p:attrNameLst>
                                          <p:attrName>ppt_y</p:attrName>
                                        </p:attrNameLst>
                                      </p:cBhvr>
                                      <p:tavLst>
                                        <p:tav tm="0">
                                          <p:val>
                                            <p:strVal val="#ppt_y+.1"/>
                                          </p:val>
                                        </p:tav>
                                        <p:tav tm="100000">
                                          <p:val>
                                            <p:strVal val="#ppt_y"/>
                                          </p:val>
                                        </p:tav>
                                      </p:tavLst>
                                    </p:anim>
                                    <p:animEffect transition="in" filter="fade">
                                      <p:cBhvr>
                                        <p:cTn id="132" dur="600"/>
                                        <p:tgtEl>
                                          <p:spTgt spid="34"/>
                                        </p:tgtEl>
                                      </p:cBhvr>
                                    </p:animEffect>
                                  </p:childTnLst>
                                </p:cTn>
                              </p:par>
                              <p:par>
                                <p:cTn id="133" presetID="42" presetClass="entr" presetSubtype="0" fill="hold" grpId="0" nodeType="withEffect">
                                  <p:stCondLst>
                                    <p:cond delay="135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600" fill="hold"/>
                                        <p:tgtEl>
                                          <p:spTgt spid="35"/>
                                        </p:tgtEl>
                                        <p:attrNameLst>
                                          <p:attrName>ppt_y</p:attrName>
                                        </p:attrNameLst>
                                      </p:cBhvr>
                                      <p:tavLst>
                                        <p:tav tm="0">
                                          <p:val>
                                            <p:strVal val="#ppt_y+.1"/>
                                          </p:val>
                                        </p:tav>
                                        <p:tav tm="100000">
                                          <p:val>
                                            <p:strVal val="#ppt_y"/>
                                          </p:val>
                                        </p:tav>
                                      </p:tavLst>
                                    </p:anim>
                                    <p:animEffect transition="in" filter="fade">
                                      <p:cBhvr>
                                        <p:cTn id="136" dur="600"/>
                                        <p:tgtEl>
                                          <p:spTgt spid="35"/>
                                        </p:tgtEl>
                                      </p:cBhvr>
                                    </p:animEffect>
                                  </p:childTnLst>
                                </p:cTn>
                              </p:par>
                              <p:par>
                                <p:cTn id="137" presetID="42" presetClass="entr" presetSubtype="0" fill="hold" grpId="0" nodeType="withEffect">
                                  <p:stCondLst>
                                    <p:cond delay="135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600" fill="hold"/>
                                        <p:tgtEl>
                                          <p:spTgt spid="36"/>
                                        </p:tgtEl>
                                        <p:attrNameLst>
                                          <p:attrName>ppt_y</p:attrName>
                                        </p:attrNameLst>
                                      </p:cBhvr>
                                      <p:tavLst>
                                        <p:tav tm="0">
                                          <p:val>
                                            <p:strVal val="#ppt_y+.1"/>
                                          </p:val>
                                        </p:tav>
                                        <p:tav tm="100000">
                                          <p:val>
                                            <p:strVal val="#ppt_y"/>
                                          </p:val>
                                        </p:tav>
                                      </p:tavLst>
                                    </p:anim>
                                    <p:animEffect transition="in" filter="fade">
                                      <p:cBhvr>
                                        <p:cTn id="140" dur="600"/>
                                        <p:tgtEl>
                                          <p:spTgt spid="36"/>
                                        </p:tgtEl>
                                      </p:cBhvr>
                                    </p:animEffect>
                                  </p:childTnLst>
                                </p:cTn>
                              </p:par>
                              <p:par>
                                <p:cTn id="141" presetID="42" presetClass="entr" presetSubtype="0" fill="hold" grpId="0" nodeType="withEffect">
                                  <p:stCondLst>
                                    <p:cond delay="180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600" fill="hold"/>
                                        <p:tgtEl>
                                          <p:spTgt spid="37"/>
                                        </p:tgtEl>
                                        <p:attrNameLst>
                                          <p:attrName>ppt_y</p:attrName>
                                        </p:attrNameLst>
                                      </p:cBhvr>
                                      <p:tavLst>
                                        <p:tav tm="0">
                                          <p:val>
                                            <p:strVal val="#ppt_y+.1"/>
                                          </p:val>
                                        </p:tav>
                                        <p:tav tm="100000">
                                          <p:val>
                                            <p:strVal val="#ppt_y"/>
                                          </p:val>
                                        </p:tav>
                                      </p:tavLst>
                                    </p:anim>
                                    <p:animEffect transition="in" filter="fade">
                                      <p:cBhvr>
                                        <p:cTn id="144" dur="600"/>
                                        <p:tgtEl>
                                          <p:spTgt spid="37"/>
                                        </p:tgtEl>
                                      </p:cBhvr>
                                    </p:animEffect>
                                  </p:childTnLst>
                                </p:cTn>
                              </p:par>
                              <p:par>
                                <p:cTn id="145" presetID="42" presetClass="entr" presetSubtype="0" fill="hold" grpId="0" nodeType="withEffect">
                                  <p:stCondLst>
                                    <p:cond delay="180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600" fill="hold"/>
                                        <p:tgtEl>
                                          <p:spTgt spid="38"/>
                                        </p:tgtEl>
                                        <p:attrNameLst>
                                          <p:attrName>ppt_y</p:attrName>
                                        </p:attrNameLst>
                                      </p:cBhvr>
                                      <p:tavLst>
                                        <p:tav tm="0">
                                          <p:val>
                                            <p:strVal val="#ppt_y+.1"/>
                                          </p:val>
                                        </p:tav>
                                        <p:tav tm="100000">
                                          <p:val>
                                            <p:strVal val="#ppt_y"/>
                                          </p:val>
                                        </p:tav>
                                      </p:tavLst>
                                    </p:anim>
                                    <p:animEffect transition="in" filter="fade">
                                      <p:cBhvr>
                                        <p:cTn id="148" dur="600"/>
                                        <p:tgtEl>
                                          <p:spTgt spid="38"/>
                                        </p:tgtEl>
                                      </p:cBhvr>
                                    </p:animEffect>
                                  </p:childTnLst>
                                </p:cTn>
                              </p:par>
                              <p:par>
                                <p:cTn id="149" presetID="42" presetClass="entr" presetSubtype="0" fill="hold" grpId="0" nodeType="withEffect">
                                  <p:stCondLst>
                                    <p:cond delay="180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600" fill="hold"/>
                                        <p:tgtEl>
                                          <p:spTgt spid="39"/>
                                        </p:tgtEl>
                                        <p:attrNameLst>
                                          <p:attrName>ppt_y</p:attrName>
                                        </p:attrNameLst>
                                      </p:cBhvr>
                                      <p:tavLst>
                                        <p:tav tm="0">
                                          <p:val>
                                            <p:strVal val="#ppt_y+.1"/>
                                          </p:val>
                                        </p:tav>
                                        <p:tav tm="100000">
                                          <p:val>
                                            <p:strVal val="#ppt_y"/>
                                          </p:val>
                                        </p:tav>
                                      </p:tavLst>
                                    </p:anim>
                                    <p:animEffect transition="in" filter="fade">
                                      <p:cBhvr>
                                        <p:cTn id="152" dur="600"/>
                                        <p:tgtEl>
                                          <p:spTgt spid="39"/>
                                        </p:tgtEl>
                                      </p:cBhvr>
                                    </p:animEffect>
                                  </p:childTnLst>
                                </p:cTn>
                              </p:par>
                              <p:par>
                                <p:cTn id="153" presetID="42" presetClass="entr" presetSubtype="0" fill="hold" nodeType="withEffect">
                                  <p:stCondLst>
                                    <p:cond delay="180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600" fill="hold"/>
                                        <p:tgtEl>
                                          <p:spTgt spid="40"/>
                                        </p:tgtEl>
                                        <p:attrNameLst>
                                          <p:attrName>ppt_y</p:attrName>
                                        </p:attrNameLst>
                                      </p:cBhvr>
                                      <p:tavLst>
                                        <p:tav tm="0">
                                          <p:val>
                                            <p:strVal val="#ppt_y+.1"/>
                                          </p:val>
                                        </p:tav>
                                        <p:tav tm="100000">
                                          <p:val>
                                            <p:strVal val="#ppt_y"/>
                                          </p:val>
                                        </p:tav>
                                      </p:tavLst>
                                    </p:anim>
                                    <p:animEffect transition="in" filter="fade">
                                      <p:cBhvr>
                                        <p:cTn id="156" dur="600"/>
                                        <p:tgtEl>
                                          <p:spTgt spid="40"/>
                                        </p:tgtEl>
                                      </p:cBhvr>
                                    </p:animEffect>
                                  </p:childTnLst>
                                </p:cTn>
                              </p:par>
                              <p:par>
                                <p:cTn id="157" presetID="42" presetClass="entr" presetSubtype="0" fill="hold" grpId="0" nodeType="withEffect">
                                  <p:stCondLst>
                                    <p:cond delay="1800"/>
                                  </p:stCondLst>
                                  <p:childTnLst>
                                    <p:set>
                                      <p:cBhvr>
                                        <p:cTn id="158" dur="1" fill="hold">
                                          <p:stCondLst>
                                            <p:cond delay="0"/>
                                          </p:stCondLst>
                                        </p:cTn>
                                        <p:tgtEl>
                                          <p:spTgt spid="41"/>
                                        </p:tgtEl>
                                        <p:attrNameLst>
                                          <p:attrName>style.visibility</p:attrName>
                                        </p:attrNameLst>
                                      </p:cBhvr>
                                      <p:to>
                                        <p:strVal val="visible"/>
                                      </p:to>
                                    </p:set>
                                    <p:anim calcmode="lin" valueType="num">
                                      <p:cBhvr additive="base">
                                        <p:cTn id="159" dur="600" fill="hold"/>
                                        <p:tgtEl>
                                          <p:spTgt spid="41"/>
                                        </p:tgtEl>
                                        <p:attrNameLst>
                                          <p:attrName>ppt_y</p:attrName>
                                        </p:attrNameLst>
                                      </p:cBhvr>
                                      <p:tavLst>
                                        <p:tav tm="0">
                                          <p:val>
                                            <p:strVal val="#ppt_y+.1"/>
                                          </p:val>
                                        </p:tav>
                                        <p:tav tm="100000">
                                          <p:val>
                                            <p:strVal val="#ppt_y"/>
                                          </p:val>
                                        </p:tav>
                                      </p:tavLst>
                                    </p:anim>
                                    <p:animEffect transition="in" filter="fade">
                                      <p:cBhvr>
                                        <p:cTn id="160" dur="600"/>
                                        <p:tgtEl>
                                          <p:spTgt spid="41"/>
                                        </p:tgtEl>
                                      </p:cBhvr>
                                    </p:animEffect>
                                  </p:childTnLst>
                                </p:cTn>
                              </p:par>
                              <p:par>
                                <p:cTn id="161" presetID="42" presetClass="entr" presetSubtype="0" fill="hold" grpId="0" nodeType="withEffect">
                                  <p:stCondLst>
                                    <p:cond delay="1800"/>
                                  </p:stCondLst>
                                  <p:childTnLst>
                                    <p:set>
                                      <p:cBhvr>
                                        <p:cTn id="162" dur="1" fill="hold">
                                          <p:stCondLst>
                                            <p:cond delay="0"/>
                                          </p:stCondLst>
                                        </p:cTn>
                                        <p:tgtEl>
                                          <p:spTgt spid="42"/>
                                        </p:tgtEl>
                                        <p:attrNameLst>
                                          <p:attrName>style.visibility</p:attrName>
                                        </p:attrNameLst>
                                      </p:cBhvr>
                                      <p:to>
                                        <p:strVal val="visible"/>
                                      </p:to>
                                    </p:set>
                                    <p:anim calcmode="lin" valueType="num">
                                      <p:cBhvr additive="base">
                                        <p:cTn id="163" dur="600" fill="hold"/>
                                        <p:tgtEl>
                                          <p:spTgt spid="42"/>
                                        </p:tgtEl>
                                        <p:attrNameLst>
                                          <p:attrName>ppt_y</p:attrName>
                                        </p:attrNameLst>
                                      </p:cBhvr>
                                      <p:tavLst>
                                        <p:tav tm="0">
                                          <p:val>
                                            <p:strVal val="#ppt_y+.1"/>
                                          </p:val>
                                        </p:tav>
                                        <p:tav tm="100000">
                                          <p:val>
                                            <p:strVal val="#ppt_y"/>
                                          </p:val>
                                        </p:tav>
                                      </p:tavLst>
                                    </p:anim>
                                    <p:animEffect transition="in" filter="fade">
                                      <p:cBhvr>
                                        <p:cTn id="164" dur="600"/>
                                        <p:tgtEl>
                                          <p:spTgt spid="42"/>
                                        </p:tgtEl>
                                      </p:cBhvr>
                                    </p:animEffect>
                                  </p:childTnLst>
                                </p:cTn>
                              </p:par>
                              <p:par>
                                <p:cTn id="165" presetID="42" presetClass="entr" presetSubtype="0" fill="hold" grpId="0" nodeType="withEffect">
                                  <p:stCondLst>
                                    <p:cond delay="1800"/>
                                  </p:stCondLst>
                                  <p:childTnLst>
                                    <p:set>
                                      <p:cBhvr>
                                        <p:cTn id="166" dur="1" fill="hold">
                                          <p:stCondLst>
                                            <p:cond delay="0"/>
                                          </p:stCondLst>
                                        </p:cTn>
                                        <p:tgtEl>
                                          <p:spTgt spid="43"/>
                                        </p:tgtEl>
                                        <p:attrNameLst>
                                          <p:attrName>style.visibility</p:attrName>
                                        </p:attrNameLst>
                                      </p:cBhvr>
                                      <p:to>
                                        <p:strVal val="visible"/>
                                      </p:to>
                                    </p:set>
                                    <p:anim calcmode="lin" valueType="num">
                                      <p:cBhvr additive="base">
                                        <p:cTn id="167" dur="600" fill="hold"/>
                                        <p:tgtEl>
                                          <p:spTgt spid="43"/>
                                        </p:tgtEl>
                                        <p:attrNameLst>
                                          <p:attrName>ppt_y</p:attrName>
                                        </p:attrNameLst>
                                      </p:cBhvr>
                                      <p:tavLst>
                                        <p:tav tm="0">
                                          <p:val>
                                            <p:strVal val="#ppt_y+.1"/>
                                          </p:val>
                                        </p:tav>
                                        <p:tav tm="100000">
                                          <p:val>
                                            <p:strVal val="#ppt_y"/>
                                          </p:val>
                                        </p:tav>
                                      </p:tavLst>
                                    </p:anim>
                                    <p:animEffect transition="in" filter="fade">
                                      <p:cBhvr>
                                        <p:cTn id="168" dur="600"/>
                                        <p:tgtEl>
                                          <p:spTgt spid="43"/>
                                        </p:tgtEl>
                                      </p:cBhvr>
                                    </p:animEffect>
                                  </p:childTnLst>
                                </p:cTn>
                              </p:par>
                              <p:par>
                                <p:cTn id="169" presetID="42" presetClass="entr" presetSubtype="0" fill="hold" grpId="0" nodeType="withEffect">
                                  <p:stCondLst>
                                    <p:cond delay="1800"/>
                                  </p:stCondLst>
                                  <p:childTnLst>
                                    <p:set>
                                      <p:cBhvr>
                                        <p:cTn id="170" dur="1" fill="hold">
                                          <p:stCondLst>
                                            <p:cond delay="0"/>
                                          </p:stCondLst>
                                        </p:cTn>
                                        <p:tgtEl>
                                          <p:spTgt spid="44"/>
                                        </p:tgtEl>
                                        <p:attrNameLst>
                                          <p:attrName>style.visibility</p:attrName>
                                        </p:attrNameLst>
                                      </p:cBhvr>
                                      <p:to>
                                        <p:strVal val="visible"/>
                                      </p:to>
                                    </p:set>
                                    <p:anim calcmode="lin" valueType="num">
                                      <p:cBhvr additive="base">
                                        <p:cTn id="171" dur="600" fill="hold"/>
                                        <p:tgtEl>
                                          <p:spTgt spid="44"/>
                                        </p:tgtEl>
                                        <p:attrNameLst>
                                          <p:attrName>ppt_y</p:attrName>
                                        </p:attrNameLst>
                                      </p:cBhvr>
                                      <p:tavLst>
                                        <p:tav tm="0">
                                          <p:val>
                                            <p:strVal val="#ppt_y+.1"/>
                                          </p:val>
                                        </p:tav>
                                        <p:tav tm="100000">
                                          <p:val>
                                            <p:strVal val="#ppt_y"/>
                                          </p:val>
                                        </p:tav>
                                      </p:tavLst>
                                    </p:anim>
                                    <p:animEffect transition="in" filter="fade">
                                      <p:cBhvr>
                                        <p:cTn id="172" dur="600"/>
                                        <p:tgtEl>
                                          <p:spTgt spid="44"/>
                                        </p:tgtEl>
                                      </p:cBhvr>
                                    </p:animEffect>
                                  </p:childTnLst>
                                </p:cTn>
                              </p:par>
                              <p:par>
                                <p:cTn id="173" presetID="22" presetClass="entr" presetSubtype="8" fill="hold" grpId="0" nodeType="withEffect">
                                  <p:stCondLst>
                                    <p:cond delay="600"/>
                                  </p:stCondLst>
                                  <p:childTnLst>
                                    <p:set>
                                      <p:cBhvr>
                                        <p:cTn id="174" dur="1" fill="hold">
                                          <p:stCondLst>
                                            <p:cond delay="0"/>
                                          </p:stCondLst>
                                        </p:cTn>
                                        <p:tgtEl>
                                          <p:spTgt spid="51"/>
                                        </p:tgtEl>
                                        <p:attrNameLst>
                                          <p:attrName>style.visibility</p:attrName>
                                        </p:attrNameLst>
                                      </p:cBhvr>
                                      <p:to>
                                        <p:strVal val="visible"/>
                                      </p:to>
                                    </p:set>
                                    <p:animEffect transition="in" filter="wipe(left)">
                                      <p:cBhvr>
                                        <p:cTn id="175" dur="1100"/>
                                        <p:tgtEl>
                                          <p:spTgt spid="51"/>
                                        </p:tgtEl>
                                      </p:cBhvr>
                                    </p:animEffect>
                                  </p:childTnLst>
                                </p:cTn>
                              </p:par>
                              <p:par>
                                <p:cTn id="177" presetID="0" presetClass="path" presetSubtype="0" fill="hold" accel="30000" decel="30000" nodeType="withEffect">
                                  <p:stCondLst>
                                    <p:cond delay="600"/>
                                  </p:stCondLst>
                                  <p:childTnLst>
                                    <p:animMotion origin="layout" path="M 0 0 L 0.02017 0 E" pathEditMode="relative" rAng="0" ptsTypes="AA">
                                      <p:cBhvr>
                                        <p:cTn id="176" dur="1100" fill="hold"/>
                                        <p:tgtEl>
                                          <p:spTgt spid="52"/>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P spid="21" grpId="0" animBg="1"/>
      <p:bldP spid="22" grpId="0" animBg="1"/>
      <p:bldP spid="23" grpId="0" animBg="1"/>
      <p:bldP spid="25" grpId="0" animBg="1"/>
      <p:bldP spid="26" grpId="0" animBg="1"/>
      <p:bldP spid="27" grpId="0" animBg="1"/>
      <p:bldP spid="28" grpId="0" animBg="1"/>
      <p:bldP spid="29" grpId="0" animBg="1"/>
      <p:bldP spid="30" grpId="0" animBg="1"/>
      <p:bldP spid="31" grpId="0" animBg="1"/>
      <p:bldP spid="33" grpId="0" animBg="1"/>
      <p:bldP spid="34" grpId="0" animBg="1"/>
      <p:bldP spid="35" grpId="0" animBg="1"/>
      <p:bldP spid="36" grpId="0" animBg="1"/>
      <p:bldP spid="37" grpId="0" animBg="1"/>
      <p:bldP spid="38" grpId="0" animBg="1"/>
      <p:bldP spid="39" grpId="0" animBg="1"/>
      <p:bldP spid="41" grpId="0" animBg="1"/>
      <p:bldP spid="42" grpId="0" animBg="1"/>
      <p:bldP spid="43" grpId="0" animBg="1"/>
      <p:bldP spid="44" grpId="0" animBg="1"/>
      <p:bldP spid="5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SkyLens at a glance</a:t>
            </a:r>
            <a:endParaRPr lang="en-US" sz="3600" dirty="0"/>
          </a:p>
        </p:txBody>
      </p:sp>
      <p:sp>
        <p:nvSpPr>
          <p:cNvPr id="5" name="lead"/>
          <p:cNvSpPr txBox="1"/>
          <p:nvPr/>
        </p:nvSpPr>
        <p:spPr>
          <a:xfrm>
            <a:off x="548640" y="1691640"/>
            <a:ext cx="5120640" cy="1737360"/>
          </a:xfrm>
          <a:prstGeom prst="rect">
            <a:avLst/>
          </a:prstGeom>
          <a:noFill/>
          <a:ln/>
        </p:spPr>
        <p:txBody>
          <a:bodyPr wrap="square" lIns="0" tIns="0" rIns="0" bIns="0" rtlCol="0" anchor="t"/>
          <a:lstStyle/>
          <a:p>
            <a:pPr algn="l" indent="0" marL="0">
              <a:buNone/>
            </a:pPr>
            <a:r>
              <a:rPr lang="en-US" sz="1800" dirty="0">
                <a:solidFill>
                  <a:schemeClr val="bg1"/>
                </a:solidFill>
              </a:rPr>
              <a:t>SkyLens retrieves real flight and airport information from the AviationStack API, validates and cleans it, stores it in SQLite and turns it into analytics, charts and an interactive desktop dashboard.</a:t>
            </a:r>
            <a:endParaRPr lang="en-US" sz="1800" dirty="0"/>
          </a:p>
        </p:txBody>
      </p:sp>
      <p:sp>
        <p:nvSpPr>
          <p:cNvPr id="6" name="flowcard"/>
          <p:cNvSpPr/>
          <p:nvPr/>
        </p:nvSpPr>
        <p:spPr>
          <a:xfrm>
            <a:off x="548640" y="3657600"/>
            <a:ext cx="5120640" cy="2423160"/>
          </a:xfrm>
          <a:prstGeom prst="roundRect">
            <a:avLst>
              <a:gd name="adj" fmla="val 4528"/>
            </a:avLst>
          </a:prstGeom>
          <a:solidFill>
            <a:schemeClr val="bg1">
              <a:alpha val="9000"/>
            </a:schemeClr>
          </a:solidFill>
          <a:ln w="9525">
            <a:solidFill>
              <a:schemeClr val="bg1">
                <a:alpha val="22000"/>
              </a:schemeClr>
            </a:solidFill>
            <a:prstDash val="solid"/>
          </a:ln>
        </p:spPr>
      </p:sp>
      <p:sp>
        <p:nvSpPr>
          <p:cNvPr id="7" name="flowhd"/>
          <p:cNvSpPr txBox="1"/>
          <p:nvPr/>
        </p:nvSpPr>
        <p:spPr>
          <a:xfrm>
            <a:off x="777240" y="3794760"/>
            <a:ext cx="2743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DATA JOURNEY</a:t>
            </a:r>
            <a:endParaRPr lang="en-US" sz="1200" dirty="0"/>
          </a:p>
        </p:txBody>
      </p:sp>
      <p:sp>
        <p:nvSpPr>
          <p:cNvPr id="8" name="fd0"/>
          <p:cNvSpPr/>
          <p:nvPr/>
        </p:nvSpPr>
        <p:spPr>
          <a:xfrm>
            <a:off x="822960" y="4206240"/>
            <a:ext cx="182880" cy="182880"/>
          </a:xfrm>
          <a:prstGeom prst="ellipse">
            <a:avLst/>
          </a:prstGeom>
          <a:solidFill>
            <a:schemeClr val="accent1"/>
          </a:solidFill>
          <a:ln/>
        </p:spPr>
      </p:sp>
      <p:sp>
        <p:nvSpPr>
          <p:cNvPr id="9" name="ft0"/>
          <p:cNvSpPr txBox="1"/>
          <p:nvPr/>
        </p:nvSpPr>
        <p:spPr>
          <a:xfrm>
            <a:off x="1188720" y="416052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AviationStack REST API</a:t>
            </a:r>
            <a:endParaRPr lang="en-US" sz="1600" dirty="0"/>
          </a:p>
        </p:txBody>
      </p:sp>
      <p:sp>
        <p:nvSpPr>
          <p:cNvPr id="10" name="fd1"/>
          <p:cNvSpPr/>
          <p:nvPr/>
        </p:nvSpPr>
        <p:spPr>
          <a:xfrm>
            <a:off x="822960" y="4572000"/>
            <a:ext cx="182880" cy="182880"/>
          </a:xfrm>
          <a:prstGeom prst="ellipse">
            <a:avLst/>
          </a:prstGeom>
          <a:solidFill>
            <a:schemeClr val="accent4"/>
          </a:solidFill>
          <a:ln/>
        </p:spPr>
      </p:sp>
      <p:sp>
        <p:nvSpPr>
          <p:cNvPr id="11" name="ft1"/>
          <p:cNvSpPr txBox="1"/>
          <p:nvPr/>
        </p:nvSpPr>
        <p:spPr>
          <a:xfrm>
            <a:off x="1188720" y="452628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Pydantic validation</a:t>
            </a:r>
            <a:endParaRPr lang="en-US" sz="1600" dirty="0"/>
          </a:p>
        </p:txBody>
      </p:sp>
      <p:sp>
        <p:nvSpPr>
          <p:cNvPr id="12" name="fd2"/>
          <p:cNvSpPr/>
          <p:nvPr/>
        </p:nvSpPr>
        <p:spPr>
          <a:xfrm>
            <a:off x="822960" y="4937760"/>
            <a:ext cx="182880" cy="182880"/>
          </a:xfrm>
          <a:prstGeom prst="ellipse">
            <a:avLst/>
          </a:prstGeom>
          <a:solidFill>
            <a:schemeClr val="accent2"/>
          </a:solidFill>
          <a:ln/>
        </p:spPr>
      </p:sp>
      <p:sp>
        <p:nvSpPr>
          <p:cNvPr id="13" name="ft2"/>
          <p:cNvSpPr txBox="1"/>
          <p:nvPr/>
        </p:nvSpPr>
        <p:spPr>
          <a:xfrm>
            <a:off x="1188720" y="489204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pandas processing</a:t>
            </a:r>
            <a:endParaRPr lang="en-US" sz="1600" dirty="0"/>
          </a:p>
        </p:txBody>
      </p:sp>
      <p:sp>
        <p:nvSpPr>
          <p:cNvPr id="14" name="fd3"/>
          <p:cNvSpPr/>
          <p:nvPr/>
        </p:nvSpPr>
        <p:spPr>
          <a:xfrm>
            <a:off x="822960" y="5303520"/>
            <a:ext cx="182880" cy="182880"/>
          </a:xfrm>
          <a:prstGeom prst="ellipse">
            <a:avLst/>
          </a:prstGeom>
          <a:solidFill>
            <a:schemeClr val="accent3"/>
          </a:solidFill>
          <a:ln/>
        </p:spPr>
      </p:sp>
      <p:sp>
        <p:nvSpPr>
          <p:cNvPr id="15" name="ft3"/>
          <p:cNvSpPr txBox="1"/>
          <p:nvPr/>
        </p:nvSpPr>
        <p:spPr>
          <a:xfrm>
            <a:off x="1188720" y="525780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SQLite storage</a:t>
            </a:r>
            <a:endParaRPr lang="en-US" sz="1600" dirty="0"/>
          </a:p>
        </p:txBody>
      </p:sp>
      <p:sp>
        <p:nvSpPr>
          <p:cNvPr id="16" name="fd4"/>
          <p:cNvSpPr/>
          <p:nvPr/>
        </p:nvSpPr>
        <p:spPr>
          <a:xfrm>
            <a:off x="822960" y="5669280"/>
            <a:ext cx="182880" cy="182880"/>
          </a:xfrm>
          <a:prstGeom prst="ellipse">
            <a:avLst/>
          </a:prstGeom>
          <a:solidFill>
            <a:schemeClr val="accent6"/>
          </a:solidFill>
          <a:ln/>
        </p:spPr>
      </p:sp>
      <p:sp>
        <p:nvSpPr>
          <p:cNvPr id="17" name="ft4"/>
          <p:cNvSpPr txBox="1"/>
          <p:nvPr/>
        </p:nvSpPr>
        <p:spPr>
          <a:xfrm>
            <a:off x="1188720" y="5623560"/>
            <a:ext cx="4297680" cy="292608"/>
          </a:xfrm>
          <a:prstGeom prst="rect">
            <a:avLst/>
          </a:prstGeom>
          <a:noFill/>
          <a:ln/>
        </p:spPr>
        <p:txBody>
          <a:bodyPr wrap="square" lIns="0" tIns="0" rIns="0" bIns="0" rtlCol="0" anchor="t"/>
          <a:lstStyle/>
          <a:p>
            <a:pPr algn="l" indent="0" marL="0">
              <a:buNone/>
            </a:pPr>
            <a:r>
              <a:rPr lang="en-US" sz="1600" dirty="0">
                <a:solidFill>
                  <a:schemeClr val="bg1"/>
                </a:solidFill>
              </a:rPr>
              <a:t>Analytics, charts and GUI</a:t>
            </a:r>
            <a:endParaRPr lang="en-US" sz="1600" dirty="0"/>
          </a:p>
        </p:txBody>
      </p:sp>
      <p:sp>
        <p:nvSpPr>
          <p:cNvPr id="18" name="st0"/>
          <p:cNvSpPr/>
          <p:nvPr/>
        </p:nvSpPr>
        <p:spPr>
          <a:xfrm>
            <a:off x="6035040" y="169164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19" name="sv0"/>
          <p:cNvSpPr txBox="1"/>
          <p:nvPr/>
        </p:nvSpPr>
        <p:spPr>
          <a:xfrm>
            <a:off x="6217920" y="1920240"/>
            <a:ext cx="1463040" cy="914400"/>
          </a:xfrm>
          <a:prstGeom prst="rect">
            <a:avLst/>
          </a:prstGeom>
          <a:noFill/>
          <a:ln/>
        </p:spPr>
        <p:txBody>
          <a:bodyPr wrap="square" lIns="0" tIns="0" rIns="0" bIns="0" rtlCol="0" anchor="t"/>
          <a:lstStyle/>
          <a:p>
            <a:pPr algn="l" indent="0" marL="0">
              <a:buNone/>
            </a:pPr>
            <a:r>
              <a:rPr lang="en-US" sz="4800" b="1" dirty="0">
                <a:solidFill>
                  <a:schemeClr val="accent1"/>
                </a:solidFill>
                <a:latin typeface="+mj-lt" pitchFamily="34" charset="0"/>
                <a:ea typeface="+mj-lt" pitchFamily="34" charset="-122"/>
                <a:cs typeface="+mj-lt" pitchFamily="34" charset="-120"/>
              </a:rPr>
              <a:t>2</a:t>
            </a:r>
            <a:endParaRPr lang="en-US" sz="4800" dirty="0"/>
          </a:p>
        </p:txBody>
      </p:sp>
      <p:sp>
        <p:nvSpPr>
          <p:cNvPr id="20" name="sl0"/>
          <p:cNvSpPr txBox="1"/>
          <p:nvPr/>
        </p:nvSpPr>
        <p:spPr>
          <a:xfrm>
            <a:off x="6217920" y="288036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front-ends on one shared core</a:t>
            </a:r>
            <a:endParaRPr lang="en-US" sz="1400" dirty="0"/>
          </a:p>
        </p:txBody>
      </p:sp>
      <p:sp>
        <p:nvSpPr>
          <p:cNvPr id="21" name="st1"/>
          <p:cNvSpPr/>
          <p:nvPr/>
        </p:nvSpPr>
        <p:spPr>
          <a:xfrm>
            <a:off x="7946136" y="169164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22" name="sv1"/>
          <p:cNvSpPr txBox="1"/>
          <p:nvPr/>
        </p:nvSpPr>
        <p:spPr>
          <a:xfrm>
            <a:off x="8129016" y="1920240"/>
            <a:ext cx="1463040" cy="914400"/>
          </a:xfrm>
          <a:prstGeom prst="rect">
            <a:avLst/>
          </a:prstGeom>
          <a:noFill/>
          <a:ln/>
        </p:spPr>
        <p:txBody>
          <a:bodyPr wrap="square" lIns="0" tIns="0" rIns="0" bIns="0" rtlCol="0" anchor="t"/>
          <a:lstStyle/>
          <a:p>
            <a:pPr algn="l" indent="0" marL="0">
              <a:buNone/>
            </a:pPr>
            <a:r>
              <a:rPr lang="en-US" sz="4800" b="1" dirty="0">
                <a:solidFill>
                  <a:schemeClr val="accent2"/>
                </a:solidFill>
                <a:latin typeface="+mj-lt" pitchFamily="34" charset="0"/>
                <a:ea typeface="+mj-lt" pitchFamily="34" charset="-122"/>
                <a:cs typeface="+mj-lt" pitchFamily="34" charset="-120"/>
              </a:rPr>
              <a:t>9</a:t>
            </a:r>
            <a:endParaRPr lang="en-US" sz="4800" dirty="0"/>
          </a:p>
        </p:txBody>
      </p:sp>
      <p:sp>
        <p:nvSpPr>
          <p:cNvPr id="23" name="sl1"/>
          <p:cNvSpPr txBox="1"/>
          <p:nvPr/>
        </p:nvSpPr>
        <p:spPr>
          <a:xfrm>
            <a:off x="8129016" y="288036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desktop GUI pages</a:t>
            </a:r>
            <a:endParaRPr lang="en-US" sz="1400" dirty="0"/>
          </a:p>
        </p:txBody>
      </p:sp>
      <p:sp>
        <p:nvSpPr>
          <p:cNvPr id="24" name="st2"/>
          <p:cNvSpPr/>
          <p:nvPr/>
        </p:nvSpPr>
        <p:spPr>
          <a:xfrm>
            <a:off x="9857232" y="169164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25" name="sv2"/>
          <p:cNvSpPr txBox="1"/>
          <p:nvPr/>
        </p:nvSpPr>
        <p:spPr>
          <a:xfrm>
            <a:off x="10040112" y="1920240"/>
            <a:ext cx="1463040" cy="914400"/>
          </a:xfrm>
          <a:prstGeom prst="rect">
            <a:avLst/>
          </a:prstGeom>
          <a:noFill/>
          <a:ln/>
        </p:spPr>
        <p:txBody>
          <a:bodyPr wrap="square" lIns="0" tIns="0" rIns="0" bIns="0" rtlCol="0" anchor="t"/>
          <a:lstStyle/>
          <a:p>
            <a:pPr algn="l" indent="0" marL="0">
              <a:buNone/>
            </a:pPr>
            <a:r>
              <a:rPr lang="en-US" sz="4800" b="1" dirty="0">
                <a:solidFill>
                  <a:schemeClr val="accent3"/>
                </a:solidFill>
                <a:latin typeface="+mj-lt" pitchFamily="34" charset="0"/>
                <a:ea typeface="+mj-lt" pitchFamily="34" charset="-122"/>
                <a:cs typeface="+mj-lt" pitchFamily="34" charset="-120"/>
              </a:rPr>
              <a:t>8</a:t>
            </a:r>
            <a:endParaRPr lang="en-US" sz="4800" dirty="0"/>
          </a:p>
        </p:txBody>
      </p:sp>
      <p:sp>
        <p:nvSpPr>
          <p:cNvPr id="26" name="sl2"/>
          <p:cNvSpPr txBox="1"/>
          <p:nvPr/>
        </p:nvSpPr>
        <p:spPr>
          <a:xfrm>
            <a:off x="10040112" y="288036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chart builders</a:t>
            </a:r>
            <a:endParaRPr lang="en-US" sz="1400" dirty="0"/>
          </a:p>
        </p:txBody>
      </p:sp>
      <p:sp>
        <p:nvSpPr>
          <p:cNvPr id="27" name="st3"/>
          <p:cNvSpPr/>
          <p:nvPr/>
        </p:nvSpPr>
        <p:spPr>
          <a:xfrm>
            <a:off x="6035040" y="393192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28" name="sv3"/>
          <p:cNvSpPr txBox="1"/>
          <p:nvPr/>
        </p:nvSpPr>
        <p:spPr>
          <a:xfrm>
            <a:off x="6217920" y="4160520"/>
            <a:ext cx="1463040" cy="914400"/>
          </a:xfrm>
          <a:prstGeom prst="rect">
            <a:avLst/>
          </a:prstGeom>
          <a:noFill/>
          <a:ln/>
        </p:spPr>
        <p:txBody>
          <a:bodyPr wrap="square" lIns="0" tIns="0" rIns="0" bIns="0" rtlCol="0" anchor="t"/>
          <a:lstStyle/>
          <a:p>
            <a:pPr algn="l" indent="0" marL="0">
              <a:buNone/>
            </a:pPr>
            <a:r>
              <a:rPr lang="en-US" sz="4800" b="1" dirty="0">
                <a:solidFill>
                  <a:schemeClr val="accent4"/>
                </a:solidFill>
                <a:latin typeface="+mj-lt" pitchFamily="34" charset="0"/>
                <a:ea typeface="+mj-lt" pitchFamily="34" charset="-122"/>
                <a:cs typeface="+mj-lt" pitchFamily="34" charset="-120"/>
              </a:rPr>
              <a:t>42</a:t>
            </a:r>
            <a:endParaRPr lang="en-US" sz="4800" dirty="0"/>
          </a:p>
        </p:txBody>
      </p:sp>
      <p:sp>
        <p:nvSpPr>
          <p:cNvPr id="29" name="sl3"/>
          <p:cNvSpPr txBox="1"/>
          <p:nvPr/>
        </p:nvSpPr>
        <p:spPr>
          <a:xfrm>
            <a:off x="6217920" y="512064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stored columns per flight</a:t>
            </a:r>
            <a:endParaRPr lang="en-US" sz="1400" dirty="0"/>
          </a:p>
        </p:txBody>
      </p:sp>
      <p:sp>
        <p:nvSpPr>
          <p:cNvPr id="30" name="st4"/>
          <p:cNvSpPr/>
          <p:nvPr/>
        </p:nvSpPr>
        <p:spPr>
          <a:xfrm>
            <a:off x="7946136" y="393192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31" name="sv4"/>
          <p:cNvSpPr txBox="1"/>
          <p:nvPr/>
        </p:nvSpPr>
        <p:spPr>
          <a:xfrm>
            <a:off x="8129016" y="4160520"/>
            <a:ext cx="1463040" cy="914400"/>
          </a:xfrm>
          <a:prstGeom prst="rect">
            <a:avLst/>
          </a:prstGeom>
          <a:noFill/>
          <a:ln/>
        </p:spPr>
        <p:txBody>
          <a:bodyPr wrap="square" lIns="0" tIns="0" rIns="0" bIns="0" rtlCol="0" anchor="t"/>
          <a:lstStyle/>
          <a:p>
            <a:pPr algn="l" indent="0" marL="0">
              <a:buNone/>
            </a:pPr>
            <a:r>
              <a:rPr lang="en-US" sz="4800" b="1" dirty="0">
                <a:solidFill>
                  <a:schemeClr val="accent6"/>
                </a:solidFill>
                <a:latin typeface="+mj-lt" pitchFamily="34" charset="0"/>
                <a:ea typeface="+mj-lt" pitchFamily="34" charset="-122"/>
                <a:cs typeface="+mj-lt" pitchFamily="34" charset="-120"/>
              </a:rPr>
              <a:t>65</a:t>
            </a:r>
            <a:endParaRPr lang="en-US" sz="4800" dirty="0"/>
          </a:p>
        </p:txBody>
      </p:sp>
      <p:sp>
        <p:nvSpPr>
          <p:cNvPr id="32" name="sl4"/>
          <p:cNvSpPr txBox="1"/>
          <p:nvPr/>
        </p:nvSpPr>
        <p:spPr>
          <a:xfrm>
            <a:off x="8129016" y="512064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automated tests, all passing</a:t>
            </a:r>
            <a:endParaRPr lang="en-US" sz="1400" dirty="0"/>
          </a:p>
        </p:txBody>
      </p:sp>
      <p:sp>
        <p:nvSpPr>
          <p:cNvPr id="33" name="st5"/>
          <p:cNvSpPr/>
          <p:nvPr/>
        </p:nvSpPr>
        <p:spPr>
          <a:xfrm>
            <a:off x="9857232" y="3931920"/>
            <a:ext cx="1783080" cy="2103120"/>
          </a:xfrm>
          <a:prstGeom prst="roundRect">
            <a:avLst>
              <a:gd name="adj" fmla="val 6154"/>
            </a:avLst>
          </a:prstGeom>
          <a:solidFill>
            <a:schemeClr val="bg1">
              <a:alpha val="9000"/>
            </a:schemeClr>
          </a:solidFill>
          <a:ln w="9525">
            <a:solidFill>
              <a:schemeClr val="bg1">
                <a:alpha val="22000"/>
              </a:schemeClr>
            </a:solidFill>
            <a:prstDash val="solid"/>
          </a:ln>
        </p:spPr>
      </p:sp>
      <p:sp>
        <p:nvSpPr>
          <p:cNvPr id="34" name="sv5"/>
          <p:cNvSpPr txBox="1"/>
          <p:nvPr/>
        </p:nvSpPr>
        <p:spPr>
          <a:xfrm>
            <a:off x="10040112" y="4160520"/>
            <a:ext cx="1463040" cy="914400"/>
          </a:xfrm>
          <a:prstGeom prst="rect">
            <a:avLst/>
          </a:prstGeom>
          <a:noFill/>
          <a:ln/>
        </p:spPr>
        <p:txBody>
          <a:bodyPr wrap="square" lIns="0" tIns="0" rIns="0" bIns="0" rtlCol="0" anchor="t"/>
          <a:lstStyle/>
          <a:p>
            <a:pPr algn="l" indent="0" marL="0">
              <a:buNone/>
            </a:pPr>
            <a:r>
              <a:rPr lang="en-US" sz="4800" b="1" dirty="0">
                <a:solidFill>
                  <a:schemeClr val="accent5"/>
                </a:solidFill>
                <a:latin typeface="+mj-lt" pitchFamily="34" charset="0"/>
                <a:ea typeface="+mj-lt" pitchFamily="34" charset="-122"/>
                <a:cs typeface="+mj-lt" pitchFamily="34" charset="-120"/>
              </a:rPr>
              <a:t>5.9k</a:t>
            </a:r>
            <a:endParaRPr lang="en-US" sz="4800" dirty="0"/>
          </a:p>
        </p:txBody>
      </p:sp>
      <p:sp>
        <p:nvSpPr>
          <p:cNvPr id="35" name="sl5"/>
          <p:cNvSpPr txBox="1"/>
          <p:nvPr/>
        </p:nvSpPr>
        <p:spPr>
          <a:xfrm>
            <a:off x="10040112" y="5120640"/>
            <a:ext cx="1463040" cy="777240"/>
          </a:xfrm>
          <a:prstGeom prst="rect">
            <a:avLst/>
          </a:prstGeom>
          <a:noFill/>
          <a:ln/>
        </p:spPr>
        <p:txBody>
          <a:bodyPr wrap="square" lIns="0" tIns="0" rIns="0" bIns="0" rtlCol="0" anchor="t"/>
          <a:lstStyle/>
          <a:p>
            <a:pPr algn="l" indent="0" marL="0">
              <a:buNone/>
            </a:pPr>
            <a:r>
              <a:rPr lang="en-US" sz="1400" dirty="0">
                <a:solidFill>
                  <a:schemeClr val="bg2"/>
                </a:solidFill>
              </a:rPr>
              <a:t>lines of Python incl. tests</a:t>
            </a:r>
            <a:endParaRPr lang="en-US" sz="1400" dirty="0"/>
          </a:p>
        </p:txBody>
      </p:sp>
      <p:sp>
        <p:nvSpPr>
          <p:cNvPr id="36" name="track"/>
          <p:cNvSpPr/>
          <p:nvPr/>
        </p:nvSpPr>
        <p:spPr>
          <a:xfrm>
            <a:off x="3383280" y="6510528"/>
            <a:ext cx="7132320" cy="0"/>
          </a:xfrm>
          <a:prstGeom prst="line">
            <a:avLst/>
          </a:prstGeom>
          <a:noFill/>
          <a:ln w="12700">
            <a:solidFill>
              <a:schemeClr val="bg2">
                <a:alpha val="45000"/>
              </a:schemeClr>
            </a:solidFill>
            <a:prstDash val="dash"/>
          </a:ln>
        </p:spPr>
      </p:sp>
      <p:sp>
        <p:nvSpPr>
          <p:cNvPr id="37" name="progress"/>
          <p:cNvSpPr/>
          <p:nvPr/>
        </p:nvSpPr>
        <p:spPr>
          <a:xfrm>
            <a:off x="3383280" y="6510528"/>
            <a:ext cx="245942" cy="0"/>
          </a:xfrm>
          <a:prstGeom prst="line">
            <a:avLst/>
          </a:prstGeom>
          <a:noFill/>
          <a:ln w="28575">
            <a:solidFill>
              <a:schemeClr val="accent2"/>
            </a:solidFill>
            <a:prstDash val="solid"/>
          </a:ln>
        </p:spPr>
      </p:sp>
      <p:sp>
        <p:nvSpPr>
          <p:cNvPr id="38" name="wp0"/>
          <p:cNvSpPr/>
          <p:nvPr/>
        </p:nvSpPr>
        <p:spPr>
          <a:xfrm>
            <a:off x="3834016" y="6469380"/>
            <a:ext cx="82296" cy="82296"/>
          </a:xfrm>
          <a:prstGeom prst="ellipse">
            <a:avLst/>
          </a:prstGeom>
          <a:solidFill>
            <a:schemeClr val="accent2"/>
          </a:solidFill>
          <a:ln/>
        </p:spPr>
      </p:sp>
      <p:sp>
        <p:nvSpPr>
          <p:cNvPr id="39" name="wp1"/>
          <p:cNvSpPr/>
          <p:nvPr/>
        </p:nvSpPr>
        <p:spPr>
          <a:xfrm>
            <a:off x="4817784" y="6469380"/>
            <a:ext cx="82296" cy="82296"/>
          </a:xfrm>
          <a:prstGeom prst="ellipse">
            <a:avLst/>
          </a:prstGeom>
          <a:solidFill>
            <a:schemeClr val="bg2">
              <a:alpha val="60000"/>
            </a:schemeClr>
          </a:solidFill>
          <a:ln/>
        </p:spPr>
      </p:sp>
      <p:sp>
        <p:nvSpPr>
          <p:cNvPr id="40" name="wp2"/>
          <p:cNvSpPr/>
          <p:nvPr/>
        </p:nvSpPr>
        <p:spPr>
          <a:xfrm>
            <a:off x="7277205" y="6469380"/>
            <a:ext cx="82296" cy="82296"/>
          </a:xfrm>
          <a:prstGeom prst="ellipse">
            <a:avLst/>
          </a:prstGeom>
          <a:solidFill>
            <a:schemeClr val="bg2">
              <a:alpha val="60000"/>
            </a:schemeClr>
          </a:solidFill>
          <a:ln/>
        </p:spPr>
      </p:sp>
      <p:sp>
        <p:nvSpPr>
          <p:cNvPr id="41" name="wp3"/>
          <p:cNvSpPr/>
          <p:nvPr/>
        </p:nvSpPr>
        <p:spPr>
          <a:xfrm>
            <a:off x="8506915" y="6469380"/>
            <a:ext cx="82296" cy="82296"/>
          </a:xfrm>
          <a:prstGeom prst="ellipse">
            <a:avLst/>
          </a:prstGeom>
          <a:solidFill>
            <a:schemeClr val="bg2">
              <a:alpha val="60000"/>
            </a:schemeClr>
          </a:solidFill>
          <a:ln/>
        </p:spPr>
      </p:sp>
      <p:sp>
        <p:nvSpPr>
          <p:cNvPr id="42" name="wp4"/>
          <p:cNvSpPr/>
          <p:nvPr/>
        </p:nvSpPr>
        <p:spPr>
          <a:xfrm>
            <a:off x="9982568" y="6469380"/>
            <a:ext cx="82296" cy="82296"/>
          </a:xfrm>
          <a:prstGeom prst="ellipse">
            <a:avLst/>
          </a:prstGeom>
          <a:solidFill>
            <a:schemeClr val="bg2">
              <a:alpha val="60000"/>
            </a:schemeClr>
          </a:solidFill>
          <a:ln/>
        </p:spPr>
      </p:sp>
      <p:sp>
        <p:nvSpPr>
          <p:cNvPr id="43" name="progress_ext"/>
          <p:cNvSpPr/>
          <p:nvPr/>
        </p:nvSpPr>
        <p:spPr>
          <a:xfrm>
            <a:off x="3629222" y="6510528"/>
            <a:ext cx="245942" cy="0"/>
          </a:xfrm>
          <a:prstGeom prst="line">
            <a:avLst/>
          </a:prstGeom>
          <a:noFill/>
          <a:ln w="28575">
            <a:solidFill>
              <a:schemeClr val="accent2"/>
            </a:solidFill>
            <a:prstDash val="solid"/>
          </a:ln>
        </p:spPr>
      </p:sp>
      <p:pic>
        <p:nvPicPr>
          <p:cNvPr id="44" name="!!tracker" descr="Progress marker">    </p:cNvPr>
          <p:cNvPicPr>
            <a:picLocks noChangeAspect="1"/>
          </p:cNvPicPr>
          <p:nvPr/>
        </p:nvPicPr>
        <p:blipFill>
          <a:blip r:embed="rId1"/>
          <a:stretch>
            <a:fillRect/>
          </a:stretch>
        </p:blipFill>
        <p:spPr>
          <a:xfrm>
            <a:off x="3446342"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1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900"/>
                                        <p:tgtEl>
                                          <p:spTgt spid="5"/>
                                        </p:tgtEl>
                                      </p:cBhvr>
                                    </p:animEffect>
                                  </p:childTnLst>
                                </p:cTn>
                              </p:par>
                              <p:par>
                                <p:cTn id="16" presetID="10" presetClass="entr" presetSubtype="0" fill="hold" grpId="0" nodeType="withEffect">
                                  <p:stCondLst>
                                    <p:cond delay="4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par>
                                <p:cTn id="19" presetID="10" presetClass="entr" presetSubtype="0" fill="hold" grpId="0" nodeType="withEffect">
                                  <p:stCondLst>
                                    <p:cond delay="4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600"/>
                                        <p:tgtEl>
                                          <p:spTgt spid="7"/>
                                        </p:tgtEl>
                                      </p:cBhvr>
                                    </p:animEffect>
                                  </p:childTnLst>
                                </p:cTn>
                              </p:par>
                              <p:par>
                                <p:cTn id="22" presetID="10" presetClass="entr" presetSubtype="0" fill="hold" grpId="0" nodeType="withEffect">
                                  <p:stCondLst>
                                    <p:cond delay="9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102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10" presetClass="entr" presetSubtype="0" fill="hold" grpId="0" nodeType="withEffect">
                                  <p:stCondLst>
                                    <p:cond delay="114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500"/>
                                        <p:tgtEl>
                                          <p:spTgt spid="10"/>
                                        </p:tgtEl>
                                      </p:cBhvr>
                                    </p:animEffect>
                                  </p:childTnLst>
                                </p:cTn>
                              </p:par>
                              <p:par>
                                <p:cTn id="31" presetID="10" presetClass="entr" presetSubtype="0" fill="hold" grpId="0" nodeType="withEffect">
                                  <p:stCondLst>
                                    <p:cond delay="126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par>
                                <p:cTn id="34" presetID="10" presetClass="entr" presetSubtype="0" fill="hold" grpId="0" nodeType="withEffect">
                                  <p:stCondLst>
                                    <p:cond delay="138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grpId="0" nodeType="withEffect">
                                  <p:stCondLst>
                                    <p:cond delay="15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par>
                                <p:cTn id="40" presetID="10" presetClass="entr" presetSubtype="0" fill="hold" grpId="0" nodeType="withEffect">
                                  <p:stCondLst>
                                    <p:cond delay="162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500"/>
                                        <p:tgtEl>
                                          <p:spTgt spid="14"/>
                                        </p:tgtEl>
                                      </p:cBhvr>
                                    </p:animEffect>
                                  </p:childTnLst>
                                </p:cTn>
                              </p:par>
                              <p:par>
                                <p:cTn id="43" presetID="10" presetClass="entr" presetSubtype="0" fill="hold" grpId="0" nodeType="withEffect">
                                  <p:stCondLst>
                                    <p:cond delay="174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500"/>
                                        <p:tgtEl>
                                          <p:spTgt spid="15"/>
                                        </p:tgtEl>
                                      </p:cBhvr>
                                    </p:animEffect>
                                  </p:childTnLst>
                                </p:cTn>
                              </p:par>
                              <p:par>
                                <p:cTn id="46" presetID="10" presetClass="entr" presetSubtype="0" fill="hold" grpId="0" nodeType="withEffect">
                                  <p:stCondLst>
                                    <p:cond delay="186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500"/>
                                        <p:tgtEl>
                                          <p:spTgt spid="16"/>
                                        </p:tgtEl>
                                      </p:cBhvr>
                                    </p:animEffect>
                                  </p:childTnLst>
                                </p:cTn>
                              </p:par>
                              <p:par>
                                <p:cTn id="49" presetID="10" presetClass="entr" presetSubtype="0" fill="hold" grpId="0" nodeType="withEffect">
                                  <p:stCondLst>
                                    <p:cond delay="198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500"/>
                                        <p:tgtEl>
                                          <p:spTgt spid="17"/>
                                        </p:tgtEl>
                                      </p:cBhvr>
                                    </p:animEffect>
                                  </p:childTnLst>
                                </p:cTn>
                              </p:par>
                              <p:par>
                                <p:cTn id="52" presetID="53" presetClass="entr" presetSubtype="16" fill="hold" grpId="0" nodeType="withEffect">
                                  <p:stCondLst>
                                    <p:cond delay="600"/>
                                  </p:stCondLst>
                                  <p:childTnLst>
                                    <p:set>
                                      <p:cBhvr>
                                        <p:cTn id="53" dur="1" fill="hold">
                                          <p:stCondLst>
                                            <p:cond delay="0"/>
                                          </p:stCondLst>
                                        </p:cTn>
                                        <p:tgtEl>
                                          <p:spTgt spid="18"/>
                                        </p:tgtEl>
                                        <p:attrNameLst>
                                          <p:attrName>style.visibility</p:attrName>
                                        </p:attrNameLst>
                                      </p:cBhvr>
                                      <p:to>
                                        <p:strVal val="visible"/>
                                      </p:to>
                                    </p:set>
                                    <p:anim calcmode="lin" valueType="num">
                                      <p:cBhvr additive="base">
                                        <p:cTn id="54" dur="550" fill="hold"/>
                                        <p:tgtEl>
                                          <p:spTgt spid="18"/>
                                        </p:tgtEl>
                                        <p:attrNameLst>
                                          <p:attrName>ppt_w</p:attrName>
                                        </p:attrNameLst>
                                      </p:cBhvr>
                                      <p:tavLst>
                                        <p:tav tm="0">
                                          <p:val>
                                            <p:fltVal val="0"/>
                                          </p:val>
                                        </p:tav>
                                        <p:tav tm="100000">
                                          <p:val>
                                            <p:strVal val="#ppt_w"/>
                                          </p:val>
                                        </p:tav>
                                      </p:tavLst>
                                    </p:anim>
                                    <p:anim calcmode="lin" valueType="num">
                                      <p:cBhvr additive="base">
                                        <p:cTn id="55" dur="550" fill="hold"/>
                                        <p:tgtEl>
                                          <p:spTgt spid="18"/>
                                        </p:tgtEl>
                                        <p:attrNameLst>
                                          <p:attrName>ppt_h</p:attrName>
                                        </p:attrNameLst>
                                      </p:cBhvr>
                                      <p:tavLst>
                                        <p:tav tm="0">
                                          <p:val>
                                            <p:fltVal val="0"/>
                                          </p:val>
                                        </p:tav>
                                        <p:tav tm="100000">
                                          <p:val>
                                            <p:strVal val="#ppt_h"/>
                                          </p:val>
                                        </p:tav>
                                      </p:tavLst>
                                    </p:anim>
                                    <p:animEffect transition="in" filter="fade">
                                      <p:cBhvr>
                                        <p:cTn id="56" dur="550"/>
                                        <p:tgtEl>
                                          <p:spTgt spid="18"/>
                                        </p:tgtEl>
                                      </p:cBhvr>
                                    </p:animEffect>
                                  </p:childTnLst>
                                </p:cTn>
                              </p:par>
                              <p:par>
                                <p:cTn id="57" presetID="53" presetClass="entr" presetSubtype="16" fill="hold" grpId="0" nodeType="withEffect">
                                  <p:stCondLst>
                                    <p:cond delay="600"/>
                                  </p:stCondLst>
                                  <p:childTnLst>
                                    <p:set>
                                      <p:cBhvr>
                                        <p:cTn id="58" dur="1" fill="hold">
                                          <p:stCondLst>
                                            <p:cond delay="0"/>
                                          </p:stCondLst>
                                        </p:cTn>
                                        <p:tgtEl>
                                          <p:spTgt spid="19"/>
                                        </p:tgtEl>
                                        <p:attrNameLst>
                                          <p:attrName>style.visibility</p:attrName>
                                        </p:attrNameLst>
                                      </p:cBhvr>
                                      <p:to>
                                        <p:strVal val="visible"/>
                                      </p:to>
                                    </p:set>
                                    <p:anim calcmode="lin" valueType="num">
                                      <p:cBhvr additive="base">
                                        <p:cTn id="59" dur="550" fill="hold"/>
                                        <p:tgtEl>
                                          <p:spTgt spid="19"/>
                                        </p:tgtEl>
                                        <p:attrNameLst>
                                          <p:attrName>ppt_w</p:attrName>
                                        </p:attrNameLst>
                                      </p:cBhvr>
                                      <p:tavLst>
                                        <p:tav tm="0">
                                          <p:val>
                                            <p:fltVal val="0"/>
                                          </p:val>
                                        </p:tav>
                                        <p:tav tm="100000">
                                          <p:val>
                                            <p:strVal val="#ppt_w"/>
                                          </p:val>
                                        </p:tav>
                                      </p:tavLst>
                                    </p:anim>
                                    <p:anim calcmode="lin" valueType="num">
                                      <p:cBhvr additive="base">
                                        <p:cTn id="60" dur="550" fill="hold"/>
                                        <p:tgtEl>
                                          <p:spTgt spid="19"/>
                                        </p:tgtEl>
                                        <p:attrNameLst>
                                          <p:attrName>ppt_h</p:attrName>
                                        </p:attrNameLst>
                                      </p:cBhvr>
                                      <p:tavLst>
                                        <p:tav tm="0">
                                          <p:val>
                                            <p:fltVal val="0"/>
                                          </p:val>
                                        </p:tav>
                                        <p:tav tm="100000">
                                          <p:val>
                                            <p:strVal val="#ppt_h"/>
                                          </p:val>
                                        </p:tav>
                                      </p:tavLst>
                                    </p:anim>
                                    <p:animEffect transition="in" filter="fade">
                                      <p:cBhvr>
                                        <p:cTn id="61" dur="550"/>
                                        <p:tgtEl>
                                          <p:spTgt spid="19"/>
                                        </p:tgtEl>
                                      </p:cBhvr>
                                    </p:animEffect>
                                  </p:childTnLst>
                                </p:cTn>
                              </p:par>
                              <p:par>
                                <p:cTn id="62" presetID="53" presetClass="entr" presetSubtype="16" fill="hold" grpId="0" nodeType="withEffect">
                                  <p:stCondLst>
                                    <p:cond delay="600"/>
                                  </p:stCondLst>
                                  <p:childTnLst>
                                    <p:set>
                                      <p:cBhvr>
                                        <p:cTn id="63" dur="1" fill="hold">
                                          <p:stCondLst>
                                            <p:cond delay="0"/>
                                          </p:stCondLst>
                                        </p:cTn>
                                        <p:tgtEl>
                                          <p:spTgt spid="20"/>
                                        </p:tgtEl>
                                        <p:attrNameLst>
                                          <p:attrName>style.visibility</p:attrName>
                                        </p:attrNameLst>
                                      </p:cBhvr>
                                      <p:to>
                                        <p:strVal val="visible"/>
                                      </p:to>
                                    </p:set>
                                    <p:anim calcmode="lin" valueType="num">
                                      <p:cBhvr additive="base">
                                        <p:cTn id="64" dur="550" fill="hold"/>
                                        <p:tgtEl>
                                          <p:spTgt spid="20"/>
                                        </p:tgtEl>
                                        <p:attrNameLst>
                                          <p:attrName>ppt_w</p:attrName>
                                        </p:attrNameLst>
                                      </p:cBhvr>
                                      <p:tavLst>
                                        <p:tav tm="0">
                                          <p:val>
                                            <p:fltVal val="0"/>
                                          </p:val>
                                        </p:tav>
                                        <p:tav tm="100000">
                                          <p:val>
                                            <p:strVal val="#ppt_w"/>
                                          </p:val>
                                        </p:tav>
                                      </p:tavLst>
                                    </p:anim>
                                    <p:anim calcmode="lin" valueType="num">
                                      <p:cBhvr additive="base">
                                        <p:cTn id="65" dur="550" fill="hold"/>
                                        <p:tgtEl>
                                          <p:spTgt spid="20"/>
                                        </p:tgtEl>
                                        <p:attrNameLst>
                                          <p:attrName>ppt_h</p:attrName>
                                        </p:attrNameLst>
                                      </p:cBhvr>
                                      <p:tavLst>
                                        <p:tav tm="0">
                                          <p:val>
                                            <p:fltVal val="0"/>
                                          </p:val>
                                        </p:tav>
                                        <p:tav tm="100000">
                                          <p:val>
                                            <p:strVal val="#ppt_h"/>
                                          </p:val>
                                        </p:tav>
                                      </p:tavLst>
                                    </p:anim>
                                    <p:animEffect transition="in" filter="fade">
                                      <p:cBhvr>
                                        <p:cTn id="66" dur="550"/>
                                        <p:tgtEl>
                                          <p:spTgt spid="20"/>
                                        </p:tgtEl>
                                      </p:cBhvr>
                                    </p:animEffect>
                                  </p:childTnLst>
                                </p:cTn>
                              </p:par>
                              <p:par>
                                <p:cTn id="67" presetID="53" presetClass="entr" presetSubtype="16" fill="hold" grpId="0" nodeType="withEffect">
                                  <p:stCondLst>
                                    <p:cond delay="800"/>
                                  </p:stCondLst>
                                  <p:childTnLst>
                                    <p:set>
                                      <p:cBhvr>
                                        <p:cTn id="68" dur="1" fill="hold">
                                          <p:stCondLst>
                                            <p:cond delay="0"/>
                                          </p:stCondLst>
                                        </p:cTn>
                                        <p:tgtEl>
                                          <p:spTgt spid="21"/>
                                        </p:tgtEl>
                                        <p:attrNameLst>
                                          <p:attrName>style.visibility</p:attrName>
                                        </p:attrNameLst>
                                      </p:cBhvr>
                                      <p:to>
                                        <p:strVal val="visible"/>
                                      </p:to>
                                    </p:set>
                                    <p:anim calcmode="lin" valueType="num">
                                      <p:cBhvr additive="base">
                                        <p:cTn id="69" dur="550" fill="hold"/>
                                        <p:tgtEl>
                                          <p:spTgt spid="21"/>
                                        </p:tgtEl>
                                        <p:attrNameLst>
                                          <p:attrName>ppt_w</p:attrName>
                                        </p:attrNameLst>
                                      </p:cBhvr>
                                      <p:tavLst>
                                        <p:tav tm="0">
                                          <p:val>
                                            <p:fltVal val="0"/>
                                          </p:val>
                                        </p:tav>
                                        <p:tav tm="100000">
                                          <p:val>
                                            <p:strVal val="#ppt_w"/>
                                          </p:val>
                                        </p:tav>
                                      </p:tavLst>
                                    </p:anim>
                                    <p:anim calcmode="lin" valueType="num">
                                      <p:cBhvr additive="base">
                                        <p:cTn id="70" dur="550" fill="hold"/>
                                        <p:tgtEl>
                                          <p:spTgt spid="21"/>
                                        </p:tgtEl>
                                        <p:attrNameLst>
                                          <p:attrName>ppt_h</p:attrName>
                                        </p:attrNameLst>
                                      </p:cBhvr>
                                      <p:tavLst>
                                        <p:tav tm="0">
                                          <p:val>
                                            <p:fltVal val="0"/>
                                          </p:val>
                                        </p:tav>
                                        <p:tav tm="100000">
                                          <p:val>
                                            <p:strVal val="#ppt_h"/>
                                          </p:val>
                                        </p:tav>
                                      </p:tavLst>
                                    </p:anim>
                                    <p:animEffect transition="in" filter="fade">
                                      <p:cBhvr>
                                        <p:cTn id="71" dur="550"/>
                                        <p:tgtEl>
                                          <p:spTgt spid="21"/>
                                        </p:tgtEl>
                                      </p:cBhvr>
                                    </p:animEffect>
                                  </p:childTnLst>
                                </p:cTn>
                              </p:par>
                              <p:par>
                                <p:cTn id="72" presetID="53" presetClass="entr" presetSubtype="16" fill="hold" grpId="0" nodeType="withEffect">
                                  <p:stCondLst>
                                    <p:cond delay="800"/>
                                  </p:stCondLst>
                                  <p:childTnLst>
                                    <p:set>
                                      <p:cBhvr>
                                        <p:cTn id="73" dur="1" fill="hold">
                                          <p:stCondLst>
                                            <p:cond delay="0"/>
                                          </p:stCondLst>
                                        </p:cTn>
                                        <p:tgtEl>
                                          <p:spTgt spid="22"/>
                                        </p:tgtEl>
                                        <p:attrNameLst>
                                          <p:attrName>style.visibility</p:attrName>
                                        </p:attrNameLst>
                                      </p:cBhvr>
                                      <p:to>
                                        <p:strVal val="visible"/>
                                      </p:to>
                                    </p:set>
                                    <p:anim calcmode="lin" valueType="num">
                                      <p:cBhvr additive="base">
                                        <p:cTn id="74" dur="550" fill="hold"/>
                                        <p:tgtEl>
                                          <p:spTgt spid="22"/>
                                        </p:tgtEl>
                                        <p:attrNameLst>
                                          <p:attrName>ppt_w</p:attrName>
                                        </p:attrNameLst>
                                      </p:cBhvr>
                                      <p:tavLst>
                                        <p:tav tm="0">
                                          <p:val>
                                            <p:fltVal val="0"/>
                                          </p:val>
                                        </p:tav>
                                        <p:tav tm="100000">
                                          <p:val>
                                            <p:strVal val="#ppt_w"/>
                                          </p:val>
                                        </p:tav>
                                      </p:tavLst>
                                    </p:anim>
                                    <p:anim calcmode="lin" valueType="num">
                                      <p:cBhvr additive="base">
                                        <p:cTn id="75" dur="550" fill="hold"/>
                                        <p:tgtEl>
                                          <p:spTgt spid="22"/>
                                        </p:tgtEl>
                                        <p:attrNameLst>
                                          <p:attrName>ppt_h</p:attrName>
                                        </p:attrNameLst>
                                      </p:cBhvr>
                                      <p:tavLst>
                                        <p:tav tm="0">
                                          <p:val>
                                            <p:fltVal val="0"/>
                                          </p:val>
                                        </p:tav>
                                        <p:tav tm="100000">
                                          <p:val>
                                            <p:strVal val="#ppt_h"/>
                                          </p:val>
                                        </p:tav>
                                      </p:tavLst>
                                    </p:anim>
                                    <p:animEffect transition="in" filter="fade">
                                      <p:cBhvr>
                                        <p:cTn id="76" dur="550"/>
                                        <p:tgtEl>
                                          <p:spTgt spid="22"/>
                                        </p:tgtEl>
                                      </p:cBhvr>
                                    </p:animEffect>
                                  </p:childTnLst>
                                </p:cTn>
                              </p:par>
                              <p:par>
                                <p:cTn id="77" presetID="53" presetClass="entr" presetSubtype="16" fill="hold" grpId="0" nodeType="withEffect">
                                  <p:stCondLst>
                                    <p:cond delay="80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50" fill="hold"/>
                                        <p:tgtEl>
                                          <p:spTgt spid="23"/>
                                        </p:tgtEl>
                                        <p:attrNameLst>
                                          <p:attrName>ppt_w</p:attrName>
                                        </p:attrNameLst>
                                      </p:cBhvr>
                                      <p:tavLst>
                                        <p:tav tm="0">
                                          <p:val>
                                            <p:fltVal val="0"/>
                                          </p:val>
                                        </p:tav>
                                        <p:tav tm="100000">
                                          <p:val>
                                            <p:strVal val="#ppt_w"/>
                                          </p:val>
                                        </p:tav>
                                      </p:tavLst>
                                    </p:anim>
                                    <p:anim calcmode="lin" valueType="num">
                                      <p:cBhvr additive="base">
                                        <p:cTn id="80" dur="550" fill="hold"/>
                                        <p:tgtEl>
                                          <p:spTgt spid="23"/>
                                        </p:tgtEl>
                                        <p:attrNameLst>
                                          <p:attrName>ppt_h</p:attrName>
                                        </p:attrNameLst>
                                      </p:cBhvr>
                                      <p:tavLst>
                                        <p:tav tm="0">
                                          <p:val>
                                            <p:fltVal val="0"/>
                                          </p:val>
                                        </p:tav>
                                        <p:tav tm="100000">
                                          <p:val>
                                            <p:strVal val="#ppt_h"/>
                                          </p:val>
                                        </p:tav>
                                      </p:tavLst>
                                    </p:anim>
                                    <p:animEffect transition="in" filter="fade">
                                      <p:cBhvr>
                                        <p:cTn id="81" dur="550"/>
                                        <p:tgtEl>
                                          <p:spTgt spid="23"/>
                                        </p:tgtEl>
                                      </p:cBhvr>
                                    </p:animEffect>
                                  </p:childTnLst>
                                </p:cTn>
                              </p:par>
                              <p:par>
                                <p:cTn id="82" presetID="53" presetClass="entr" presetSubtype="16" fill="hold" grpId="0" nodeType="withEffect">
                                  <p:stCondLst>
                                    <p:cond delay="100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550" fill="hold"/>
                                        <p:tgtEl>
                                          <p:spTgt spid="24"/>
                                        </p:tgtEl>
                                        <p:attrNameLst>
                                          <p:attrName>ppt_w</p:attrName>
                                        </p:attrNameLst>
                                      </p:cBhvr>
                                      <p:tavLst>
                                        <p:tav tm="0">
                                          <p:val>
                                            <p:fltVal val="0"/>
                                          </p:val>
                                        </p:tav>
                                        <p:tav tm="100000">
                                          <p:val>
                                            <p:strVal val="#ppt_w"/>
                                          </p:val>
                                        </p:tav>
                                      </p:tavLst>
                                    </p:anim>
                                    <p:anim calcmode="lin" valueType="num">
                                      <p:cBhvr additive="base">
                                        <p:cTn id="85" dur="550" fill="hold"/>
                                        <p:tgtEl>
                                          <p:spTgt spid="24"/>
                                        </p:tgtEl>
                                        <p:attrNameLst>
                                          <p:attrName>ppt_h</p:attrName>
                                        </p:attrNameLst>
                                      </p:cBhvr>
                                      <p:tavLst>
                                        <p:tav tm="0">
                                          <p:val>
                                            <p:fltVal val="0"/>
                                          </p:val>
                                        </p:tav>
                                        <p:tav tm="100000">
                                          <p:val>
                                            <p:strVal val="#ppt_h"/>
                                          </p:val>
                                        </p:tav>
                                      </p:tavLst>
                                    </p:anim>
                                    <p:animEffect transition="in" filter="fade">
                                      <p:cBhvr>
                                        <p:cTn id="86" dur="550"/>
                                        <p:tgtEl>
                                          <p:spTgt spid="24"/>
                                        </p:tgtEl>
                                      </p:cBhvr>
                                    </p:animEffect>
                                  </p:childTnLst>
                                </p:cTn>
                              </p:par>
                              <p:par>
                                <p:cTn id="87" presetID="53" presetClass="entr" presetSubtype="16" fill="hold" grpId="0" nodeType="withEffect">
                                  <p:stCondLst>
                                    <p:cond delay="100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550" fill="hold"/>
                                        <p:tgtEl>
                                          <p:spTgt spid="25"/>
                                        </p:tgtEl>
                                        <p:attrNameLst>
                                          <p:attrName>ppt_w</p:attrName>
                                        </p:attrNameLst>
                                      </p:cBhvr>
                                      <p:tavLst>
                                        <p:tav tm="0">
                                          <p:val>
                                            <p:fltVal val="0"/>
                                          </p:val>
                                        </p:tav>
                                        <p:tav tm="100000">
                                          <p:val>
                                            <p:strVal val="#ppt_w"/>
                                          </p:val>
                                        </p:tav>
                                      </p:tavLst>
                                    </p:anim>
                                    <p:anim calcmode="lin" valueType="num">
                                      <p:cBhvr additive="base">
                                        <p:cTn id="90" dur="550" fill="hold"/>
                                        <p:tgtEl>
                                          <p:spTgt spid="25"/>
                                        </p:tgtEl>
                                        <p:attrNameLst>
                                          <p:attrName>ppt_h</p:attrName>
                                        </p:attrNameLst>
                                      </p:cBhvr>
                                      <p:tavLst>
                                        <p:tav tm="0">
                                          <p:val>
                                            <p:fltVal val="0"/>
                                          </p:val>
                                        </p:tav>
                                        <p:tav tm="100000">
                                          <p:val>
                                            <p:strVal val="#ppt_h"/>
                                          </p:val>
                                        </p:tav>
                                      </p:tavLst>
                                    </p:anim>
                                    <p:animEffect transition="in" filter="fade">
                                      <p:cBhvr>
                                        <p:cTn id="91" dur="550"/>
                                        <p:tgtEl>
                                          <p:spTgt spid="25"/>
                                        </p:tgtEl>
                                      </p:cBhvr>
                                    </p:animEffect>
                                  </p:childTnLst>
                                </p:cTn>
                              </p:par>
                              <p:par>
                                <p:cTn id="92" presetID="53" presetClass="entr" presetSubtype="16" fill="hold" grpId="0" nodeType="withEffect">
                                  <p:stCondLst>
                                    <p:cond delay="100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550" fill="hold"/>
                                        <p:tgtEl>
                                          <p:spTgt spid="26"/>
                                        </p:tgtEl>
                                        <p:attrNameLst>
                                          <p:attrName>ppt_w</p:attrName>
                                        </p:attrNameLst>
                                      </p:cBhvr>
                                      <p:tavLst>
                                        <p:tav tm="0">
                                          <p:val>
                                            <p:fltVal val="0"/>
                                          </p:val>
                                        </p:tav>
                                        <p:tav tm="100000">
                                          <p:val>
                                            <p:strVal val="#ppt_w"/>
                                          </p:val>
                                        </p:tav>
                                      </p:tavLst>
                                    </p:anim>
                                    <p:anim calcmode="lin" valueType="num">
                                      <p:cBhvr additive="base">
                                        <p:cTn id="95" dur="550" fill="hold"/>
                                        <p:tgtEl>
                                          <p:spTgt spid="26"/>
                                        </p:tgtEl>
                                        <p:attrNameLst>
                                          <p:attrName>ppt_h</p:attrName>
                                        </p:attrNameLst>
                                      </p:cBhvr>
                                      <p:tavLst>
                                        <p:tav tm="0">
                                          <p:val>
                                            <p:fltVal val="0"/>
                                          </p:val>
                                        </p:tav>
                                        <p:tav tm="100000">
                                          <p:val>
                                            <p:strVal val="#ppt_h"/>
                                          </p:val>
                                        </p:tav>
                                      </p:tavLst>
                                    </p:anim>
                                    <p:animEffect transition="in" filter="fade">
                                      <p:cBhvr>
                                        <p:cTn id="96" dur="550"/>
                                        <p:tgtEl>
                                          <p:spTgt spid="26"/>
                                        </p:tgtEl>
                                      </p:cBhvr>
                                    </p:animEffect>
                                  </p:childTnLst>
                                </p:cTn>
                              </p:par>
                              <p:par>
                                <p:cTn id="97" presetID="53" presetClass="entr" presetSubtype="16" fill="hold" grpId="0" nodeType="withEffect">
                                  <p:stCondLst>
                                    <p:cond delay="120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550" fill="hold"/>
                                        <p:tgtEl>
                                          <p:spTgt spid="27"/>
                                        </p:tgtEl>
                                        <p:attrNameLst>
                                          <p:attrName>ppt_w</p:attrName>
                                        </p:attrNameLst>
                                      </p:cBhvr>
                                      <p:tavLst>
                                        <p:tav tm="0">
                                          <p:val>
                                            <p:fltVal val="0"/>
                                          </p:val>
                                        </p:tav>
                                        <p:tav tm="100000">
                                          <p:val>
                                            <p:strVal val="#ppt_w"/>
                                          </p:val>
                                        </p:tav>
                                      </p:tavLst>
                                    </p:anim>
                                    <p:anim calcmode="lin" valueType="num">
                                      <p:cBhvr additive="base">
                                        <p:cTn id="100" dur="550" fill="hold"/>
                                        <p:tgtEl>
                                          <p:spTgt spid="27"/>
                                        </p:tgtEl>
                                        <p:attrNameLst>
                                          <p:attrName>ppt_h</p:attrName>
                                        </p:attrNameLst>
                                      </p:cBhvr>
                                      <p:tavLst>
                                        <p:tav tm="0">
                                          <p:val>
                                            <p:fltVal val="0"/>
                                          </p:val>
                                        </p:tav>
                                        <p:tav tm="100000">
                                          <p:val>
                                            <p:strVal val="#ppt_h"/>
                                          </p:val>
                                        </p:tav>
                                      </p:tavLst>
                                    </p:anim>
                                    <p:animEffect transition="in" filter="fade">
                                      <p:cBhvr>
                                        <p:cTn id="101" dur="550"/>
                                        <p:tgtEl>
                                          <p:spTgt spid="27"/>
                                        </p:tgtEl>
                                      </p:cBhvr>
                                    </p:animEffect>
                                  </p:childTnLst>
                                </p:cTn>
                              </p:par>
                              <p:par>
                                <p:cTn id="102" presetID="53" presetClass="entr" presetSubtype="16" fill="hold" grpId="0" nodeType="withEffect">
                                  <p:stCondLst>
                                    <p:cond delay="1200"/>
                                  </p:stCondLst>
                                  <p:childTnLst>
                                    <p:set>
                                      <p:cBhvr>
                                        <p:cTn id="103" dur="1" fill="hold">
                                          <p:stCondLst>
                                            <p:cond delay="0"/>
                                          </p:stCondLst>
                                        </p:cTn>
                                        <p:tgtEl>
                                          <p:spTgt spid="28"/>
                                        </p:tgtEl>
                                        <p:attrNameLst>
                                          <p:attrName>style.visibility</p:attrName>
                                        </p:attrNameLst>
                                      </p:cBhvr>
                                      <p:to>
                                        <p:strVal val="visible"/>
                                      </p:to>
                                    </p:set>
                                    <p:anim calcmode="lin" valueType="num">
                                      <p:cBhvr additive="base">
                                        <p:cTn id="104" dur="550" fill="hold"/>
                                        <p:tgtEl>
                                          <p:spTgt spid="28"/>
                                        </p:tgtEl>
                                        <p:attrNameLst>
                                          <p:attrName>ppt_w</p:attrName>
                                        </p:attrNameLst>
                                      </p:cBhvr>
                                      <p:tavLst>
                                        <p:tav tm="0">
                                          <p:val>
                                            <p:fltVal val="0"/>
                                          </p:val>
                                        </p:tav>
                                        <p:tav tm="100000">
                                          <p:val>
                                            <p:strVal val="#ppt_w"/>
                                          </p:val>
                                        </p:tav>
                                      </p:tavLst>
                                    </p:anim>
                                    <p:anim calcmode="lin" valueType="num">
                                      <p:cBhvr additive="base">
                                        <p:cTn id="105" dur="550" fill="hold"/>
                                        <p:tgtEl>
                                          <p:spTgt spid="28"/>
                                        </p:tgtEl>
                                        <p:attrNameLst>
                                          <p:attrName>ppt_h</p:attrName>
                                        </p:attrNameLst>
                                      </p:cBhvr>
                                      <p:tavLst>
                                        <p:tav tm="0">
                                          <p:val>
                                            <p:fltVal val="0"/>
                                          </p:val>
                                        </p:tav>
                                        <p:tav tm="100000">
                                          <p:val>
                                            <p:strVal val="#ppt_h"/>
                                          </p:val>
                                        </p:tav>
                                      </p:tavLst>
                                    </p:anim>
                                    <p:animEffect transition="in" filter="fade">
                                      <p:cBhvr>
                                        <p:cTn id="106" dur="550"/>
                                        <p:tgtEl>
                                          <p:spTgt spid="28"/>
                                        </p:tgtEl>
                                      </p:cBhvr>
                                    </p:animEffect>
                                  </p:childTnLst>
                                </p:cTn>
                              </p:par>
                              <p:par>
                                <p:cTn id="107" presetID="53" presetClass="entr" presetSubtype="16" fill="hold" grpId="0" nodeType="withEffect">
                                  <p:stCondLst>
                                    <p:cond delay="1200"/>
                                  </p:stCondLst>
                                  <p:childTnLst>
                                    <p:set>
                                      <p:cBhvr>
                                        <p:cTn id="108" dur="1" fill="hold">
                                          <p:stCondLst>
                                            <p:cond delay="0"/>
                                          </p:stCondLst>
                                        </p:cTn>
                                        <p:tgtEl>
                                          <p:spTgt spid="29"/>
                                        </p:tgtEl>
                                        <p:attrNameLst>
                                          <p:attrName>style.visibility</p:attrName>
                                        </p:attrNameLst>
                                      </p:cBhvr>
                                      <p:to>
                                        <p:strVal val="visible"/>
                                      </p:to>
                                    </p:set>
                                    <p:anim calcmode="lin" valueType="num">
                                      <p:cBhvr additive="base">
                                        <p:cTn id="109" dur="550" fill="hold"/>
                                        <p:tgtEl>
                                          <p:spTgt spid="29"/>
                                        </p:tgtEl>
                                        <p:attrNameLst>
                                          <p:attrName>ppt_w</p:attrName>
                                        </p:attrNameLst>
                                      </p:cBhvr>
                                      <p:tavLst>
                                        <p:tav tm="0">
                                          <p:val>
                                            <p:fltVal val="0"/>
                                          </p:val>
                                        </p:tav>
                                        <p:tav tm="100000">
                                          <p:val>
                                            <p:strVal val="#ppt_w"/>
                                          </p:val>
                                        </p:tav>
                                      </p:tavLst>
                                    </p:anim>
                                    <p:anim calcmode="lin" valueType="num">
                                      <p:cBhvr additive="base">
                                        <p:cTn id="110" dur="550" fill="hold"/>
                                        <p:tgtEl>
                                          <p:spTgt spid="29"/>
                                        </p:tgtEl>
                                        <p:attrNameLst>
                                          <p:attrName>ppt_h</p:attrName>
                                        </p:attrNameLst>
                                      </p:cBhvr>
                                      <p:tavLst>
                                        <p:tav tm="0">
                                          <p:val>
                                            <p:fltVal val="0"/>
                                          </p:val>
                                        </p:tav>
                                        <p:tav tm="100000">
                                          <p:val>
                                            <p:strVal val="#ppt_h"/>
                                          </p:val>
                                        </p:tav>
                                      </p:tavLst>
                                    </p:anim>
                                    <p:animEffect transition="in" filter="fade">
                                      <p:cBhvr>
                                        <p:cTn id="111" dur="550"/>
                                        <p:tgtEl>
                                          <p:spTgt spid="29"/>
                                        </p:tgtEl>
                                      </p:cBhvr>
                                    </p:animEffect>
                                  </p:childTnLst>
                                </p:cTn>
                              </p:par>
                              <p:par>
                                <p:cTn id="112" presetID="53" presetClass="entr" presetSubtype="16" fill="hold" grpId="0" nodeType="withEffect">
                                  <p:stCondLst>
                                    <p:cond delay="1400"/>
                                  </p:stCondLst>
                                  <p:childTnLst>
                                    <p:set>
                                      <p:cBhvr>
                                        <p:cTn id="113" dur="1" fill="hold">
                                          <p:stCondLst>
                                            <p:cond delay="0"/>
                                          </p:stCondLst>
                                        </p:cTn>
                                        <p:tgtEl>
                                          <p:spTgt spid="30"/>
                                        </p:tgtEl>
                                        <p:attrNameLst>
                                          <p:attrName>style.visibility</p:attrName>
                                        </p:attrNameLst>
                                      </p:cBhvr>
                                      <p:to>
                                        <p:strVal val="visible"/>
                                      </p:to>
                                    </p:set>
                                    <p:anim calcmode="lin" valueType="num">
                                      <p:cBhvr additive="base">
                                        <p:cTn id="114" dur="550" fill="hold"/>
                                        <p:tgtEl>
                                          <p:spTgt spid="30"/>
                                        </p:tgtEl>
                                        <p:attrNameLst>
                                          <p:attrName>ppt_w</p:attrName>
                                        </p:attrNameLst>
                                      </p:cBhvr>
                                      <p:tavLst>
                                        <p:tav tm="0">
                                          <p:val>
                                            <p:fltVal val="0"/>
                                          </p:val>
                                        </p:tav>
                                        <p:tav tm="100000">
                                          <p:val>
                                            <p:strVal val="#ppt_w"/>
                                          </p:val>
                                        </p:tav>
                                      </p:tavLst>
                                    </p:anim>
                                    <p:anim calcmode="lin" valueType="num">
                                      <p:cBhvr additive="base">
                                        <p:cTn id="115" dur="550" fill="hold"/>
                                        <p:tgtEl>
                                          <p:spTgt spid="30"/>
                                        </p:tgtEl>
                                        <p:attrNameLst>
                                          <p:attrName>ppt_h</p:attrName>
                                        </p:attrNameLst>
                                      </p:cBhvr>
                                      <p:tavLst>
                                        <p:tav tm="0">
                                          <p:val>
                                            <p:fltVal val="0"/>
                                          </p:val>
                                        </p:tav>
                                        <p:tav tm="100000">
                                          <p:val>
                                            <p:strVal val="#ppt_h"/>
                                          </p:val>
                                        </p:tav>
                                      </p:tavLst>
                                    </p:anim>
                                    <p:animEffect transition="in" filter="fade">
                                      <p:cBhvr>
                                        <p:cTn id="116" dur="550"/>
                                        <p:tgtEl>
                                          <p:spTgt spid="30"/>
                                        </p:tgtEl>
                                      </p:cBhvr>
                                    </p:animEffect>
                                  </p:childTnLst>
                                </p:cTn>
                              </p:par>
                              <p:par>
                                <p:cTn id="117" presetID="53" presetClass="entr" presetSubtype="16" fill="hold" grpId="0" nodeType="withEffect">
                                  <p:stCondLst>
                                    <p:cond delay="140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50" fill="hold"/>
                                        <p:tgtEl>
                                          <p:spTgt spid="31"/>
                                        </p:tgtEl>
                                        <p:attrNameLst>
                                          <p:attrName>ppt_w</p:attrName>
                                        </p:attrNameLst>
                                      </p:cBhvr>
                                      <p:tavLst>
                                        <p:tav tm="0">
                                          <p:val>
                                            <p:fltVal val="0"/>
                                          </p:val>
                                        </p:tav>
                                        <p:tav tm="100000">
                                          <p:val>
                                            <p:strVal val="#ppt_w"/>
                                          </p:val>
                                        </p:tav>
                                      </p:tavLst>
                                    </p:anim>
                                    <p:anim calcmode="lin" valueType="num">
                                      <p:cBhvr additive="base">
                                        <p:cTn id="120" dur="550" fill="hold"/>
                                        <p:tgtEl>
                                          <p:spTgt spid="31"/>
                                        </p:tgtEl>
                                        <p:attrNameLst>
                                          <p:attrName>ppt_h</p:attrName>
                                        </p:attrNameLst>
                                      </p:cBhvr>
                                      <p:tavLst>
                                        <p:tav tm="0">
                                          <p:val>
                                            <p:fltVal val="0"/>
                                          </p:val>
                                        </p:tav>
                                        <p:tav tm="100000">
                                          <p:val>
                                            <p:strVal val="#ppt_h"/>
                                          </p:val>
                                        </p:tav>
                                      </p:tavLst>
                                    </p:anim>
                                    <p:animEffect transition="in" filter="fade">
                                      <p:cBhvr>
                                        <p:cTn id="121" dur="550"/>
                                        <p:tgtEl>
                                          <p:spTgt spid="31"/>
                                        </p:tgtEl>
                                      </p:cBhvr>
                                    </p:animEffect>
                                  </p:childTnLst>
                                </p:cTn>
                              </p:par>
                              <p:par>
                                <p:cTn id="122" presetID="53" presetClass="entr" presetSubtype="16" fill="hold" grpId="0" nodeType="withEffect">
                                  <p:stCondLst>
                                    <p:cond delay="1400"/>
                                  </p:stCondLst>
                                  <p:childTnLst>
                                    <p:set>
                                      <p:cBhvr>
                                        <p:cTn id="123" dur="1" fill="hold">
                                          <p:stCondLst>
                                            <p:cond delay="0"/>
                                          </p:stCondLst>
                                        </p:cTn>
                                        <p:tgtEl>
                                          <p:spTgt spid="32"/>
                                        </p:tgtEl>
                                        <p:attrNameLst>
                                          <p:attrName>style.visibility</p:attrName>
                                        </p:attrNameLst>
                                      </p:cBhvr>
                                      <p:to>
                                        <p:strVal val="visible"/>
                                      </p:to>
                                    </p:set>
                                    <p:anim calcmode="lin" valueType="num">
                                      <p:cBhvr additive="base">
                                        <p:cTn id="124" dur="550" fill="hold"/>
                                        <p:tgtEl>
                                          <p:spTgt spid="32"/>
                                        </p:tgtEl>
                                        <p:attrNameLst>
                                          <p:attrName>ppt_w</p:attrName>
                                        </p:attrNameLst>
                                      </p:cBhvr>
                                      <p:tavLst>
                                        <p:tav tm="0">
                                          <p:val>
                                            <p:fltVal val="0"/>
                                          </p:val>
                                        </p:tav>
                                        <p:tav tm="100000">
                                          <p:val>
                                            <p:strVal val="#ppt_w"/>
                                          </p:val>
                                        </p:tav>
                                      </p:tavLst>
                                    </p:anim>
                                    <p:anim calcmode="lin" valueType="num">
                                      <p:cBhvr additive="base">
                                        <p:cTn id="125" dur="550" fill="hold"/>
                                        <p:tgtEl>
                                          <p:spTgt spid="32"/>
                                        </p:tgtEl>
                                        <p:attrNameLst>
                                          <p:attrName>ppt_h</p:attrName>
                                        </p:attrNameLst>
                                      </p:cBhvr>
                                      <p:tavLst>
                                        <p:tav tm="0">
                                          <p:val>
                                            <p:fltVal val="0"/>
                                          </p:val>
                                        </p:tav>
                                        <p:tav tm="100000">
                                          <p:val>
                                            <p:strVal val="#ppt_h"/>
                                          </p:val>
                                        </p:tav>
                                      </p:tavLst>
                                    </p:anim>
                                    <p:animEffect transition="in" filter="fade">
                                      <p:cBhvr>
                                        <p:cTn id="126" dur="550"/>
                                        <p:tgtEl>
                                          <p:spTgt spid="32"/>
                                        </p:tgtEl>
                                      </p:cBhvr>
                                    </p:animEffect>
                                  </p:childTnLst>
                                </p:cTn>
                              </p:par>
                              <p:par>
                                <p:cTn id="127" presetID="53" presetClass="entr" presetSubtype="16" fill="hold" grpId="0" nodeType="withEffect">
                                  <p:stCondLst>
                                    <p:cond delay="1600"/>
                                  </p:stCondLst>
                                  <p:childTnLst>
                                    <p:set>
                                      <p:cBhvr>
                                        <p:cTn id="128" dur="1" fill="hold">
                                          <p:stCondLst>
                                            <p:cond delay="0"/>
                                          </p:stCondLst>
                                        </p:cTn>
                                        <p:tgtEl>
                                          <p:spTgt spid="33"/>
                                        </p:tgtEl>
                                        <p:attrNameLst>
                                          <p:attrName>style.visibility</p:attrName>
                                        </p:attrNameLst>
                                      </p:cBhvr>
                                      <p:to>
                                        <p:strVal val="visible"/>
                                      </p:to>
                                    </p:set>
                                    <p:anim calcmode="lin" valueType="num">
                                      <p:cBhvr additive="base">
                                        <p:cTn id="129" dur="550" fill="hold"/>
                                        <p:tgtEl>
                                          <p:spTgt spid="33"/>
                                        </p:tgtEl>
                                        <p:attrNameLst>
                                          <p:attrName>ppt_w</p:attrName>
                                        </p:attrNameLst>
                                      </p:cBhvr>
                                      <p:tavLst>
                                        <p:tav tm="0">
                                          <p:val>
                                            <p:fltVal val="0"/>
                                          </p:val>
                                        </p:tav>
                                        <p:tav tm="100000">
                                          <p:val>
                                            <p:strVal val="#ppt_w"/>
                                          </p:val>
                                        </p:tav>
                                      </p:tavLst>
                                    </p:anim>
                                    <p:anim calcmode="lin" valueType="num">
                                      <p:cBhvr additive="base">
                                        <p:cTn id="130" dur="550" fill="hold"/>
                                        <p:tgtEl>
                                          <p:spTgt spid="33"/>
                                        </p:tgtEl>
                                        <p:attrNameLst>
                                          <p:attrName>ppt_h</p:attrName>
                                        </p:attrNameLst>
                                      </p:cBhvr>
                                      <p:tavLst>
                                        <p:tav tm="0">
                                          <p:val>
                                            <p:fltVal val="0"/>
                                          </p:val>
                                        </p:tav>
                                        <p:tav tm="100000">
                                          <p:val>
                                            <p:strVal val="#ppt_h"/>
                                          </p:val>
                                        </p:tav>
                                      </p:tavLst>
                                    </p:anim>
                                    <p:animEffect transition="in" filter="fade">
                                      <p:cBhvr>
                                        <p:cTn id="131" dur="550"/>
                                        <p:tgtEl>
                                          <p:spTgt spid="33"/>
                                        </p:tgtEl>
                                      </p:cBhvr>
                                    </p:animEffect>
                                  </p:childTnLst>
                                </p:cTn>
                              </p:par>
                              <p:par>
                                <p:cTn id="132" presetID="53" presetClass="entr" presetSubtype="16" fill="hold" grpId="0" nodeType="withEffect">
                                  <p:stCondLst>
                                    <p:cond delay="1600"/>
                                  </p:stCondLst>
                                  <p:childTnLst>
                                    <p:set>
                                      <p:cBhvr>
                                        <p:cTn id="133" dur="1" fill="hold">
                                          <p:stCondLst>
                                            <p:cond delay="0"/>
                                          </p:stCondLst>
                                        </p:cTn>
                                        <p:tgtEl>
                                          <p:spTgt spid="34"/>
                                        </p:tgtEl>
                                        <p:attrNameLst>
                                          <p:attrName>style.visibility</p:attrName>
                                        </p:attrNameLst>
                                      </p:cBhvr>
                                      <p:to>
                                        <p:strVal val="visible"/>
                                      </p:to>
                                    </p:set>
                                    <p:anim calcmode="lin" valueType="num">
                                      <p:cBhvr additive="base">
                                        <p:cTn id="134" dur="550" fill="hold"/>
                                        <p:tgtEl>
                                          <p:spTgt spid="34"/>
                                        </p:tgtEl>
                                        <p:attrNameLst>
                                          <p:attrName>ppt_w</p:attrName>
                                        </p:attrNameLst>
                                      </p:cBhvr>
                                      <p:tavLst>
                                        <p:tav tm="0">
                                          <p:val>
                                            <p:fltVal val="0"/>
                                          </p:val>
                                        </p:tav>
                                        <p:tav tm="100000">
                                          <p:val>
                                            <p:strVal val="#ppt_w"/>
                                          </p:val>
                                        </p:tav>
                                      </p:tavLst>
                                    </p:anim>
                                    <p:anim calcmode="lin" valueType="num">
                                      <p:cBhvr additive="base">
                                        <p:cTn id="135" dur="550" fill="hold"/>
                                        <p:tgtEl>
                                          <p:spTgt spid="34"/>
                                        </p:tgtEl>
                                        <p:attrNameLst>
                                          <p:attrName>ppt_h</p:attrName>
                                        </p:attrNameLst>
                                      </p:cBhvr>
                                      <p:tavLst>
                                        <p:tav tm="0">
                                          <p:val>
                                            <p:fltVal val="0"/>
                                          </p:val>
                                        </p:tav>
                                        <p:tav tm="100000">
                                          <p:val>
                                            <p:strVal val="#ppt_h"/>
                                          </p:val>
                                        </p:tav>
                                      </p:tavLst>
                                    </p:anim>
                                    <p:animEffect transition="in" filter="fade">
                                      <p:cBhvr>
                                        <p:cTn id="136" dur="550"/>
                                        <p:tgtEl>
                                          <p:spTgt spid="34"/>
                                        </p:tgtEl>
                                      </p:cBhvr>
                                    </p:animEffect>
                                  </p:childTnLst>
                                </p:cTn>
                              </p:par>
                              <p:par>
                                <p:cTn id="137" presetID="53" presetClass="entr" presetSubtype="16" fill="hold" grpId="0" nodeType="withEffect">
                                  <p:stCondLst>
                                    <p:cond delay="1600"/>
                                  </p:stCondLst>
                                  <p:childTnLst>
                                    <p:set>
                                      <p:cBhvr>
                                        <p:cTn id="138" dur="1" fill="hold">
                                          <p:stCondLst>
                                            <p:cond delay="0"/>
                                          </p:stCondLst>
                                        </p:cTn>
                                        <p:tgtEl>
                                          <p:spTgt spid="35"/>
                                        </p:tgtEl>
                                        <p:attrNameLst>
                                          <p:attrName>style.visibility</p:attrName>
                                        </p:attrNameLst>
                                      </p:cBhvr>
                                      <p:to>
                                        <p:strVal val="visible"/>
                                      </p:to>
                                    </p:set>
                                    <p:anim calcmode="lin" valueType="num">
                                      <p:cBhvr additive="base">
                                        <p:cTn id="139" dur="550" fill="hold"/>
                                        <p:tgtEl>
                                          <p:spTgt spid="35"/>
                                        </p:tgtEl>
                                        <p:attrNameLst>
                                          <p:attrName>ppt_w</p:attrName>
                                        </p:attrNameLst>
                                      </p:cBhvr>
                                      <p:tavLst>
                                        <p:tav tm="0">
                                          <p:val>
                                            <p:fltVal val="0"/>
                                          </p:val>
                                        </p:tav>
                                        <p:tav tm="100000">
                                          <p:val>
                                            <p:strVal val="#ppt_w"/>
                                          </p:val>
                                        </p:tav>
                                      </p:tavLst>
                                    </p:anim>
                                    <p:anim calcmode="lin" valueType="num">
                                      <p:cBhvr additive="base">
                                        <p:cTn id="140" dur="550" fill="hold"/>
                                        <p:tgtEl>
                                          <p:spTgt spid="35"/>
                                        </p:tgtEl>
                                        <p:attrNameLst>
                                          <p:attrName>ppt_h</p:attrName>
                                        </p:attrNameLst>
                                      </p:cBhvr>
                                      <p:tavLst>
                                        <p:tav tm="0">
                                          <p:val>
                                            <p:fltVal val="0"/>
                                          </p:val>
                                        </p:tav>
                                        <p:tav tm="100000">
                                          <p:val>
                                            <p:strVal val="#ppt_h"/>
                                          </p:val>
                                        </p:tav>
                                      </p:tavLst>
                                    </p:anim>
                                    <p:animEffect transition="in" filter="fade">
                                      <p:cBhvr>
                                        <p:cTn id="141" dur="550"/>
                                        <p:tgtEl>
                                          <p:spTgt spid="35"/>
                                        </p:tgtEl>
                                      </p:cBhvr>
                                    </p:animEffect>
                                  </p:childTnLst>
                                </p:cTn>
                              </p:par>
                              <p:par>
                                <p:cTn id="142" presetID="22" presetClass="entr" presetSubtype="8" fill="hold" grpId="0" nodeType="withEffect">
                                  <p:stCondLst>
                                    <p:cond delay="600"/>
                                  </p:stCondLst>
                                  <p:childTnLst>
                                    <p:set>
                                      <p:cBhvr>
                                        <p:cTn id="143" dur="1" fill="hold">
                                          <p:stCondLst>
                                            <p:cond delay="0"/>
                                          </p:stCondLst>
                                        </p:cTn>
                                        <p:tgtEl>
                                          <p:spTgt spid="43"/>
                                        </p:tgtEl>
                                        <p:attrNameLst>
                                          <p:attrName>style.visibility</p:attrName>
                                        </p:attrNameLst>
                                      </p:cBhvr>
                                      <p:to>
                                        <p:strVal val="visible"/>
                                      </p:to>
                                    </p:set>
                                    <p:animEffect transition="in" filter="wipe(left)">
                                      <p:cBhvr>
                                        <p:cTn id="144" dur="1100"/>
                                        <p:tgtEl>
                                          <p:spTgt spid="43"/>
                                        </p:tgtEl>
                                      </p:cBhvr>
                                    </p:animEffect>
                                  </p:childTnLst>
                                </p:cTn>
                              </p:par>
                              <p:par>
                                <p:cTn id="146" presetID="0" presetClass="path" presetSubtype="0" fill="hold" accel="30000" decel="30000" nodeType="withEffect">
                                  <p:stCondLst>
                                    <p:cond delay="600"/>
                                  </p:stCondLst>
                                  <p:childTnLst>
                                    <p:animMotion origin="layout" path="M 0 0 L 0.02017 0 E" pathEditMode="relative" rAng="0" ptsTypes="AA">
                                      <p:cBhvr>
                                        <p:cTn id="145" dur="1100" fill="hold"/>
                                        <p:tgtEl>
                                          <p:spTgt spid="44"/>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challenge behind flight data</a:t>
            </a:r>
            <a:endParaRPr lang="en-US" sz="3600" dirty="0"/>
          </a:p>
        </p:txBody>
      </p:sp>
      <p:sp>
        <p:nvSpPr>
          <p:cNvPr id="5" name="claim"/>
          <p:cNvSpPr txBox="1"/>
          <p:nvPr/>
        </p:nvSpPr>
        <p:spPr>
          <a:xfrm>
            <a:off x="548640" y="1783080"/>
            <a:ext cx="3840480" cy="1554480"/>
          </a:xfrm>
          <a:prstGeom prst="rect">
            <a:avLst/>
          </a:prstGeom>
          <a:noFill/>
          <a:ln/>
        </p:spPr>
        <p:txBody>
          <a:bodyPr wrap="square" lIns="0" tIns="0" rIns="0" bIns="0" rtlCol="0" anchor="t"/>
          <a:lstStyle/>
          <a:p>
            <a:pPr algn="l" indent="0" marL="0">
              <a:buNone/>
            </a:pPr>
            <a:r>
              <a:rPr lang="en-US" sz="3200" b="1" dirty="0">
                <a:solidFill>
                  <a:schemeClr val="bg1"/>
                </a:solidFill>
                <a:latin typeface="+mj-lt" pitchFamily="34" charset="0"/>
                <a:ea typeface="+mj-lt" pitchFamily="34" charset="-122"/>
                <a:cs typeface="+mj-lt" pitchFamily="34" charset="-120"/>
              </a:rPr>
              <a:t>Raw API data is not analysis-ready.</a:t>
            </a:r>
            <a:endParaRPr lang="en-US" sz="3200" dirty="0"/>
          </a:p>
        </p:txBody>
      </p:sp>
      <p:sp>
        <p:nvSpPr>
          <p:cNvPr id="6" name="claimsub"/>
          <p:cNvSpPr txBox="1"/>
          <p:nvPr/>
        </p:nvSpPr>
        <p:spPr>
          <a:xfrm>
            <a:off x="548640" y="3520440"/>
            <a:ext cx="3840480" cy="2194560"/>
          </a:xfrm>
          <a:prstGeom prst="rect">
            <a:avLst/>
          </a:prstGeom>
          <a:noFill/>
          <a:ln/>
        </p:spPr>
        <p:txBody>
          <a:bodyPr wrap="square" lIns="0" tIns="0" rIns="0" bIns="0" rtlCol="0" anchor="t"/>
          <a:lstStyle/>
          <a:p>
            <a:pPr algn="l" indent="0" marL="0">
              <a:buNone/>
            </a:pPr>
            <a:r>
              <a:rPr lang="en-US" sz="1600" dirty="0">
                <a:solidFill>
                  <a:schemeClr val="bg2"/>
                </a:solidFill>
              </a:rPr>
              <a:t>Every AviationStack record nests six blocks, and in the stored table </a:t>
            </a:r>
            <a:pPr algn="l" indent="0" marL="0">
              <a:buNone/>
            </a:pPr>
            <a:r>
              <a:rPr lang="en-US" sz="1600" b="1" dirty="0">
                <a:solidFill>
                  <a:schemeClr val="accent3"/>
                </a:solidFill>
              </a:rPr>
              <a:t>2,056 of 5,586 cells (37%)</a:t>
            </a:r>
            <a:pPr algn="l" indent="0" marL="0">
              <a:buNone/>
            </a:pPr>
            <a:r>
              <a:rPr lang="en-US" sz="1600" dirty="0">
                <a:solidFill>
                  <a:schemeClr val="bg2"/>
                </a:solidFill>
              </a:rPr>
              <a:t> are empty. Before any analysis, the data must be validated, flattened and protected from duplicates.</a:t>
            </a:r>
            <a:endParaRPr lang="en-US" sz="1600" dirty="0"/>
          </a:p>
        </p:txBody>
      </p:sp>
      <p:sp>
        <p:nvSpPr>
          <p:cNvPr id="7" name="pb0card"/>
          <p:cNvSpPr/>
          <p:nvPr/>
        </p:nvSpPr>
        <p:spPr>
          <a:xfrm>
            <a:off x="4754880" y="173736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8" name="pb0b_c"/>
          <p:cNvSpPr/>
          <p:nvPr/>
        </p:nvSpPr>
        <p:spPr>
          <a:xfrm>
            <a:off x="4983480" y="1965960"/>
            <a:ext cx="566928" cy="566928"/>
          </a:xfrm>
          <a:prstGeom prst="ellipse">
            <a:avLst/>
          </a:prstGeom>
          <a:solidFill>
            <a:schemeClr val="accent1">
              <a:alpha val="28000"/>
            </a:schemeClr>
          </a:solidFill>
          <a:ln/>
        </p:spPr>
      </p:sp>
      <p:pic>
        <p:nvPicPr>
          <p:cNvPr id="9" name="pb0b_i" descr="LuBraces">    </p:cNvPr>
          <p:cNvPicPr>
            <a:picLocks noChangeAspect="1"/>
          </p:cNvPicPr>
          <p:nvPr/>
        </p:nvPicPr>
        <p:blipFill>
          <a:blip r:embed="rId1"/>
          <a:stretch>
            <a:fillRect/>
          </a:stretch>
        </p:blipFill>
        <p:spPr>
          <a:xfrm>
            <a:off x="5125212" y="2107692"/>
            <a:ext cx="283464" cy="283464"/>
          </a:xfrm>
          <a:prstGeom prst="rect">
            <a:avLst/>
          </a:prstGeom>
        </p:spPr>
      </p:pic>
      <p:sp>
        <p:nvSpPr>
          <p:cNvPr id="10" name="pb0t"/>
          <p:cNvSpPr txBox="1"/>
          <p:nvPr/>
        </p:nvSpPr>
        <p:spPr>
          <a:xfrm>
            <a:off x="4983480" y="265176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Nested, noisy responses</a:t>
            </a:r>
            <a:endParaRPr lang="en-US" sz="1800" dirty="0"/>
          </a:p>
        </p:txBody>
      </p:sp>
      <p:sp>
        <p:nvSpPr>
          <p:cNvPr id="11" name="pb0d"/>
          <p:cNvSpPr txBox="1"/>
          <p:nvPr/>
        </p:nvSpPr>
        <p:spPr>
          <a:xfrm>
            <a:off x="4983480" y="303580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Departure, arrival, airline, flight, aircraft and live blocks, with many null fields.</a:t>
            </a:r>
            <a:endParaRPr lang="en-US" sz="1400" dirty="0"/>
          </a:p>
        </p:txBody>
      </p:sp>
      <p:sp>
        <p:nvSpPr>
          <p:cNvPr id="12" name="pb1card"/>
          <p:cNvSpPr/>
          <p:nvPr/>
        </p:nvSpPr>
        <p:spPr>
          <a:xfrm>
            <a:off x="8229600" y="173736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3" name="pb1b_c"/>
          <p:cNvSpPr/>
          <p:nvPr/>
        </p:nvSpPr>
        <p:spPr>
          <a:xfrm>
            <a:off x="8458200" y="1965960"/>
            <a:ext cx="566928" cy="566928"/>
          </a:xfrm>
          <a:prstGeom prst="ellipse">
            <a:avLst/>
          </a:prstGeom>
          <a:solidFill>
            <a:schemeClr val="accent3">
              <a:alpha val="28000"/>
            </a:schemeClr>
          </a:solidFill>
          <a:ln/>
        </p:spPr>
      </p:sp>
      <p:pic>
        <p:nvPicPr>
          <p:cNvPr id="14" name="pb1b_i" descr="LuGauge">    </p:cNvPr>
          <p:cNvPicPr>
            <a:picLocks noChangeAspect="1"/>
          </p:cNvPicPr>
          <p:nvPr/>
        </p:nvPicPr>
        <p:blipFill>
          <a:blip r:embed="rId2"/>
          <a:stretch>
            <a:fillRect/>
          </a:stretch>
        </p:blipFill>
        <p:spPr>
          <a:xfrm>
            <a:off x="8599932" y="2107692"/>
            <a:ext cx="283464" cy="283464"/>
          </a:xfrm>
          <a:prstGeom prst="rect">
            <a:avLst/>
          </a:prstGeom>
        </p:spPr>
      </p:pic>
      <p:sp>
        <p:nvSpPr>
          <p:cNvPr id="15" name="pb1t"/>
          <p:cNvSpPr txBox="1"/>
          <p:nvPr/>
        </p:nvSpPr>
        <p:spPr>
          <a:xfrm>
            <a:off x="8458200" y="265176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Strict free-tier quota</a:t>
            </a:r>
            <a:endParaRPr lang="en-US" sz="1800" dirty="0"/>
          </a:p>
        </p:txBody>
      </p:sp>
      <p:sp>
        <p:nvSpPr>
          <p:cNvPr id="16" name="pb1d"/>
          <p:cNvSpPr txBox="1"/>
          <p:nvPr/>
        </p:nvSpPr>
        <p:spPr>
          <a:xfrm>
            <a:off x="8458200" y="303580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About 100 requests per month, so every response must be kept and reused.</a:t>
            </a:r>
            <a:endParaRPr lang="en-US" sz="1400" dirty="0"/>
          </a:p>
        </p:txBody>
      </p:sp>
      <p:sp>
        <p:nvSpPr>
          <p:cNvPr id="17" name="pb2card"/>
          <p:cNvSpPr/>
          <p:nvPr/>
        </p:nvSpPr>
        <p:spPr>
          <a:xfrm>
            <a:off x="4754880" y="397764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8" name="pb2b_c"/>
          <p:cNvSpPr/>
          <p:nvPr/>
        </p:nvSpPr>
        <p:spPr>
          <a:xfrm>
            <a:off x="4983480" y="4206240"/>
            <a:ext cx="566928" cy="566928"/>
          </a:xfrm>
          <a:prstGeom prst="ellipse">
            <a:avLst/>
          </a:prstGeom>
          <a:solidFill>
            <a:schemeClr val="accent4">
              <a:alpha val="28000"/>
            </a:schemeClr>
          </a:solidFill>
          <a:ln/>
        </p:spPr>
      </p:sp>
      <p:pic>
        <p:nvPicPr>
          <p:cNvPr id="19" name="pb2b_i" descr="LuCircleHelp">    </p:cNvPr>
          <p:cNvPicPr>
            <a:picLocks noChangeAspect="1"/>
          </p:cNvPicPr>
          <p:nvPr/>
        </p:nvPicPr>
        <p:blipFill>
          <a:blip r:embed="rId3"/>
          <a:stretch>
            <a:fillRect/>
          </a:stretch>
        </p:blipFill>
        <p:spPr>
          <a:xfrm>
            <a:off x="5125212" y="4347972"/>
            <a:ext cx="283464" cy="283464"/>
          </a:xfrm>
          <a:prstGeom prst="rect">
            <a:avLst/>
          </a:prstGeom>
        </p:spPr>
      </p:pic>
      <p:sp>
        <p:nvSpPr>
          <p:cNvPr id="20" name="pb2t"/>
          <p:cNvSpPr txBox="1"/>
          <p:nvPr/>
        </p:nvSpPr>
        <p:spPr>
          <a:xfrm>
            <a:off x="4983480" y="489204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No delay causes</a:t>
            </a:r>
            <a:endParaRPr lang="en-US" sz="1800" dirty="0"/>
          </a:p>
        </p:txBody>
      </p:sp>
      <p:sp>
        <p:nvSpPr>
          <p:cNvPr id="21" name="pb2d"/>
          <p:cNvSpPr txBox="1"/>
          <p:nvPr/>
        </p:nvSpPr>
        <p:spPr>
          <a:xfrm>
            <a:off x="4983480" y="527608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The source never says why a flight is late, so the app must not guess weather.</a:t>
            </a:r>
            <a:endParaRPr lang="en-US" sz="1400" dirty="0"/>
          </a:p>
        </p:txBody>
      </p:sp>
      <p:sp>
        <p:nvSpPr>
          <p:cNvPr id="22" name="pb3card"/>
          <p:cNvSpPr/>
          <p:nvPr/>
        </p:nvSpPr>
        <p:spPr>
          <a:xfrm>
            <a:off x="8229600" y="3977640"/>
            <a:ext cx="3355848"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23" name="pb3b_c"/>
          <p:cNvSpPr/>
          <p:nvPr/>
        </p:nvSpPr>
        <p:spPr>
          <a:xfrm>
            <a:off x="8458200" y="4206240"/>
            <a:ext cx="566928" cy="566928"/>
          </a:xfrm>
          <a:prstGeom prst="ellipse">
            <a:avLst/>
          </a:prstGeom>
          <a:solidFill>
            <a:schemeClr val="accent5">
              <a:alpha val="28000"/>
            </a:schemeClr>
          </a:solidFill>
          <a:ln/>
        </p:spPr>
      </p:sp>
      <p:pic>
        <p:nvPicPr>
          <p:cNvPr id="24" name="pb3b_i" descr="LuLock">    </p:cNvPr>
          <p:cNvPicPr>
            <a:picLocks noChangeAspect="1"/>
          </p:cNvPicPr>
          <p:nvPr/>
        </p:nvPicPr>
        <p:blipFill>
          <a:blip r:embed="rId4"/>
          <a:stretch>
            <a:fillRect/>
          </a:stretch>
        </p:blipFill>
        <p:spPr>
          <a:xfrm>
            <a:off x="8599932" y="4347972"/>
            <a:ext cx="283464" cy="283464"/>
          </a:xfrm>
          <a:prstGeom prst="rect">
            <a:avLst/>
          </a:prstGeom>
        </p:spPr>
      </p:pic>
      <p:sp>
        <p:nvSpPr>
          <p:cNvPr id="25" name="pb3t"/>
          <p:cNvSpPr txBox="1"/>
          <p:nvPr/>
        </p:nvSpPr>
        <p:spPr>
          <a:xfrm>
            <a:off x="8458200" y="4892040"/>
            <a:ext cx="2926080" cy="365760"/>
          </a:xfrm>
          <a:prstGeom prst="rect">
            <a:avLst/>
          </a:prstGeom>
          <a:noFill/>
          <a:ln/>
        </p:spPr>
        <p:txBody>
          <a:bodyPr wrap="square" lIns="0" tIns="0" rIns="0" bIns="0" rtlCol="0" anchor="t"/>
          <a:lstStyle/>
          <a:p>
            <a:pPr algn="l" indent="0" marL="0">
              <a:buNone/>
            </a:pPr>
            <a:r>
              <a:rPr lang="en-US" sz="1800" b="1" dirty="0">
                <a:solidFill>
                  <a:schemeClr val="bg1"/>
                </a:solidFill>
              </a:rPr>
              <a:t>Plan restrictions</a:t>
            </a:r>
            <a:endParaRPr lang="en-US" sz="1800" dirty="0"/>
          </a:p>
        </p:txBody>
      </p:sp>
      <p:sp>
        <p:nvSpPr>
          <p:cNvPr id="26" name="pb3d"/>
          <p:cNvSpPr txBox="1"/>
          <p:nvPr/>
        </p:nvSpPr>
        <p:spPr>
          <a:xfrm>
            <a:off x="8458200" y="5276088"/>
            <a:ext cx="2926080" cy="731520"/>
          </a:xfrm>
          <a:prstGeom prst="rect">
            <a:avLst/>
          </a:prstGeom>
          <a:noFill/>
          <a:ln/>
        </p:spPr>
        <p:txBody>
          <a:bodyPr wrap="square" lIns="0" tIns="0" rIns="0" bIns="0" rtlCol="0" anchor="t"/>
          <a:lstStyle/>
          <a:p>
            <a:pPr algn="l" indent="0" marL="0">
              <a:buNone/>
            </a:pPr>
            <a:r>
              <a:rPr lang="en-US" sz="1400" dirty="0">
                <a:solidFill>
                  <a:schemeClr val="bg2"/>
                </a:solidFill>
              </a:rPr>
              <a:t>Free plan is HTTP-only and lookup endpoints may be restricted.</a:t>
            </a:r>
            <a:endParaRPr lang="en-US" sz="1400" dirty="0"/>
          </a:p>
        </p:txBody>
      </p:sp>
      <p:sp>
        <p:nvSpPr>
          <p:cNvPr id="27" name="track"/>
          <p:cNvSpPr/>
          <p:nvPr/>
        </p:nvSpPr>
        <p:spPr>
          <a:xfrm>
            <a:off x="3383280" y="6510528"/>
            <a:ext cx="7132320" cy="0"/>
          </a:xfrm>
          <a:prstGeom prst="line">
            <a:avLst/>
          </a:prstGeom>
          <a:noFill/>
          <a:ln w="12700">
            <a:solidFill>
              <a:schemeClr val="bg2">
                <a:alpha val="45000"/>
              </a:schemeClr>
            </a:solidFill>
            <a:prstDash val="dash"/>
          </a:ln>
        </p:spPr>
      </p:sp>
      <p:sp>
        <p:nvSpPr>
          <p:cNvPr id="28" name="progress"/>
          <p:cNvSpPr/>
          <p:nvPr/>
        </p:nvSpPr>
        <p:spPr>
          <a:xfrm>
            <a:off x="3383280" y="6510528"/>
            <a:ext cx="491884" cy="0"/>
          </a:xfrm>
          <a:prstGeom prst="line">
            <a:avLst/>
          </a:prstGeom>
          <a:noFill/>
          <a:ln w="28575">
            <a:solidFill>
              <a:schemeClr val="accent2"/>
            </a:solidFill>
            <a:prstDash val="solid"/>
          </a:ln>
        </p:spPr>
      </p:sp>
      <p:sp>
        <p:nvSpPr>
          <p:cNvPr id="29" name="wp0"/>
          <p:cNvSpPr/>
          <p:nvPr/>
        </p:nvSpPr>
        <p:spPr>
          <a:xfrm>
            <a:off x="3834016" y="6469380"/>
            <a:ext cx="82296" cy="82296"/>
          </a:xfrm>
          <a:prstGeom prst="ellipse">
            <a:avLst/>
          </a:prstGeom>
          <a:solidFill>
            <a:schemeClr val="accent2"/>
          </a:solidFill>
          <a:ln/>
        </p:spPr>
      </p:sp>
      <p:sp>
        <p:nvSpPr>
          <p:cNvPr id="30" name="wp1"/>
          <p:cNvSpPr/>
          <p:nvPr/>
        </p:nvSpPr>
        <p:spPr>
          <a:xfrm>
            <a:off x="4817784" y="6469380"/>
            <a:ext cx="82296" cy="82296"/>
          </a:xfrm>
          <a:prstGeom prst="ellipse">
            <a:avLst/>
          </a:prstGeom>
          <a:solidFill>
            <a:schemeClr val="bg2">
              <a:alpha val="60000"/>
            </a:schemeClr>
          </a:solidFill>
          <a:ln/>
        </p:spPr>
      </p:sp>
      <p:sp>
        <p:nvSpPr>
          <p:cNvPr id="31" name="wp2"/>
          <p:cNvSpPr/>
          <p:nvPr/>
        </p:nvSpPr>
        <p:spPr>
          <a:xfrm>
            <a:off x="7277205" y="6469380"/>
            <a:ext cx="82296" cy="82296"/>
          </a:xfrm>
          <a:prstGeom prst="ellipse">
            <a:avLst/>
          </a:prstGeom>
          <a:solidFill>
            <a:schemeClr val="bg2">
              <a:alpha val="60000"/>
            </a:schemeClr>
          </a:solidFill>
          <a:ln/>
        </p:spPr>
      </p:sp>
      <p:sp>
        <p:nvSpPr>
          <p:cNvPr id="32" name="wp3"/>
          <p:cNvSpPr/>
          <p:nvPr/>
        </p:nvSpPr>
        <p:spPr>
          <a:xfrm>
            <a:off x="8506915" y="6469380"/>
            <a:ext cx="82296" cy="82296"/>
          </a:xfrm>
          <a:prstGeom prst="ellipse">
            <a:avLst/>
          </a:prstGeom>
          <a:solidFill>
            <a:schemeClr val="bg2">
              <a:alpha val="60000"/>
            </a:schemeClr>
          </a:solidFill>
          <a:ln/>
        </p:spPr>
      </p:sp>
      <p:sp>
        <p:nvSpPr>
          <p:cNvPr id="33" name="wp4"/>
          <p:cNvSpPr/>
          <p:nvPr/>
        </p:nvSpPr>
        <p:spPr>
          <a:xfrm>
            <a:off x="9982568" y="6469380"/>
            <a:ext cx="82296" cy="82296"/>
          </a:xfrm>
          <a:prstGeom prst="ellipse">
            <a:avLst/>
          </a:prstGeom>
          <a:solidFill>
            <a:schemeClr val="bg2">
              <a:alpha val="60000"/>
            </a:schemeClr>
          </a:solidFill>
          <a:ln/>
        </p:spPr>
      </p:sp>
      <p:sp>
        <p:nvSpPr>
          <p:cNvPr id="34" name="progress_ext"/>
          <p:cNvSpPr/>
          <p:nvPr/>
        </p:nvSpPr>
        <p:spPr>
          <a:xfrm>
            <a:off x="3875164" y="6510528"/>
            <a:ext cx="245942" cy="0"/>
          </a:xfrm>
          <a:prstGeom prst="line">
            <a:avLst/>
          </a:prstGeom>
          <a:noFill/>
          <a:ln w="28575">
            <a:solidFill>
              <a:schemeClr val="accent2"/>
            </a:solidFill>
            <a:prstDash val="solid"/>
          </a:ln>
        </p:spPr>
      </p:sp>
      <p:pic>
        <p:nvPicPr>
          <p:cNvPr id="35" name="!!tracker" descr="Progress marker">    </p:cNvPr>
          <p:cNvPicPr>
            <a:picLocks noChangeAspect="1"/>
          </p:cNvPicPr>
          <p:nvPr/>
        </p:nvPicPr>
        <p:blipFill>
          <a:blip r:embed="rId5"/>
          <a:stretch>
            <a:fillRect/>
          </a:stretch>
        </p:blipFill>
        <p:spPr>
          <a:xfrm>
            <a:off x="3692284"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7"/>
                                        </p:tgtEl>
                                        <p:attrNameLst>
                                          <p:attrName>style.visibility</p:attrName>
                                        </p:attrNameLst>
                                      </p:cBhvr>
                                      <p:to>
                                        <p:strVal val="visible"/>
                                      </p:to>
                                    </p:set>
                                    <p:anim calcmode="lin" valueType="num">
                                      <p:cBhvr additive="base">
                                        <p:cTn id="15" dur="550" fill="hold"/>
                                        <p:tgtEl>
                                          <p:spTgt spid="7"/>
                                        </p:tgtEl>
                                        <p:attrNameLst>
                                          <p:attrName>ppt_y</p:attrName>
                                        </p:attrNameLst>
                                      </p:cBhvr>
                                      <p:tavLst>
                                        <p:tav tm="0">
                                          <p:val>
                                            <p:strVal val="#ppt_y+.1"/>
                                          </p:val>
                                        </p:tav>
                                        <p:tav tm="100000">
                                          <p:val>
                                            <p:strVal val="#ppt_y"/>
                                          </p:val>
                                        </p:tav>
                                      </p:tavLst>
                                    </p:anim>
                                    <p:animEffect transition="in" filter="fade">
                                      <p:cBhvr>
                                        <p:cTn id="16" dur="550"/>
                                        <p:tgtEl>
                                          <p:spTgt spid="7"/>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8"/>
                                        </p:tgtEl>
                                        <p:attrNameLst>
                                          <p:attrName>style.visibility</p:attrName>
                                        </p:attrNameLst>
                                      </p:cBhvr>
                                      <p:to>
                                        <p:strVal val="visible"/>
                                      </p:to>
                                    </p:set>
                                    <p:anim calcmode="lin" valueType="num">
                                      <p:cBhvr additive="base">
                                        <p:cTn id="19" dur="550" fill="hold"/>
                                        <p:tgtEl>
                                          <p:spTgt spid="8"/>
                                        </p:tgtEl>
                                        <p:attrNameLst>
                                          <p:attrName>ppt_y</p:attrName>
                                        </p:attrNameLst>
                                      </p:cBhvr>
                                      <p:tavLst>
                                        <p:tav tm="0">
                                          <p:val>
                                            <p:strVal val="#ppt_y+.1"/>
                                          </p:val>
                                        </p:tav>
                                        <p:tav tm="100000">
                                          <p:val>
                                            <p:strVal val="#ppt_y"/>
                                          </p:val>
                                        </p:tav>
                                      </p:tavLst>
                                    </p:anim>
                                    <p:animEffect transition="in" filter="fade">
                                      <p:cBhvr>
                                        <p:cTn id="20" dur="550"/>
                                        <p:tgtEl>
                                          <p:spTgt spid="8"/>
                                        </p:tgtEl>
                                      </p:cBhvr>
                                    </p:animEffect>
                                  </p:childTnLst>
                                </p:cTn>
                              </p:par>
                              <p:par>
                                <p:cTn id="21" presetID="42" presetClass="entr" presetSubtype="0" fill="hold" nodeType="withEffect">
                                  <p:stCondLst>
                                    <p:cond delay="200"/>
                                  </p:stCondLst>
                                  <p:childTnLst>
                                    <p:set>
                                      <p:cBhvr>
                                        <p:cTn id="22" dur="1" fill="hold">
                                          <p:stCondLst>
                                            <p:cond delay="0"/>
                                          </p:stCondLst>
                                        </p:cTn>
                                        <p:tgtEl>
                                          <p:spTgt spid="9"/>
                                        </p:tgtEl>
                                        <p:attrNameLst>
                                          <p:attrName>style.visibility</p:attrName>
                                        </p:attrNameLst>
                                      </p:cBhvr>
                                      <p:to>
                                        <p:strVal val="visible"/>
                                      </p:to>
                                    </p:set>
                                    <p:anim calcmode="lin" valueType="num">
                                      <p:cBhvr additive="base">
                                        <p:cTn id="23" dur="550" fill="hold"/>
                                        <p:tgtEl>
                                          <p:spTgt spid="9"/>
                                        </p:tgtEl>
                                        <p:attrNameLst>
                                          <p:attrName>ppt_y</p:attrName>
                                        </p:attrNameLst>
                                      </p:cBhvr>
                                      <p:tavLst>
                                        <p:tav tm="0">
                                          <p:val>
                                            <p:strVal val="#ppt_y+.1"/>
                                          </p:val>
                                        </p:tav>
                                        <p:tav tm="100000">
                                          <p:val>
                                            <p:strVal val="#ppt_y"/>
                                          </p:val>
                                        </p:tav>
                                      </p:tavLst>
                                    </p:anim>
                                    <p:animEffect transition="in" filter="fade">
                                      <p:cBhvr>
                                        <p:cTn id="24" dur="550"/>
                                        <p:tgtEl>
                                          <p:spTgt spid="9"/>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50" fill="hold"/>
                                        <p:tgtEl>
                                          <p:spTgt spid="10"/>
                                        </p:tgtEl>
                                        <p:attrNameLst>
                                          <p:attrName>ppt_y</p:attrName>
                                        </p:attrNameLst>
                                      </p:cBhvr>
                                      <p:tavLst>
                                        <p:tav tm="0">
                                          <p:val>
                                            <p:strVal val="#ppt_y+.1"/>
                                          </p:val>
                                        </p:tav>
                                        <p:tav tm="100000">
                                          <p:val>
                                            <p:strVal val="#ppt_y"/>
                                          </p:val>
                                        </p:tav>
                                      </p:tavLst>
                                    </p:anim>
                                    <p:animEffect transition="in" filter="fade">
                                      <p:cBhvr>
                                        <p:cTn id="28" dur="550"/>
                                        <p:tgtEl>
                                          <p:spTgt spid="10"/>
                                        </p:tgtEl>
                                      </p:cBhvr>
                                    </p:animEffect>
                                  </p:childTnLst>
                                </p:cTn>
                              </p:par>
                              <p:par>
                                <p:cTn id="29" presetID="42" presetClass="entr" presetSubtype="0" fill="hold" grpId="0" nodeType="withEffect">
                                  <p:stCondLst>
                                    <p:cond delay="20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50" fill="hold"/>
                                        <p:tgtEl>
                                          <p:spTgt spid="11"/>
                                        </p:tgtEl>
                                        <p:attrNameLst>
                                          <p:attrName>ppt_y</p:attrName>
                                        </p:attrNameLst>
                                      </p:cBhvr>
                                      <p:tavLst>
                                        <p:tav tm="0">
                                          <p:val>
                                            <p:strVal val="#ppt_y+.1"/>
                                          </p:val>
                                        </p:tav>
                                        <p:tav tm="100000">
                                          <p:val>
                                            <p:strVal val="#ppt_y"/>
                                          </p:val>
                                        </p:tav>
                                      </p:tavLst>
                                    </p:anim>
                                    <p:animEffect transition="in" filter="fade">
                                      <p:cBhvr>
                                        <p:cTn id="32" dur="550"/>
                                        <p:tgtEl>
                                          <p:spTgt spid="11"/>
                                        </p:tgtEl>
                                      </p:cBhvr>
                                    </p:animEffect>
                                  </p:childTnLst>
                                </p:cTn>
                              </p:par>
                              <p:par>
                                <p:cTn id="33" presetID="42" presetClass="entr" presetSubtype="0" fill="hold" grpId="0" nodeType="withEffect">
                                  <p:stCondLst>
                                    <p:cond delay="550"/>
                                  </p:stCondLst>
                                  <p:childTnLst>
                                    <p:set>
                                      <p:cBhvr>
                                        <p:cTn id="34" dur="1" fill="hold">
                                          <p:stCondLst>
                                            <p:cond delay="0"/>
                                          </p:stCondLst>
                                        </p:cTn>
                                        <p:tgtEl>
                                          <p:spTgt spid="12"/>
                                        </p:tgtEl>
                                        <p:attrNameLst>
                                          <p:attrName>style.visibility</p:attrName>
                                        </p:attrNameLst>
                                      </p:cBhvr>
                                      <p:to>
                                        <p:strVal val="visible"/>
                                      </p:to>
                                    </p:set>
                                    <p:anim calcmode="lin" valueType="num">
                                      <p:cBhvr additive="base">
                                        <p:cTn id="35" dur="550" fill="hold"/>
                                        <p:tgtEl>
                                          <p:spTgt spid="12"/>
                                        </p:tgtEl>
                                        <p:attrNameLst>
                                          <p:attrName>ppt_y</p:attrName>
                                        </p:attrNameLst>
                                      </p:cBhvr>
                                      <p:tavLst>
                                        <p:tav tm="0">
                                          <p:val>
                                            <p:strVal val="#ppt_y+.1"/>
                                          </p:val>
                                        </p:tav>
                                        <p:tav tm="100000">
                                          <p:val>
                                            <p:strVal val="#ppt_y"/>
                                          </p:val>
                                        </p:tav>
                                      </p:tavLst>
                                    </p:anim>
                                    <p:animEffect transition="in" filter="fade">
                                      <p:cBhvr>
                                        <p:cTn id="36" dur="550"/>
                                        <p:tgtEl>
                                          <p:spTgt spid="12"/>
                                        </p:tgtEl>
                                      </p:cBhvr>
                                    </p:animEffect>
                                  </p:childTnLst>
                                </p:cTn>
                              </p:par>
                              <p:par>
                                <p:cTn id="37" presetID="42" presetClass="entr" presetSubtype="0" fill="hold" grpId="0" nodeType="withEffect">
                                  <p:stCondLst>
                                    <p:cond delay="550"/>
                                  </p:stCondLst>
                                  <p:childTnLst>
                                    <p:set>
                                      <p:cBhvr>
                                        <p:cTn id="38" dur="1" fill="hold">
                                          <p:stCondLst>
                                            <p:cond delay="0"/>
                                          </p:stCondLst>
                                        </p:cTn>
                                        <p:tgtEl>
                                          <p:spTgt spid="13"/>
                                        </p:tgtEl>
                                        <p:attrNameLst>
                                          <p:attrName>style.visibility</p:attrName>
                                        </p:attrNameLst>
                                      </p:cBhvr>
                                      <p:to>
                                        <p:strVal val="visible"/>
                                      </p:to>
                                    </p:set>
                                    <p:anim calcmode="lin" valueType="num">
                                      <p:cBhvr additive="base">
                                        <p:cTn id="39" dur="550" fill="hold"/>
                                        <p:tgtEl>
                                          <p:spTgt spid="13"/>
                                        </p:tgtEl>
                                        <p:attrNameLst>
                                          <p:attrName>ppt_y</p:attrName>
                                        </p:attrNameLst>
                                      </p:cBhvr>
                                      <p:tavLst>
                                        <p:tav tm="0">
                                          <p:val>
                                            <p:strVal val="#ppt_y+.1"/>
                                          </p:val>
                                        </p:tav>
                                        <p:tav tm="100000">
                                          <p:val>
                                            <p:strVal val="#ppt_y"/>
                                          </p:val>
                                        </p:tav>
                                      </p:tavLst>
                                    </p:anim>
                                    <p:animEffect transition="in" filter="fade">
                                      <p:cBhvr>
                                        <p:cTn id="40" dur="550"/>
                                        <p:tgtEl>
                                          <p:spTgt spid="13"/>
                                        </p:tgtEl>
                                      </p:cBhvr>
                                    </p:animEffect>
                                  </p:childTnLst>
                                </p:cTn>
                              </p:par>
                              <p:par>
                                <p:cTn id="41" presetID="42" presetClass="entr" presetSubtype="0" fill="hold" nodeType="withEffect">
                                  <p:stCondLst>
                                    <p:cond delay="55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50" fill="hold"/>
                                        <p:tgtEl>
                                          <p:spTgt spid="14"/>
                                        </p:tgtEl>
                                        <p:attrNameLst>
                                          <p:attrName>ppt_y</p:attrName>
                                        </p:attrNameLst>
                                      </p:cBhvr>
                                      <p:tavLst>
                                        <p:tav tm="0">
                                          <p:val>
                                            <p:strVal val="#ppt_y+.1"/>
                                          </p:val>
                                        </p:tav>
                                        <p:tav tm="100000">
                                          <p:val>
                                            <p:strVal val="#ppt_y"/>
                                          </p:val>
                                        </p:tav>
                                      </p:tavLst>
                                    </p:anim>
                                    <p:animEffect transition="in" filter="fade">
                                      <p:cBhvr>
                                        <p:cTn id="44" dur="550"/>
                                        <p:tgtEl>
                                          <p:spTgt spid="14"/>
                                        </p:tgtEl>
                                      </p:cBhvr>
                                    </p:animEffect>
                                  </p:childTnLst>
                                </p:cTn>
                              </p:par>
                              <p:par>
                                <p:cTn id="45" presetID="42" presetClass="entr" presetSubtype="0" fill="hold" grpId="0" nodeType="withEffect">
                                  <p:stCondLst>
                                    <p:cond delay="55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50" fill="hold"/>
                                        <p:tgtEl>
                                          <p:spTgt spid="15"/>
                                        </p:tgtEl>
                                        <p:attrNameLst>
                                          <p:attrName>ppt_y</p:attrName>
                                        </p:attrNameLst>
                                      </p:cBhvr>
                                      <p:tavLst>
                                        <p:tav tm="0">
                                          <p:val>
                                            <p:strVal val="#ppt_y+.1"/>
                                          </p:val>
                                        </p:tav>
                                        <p:tav tm="100000">
                                          <p:val>
                                            <p:strVal val="#ppt_y"/>
                                          </p:val>
                                        </p:tav>
                                      </p:tavLst>
                                    </p:anim>
                                    <p:animEffect transition="in" filter="fade">
                                      <p:cBhvr>
                                        <p:cTn id="48" dur="550"/>
                                        <p:tgtEl>
                                          <p:spTgt spid="15"/>
                                        </p:tgtEl>
                                      </p:cBhvr>
                                    </p:animEffect>
                                  </p:childTnLst>
                                </p:cTn>
                              </p:par>
                              <p:par>
                                <p:cTn id="49" presetID="42" presetClass="entr" presetSubtype="0" fill="hold" grpId="0" nodeType="withEffect">
                                  <p:stCondLst>
                                    <p:cond delay="55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50" fill="hold"/>
                                        <p:tgtEl>
                                          <p:spTgt spid="16"/>
                                        </p:tgtEl>
                                        <p:attrNameLst>
                                          <p:attrName>ppt_y</p:attrName>
                                        </p:attrNameLst>
                                      </p:cBhvr>
                                      <p:tavLst>
                                        <p:tav tm="0">
                                          <p:val>
                                            <p:strVal val="#ppt_y+.1"/>
                                          </p:val>
                                        </p:tav>
                                        <p:tav tm="100000">
                                          <p:val>
                                            <p:strVal val="#ppt_y"/>
                                          </p:val>
                                        </p:tav>
                                      </p:tavLst>
                                    </p:anim>
                                    <p:animEffect transition="in" filter="fade">
                                      <p:cBhvr>
                                        <p:cTn id="52" dur="550"/>
                                        <p:tgtEl>
                                          <p:spTgt spid="16"/>
                                        </p:tgtEl>
                                      </p:cBhvr>
                                    </p:animEffect>
                                  </p:childTnLst>
                                </p:cTn>
                              </p:par>
                              <p:par>
                                <p:cTn id="53" presetID="42" presetClass="entr" presetSubtype="0" fill="hold" grpId="0" nodeType="withEffect">
                                  <p:stCondLst>
                                    <p:cond delay="900"/>
                                  </p:stCondLst>
                                  <p:childTnLst>
                                    <p:set>
                                      <p:cBhvr>
                                        <p:cTn id="54" dur="1" fill="hold">
                                          <p:stCondLst>
                                            <p:cond delay="0"/>
                                          </p:stCondLst>
                                        </p:cTn>
                                        <p:tgtEl>
                                          <p:spTgt spid="17"/>
                                        </p:tgtEl>
                                        <p:attrNameLst>
                                          <p:attrName>style.visibility</p:attrName>
                                        </p:attrNameLst>
                                      </p:cBhvr>
                                      <p:to>
                                        <p:strVal val="visible"/>
                                      </p:to>
                                    </p:set>
                                    <p:anim calcmode="lin" valueType="num">
                                      <p:cBhvr additive="base">
                                        <p:cTn id="55" dur="550" fill="hold"/>
                                        <p:tgtEl>
                                          <p:spTgt spid="17"/>
                                        </p:tgtEl>
                                        <p:attrNameLst>
                                          <p:attrName>ppt_y</p:attrName>
                                        </p:attrNameLst>
                                      </p:cBhvr>
                                      <p:tavLst>
                                        <p:tav tm="0">
                                          <p:val>
                                            <p:strVal val="#ppt_y+.1"/>
                                          </p:val>
                                        </p:tav>
                                        <p:tav tm="100000">
                                          <p:val>
                                            <p:strVal val="#ppt_y"/>
                                          </p:val>
                                        </p:tav>
                                      </p:tavLst>
                                    </p:anim>
                                    <p:animEffect transition="in" filter="fade">
                                      <p:cBhvr>
                                        <p:cTn id="56" dur="550"/>
                                        <p:tgtEl>
                                          <p:spTgt spid="17"/>
                                        </p:tgtEl>
                                      </p:cBhvr>
                                    </p:animEffect>
                                  </p:childTnLst>
                                </p:cTn>
                              </p:par>
                              <p:par>
                                <p:cTn id="57" presetID="42" presetClass="entr" presetSubtype="0" fill="hold" grpId="0" nodeType="withEffect">
                                  <p:stCondLst>
                                    <p:cond delay="900"/>
                                  </p:stCondLst>
                                  <p:childTnLst>
                                    <p:set>
                                      <p:cBhvr>
                                        <p:cTn id="58" dur="1" fill="hold">
                                          <p:stCondLst>
                                            <p:cond delay="0"/>
                                          </p:stCondLst>
                                        </p:cTn>
                                        <p:tgtEl>
                                          <p:spTgt spid="18"/>
                                        </p:tgtEl>
                                        <p:attrNameLst>
                                          <p:attrName>style.visibility</p:attrName>
                                        </p:attrNameLst>
                                      </p:cBhvr>
                                      <p:to>
                                        <p:strVal val="visible"/>
                                      </p:to>
                                    </p:set>
                                    <p:anim calcmode="lin" valueType="num">
                                      <p:cBhvr additive="base">
                                        <p:cTn id="59" dur="550" fill="hold"/>
                                        <p:tgtEl>
                                          <p:spTgt spid="18"/>
                                        </p:tgtEl>
                                        <p:attrNameLst>
                                          <p:attrName>ppt_y</p:attrName>
                                        </p:attrNameLst>
                                      </p:cBhvr>
                                      <p:tavLst>
                                        <p:tav tm="0">
                                          <p:val>
                                            <p:strVal val="#ppt_y+.1"/>
                                          </p:val>
                                        </p:tav>
                                        <p:tav tm="100000">
                                          <p:val>
                                            <p:strVal val="#ppt_y"/>
                                          </p:val>
                                        </p:tav>
                                      </p:tavLst>
                                    </p:anim>
                                    <p:animEffect transition="in" filter="fade">
                                      <p:cBhvr>
                                        <p:cTn id="60" dur="550"/>
                                        <p:tgtEl>
                                          <p:spTgt spid="18"/>
                                        </p:tgtEl>
                                      </p:cBhvr>
                                    </p:animEffect>
                                  </p:childTnLst>
                                </p:cTn>
                              </p:par>
                              <p:par>
                                <p:cTn id="61" presetID="42" presetClass="entr" presetSubtype="0" fill="hold" nodeType="withEffect">
                                  <p:stCondLst>
                                    <p:cond delay="900"/>
                                  </p:stCondLst>
                                  <p:childTnLst>
                                    <p:set>
                                      <p:cBhvr>
                                        <p:cTn id="62" dur="1" fill="hold">
                                          <p:stCondLst>
                                            <p:cond delay="0"/>
                                          </p:stCondLst>
                                        </p:cTn>
                                        <p:tgtEl>
                                          <p:spTgt spid="19"/>
                                        </p:tgtEl>
                                        <p:attrNameLst>
                                          <p:attrName>style.visibility</p:attrName>
                                        </p:attrNameLst>
                                      </p:cBhvr>
                                      <p:to>
                                        <p:strVal val="visible"/>
                                      </p:to>
                                    </p:set>
                                    <p:anim calcmode="lin" valueType="num">
                                      <p:cBhvr additive="base">
                                        <p:cTn id="63" dur="550" fill="hold"/>
                                        <p:tgtEl>
                                          <p:spTgt spid="19"/>
                                        </p:tgtEl>
                                        <p:attrNameLst>
                                          <p:attrName>ppt_y</p:attrName>
                                        </p:attrNameLst>
                                      </p:cBhvr>
                                      <p:tavLst>
                                        <p:tav tm="0">
                                          <p:val>
                                            <p:strVal val="#ppt_y+.1"/>
                                          </p:val>
                                        </p:tav>
                                        <p:tav tm="100000">
                                          <p:val>
                                            <p:strVal val="#ppt_y"/>
                                          </p:val>
                                        </p:tav>
                                      </p:tavLst>
                                    </p:anim>
                                    <p:animEffect transition="in" filter="fade">
                                      <p:cBhvr>
                                        <p:cTn id="64" dur="550"/>
                                        <p:tgtEl>
                                          <p:spTgt spid="19"/>
                                        </p:tgtEl>
                                      </p:cBhvr>
                                    </p:animEffect>
                                  </p:childTnLst>
                                </p:cTn>
                              </p:par>
                              <p:par>
                                <p:cTn id="65" presetID="42" presetClass="entr" presetSubtype="0" fill="hold" grpId="0" nodeType="withEffect">
                                  <p:stCondLst>
                                    <p:cond delay="900"/>
                                  </p:stCondLst>
                                  <p:childTnLst>
                                    <p:set>
                                      <p:cBhvr>
                                        <p:cTn id="66" dur="1" fill="hold">
                                          <p:stCondLst>
                                            <p:cond delay="0"/>
                                          </p:stCondLst>
                                        </p:cTn>
                                        <p:tgtEl>
                                          <p:spTgt spid="20"/>
                                        </p:tgtEl>
                                        <p:attrNameLst>
                                          <p:attrName>style.visibility</p:attrName>
                                        </p:attrNameLst>
                                      </p:cBhvr>
                                      <p:to>
                                        <p:strVal val="visible"/>
                                      </p:to>
                                    </p:set>
                                    <p:anim calcmode="lin" valueType="num">
                                      <p:cBhvr additive="base">
                                        <p:cTn id="67" dur="550" fill="hold"/>
                                        <p:tgtEl>
                                          <p:spTgt spid="20"/>
                                        </p:tgtEl>
                                        <p:attrNameLst>
                                          <p:attrName>ppt_y</p:attrName>
                                        </p:attrNameLst>
                                      </p:cBhvr>
                                      <p:tavLst>
                                        <p:tav tm="0">
                                          <p:val>
                                            <p:strVal val="#ppt_y+.1"/>
                                          </p:val>
                                        </p:tav>
                                        <p:tav tm="100000">
                                          <p:val>
                                            <p:strVal val="#ppt_y"/>
                                          </p:val>
                                        </p:tav>
                                      </p:tavLst>
                                    </p:anim>
                                    <p:animEffect transition="in" filter="fade">
                                      <p:cBhvr>
                                        <p:cTn id="68" dur="550"/>
                                        <p:tgtEl>
                                          <p:spTgt spid="20"/>
                                        </p:tgtEl>
                                      </p:cBhvr>
                                    </p:animEffect>
                                  </p:childTnLst>
                                </p:cTn>
                              </p:par>
                              <p:par>
                                <p:cTn id="69" presetID="42" presetClass="entr" presetSubtype="0" fill="hold" grpId="0" nodeType="withEffect">
                                  <p:stCondLst>
                                    <p:cond delay="900"/>
                                  </p:stCondLst>
                                  <p:childTnLst>
                                    <p:set>
                                      <p:cBhvr>
                                        <p:cTn id="70" dur="1" fill="hold">
                                          <p:stCondLst>
                                            <p:cond delay="0"/>
                                          </p:stCondLst>
                                        </p:cTn>
                                        <p:tgtEl>
                                          <p:spTgt spid="21"/>
                                        </p:tgtEl>
                                        <p:attrNameLst>
                                          <p:attrName>style.visibility</p:attrName>
                                        </p:attrNameLst>
                                      </p:cBhvr>
                                      <p:to>
                                        <p:strVal val="visible"/>
                                      </p:to>
                                    </p:set>
                                    <p:anim calcmode="lin" valueType="num">
                                      <p:cBhvr additive="base">
                                        <p:cTn id="71" dur="550" fill="hold"/>
                                        <p:tgtEl>
                                          <p:spTgt spid="21"/>
                                        </p:tgtEl>
                                        <p:attrNameLst>
                                          <p:attrName>ppt_y</p:attrName>
                                        </p:attrNameLst>
                                      </p:cBhvr>
                                      <p:tavLst>
                                        <p:tav tm="0">
                                          <p:val>
                                            <p:strVal val="#ppt_y+.1"/>
                                          </p:val>
                                        </p:tav>
                                        <p:tav tm="100000">
                                          <p:val>
                                            <p:strVal val="#ppt_y"/>
                                          </p:val>
                                        </p:tav>
                                      </p:tavLst>
                                    </p:anim>
                                    <p:animEffect transition="in" filter="fade">
                                      <p:cBhvr>
                                        <p:cTn id="72" dur="550"/>
                                        <p:tgtEl>
                                          <p:spTgt spid="21"/>
                                        </p:tgtEl>
                                      </p:cBhvr>
                                    </p:animEffect>
                                  </p:childTnLst>
                                </p:cTn>
                              </p:par>
                              <p:par>
                                <p:cTn id="73" presetID="42" presetClass="entr" presetSubtype="0" fill="hold" grpId="0" nodeType="withEffect">
                                  <p:stCondLst>
                                    <p:cond delay="1250"/>
                                  </p:stCondLst>
                                  <p:childTnLst>
                                    <p:set>
                                      <p:cBhvr>
                                        <p:cTn id="74" dur="1" fill="hold">
                                          <p:stCondLst>
                                            <p:cond delay="0"/>
                                          </p:stCondLst>
                                        </p:cTn>
                                        <p:tgtEl>
                                          <p:spTgt spid="22"/>
                                        </p:tgtEl>
                                        <p:attrNameLst>
                                          <p:attrName>style.visibility</p:attrName>
                                        </p:attrNameLst>
                                      </p:cBhvr>
                                      <p:to>
                                        <p:strVal val="visible"/>
                                      </p:to>
                                    </p:set>
                                    <p:anim calcmode="lin" valueType="num">
                                      <p:cBhvr additive="base">
                                        <p:cTn id="75" dur="550" fill="hold"/>
                                        <p:tgtEl>
                                          <p:spTgt spid="22"/>
                                        </p:tgtEl>
                                        <p:attrNameLst>
                                          <p:attrName>ppt_y</p:attrName>
                                        </p:attrNameLst>
                                      </p:cBhvr>
                                      <p:tavLst>
                                        <p:tav tm="0">
                                          <p:val>
                                            <p:strVal val="#ppt_y+.1"/>
                                          </p:val>
                                        </p:tav>
                                        <p:tav tm="100000">
                                          <p:val>
                                            <p:strVal val="#ppt_y"/>
                                          </p:val>
                                        </p:tav>
                                      </p:tavLst>
                                    </p:anim>
                                    <p:animEffect transition="in" filter="fade">
                                      <p:cBhvr>
                                        <p:cTn id="76" dur="550"/>
                                        <p:tgtEl>
                                          <p:spTgt spid="22"/>
                                        </p:tgtEl>
                                      </p:cBhvr>
                                    </p:animEffect>
                                  </p:childTnLst>
                                </p:cTn>
                              </p:par>
                              <p:par>
                                <p:cTn id="77" presetID="42" presetClass="entr" presetSubtype="0" fill="hold" grpId="0" nodeType="withEffect">
                                  <p:stCondLst>
                                    <p:cond delay="1250"/>
                                  </p:stCondLst>
                                  <p:childTnLst>
                                    <p:set>
                                      <p:cBhvr>
                                        <p:cTn id="78" dur="1" fill="hold">
                                          <p:stCondLst>
                                            <p:cond delay="0"/>
                                          </p:stCondLst>
                                        </p:cTn>
                                        <p:tgtEl>
                                          <p:spTgt spid="23"/>
                                        </p:tgtEl>
                                        <p:attrNameLst>
                                          <p:attrName>style.visibility</p:attrName>
                                        </p:attrNameLst>
                                      </p:cBhvr>
                                      <p:to>
                                        <p:strVal val="visible"/>
                                      </p:to>
                                    </p:set>
                                    <p:anim calcmode="lin" valueType="num">
                                      <p:cBhvr additive="base">
                                        <p:cTn id="79" dur="550" fill="hold"/>
                                        <p:tgtEl>
                                          <p:spTgt spid="23"/>
                                        </p:tgtEl>
                                        <p:attrNameLst>
                                          <p:attrName>ppt_y</p:attrName>
                                        </p:attrNameLst>
                                      </p:cBhvr>
                                      <p:tavLst>
                                        <p:tav tm="0">
                                          <p:val>
                                            <p:strVal val="#ppt_y+.1"/>
                                          </p:val>
                                        </p:tav>
                                        <p:tav tm="100000">
                                          <p:val>
                                            <p:strVal val="#ppt_y"/>
                                          </p:val>
                                        </p:tav>
                                      </p:tavLst>
                                    </p:anim>
                                    <p:animEffect transition="in" filter="fade">
                                      <p:cBhvr>
                                        <p:cTn id="80" dur="550"/>
                                        <p:tgtEl>
                                          <p:spTgt spid="23"/>
                                        </p:tgtEl>
                                      </p:cBhvr>
                                    </p:animEffect>
                                  </p:childTnLst>
                                </p:cTn>
                              </p:par>
                              <p:par>
                                <p:cTn id="81" presetID="42" presetClass="entr" presetSubtype="0" fill="hold" nodeType="withEffect">
                                  <p:stCondLst>
                                    <p:cond delay="1250"/>
                                  </p:stCondLst>
                                  <p:childTnLst>
                                    <p:set>
                                      <p:cBhvr>
                                        <p:cTn id="82" dur="1" fill="hold">
                                          <p:stCondLst>
                                            <p:cond delay="0"/>
                                          </p:stCondLst>
                                        </p:cTn>
                                        <p:tgtEl>
                                          <p:spTgt spid="24"/>
                                        </p:tgtEl>
                                        <p:attrNameLst>
                                          <p:attrName>style.visibility</p:attrName>
                                        </p:attrNameLst>
                                      </p:cBhvr>
                                      <p:to>
                                        <p:strVal val="visible"/>
                                      </p:to>
                                    </p:set>
                                    <p:anim calcmode="lin" valueType="num">
                                      <p:cBhvr additive="base">
                                        <p:cTn id="83" dur="550" fill="hold"/>
                                        <p:tgtEl>
                                          <p:spTgt spid="24"/>
                                        </p:tgtEl>
                                        <p:attrNameLst>
                                          <p:attrName>ppt_y</p:attrName>
                                        </p:attrNameLst>
                                      </p:cBhvr>
                                      <p:tavLst>
                                        <p:tav tm="0">
                                          <p:val>
                                            <p:strVal val="#ppt_y+.1"/>
                                          </p:val>
                                        </p:tav>
                                        <p:tav tm="100000">
                                          <p:val>
                                            <p:strVal val="#ppt_y"/>
                                          </p:val>
                                        </p:tav>
                                      </p:tavLst>
                                    </p:anim>
                                    <p:animEffect transition="in" filter="fade">
                                      <p:cBhvr>
                                        <p:cTn id="84" dur="550"/>
                                        <p:tgtEl>
                                          <p:spTgt spid="24"/>
                                        </p:tgtEl>
                                      </p:cBhvr>
                                    </p:animEffect>
                                  </p:childTnLst>
                                </p:cTn>
                              </p:par>
                              <p:par>
                                <p:cTn id="85" presetID="42" presetClass="entr" presetSubtype="0" fill="hold" grpId="0" nodeType="withEffect">
                                  <p:stCondLst>
                                    <p:cond delay="1250"/>
                                  </p:stCondLst>
                                  <p:childTnLst>
                                    <p:set>
                                      <p:cBhvr>
                                        <p:cTn id="86" dur="1" fill="hold">
                                          <p:stCondLst>
                                            <p:cond delay="0"/>
                                          </p:stCondLst>
                                        </p:cTn>
                                        <p:tgtEl>
                                          <p:spTgt spid="25"/>
                                        </p:tgtEl>
                                        <p:attrNameLst>
                                          <p:attrName>style.visibility</p:attrName>
                                        </p:attrNameLst>
                                      </p:cBhvr>
                                      <p:to>
                                        <p:strVal val="visible"/>
                                      </p:to>
                                    </p:set>
                                    <p:anim calcmode="lin" valueType="num">
                                      <p:cBhvr additive="base">
                                        <p:cTn id="87" dur="550" fill="hold"/>
                                        <p:tgtEl>
                                          <p:spTgt spid="25"/>
                                        </p:tgtEl>
                                        <p:attrNameLst>
                                          <p:attrName>ppt_y</p:attrName>
                                        </p:attrNameLst>
                                      </p:cBhvr>
                                      <p:tavLst>
                                        <p:tav tm="0">
                                          <p:val>
                                            <p:strVal val="#ppt_y+.1"/>
                                          </p:val>
                                        </p:tav>
                                        <p:tav tm="100000">
                                          <p:val>
                                            <p:strVal val="#ppt_y"/>
                                          </p:val>
                                        </p:tav>
                                      </p:tavLst>
                                    </p:anim>
                                    <p:animEffect transition="in" filter="fade">
                                      <p:cBhvr>
                                        <p:cTn id="88" dur="550"/>
                                        <p:tgtEl>
                                          <p:spTgt spid="25"/>
                                        </p:tgtEl>
                                      </p:cBhvr>
                                    </p:animEffect>
                                  </p:childTnLst>
                                </p:cTn>
                              </p:par>
                              <p:par>
                                <p:cTn id="89" presetID="42" presetClass="entr" presetSubtype="0" fill="hold" grpId="0" nodeType="withEffect">
                                  <p:stCondLst>
                                    <p:cond delay="1250"/>
                                  </p:stCondLst>
                                  <p:childTnLst>
                                    <p:set>
                                      <p:cBhvr>
                                        <p:cTn id="90" dur="1" fill="hold">
                                          <p:stCondLst>
                                            <p:cond delay="0"/>
                                          </p:stCondLst>
                                        </p:cTn>
                                        <p:tgtEl>
                                          <p:spTgt spid="26"/>
                                        </p:tgtEl>
                                        <p:attrNameLst>
                                          <p:attrName>style.visibility</p:attrName>
                                        </p:attrNameLst>
                                      </p:cBhvr>
                                      <p:to>
                                        <p:strVal val="visible"/>
                                      </p:to>
                                    </p:set>
                                    <p:anim calcmode="lin" valueType="num">
                                      <p:cBhvr additive="base">
                                        <p:cTn id="91" dur="550" fill="hold"/>
                                        <p:tgtEl>
                                          <p:spTgt spid="26"/>
                                        </p:tgtEl>
                                        <p:attrNameLst>
                                          <p:attrName>ppt_y</p:attrName>
                                        </p:attrNameLst>
                                      </p:cBhvr>
                                      <p:tavLst>
                                        <p:tav tm="0">
                                          <p:val>
                                            <p:strVal val="#ppt_y+.1"/>
                                          </p:val>
                                        </p:tav>
                                        <p:tav tm="100000">
                                          <p:val>
                                            <p:strVal val="#ppt_y"/>
                                          </p:val>
                                        </p:tav>
                                      </p:tavLst>
                                    </p:anim>
                                    <p:animEffect transition="in" filter="fade">
                                      <p:cBhvr>
                                        <p:cTn id="92" dur="550"/>
                                        <p:tgtEl>
                                          <p:spTgt spid="26"/>
                                        </p:tgtEl>
                                      </p:cBhvr>
                                    </p:animEffect>
                                  </p:childTnLst>
                                </p:cTn>
                              </p:par>
                              <p:par>
                                <p:cTn id="93" presetID="22" presetClass="entr" presetSubtype="8" fill="hold" grpId="0" nodeType="withEffect">
                                  <p:stCondLst>
                                    <p:cond delay="200"/>
                                  </p:stCondLst>
                                  <p:childTnLst>
                                    <p:set>
                                      <p:cBhvr>
                                        <p:cTn id="94" dur="1" fill="hold">
                                          <p:stCondLst>
                                            <p:cond delay="0"/>
                                          </p:stCondLst>
                                        </p:cTn>
                                        <p:tgtEl>
                                          <p:spTgt spid="5"/>
                                        </p:tgtEl>
                                        <p:attrNameLst>
                                          <p:attrName>style.visibility</p:attrName>
                                        </p:attrNameLst>
                                      </p:cBhvr>
                                      <p:to>
                                        <p:strVal val="visible"/>
                                      </p:to>
                                    </p:set>
                                    <p:animEffect transition="in" filter="wipe(left)">
                                      <p:cBhvr>
                                        <p:cTn id="95" dur="800"/>
                                        <p:tgtEl>
                                          <p:spTgt spid="5"/>
                                        </p:tgtEl>
                                      </p:cBhvr>
                                    </p:animEffect>
                                  </p:childTnLst>
                                </p:cTn>
                              </p:par>
                              <p:par>
                                <p:cTn id="96" presetID="22" presetClass="entr" presetSubtype="8" fill="hold" grpId="0" nodeType="withEffect">
                                  <p:stCondLst>
                                    <p:cond delay="700"/>
                                  </p:stCondLst>
                                  <p:childTnLst>
                                    <p:set>
                                      <p:cBhvr>
                                        <p:cTn id="97" dur="1" fill="hold">
                                          <p:stCondLst>
                                            <p:cond delay="0"/>
                                          </p:stCondLst>
                                        </p:cTn>
                                        <p:tgtEl>
                                          <p:spTgt spid="6"/>
                                        </p:tgtEl>
                                        <p:attrNameLst>
                                          <p:attrName>style.visibility</p:attrName>
                                        </p:attrNameLst>
                                      </p:cBhvr>
                                      <p:to>
                                        <p:strVal val="visible"/>
                                      </p:to>
                                    </p:set>
                                    <p:animEffect transition="in" filter="wipe(left)">
                                      <p:cBhvr>
                                        <p:cTn id="98" dur="800"/>
                                        <p:tgtEl>
                                          <p:spTgt spid="6"/>
                                        </p:tgtEl>
                                      </p:cBhvr>
                                    </p:animEffect>
                                  </p:childTnLst>
                                </p:cTn>
                              </p:par>
                              <p:par>
                                <p:cTn id="99" presetID="22" presetClass="entr" presetSubtype="8" fill="hold" grpId="0" nodeType="withEffect">
                                  <p:stCondLst>
                                    <p:cond delay="600"/>
                                  </p:stCondLst>
                                  <p:childTnLst>
                                    <p:set>
                                      <p:cBhvr>
                                        <p:cTn id="100" dur="1" fill="hold">
                                          <p:stCondLst>
                                            <p:cond delay="0"/>
                                          </p:stCondLst>
                                        </p:cTn>
                                        <p:tgtEl>
                                          <p:spTgt spid="34"/>
                                        </p:tgtEl>
                                        <p:attrNameLst>
                                          <p:attrName>style.visibility</p:attrName>
                                        </p:attrNameLst>
                                      </p:cBhvr>
                                      <p:to>
                                        <p:strVal val="visible"/>
                                      </p:to>
                                    </p:set>
                                    <p:animEffect transition="in" filter="wipe(left)">
                                      <p:cBhvr>
                                        <p:cTn id="101" dur="1100"/>
                                        <p:tgtEl>
                                          <p:spTgt spid="34"/>
                                        </p:tgtEl>
                                      </p:cBhvr>
                                    </p:animEffect>
                                  </p:childTnLst>
                                </p:cTn>
                              </p:par>
                              <p:par>
                                <p:cTn id="103" presetID="0" presetClass="path" presetSubtype="0" fill="hold" accel="30000" decel="30000" nodeType="withEffect">
                                  <p:stCondLst>
                                    <p:cond delay="600"/>
                                  </p:stCondLst>
                                  <p:childTnLst>
                                    <p:animMotion origin="layout" path="M 0 0 L 0.02017 0 E" pathEditMode="relative" rAng="0" ptsTypes="AA">
                                      <p:cBhvr>
                                        <p:cTn id="102" dur="1100" fill="hold"/>
                                        <p:tgtEl>
                                          <p:spTgt spid="35"/>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3" grpId="0" animBg="1"/>
      <p:bldP spid="25" grpId="0" animBg="1"/>
      <p:bldP spid="26" grpId="0" animBg="1"/>
      <p:bldP spid="5" grpId="0" animBg="1"/>
      <p:bldP spid="6" grpId="0" animBg="1"/>
      <p:bldP spid="3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Objectives and scope</a:t>
            </a:r>
            <a:endParaRPr lang="en-US" sz="3600" dirty="0"/>
          </a:p>
        </p:txBody>
      </p:sp>
      <p:sp>
        <p:nvSpPr>
          <p:cNvPr id="5" name="ob0c"/>
          <p:cNvSpPr/>
          <p:nvPr/>
        </p:nvSpPr>
        <p:spPr>
          <a:xfrm>
            <a:off x="548640" y="1737360"/>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6" name="ob0n"/>
          <p:cNvSpPr/>
          <p:nvPr/>
        </p:nvSpPr>
        <p:spPr>
          <a:xfrm>
            <a:off x="749808" y="1897380"/>
            <a:ext cx="457200" cy="457200"/>
          </a:xfrm>
          <a:prstGeom prst="ellipse">
            <a:avLst/>
          </a:prstGeom>
          <a:solidFill>
            <a:schemeClr val="accent1">
              <a:alpha val="80000"/>
            </a:schemeClr>
          </a:solidFill>
          <a:ln/>
        </p:spPr>
      </p:sp>
      <p:sp>
        <p:nvSpPr>
          <p:cNvPr id="7" name="ob0nt"/>
          <p:cNvSpPr txBox="1"/>
          <p:nvPr/>
        </p:nvSpPr>
        <p:spPr>
          <a:xfrm>
            <a:off x="749808" y="1874520"/>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ob0t"/>
          <p:cNvSpPr txBox="1"/>
          <p:nvPr/>
        </p:nvSpPr>
        <p:spPr>
          <a:xfrm>
            <a:off x="1371600" y="1810512"/>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Retrieve </a:t>
            </a:r>
            <a:pPr algn="l" indent="0" marL="0">
              <a:buNone/>
            </a:pPr>
            <a:r>
              <a:rPr lang="en-US" sz="1600" dirty="0">
                <a:solidFill>
                  <a:schemeClr val="bg2"/>
                </a:solidFill>
              </a:rPr>
              <a:t>real flight data from a REST API with optional filters</a:t>
            </a:r>
            <a:endParaRPr lang="en-US" sz="1600" dirty="0"/>
          </a:p>
        </p:txBody>
      </p:sp>
      <p:sp>
        <p:nvSpPr>
          <p:cNvPr id="9" name="ob1c"/>
          <p:cNvSpPr/>
          <p:nvPr/>
        </p:nvSpPr>
        <p:spPr>
          <a:xfrm>
            <a:off x="548640" y="2624328"/>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10" name="ob1n"/>
          <p:cNvSpPr/>
          <p:nvPr/>
        </p:nvSpPr>
        <p:spPr>
          <a:xfrm>
            <a:off x="749808" y="2784348"/>
            <a:ext cx="457200" cy="457200"/>
          </a:xfrm>
          <a:prstGeom prst="ellipse">
            <a:avLst/>
          </a:prstGeom>
          <a:solidFill>
            <a:schemeClr val="accent1">
              <a:alpha val="80000"/>
            </a:schemeClr>
          </a:solidFill>
          <a:ln/>
        </p:spPr>
      </p:sp>
      <p:sp>
        <p:nvSpPr>
          <p:cNvPr id="11" name="ob1nt"/>
          <p:cNvSpPr txBox="1"/>
          <p:nvPr/>
        </p:nvSpPr>
        <p:spPr>
          <a:xfrm>
            <a:off x="749808" y="2761488"/>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ob1t"/>
          <p:cNvSpPr txBox="1"/>
          <p:nvPr/>
        </p:nvSpPr>
        <p:spPr>
          <a:xfrm>
            <a:off x="1371600" y="2697480"/>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Validate and clean </a:t>
            </a:r>
            <a:pPr algn="l" indent="0" marL="0">
              <a:buNone/>
            </a:pPr>
            <a:r>
              <a:rPr lang="en-US" sz="1600" dirty="0">
                <a:solidFill>
                  <a:schemeClr val="bg2"/>
                </a:solidFill>
              </a:rPr>
              <a:t>every record before it is trusted or stored</a:t>
            </a:r>
            <a:endParaRPr lang="en-US" sz="1600" dirty="0"/>
          </a:p>
        </p:txBody>
      </p:sp>
      <p:sp>
        <p:nvSpPr>
          <p:cNvPr id="13" name="ob2c"/>
          <p:cNvSpPr/>
          <p:nvPr/>
        </p:nvSpPr>
        <p:spPr>
          <a:xfrm>
            <a:off x="548640" y="3511296"/>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14" name="ob2n"/>
          <p:cNvSpPr/>
          <p:nvPr/>
        </p:nvSpPr>
        <p:spPr>
          <a:xfrm>
            <a:off x="749808" y="3671316"/>
            <a:ext cx="457200" cy="457200"/>
          </a:xfrm>
          <a:prstGeom prst="ellipse">
            <a:avLst/>
          </a:prstGeom>
          <a:solidFill>
            <a:schemeClr val="accent1">
              <a:alpha val="80000"/>
            </a:schemeClr>
          </a:solidFill>
          <a:ln/>
        </p:spPr>
      </p:sp>
      <p:sp>
        <p:nvSpPr>
          <p:cNvPr id="15" name="ob2nt"/>
          <p:cNvSpPr txBox="1"/>
          <p:nvPr/>
        </p:nvSpPr>
        <p:spPr>
          <a:xfrm>
            <a:off x="749808" y="3648456"/>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ob2t"/>
          <p:cNvSpPr txBox="1"/>
          <p:nvPr/>
        </p:nvSpPr>
        <p:spPr>
          <a:xfrm>
            <a:off x="1371600" y="3584448"/>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Persist </a:t>
            </a:r>
            <a:pPr algn="l" indent="0" marL="0">
              <a:buNone/>
            </a:pPr>
            <a:r>
              <a:rPr lang="en-US" sz="1600" dirty="0">
                <a:solidFill>
                  <a:schemeClr val="bg2"/>
                </a:solidFill>
              </a:rPr>
              <a:t>results in SQLite without duplicates</a:t>
            </a:r>
            <a:endParaRPr lang="en-US" sz="1600" dirty="0"/>
          </a:p>
        </p:txBody>
      </p:sp>
      <p:sp>
        <p:nvSpPr>
          <p:cNvPr id="17" name="ob3c"/>
          <p:cNvSpPr/>
          <p:nvPr/>
        </p:nvSpPr>
        <p:spPr>
          <a:xfrm>
            <a:off x="548640" y="4398264"/>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18" name="ob3n"/>
          <p:cNvSpPr/>
          <p:nvPr/>
        </p:nvSpPr>
        <p:spPr>
          <a:xfrm>
            <a:off x="749808" y="4558284"/>
            <a:ext cx="457200" cy="457200"/>
          </a:xfrm>
          <a:prstGeom prst="ellipse">
            <a:avLst/>
          </a:prstGeom>
          <a:solidFill>
            <a:schemeClr val="accent1">
              <a:alpha val="80000"/>
            </a:schemeClr>
          </a:solidFill>
          <a:ln/>
        </p:spPr>
      </p:sp>
      <p:sp>
        <p:nvSpPr>
          <p:cNvPr id="19" name="ob3nt"/>
          <p:cNvSpPr txBox="1"/>
          <p:nvPr/>
        </p:nvSpPr>
        <p:spPr>
          <a:xfrm>
            <a:off x="749808" y="4535424"/>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20" name="ob3t"/>
          <p:cNvSpPr txBox="1"/>
          <p:nvPr/>
        </p:nvSpPr>
        <p:spPr>
          <a:xfrm>
            <a:off x="1371600" y="4471416"/>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Analyse </a:t>
            </a:r>
            <a:pPr algn="l" indent="0" marL="0">
              <a:buNone/>
            </a:pPr>
            <a:r>
              <a:rPr lang="en-US" sz="1600" dirty="0">
                <a:solidFill>
                  <a:schemeClr val="bg2"/>
                </a:solidFill>
              </a:rPr>
              <a:t>airlines, airports, routes, delays and conditions</a:t>
            </a:r>
            <a:endParaRPr lang="en-US" sz="1600" dirty="0"/>
          </a:p>
        </p:txBody>
      </p:sp>
      <p:sp>
        <p:nvSpPr>
          <p:cNvPr id="21" name="ob4c"/>
          <p:cNvSpPr/>
          <p:nvPr/>
        </p:nvSpPr>
        <p:spPr>
          <a:xfrm>
            <a:off x="548640" y="5285232"/>
            <a:ext cx="5943600" cy="777240"/>
          </a:xfrm>
          <a:prstGeom prst="roundRect">
            <a:avLst>
              <a:gd name="adj" fmla="val 14118"/>
            </a:avLst>
          </a:prstGeom>
          <a:solidFill>
            <a:schemeClr val="bg1">
              <a:alpha val="9000"/>
            </a:schemeClr>
          </a:solidFill>
          <a:ln w="9525">
            <a:solidFill>
              <a:schemeClr val="bg1">
                <a:alpha val="22000"/>
              </a:schemeClr>
            </a:solidFill>
            <a:prstDash val="solid"/>
          </a:ln>
        </p:spPr>
      </p:sp>
      <p:sp>
        <p:nvSpPr>
          <p:cNvPr id="22" name="ob4n"/>
          <p:cNvSpPr/>
          <p:nvPr/>
        </p:nvSpPr>
        <p:spPr>
          <a:xfrm>
            <a:off x="749808" y="5445252"/>
            <a:ext cx="457200" cy="457200"/>
          </a:xfrm>
          <a:prstGeom prst="ellipse">
            <a:avLst/>
          </a:prstGeom>
          <a:solidFill>
            <a:schemeClr val="accent1">
              <a:alpha val="80000"/>
            </a:schemeClr>
          </a:solidFill>
          <a:ln/>
        </p:spPr>
      </p:sp>
      <p:sp>
        <p:nvSpPr>
          <p:cNvPr id="23" name="ob4nt"/>
          <p:cNvSpPr txBox="1"/>
          <p:nvPr/>
        </p:nvSpPr>
        <p:spPr>
          <a:xfrm>
            <a:off x="749808" y="5422392"/>
            <a:ext cx="45720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4" name="ob4t"/>
          <p:cNvSpPr txBox="1"/>
          <p:nvPr/>
        </p:nvSpPr>
        <p:spPr>
          <a:xfrm>
            <a:off x="1371600" y="5358384"/>
            <a:ext cx="4937760" cy="640080"/>
          </a:xfrm>
          <a:prstGeom prst="rect">
            <a:avLst/>
          </a:prstGeom>
          <a:noFill/>
          <a:ln/>
        </p:spPr>
        <p:txBody>
          <a:bodyPr wrap="square" lIns="0" tIns="0" rIns="0" bIns="0" rtlCol="0" anchor="ctr"/>
          <a:lstStyle/>
          <a:p>
            <a:pPr algn="l" indent="0" marL="0">
              <a:buNone/>
            </a:pPr>
            <a:r>
              <a:rPr lang="en-US" sz="1600" b="1" dirty="0">
                <a:solidFill>
                  <a:schemeClr val="bg1"/>
                </a:solidFill>
              </a:rPr>
              <a:t>Deliver </a:t>
            </a:r>
            <a:pPr algn="l" indent="0" marL="0">
              <a:buNone/>
            </a:pPr>
            <a:r>
              <a:rPr lang="en-US" sz="1600" dirty="0">
                <a:solidFill>
                  <a:schemeClr val="bg2"/>
                </a:solidFill>
              </a:rPr>
              <a:t>a terminal app and a desktop GUI on one core</a:t>
            </a:r>
            <a:endParaRPr lang="en-US" sz="1600" dirty="0"/>
          </a:p>
        </p:txBody>
      </p:sp>
      <p:sp>
        <p:nvSpPr>
          <p:cNvPr id="25" name="inbox"/>
          <p:cNvSpPr/>
          <p:nvPr/>
        </p:nvSpPr>
        <p:spPr>
          <a:xfrm>
            <a:off x="6766560" y="1737360"/>
            <a:ext cx="4873752" cy="2331720"/>
          </a:xfrm>
          <a:prstGeom prst="roundRect">
            <a:avLst>
              <a:gd name="adj" fmla="val 4706"/>
            </a:avLst>
          </a:prstGeom>
          <a:solidFill>
            <a:schemeClr val="accent6">
              <a:alpha val="10000"/>
            </a:schemeClr>
          </a:solidFill>
          <a:ln w="9525">
            <a:solidFill>
              <a:schemeClr val="accent6">
                <a:alpha val="45000"/>
              </a:schemeClr>
            </a:solidFill>
            <a:prstDash val="solid"/>
          </a:ln>
        </p:spPr>
      </p:sp>
      <p:sp>
        <p:nvSpPr>
          <p:cNvPr id="26" name="inhd"/>
          <p:cNvSpPr txBox="1"/>
          <p:nvPr/>
        </p:nvSpPr>
        <p:spPr>
          <a:xfrm>
            <a:off x="6995160" y="1856232"/>
            <a:ext cx="3657600" cy="274320"/>
          </a:xfrm>
          <a:prstGeom prst="rect">
            <a:avLst/>
          </a:prstGeom>
          <a:noFill/>
          <a:ln/>
        </p:spPr>
        <p:txBody>
          <a:bodyPr wrap="square" lIns="0" tIns="0" rIns="0" bIns="0" rtlCol="0" anchor="t"/>
          <a:lstStyle/>
          <a:p>
            <a:pPr algn="l" indent="0" marL="0">
              <a:buNone/>
            </a:pPr>
            <a:r>
              <a:rPr lang="en-US" sz="1200" b="1" spc="300" kern="0" dirty="0">
                <a:solidFill>
                  <a:schemeClr val="accent6"/>
                </a:solidFill>
              </a:rPr>
              <a:t>IN SCOPE</a:t>
            </a:r>
            <a:endParaRPr lang="en-US" sz="1200" dirty="0"/>
          </a:p>
        </p:txBody>
      </p:sp>
      <p:sp>
        <p:nvSpPr>
          <p:cNvPr id="27" name="intext"/>
          <p:cNvSpPr txBox="1"/>
          <p:nvPr/>
        </p:nvSpPr>
        <p:spPr>
          <a:xfrm>
            <a:off x="6995160" y="2194560"/>
            <a:ext cx="4480560" cy="1783080"/>
          </a:xfrm>
          <a:prstGeom prst="rect">
            <a:avLst/>
          </a:prstGeom>
          <a:noFill/>
          <a:ln/>
        </p:spPr>
        <p:txBody>
          <a:bodyPr wrap="square" lIns="0" tIns="0" rIns="0" bIns="0" rtlCol="0" anchor="t"/>
          <a:lstStyle/>
          <a:p>
            <a:pPr algn="l" marL="342900" indent="-342900">
              <a:spcAft>
                <a:spcPts val="500"/>
              </a:spcAft>
              <a:buSzPct val="100000"/>
              <a:buChar char="•"/>
            </a:pPr>
            <a:r>
              <a:rPr lang="en-US" sz="1600" dirty="0">
                <a:solidFill>
                  <a:schemeClr val="bg1"/>
                </a:solidFill>
              </a:rPr>
              <a:t>AviationStack /v1/flights data</a:t>
            </a:r>
            <a:endParaRPr lang="en-US" sz="1600" dirty="0"/>
          </a:p>
          <a:p>
            <a:pPr algn="l" marL="342900" indent="-342900">
              <a:spcAft>
                <a:spcPts val="500"/>
              </a:spcAft>
              <a:buSzPct val="100000"/>
              <a:buChar char="•"/>
            </a:pPr>
            <a:r>
              <a:rPr lang="en-US" sz="1600" dirty="0">
                <a:solidFill>
                  <a:schemeClr val="bg1"/>
                </a:solidFill>
              </a:rPr>
              <a:t>Airports derived from flight records</a:t>
            </a:r>
            <a:endParaRPr lang="en-US" sz="1600" dirty="0"/>
          </a:p>
          <a:p>
            <a:pPr algn="l" marL="342900" indent="-342900">
              <a:spcAft>
                <a:spcPts val="500"/>
              </a:spcAft>
              <a:buSzPct val="100000"/>
              <a:buChar char="•"/>
            </a:pPr>
            <a:r>
              <a:rPr lang="en-US" sz="1600" dirty="0">
                <a:solidFill>
                  <a:schemeClr val="bg1"/>
                </a:solidFill>
              </a:rPr>
              <a:t>Optional Open-Meteo weather context</a:t>
            </a:r>
            <a:endParaRPr lang="en-US" sz="1600" dirty="0"/>
          </a:p>
          <a:p>
            <a:pPr algn="l" marL="342900" indent="-342900">
              <a:spcAft>
                <a:spcPts val="500"/>
              </a:spcAft>
              <a:buSzPct val="100000"/>
              <a:buChar char="•"/>
            </a:pPr>
            <a:r>
              <a:rPr lang="en-US" sz="1600" dirty="0">
                <a:solidFill>
                  <a:schemeClr val="bg1"/>
                </a:solidFill>
              </a:rPr>
              <a:t>CSV and JSON export of results</a:t>
            </a:r>
            <a:endParaRPr lang="en-US" sz="1600" dirty="0"/>
          </a:p>
        </p:txBody>
      </p:sp>
      <p:sp>
        <p:nvSpPr>
          <p:cNvPr id="28" name="outbox"/>
          <p:cNvSpPr/>
          <p:nvPr/>
        </p:nvSpPr>
        <p:spPr>
          <a:xfrm>
            <a:off x="6766560" y="4251960"/>
            <a:ext cx="4873752" cy="1828800"/>
          </a:xfrm>
          <a:prstGeom prst="roundRect">
            <a:avLst>
              <a:gd name="adj" fmla="val 6000"/>
            </a:avLst>
          </a:prstGeom>
          <a:solidFill>
            <a:schemeClr val="accent5">
              <a:alpha val="10000"/>
            </a:schemeClr>
          </a:solidFill>
          <a:ln w="9525">
            <a:solidFill>
              <a:schemeClr val="accent5">
                <a:alpha val="45000"/>
              </a:schemeClr>
            </a:solidFill>
            <a:prstDash val="solid"/>
          </a:ln>
        </p:spPr>
      </p:sp>
      <p:sp>
        <p:nvSpPr>
          <p:cNvPr id="29" name="outhd"/>
          <p:cNvSpPr txBox="1"/>
          <p:nvPr/>
        </p:nvSpPr>
        <p:spPr>
          <a:xfrm>
            <a:off x="6995160" y="4370832"/>
            <a:ext cx="3657600" cy="274320"/>
          </a:xfrm>
          <a:prstGeom prst="rect">
            <a:avLst/>
          </a:prstGeom>
          <a:noFill/>
          <a:ln/>
        </p:spPr>
        <p:txBody>
          <a:bodyPr wrap="square" lIns="0" tIns="0" rIns="0" bIns="0" rtlCol="0" anchor="t"/>
          <a:lstStyle/>
          <a:p>
            <a:pPr algn="l" indent="0" marL="0">
              <a:buNone/>
            </a:pPr>
            <a:r>
              <a:rPr lang="en-US" sz="1200" b="1" spc="300" kern="0" dirty="0">
                <a:solidFill>
                  <a:schemeClr val="accent5"/>
                </a:solidFill>
              </a:rPr>
              <a:t>OUT OF SCOPE</a:t>
            </a:r>
            <a:endParaRPr lang="en-US" sz="1200" dirty="0"/>
          </a:p>
        </p:txBody>
      </p:sp>
      <p:sp>
        <p:nvSpPr>
          <p:cNvPr id="30" name="outtext"/>
          <p:cNvSpPr txBox="1"/>
          <p:nvPr/>
        </p:nvSpPr>
        <p:spPr>
          <a:xfrm>
            <a:off x="6995160" y="4709160"/>
            <a:ext cx="4480560" cy="1280160"/>
          </a:xfrm>
          <a:prstGeom prst="rect">
            <a:avLst/>
          </a:prstGeom>
          <a:noFill/>
          <a:ln/>
        </p:spPr>
        <p:txBody>
          <a:bodyPr wrap="square" lIns="0" tIns="0" rIns="0" bIns="0" rtlCol="0" anchor="t"/>
          <a:lstStyle/>
          <a:p>
            <a:pPr algn="l" marL="342900" indent="-342900">
              <a:spcAft>
                <a:spcPts val="500"/>
              </a:spcAft>
              <a:buSzPct val="100000"/>
              <a:buChar char="•"/>
            </a:pPr>
            <a:r>
              <a:rPr lang="en-US" sz="1600" dirty="0">
                <a:solidFill>
                  <a:schemeClr val="bg1"/>
                </a:solidFill>
              </a:rPr>
              <a:t>Historical archives and delay causes</a:t>
            </a:r>
            <a:endParaRPr lang="en-US" sz="1600" dirty="0"/>
          </a:p>
          <a:p>
            <a:pPr algn="l" marL="342900" indent="-342900">
              <a:spcAft>
                <a:spcPts val="500"/>
              </a:spcAft>
              <a:buSzPct val="100000"/>
              <a:buChar char="•"/>
            </a:pPr>
            <a:r>
              <a:rPr lang="en-US" sz="1600" dirty="0">
                <a:solidFill>
                  <a:schemeClr val="bg1"/>
                </a:solidFill>
              </a:rPr>
              <a:t>Paid endpoints such as /airports and /routes</a:t>
            </a:r>
            <a:endParaRPr lang="en-US" sz="1600" dirty="0"/>
          </a:p>
          <a:p>
            <a:pPr algn="l" marL="342900" indent="-342900">
              <a:spcAft>
                <a:spcPts val="500"/>
              </a:spcAft>
              <a:buSzPct val="100000"/>
              <a:buChar char="•"/>
            </a:pPr>
            <a:r>
              <a:rPr lang="en-US" sz="1600" dirty="0">
                <a:solidFill>
                  <a:schemeClr val="bg1"/>
                </a:solidFill>
              </a:rPr>
              <a:t>Claiming weather caused a delay without proof</a:t>
            </a:r>
            <a:endParaRPr lang="en-US" sz="1600" dirty="0"/>
          </a:p>
        </p:txBody>
      </p:sp>
      <p:sp>
        <p:nvSpPr>
          <p:cNvPr id="31" name="track"/>
          <p:cNvSpPr/>
          <p:nvPr/>
        </p:nvSpPr>
        <p:spPr>
          <a:xfrm>
            <a:off x="3383280" y="6510528"/>
            <a:ext cx="7132320" cy="0"/>
          </a:xfrm>
          <a:prstGeom prst="line">
            <a:avLst/>
          </a:prstGeom>
          <a:noFill/>
          <a:ln w="12700">
            <a:solidFill>
              <a:schemeClr val="bg2">
                <a:alpha val="45000"/>
              </a:schemeClr>
            </a:solidFill>
            <a:prstDash val="dash"/>
          </a:ln>
        </p:spPr>
      </p:sp>
      <p:sp>
        <p:nvSpPr>
          <p:cNvPr id="32" name="progress"/>
          <p:cNvSpPr/>
          <p:nvPr/>
        </p:nvSpPr>
        <p:spPr>
          <a:xfrm>
            <a:off x="3383280" y="6510528"/>
            <a:ext cx="737826" cy="0"/>
          </a:xfrm>
          <a:prstGeom prst="line">
            <a:avLst/>
          </a:prstGeom>
          <a:noFill/>
          <a:ln w="28575">
            <a:solidFill>
              <a:schemeClr val="accent2"/>
            </a:solidFill>
            <a:prstDash val="solid"/>
          </a:ln>
        </p:spPr>
      </p:sp>
      <p:sp>
        <p:nvSpPr>
          <p:cNvPr id="33" name="wp0"/>
          <p:cNvSpPr/>
          <p:nvPr/>
        </p:nvSpPr>
        <p:spPr>
          <a:xfrm>
            <a:off x="3834016" y="6469380"/>
            <a:ext cx="82296" cy="82296"/>
          </a:xfrm>
          <a:prstGeom prst="ellipse">
            <a:avLst/>
          </a:prstGeom>
          <a:solidFill>
            <a:schemeClr val="accent2"/>
          </a:solidFill>
          <a:ln/>
        </p:spPr>
      </p:sp>
      <p:sp>
        <p:nvSpPr>
          <p:cNvPr id="34" name="wp1"/>
          <p:cNvSpPr/>
          <p:nvPr/>
        </p:nvSpPr>
        <p:spPr>
          <a:xfrm>
            <a:off x="4817784" y="6469380"/>
            <a:ext cx="82296" cy="82296"/>
          </a:xfrm>
          <a:prstGeom prst="ellipse">
            <a:avLst/>
          </a:prstGeom>
          <a:solidFill>
            <a:schemeClr val="bg2">
              <a:alpha val="60000"/>
            </a:schemeClr>
          </a:solidFill>
          <a:ln/>
        </p:spPr>
      </p:sp>
      <p:sp>
        <p:nvSpPr>
          <p:cNvPr id="35" name="wp2"/>
          <p:cNvSpPr/>
          <p:nvPr/>
        </p:nvSpPr>
        <p:spPr>
          <a:xfrm>
            <a:off x="7277205" y="6469380"/>
            <a:ext cx="82296" cy="82296"/>
          </a:xfrm>
          <a:prstGeom prst="ellipse">
            <a:avLst/>
          </a:prstGeom>
          <a:solidFill>
            <a:schemeClr val="bg2">
              <a:alpha val="60000"/>
            </a:schemeClr>
          </a:solidFill>
          <a:ln/>
        </p:spPr>
      </p:sp>
      <p:sp>
        <p:nvSpPr>
          <p:cNvPr id="36" name="wp3"/>
          <p:cNvSpPr/>
          <p:nvPr/>
        </p:nvSpPr>
        <p:spPr>
          <a:xfrm>
            <a:off x="8506915" y="6469380"/>
            <a:ext cx="82296" cy="82296"/>
          </a:xfrm>
          <a:prstGeom prst="ellipse">
            <a:avLst/>
          </a:prstGeom>
          <a:solidFill>
            <a:schemeClr val="bg2">
              <a:alpha val="60000"/>
            </a:schemeClr>
          </a:solidFill>
          <a:ln/>
        </p:spPr>
      </p:sp>
      <p:sp>
        <p:nvSpPr>
          <p:cNvPr id="37" name="wp4"/>
          <p:cNvSpPr/>
          <p:nvPr/>
        </p:nvSpPr>
        <p:spPr>
          <a:xfrm>
            <a:off x="9982568" y="6469380"/>
            <a:ext cx="82296" cy="82296"/>
          </a:xfrm>
          <a:prstGeom prst="ellipse">
            <a:avLst/>
          </a:prstGeom>
          <a:solidFill>
            <a:schemeClr val="bg2">
              <a:alpha val="60000"/>
            </a:schemeClr>
          </a:solidFill>
          <a:ln/>
        </p:spPr>
      </p:sp>
      <p:sp>
        <p:nvSpPr>
          <p:cNvPr id="38" name="progress_ext"/>
          <p:cNvSpPr/>
          <p:nvPr/>
        </p:nvSpPr>
        <p:spPr>
          <a:xfrm>
            <a:off x="4121106" y="6510528"/>
            <a:ext cx="245942" cy="0"/>
          </a:xfrm>
          <a:prstGeom prst="line">
            <a:avLst/>
          </a:prstGeom>
          <a:noFill/>
          <a:ln w="28575">
            <a:solidFill>
              <a:schemeClr val="accent2"/>
            </a:solidFill>
            <a:prstDash val="solid"/>
          </a:ln>
        </p:spPr>
      </p:sp>
      <p:pic>
        <p:nvPicPr>
          <p:cNvPr id="39" name="!!tracker" descr="Progress marker">    </p:cNvPr>
          <p:cNvPicPr>
            <a:picLocks noChangeAspect="1"/>
          </p:cNvPicPr>
          <p:nvPr/>
        </p:nvPicPr>
        <p:blipFill>
          <a:blip r:embed="rId1"/>
          <a:stretch>
            <a:fillRect/>
          </a:stretch>
        </p:blipFill>
        <p:spPr>
          <a:xfrm>
            <a:off x="3938226"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50"/>
                                        <p:tgtEl>
                                          <p:spTgt spid="5"/>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50"/>
                                        <p:tgtEl>
                                          <p:spTgt spid="6"/>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50"/>
                                        <p:tgtEl>
                                          <p:spTgt spid="7"/>
                                        </p:tgtEl>
                                      </p:cBhvr>
                                    </p:animEffect>
                                  </p:childTnLst>
                                </p:cTn>
                              </p:par>
                              <p:par>
                                <p:cTn id="22" presetID="22" presetClass="entr" presetSubtype="8"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50"/>
                                        <p:tgtEl>
                                          <p:spTgt spid="8"/>
                                        </p:tgtEl>
                                      </p:cBhvr>
                                    </p:animEffect>
                                  </p:childTnLst>
                                </p:cTn>
                              </p:par>
                              <p:par>
                                <p:cTn id="25" presetID="22" presetClass="entr" presetSubtype="8" fill="hold" grpId="0" nodeType="withEffect">
                                  <p:stCondLst>
                                    <p:cond delay="48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50"/>
                                        <p:tgtEl>
                                          <p:spTgt spid="9"/>
                                        </p:tgtEl>
                                      </p:cBhvr>
                                    </p:animEffect>
                                  </p:childTnLst>
                                </p:cTn>
                              </p:par>
                              <p:par>
                                <p:cTn id="28" presetID="22" presetClass="entr" presetSubtype="8" fill="hold" grpId="0" nodeType="withEffect">
                                  <p:stCondLst>
                                    <p:cond delay="48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50"/>
                                        <p:tgtEl>
                                          <p:spTgt spid="10"/>
                                        </p:tgtEl>
                                      </p:cBhvr>
                                    </p:animEffect>
                                  </p:childTnLst>
                                </p:cTn>
                              </p:par>
                              <p:par>
                                <p:cTn id="31" presetID="22" presetClass="entr" presetSubtype="8" fill="hold" grpId="0" nodeType="withEffect">
                                  <p:stCondLst>
                                    <p:cond delay="48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50"/>
                                        <p:tgtEl>
                                          <p:spTgt spid="11"/>
                                        </p:tgtEl>
                                      </p:cBhvr>
                                    </p:animEffect>
                                  </p:childTnLst>
                                </p:cTn>
                              </p:par>
                              <p:par>
                                <p:cTn id="34" presetID="22" presetClass="entr" presetSubtype="8" fill="hold" grpId="0" nodeType="withEffect">
                                  <p:stCondLst>
                                    <p:cond delay="48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50"/>
                                        <p:tgtEl>
                                          <p:spTgt spid="12"/>
                                        </p:tgtEl>
                                      </p:cBhvr>
                                    </p:animEffect>
                                  </p:childTnLst>
                                </p:cTn>
                              </p:par>
                              <p:par>
                                <p:cTn id="37" presetID="22" presetClass="entr" presetSubtype="8" fill="hold" grpId="0" nodeType="withEffect">
                                  <p:stCondLst>
                                    <p:cond delay="76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50"/>
                                        <p:tgtEl>
                                          <p:spTgt spid="13"/>
                                        </p:tgtEl>
                                      </p:cBhvr>
                                    </p:animEffect>
                                  </p:childTnLst>
                                </p:cTn>
                              </p:par>
                              <p:par>
                                <p:cTn id="40" presetID="22" presetClass="entr" presetSubtype="8" fill="hold" grpId="0" nodeType="withEffect">
                                  <p:stCondLst>
                                    <p:cond delay="76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50"/>
                                        <p:tgtEl>
                                          <p:spTgt spid="14"/>
                                        </p:tgtEl>
                                      </p:cBhvr>
                                    </p:animEffect>
                                  </p:childTnLst>
                                </p:cTn>
                              </p:par>
                              <p:par>
                                <p:cTn id="43" presetID="22" presetClass="entr" presetSubtype="8" fill="hold" grpId="0" nodeType="withEffect">
                                  <p:stCondLst>
                                    <p:cond delay="76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50"/>
                                        <p:tgtEl>
                                          <p:spTgt spid="15"/>
                                        </p:tgtEl>
                                      </p:cBhvr>
                                    </p:animEffect>
                                  </p:childTnLst>
                                </p:cTn>
                              </p:par>
                              <p:par>
                                <p:cTn id="46" presetID="22" presetClass="entr" presetSubtype="8" fill="hold" grpId="0" nodeType="withEffect">
                                  <p:stCondLst>
                                    <p:cond delay="76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50"/>
                                        <p:tgtEl>
                                          <p:spTgt spid="16"/>
                                        </p:tgtEl>
                                      </p:cBhvr>
                                    </p:animEffect>
                                  </p:childTnLst>
                                </p:cTn>
                              </p:par>
                              <p:par>
                                <p:cTn id="49" presetID="22" presetClass="entr" presetSubtype="8" fill="hold" grpId="0" nodeType="withEffect">
                                  <p:stCondLst>
                                    <p:cond delay="104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50"/>
                                        <p:tgtEl>
                                          <p:spTgt spid="17"/>
                                        </p:tgtEl>
                                      </p:cBhvr>
                                    </p:animEffect>
                                  </p:childTnLst>
                                </p:cTn>
                              </p:par>
                              <p:par>
                                <p:cTn id="52" presetID="22" presetClass="entr" presetSubtype="8" fill="hold" grpId="0" nodeType="withEffect">
                                  <p:stCondLst>
                                    <p:cond delay="104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50"/>
                                        <p:tgtEl>
                                          <p:spTgt spid="18"/>
                                        </p:tgtEl>
                                      </p:cBhvr>
                                    </p:animEffect>
                                  </p:childTnLst>
                                </p:cTn>
                              </p:par>
                              <p:par>
                                <p:cTn id="55" presetID="22" presetClass="entr" presetSubtype="8" fill="hold" grpId="0" nodeType="withEffect">
                                  <p:stCondLst>
                                    <p:cond delay="104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50"/>
                                        <p:tgtEl>
                                          <p:spTgt spid="19"/>
                                        </p:tgtEl>
                                      </p:cBhvr>
                                    </p:animEffect>
                                  </p:childTnLst>
                                </p:cTn>
                              </p:par>
                              <p:par>
                                <p:cTn id="58" presetID="22" presetClass="entr" presetSubtype="8" fill="hold" grpId="0" nodeType="withEffect">
                                  <p:stCondLst>
                                    <p:cond delay="104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550"/>
                                        <p:tgtEl>
                                          <p:spTgt spid="20"/>
                                        </p:tgtEl>
                                      </p:cBhvr>
                                    </p:animEffect>
                                  </p:childTnLst>
                                </p:cTn>
                              </p:par>
                              <p:par>
                                <p:cTn id="61" presetID="22" presetClass="entr" presetSubtype="8" fill="hold" grpId="0" nodeType="withEffect">
                                  <p:stCondLst>
                                    <p:cond delay="132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50"/>
                                        <p:tgtEl>
                                          <p:spTgt spid="21"/>
                                        </p:tgtEl>
                                      </p:cBhvr>
                                    </p:animEffect>
                                  </p:childTnLst>
                                </p:cTn>
                              </p:par>
                              <p:par>
                                <p:cTn id="64" presetID="22" presetClass="entr" presetSubtype="8" fill="hold" grpId="0" nodeType="withEffect">
                                  <p:stCondLst>
                                    <p:cond delay="132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550"/>
                                        <p:tgtEl>
                                          <p:spTgt spid="22"/>
                                        </p:tgtEl>
                                      </p:cBhvr>
                                    </p:animEffect>
                                  </p:childTnLst>
                                </p:cTn>
                              </p:par>
                              <p:par>
                                <p:cTn id="67" presetID="22" presetClass="entr" presetSubtype="8" fill="hold" grpId="0" nodeType="withEffect">
                                  <p:stCondLst>
                                    <p:cond delay="1320"/>
                                  </p:stCondLst>
                                  <p:childTnLst>
                                    <p:set>
                                      <p:cBhvr>
                                        <p:cTn id="68" dur="1" fill="hold">
                                          <p:stCondLst>
                                            <p:cond delay="0"/>
                                          </p:stCondLst>
                                        </p:cTn>
                                        <p:tgtEl>
                                          <p:spTgt spid="23"/>
                                        </p:tgtEl>
                                        <p:attrNameLst>
                                          <p:attrName>style.visibility</p:attrName>
                                        </p:attrNameLst>
                                      </p:cBhvr>
                                      <p:to>
                                        <p:strVal val="visible"/>
                                      </p:to>
                                    </p:set>
                                    <p:animEffect transition="in" filter="wipe(left)">
                                      <p:cBhvr>
                                        <p:cTn id="69" dur="550"/>
                                        <p:tgtEl>
                                          <p:spTgt spid="23"/>
                                        </p:tgtEl>
                                      </p:cBhvr>
                                    </p:animEffect>
                                  </p:childTnLst>
                                </p:cTn>
                              </p:par>
                              <p:par>
                                <p:cTn id="70" presetID="22" presetClass="entr" presetSubtype="8" fill="hold" grpId="0" nodeType="withEffect">
                                  <p:stCondLst>
                                    <p:cond delay="132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50"/>
                                        <p:tgtEl>
                                          <p:spTgt spid="24"/>
                                        </p:tgtEl>
                                      </p:cBhvr>
                                    </p:animEffect>
                                  </p:childTnLst>
                                </p:cTn>
                              </p:par>
                            </p:childTnLst>
                          </p:cTn>
                        </p:par>
                      </p:childTnLst>
                    </p:cTn>
                  </p:par>
                  <p:par>
                    <p:cTn id="73" fill="hold">
                      <p:stCondLst>
                        <p:cond delay="indefinite"/>
                      </p:stCondLst>
                      <p:childTnLst>
                        <p:par>
                          <p:cTn id="74" fill="hold">
                            <p:stCondLst>
                              <p:cond delay="0"/>
                            </p:stCondLst>
                            <p:childTnLst>
                              <p:par>
                                <p:cTn id="75" presetID="42" presetClass="entr" presetSubtype="0" fill="hold" grpId="0" nodeType="clickEffect">
                                  <p:stCondLst>
                                    <p:cond delay="0"/>
                                  </p:stCondLst>
                                  <p:childTnLst>
                                    <p:set>
                                      <p:cBhvr>
                                        <p:cTn id="76" dur="1" fill="hold">
                                          <p:stCondLst>
                                            <p:cond delay="0"/>
                                          </p:stCondLst>
                                        </p:cTn>
                                        <p:tgtEl>
                                          <p:spTgt spid="25"/>
                                        </p:tgtEl>
                                        <p:attrNameLst>
                                          <p:attrName>style.visibility</p:attrName>
                                        </p:attrNameLst>
                                      </p:cBhvr>
                                      <p:to>
                                        <p:strVal val="visible"/>
                                      </p:to>
                                    </p:set>
                                    <p:anim calcmode="lin" valueType="num">
                                      <p:cBhvr additive="base">
                                        <p:cTn id="77" dur="600" fill="hold"/>
                                        <p:tgtEl>
                                          <p:spTgt spid="25"/>
                                        </p:tgtEl>
                                        <p:attrNameLst>
                                          <p:attrName>ppt_y</p:attrName>
                                        </p:attrNameLst>
                                      </p:cBhvr>
                                      <p:tavLst>
                                        <p:tav tm="0">
                                          <p:val>
                                            <p:strVal val="#ppt_y+.1"/>
                                          </p:val>
                                        </p:tav>
                                        <p:tav tm="100000">
                                          <p:val>
                                            <p:strVal val="#ppt_y"/>
                                          </p:val>
                                        </p:tav>
                                      </p:tavLst>
                                    </p:anim>
                                    <p:animEffect transition="in" filter="fade">
                                      <p:cBhvr>
                                        <p:cTn id="78" dur="600"/>
                                        <p:tgtEl>
                                          <p:spTgt spid="25"/>
                                        </p:tgtEl>
                                      </p:cBhvr>
                                    </p:animEffect>
                                  </p:childTnLst>
                                </p:cTn>
                              </p:par>
                              <p:par>
                                <p:cTn id="79" presetID="42" presetClass="entr" presetSubtype="0" fill="hold" grpId="0" nodeType="withEffect">
                                  <p:stCondLst>
                                    <p:cond delay="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600" fill="hold"/>
                                        <p:tgtEl>
                                          <p:spTgt spid="26"/>
                                        </p:tgtEl>
                                        <p:attrNameLst>
                                          <p:attrName>ppt_y</p:attrName>
                                        </p:attrNameLst>
                                      </p:cBhvr>
                                      <p:tavLst>
                                        <p:tav tm="0">
                                          <p:val>
                                            <p:strVal val="#ppt_y+.1"/>
                                          </p:val>
                                        </p:tav>
                                        <p:tav tm="100000">
                                          <p:val>
                                            <p:strVal val="#ppt_y"/>
                                          </p:val>
                                        </p:tav>
                                      </p:tavLst>
                                    </p:anim>
                                    <p:animEffect transition="in" filter="fade">
                                      <p:cBhvr>
                                        <p:cTn id="82" dur="600"/>
                                        <p:tgtEl>
                                          <p:spTgt spid="26"/>
                                        </p:tgtEl>
                                      </p:cBhvr>
                                    </p:animEffect>
                                  </p:childTnLst>
                                </p:cTn>
                              </p:par>
                              <p:par>
                                <p:cTn id="83" presetID="42" presetClass="entr" presetSubtype="0" fill="hold" grpId="0" nodeType="withEffect">
                                  <p:stCondLst>
                                    <p:cond delay="0"/>
                                  </p:stCondLst>
                                  <p:childTnLst>
                                    <p:set>
                                      <p:cBhvr>
                                        <p:cTn id="84" dur="1" fill="hold">
                                          <p:stCondLst>
                                            <p:cond delay="0"/>
                                          </p:stCondLst>
                                        </p:cTn>
                                        <p:tgtEl>
                                          <p:spTgt spid="27"/>
                                        </p:tgtEl>
                                        <p:attrNameLst>
                                          <p:attrName>style.visibility</p:attrName>
                                        </p:attrNameLst>
                                      </p:cBhvr>
                                      <p:to>
                                        <p:strVal val="visible"/>
                                      </p:to>
                                    </p:set>
                                    <p:anim calcmode="lin" valueType="num">
                                      <p:cBhvr additive="base">
                                        <p:cTn id="85" dur="600" fill="hold"/>
                                        <p:tgtEl>
                                          <p:spTgt spid="27"/>
                                        </p:tgtEl>
                                        <p:attrNameLst>
                                          <p:attrName>ppt_y</p:attrName>
                                        </p:attrNameLst>
                                      </p:cBhvr>
                                      <p:tavLst>
                                        <p:tav tm="0">
                                          <p:val>
                                            <p:strVal val="#ppt_y+.1"/>
                                          </p:val>
                                        </p:tav>
                                        <p:tav tm="100000">
                                          <p:val>
                                            <p:strVal val="#ppt_y"/>
                                          </p:val>
                                        </p:tav>
                                      </p:tavLst>
                                    </p:anim>
                                    <p:animEffect transition="in" filter="fade">
                                      <p:cBhvr>
                                        <p:cTn id="86" dur="600"/>
                                        <p:tgtEl>
                                          <p:spTgt spid="27"/>
                                        </p:tgtEl>
                                      </p:cBhvr>
                                    </p:animEffect>
                                  </p:childTnLst>
                                </p:cTn>
                              </p:par>
                            </p:childTnLst>
                          </p:cTn>
                        </p:par>
                        <p:par>
                          <p:cTn id="87" fill="hold">
                            <p:stCondLst>
                              <p:cond delay="600"/>
                            </p:stCondLst>
                            <p:childTnLst>
                              <p:par>
                                <p:cTn id="88" presetID="42" presetClass="entr" presetSubtype="0" fill="hold" grpId="0" nodeType="afterEffect">
                                  <p:stCondLst>
                                    <p:cond delay="300"/>
                                  </p:stCondLst>
                                  <p:childTnLst>
                                    <p:set>
                                      <p:cBhvr>
                                        <p:cTn id="89" dur="1" fill="hold">
                                          <p:stCondLst>
                                            <p:cond delay="0"/>
                                          </p:stCondLst>
                                        </p:cTn>
                                        <p:tgtEl>
                                          <p:spTgt spid="28"/>
                                        </p:tgtEl>
                                        <p:attrNameLst>
                                          <p:attrName>style.visibility</p:attrName>
                                        </p:attrNameLst>
                                      </p:cBhvr>
                                      <p:to>
                                        <p:strVal val="visible"/>
                                      </p:to>
                                    </p:set>
                                    <p:anim calcmode="lin" valueType="num">
                                      <p:cBhvr additive="base">
                                        <p:cTn id="90" dur="600" fill="hold"/>
                                        <p:tgtEl>
                                          <p:spTgt spid="28"/>
                                        </p:tgtEl>
                                        <p:attrNameLst>
                                          <p:attrName>ppt_y</p:attrName>
                                        </p:attrNameLst>
                                      </p:cBhvr>
                                      <p:tavLst>
                                        <p:tav tm="0">
                                          <p:val>
                                            <p:strVal val="#ppt_y+.1"/>
                                          </p:val>
                                        </p:tav>
                                        <p:tav tm="100000">
                                          <p:val>
                                            <p:strVal val="#ppt_y"/>
                                          </p:val>
                                        </p:tav>
                                      </p:tavLst>
                                    </p:anim>
                                    <p:animEffect transition="in" filter="fade">
                                      <p:cBhvr>
                                        <p:cTn id="91" dur="600"/>
                                        <p:tgtEl>
                                          <p:spTgt spid="28"/>
                                        </p:tgtEl>
                                      </p:cBhvr>
                                    </p:animEffect>
                                  </p:childTnLst>
                                </p:cTn>
                              </p:par>
                              <p:par>
                                <p:cTn id="92" presetID="42" presetClass="entr" presetSubtype="0" fill="hold" grpId="0" nodeType="withEffect">
                                  <p:stCondLst>
                                    <p:cond delay="300"/>
                                  </p:stCondLst>
                                  <p:childTnLst>
                                    <p:set>
                                      <p:cBhvr>
                                        <p:cTn id="93" dur="1" fill="hold">
                                          <p:stCondLst>
                                            <p:cond delay="0"/>
                                          </p:stCondLst>
                                        </p:cTn>
                                        <p:tgtEl>
                                          <p:spTgt spid="29"/>
                                        </p:tgtEl>
                                        <p:attrNameLst>
                                          <p:attrName>style.visibility</p:attrName>
                                        </p:attrNameLst>
                                      </p:cBhvr>
                                      <p:to>
                                        <p:strVal val="visible"/>
                                      </p:to>
                                    </p:set>
                                    <p:anim calcmode="lin" valueType="num">
                                      <p:cBhvr additive="base">
                                        <p:cTn id="94" dur="600" fill="hold"/>
                                        <p:tgtEl>
                                          <p:spTgt spid="29"/>
                                        </p:tgtEl>
                                        <p:attrNameLst>
                                          <p:attrName>ppt_y</p:attrName>
                                        </p:attrNameLst>
                                      </p:cBhvr>
                                      <p:tavLst>
                                        <p:tav tm="0">
                                          <p:val>
                                            <p:strVal val="#ppt_y+.1"/>
                                          </p:val>
                                        </p:tav>
                                        <p:tav tm="100000">
                                          <p:val>
                                            <p:strVal val="#ppt_y"/>
                                          </p:val>
                                        </p:tav>
                                      </p:tavLst>
                                    </p:anim>
                                    <p:animEffect transition="in" filter="fade">
                                      <p:cBhvr>
                                        <p:cTn id="95" dur="600"/>
                                        <p:tgtEl>
                                          <p:spTgt spid="29"/>
                                        </p:tgtEl>
                                      </p:cBhvr>
                                    </p:animEffect>
                                  </p:childTnLst>
                                </p:cTn>
                              </p:par>
                              <p:par>
                                <p:cTn id="96" presetID="42" presetClass="entr" presetSubtype="0" fill="hold" grpId="0" nodeType="withEffect">
                                  <p:stCondLst>
                                    <p:cond delay="300"/>
                                  </p:stCondLst>
                                  <p:childTnLst>
                                    <p:set>
                                      <p:cBhvr>
                                        <p:cTn id="97" dur="1" fill="hold">
                                          <p:stCondLst>
                                            <p:cond delay="0"/>
                                          </p:stCondLst>
                                        </p:cTn>
                                        <p:tgtEl>
                                          <p:spTgt spid="30"/>
                                        </p:tgtEl>
                                        <p:attrNameLst>
                                          <p:attrName>style.visibility</p:attrName>
                                        </p:attrNameLst>
                                      </p:cBhvr>
                                      <p:to>
                                        <p:strVal val="visible"/>
                                      </p:to>
                                    </p:set>
                                    <p:anim calcmode="lin" valueType="num">
                                      <p:cBhvr additive="base">
                                        <p:cTn id="98" dur="600" fill="hold"/>
                                        <p:tgtEl>
                                          <p:spTgt spid="30"/>
                                        </p:tgtEl>
                                        <p:attrNameLst>
                                          <p:attrName>ppt_y</p:attrName>
                                        </p:attrNameLst>
                                      </p:cBhvr>
                                      <p:tavLst>
                                        <p:tav tm="0">
                                          <p:val>
                                            <p:strVal val="#ppt_y+.1"/>
                                          </p:val>
                                        </p:tav>
                                        <p:tav tm="100000">
                                          <p:val>
                                            <p:strVal val="#ppt_y"/>
                                          </p:val>
                                        </p:tav>
                                      </p:tavLst>
                                    </p:anim>
                                    <p:animEffect transition="in" filter="fade">
                                      <p:cBhvr>
                                        <p:cTn id="99" dur="600"/>
                                        <p:tgtEl>
                                          <p:spTgt spid="30"/>
                                        </p:tgtEl>
                                      </p:cBhvr>
                                    </p:animEffect>
                                  </p:childTnLst>
                                </p:cTn>
                              </p:par>
                              <p:par>
                                <p:cTn id="100" presetID="22" presetClass="entr" presetSubtype="8" fill="hold" grpId="0" nodeType="withEffect">
                                  <p:stCondLst>
                                    <p:cond delay="600"/>
                                  </p:stCondLst>
                                  <p:childTnLst>
                                    <p:set>
                                      <p:cBhvr>
                                        <p:cTn id="101" dur="1" fill="hold">
                                          <p:stCondLst>
                                            <p:cond delay="0"/>
                                          </p:stCondLst>
                                        </p:cTn>
                                        <p:tgtEl>
                                          <p:spTgt spid="38"/>
                                        </p:tgtEl>
                                        <p:attrNameLst>
                                          <p:attrName>style.visibility</p:attrName>
                                        </p:attrNameLst>
                                      </p:cBhvr>
                                      <p:to>
                                        <p:strVal val="visible"/>
                                      </p:to>
                                    </p:set>
                                    <p:animEffect transition="in" filter="wipe(left)">
                                      <p:cBhvr>
                                        <p:cTn id="102" dur="1100"/>
                                        <p:tgtEl>
                                          <p:spTgt spid="38"/>
                                        </p:tgtEl>
                                      </p:cBhvr>
                                    </p:animEffect>
                                  </p:childTnLst>
                                </p:cTn>
                              </p:par>
                              <p:par>
                                <p:cTn id="104" presetID="0" presetClass="path" presetSubtype="0" fill="hold" accel="30000" decel="30000" nodeType="withEffect">
                                  <p:stCondLst>
                                    <p:cond delay="600"/>
                                  </p:stCondLst>
                                  <p:childTnLst>
                                    <p:animMotion origin="layout" path="M 0 0 L 0.02017 0 E" pathEditMode="relative" rAng="0" ptsTypes="AA">
                                      <p:cBhvr>
                                        <p:cTn id="103" dur="1100" fill="hold"/>
                                        <p:tgtEl>
                                          <p:spTgt spid="39"/>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8"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01  ·  MISSION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Why not just call the API?</a:t>
            </a:r>
            <a:endParaRPr lang="en-US" sz="3600" dirty="0"/>
          </a:p>
        </p:txBody>
      </p:sp>
      <p:sp>
        <p:nvSpPr>
          <p:cNvPr id="5" name="rawcard"/>
          <p:cNvSpPr/>
          <p:nvPr/>
        </p:nvSpPr>
        <p:spPr>
          <a:xfrm>
            <a:off x="548640" y="1691640"/>
            <a:ext cx="6309360" cy="4389120"/>
          </a:xfrm>
          <a:prstGeom prst="roundRect">
            <a:avLst>
              <a:gd name="adj" fmla="val 2500"/>
            </a:avLst>
          </a:prstGeom>
          <a:solidFill>
            <a:schemeClr val="tx1">
              <a:alpha val="85000"/>
            </a:schemeClr>
          </a:solidFill>
          <a:ln w="9525">
            <a:solidFill>
              <a:schemeClr val="accent1">
                <a:alpha val="45000"/>
              </a:schemeClr>
            </a:solidFill>
            <a:prstDash val="solid"/>
          </a:ln>
        </p:spPr>
      </p:sp>
      <p:sp>
        <p:nvSpPr>
          <p:cNvPr id="6" name="rawhd"/>
          <p:cNvSpPr txBox="1"/>
          <p:nvPr/>
        </p:nvSpPr>
        <p:spPr>
          <a:xfrm>
            <a:off x="777240" y="1801368"/>
            <a:ext cx="5852160" cy="274320"/>
          </a:xfrm>
          <a:prstGeom prst="rect">
            <a:avLst/>
          </a:prstGeom>
          <a:noFill/>
          <a:ln/>
        </p:spPr>
        <p:txBody>
          <a:bodyPr wrap="square" lIns="0" tIns="0" rIns="0" bIns="0" rtlCol="0" anchor="t"/>
          <a:lstStyle/>
          <a:p>
            <a:pPr algn="l" indent="0" marL="0">
              <a:buNone/>
            </a:pPr>
            <a:r>
              <a:rPr lang="en-US" sz="1100" b="1" spc="200" kern="0" dirty="0">
                <a:solidFill>
                  <a:schemeClr val="accent1"/>
                </a:solidFill>
              </a:rPr>
              <a:t>RAW API RECORD  ·  /v1/flights (trimmed)</a:t>
            </a:r>
            <a:endParaRPr lang="en-US" sz="1100" dirty="0"/>
          </a:p>
        </p:txBody>
      </p:sp>
      <p:sp>
        <p:nvSpPr>
          <p:cNvPr id="7" name="rawtext"/>
          <p:cNvSpPr txBox="1"/>
          <p:nvPr/>
        </p:nvSpPr>
        <p:spPr>
          <a:xfrm>
            <a:off x="777240" y="2194560"/>
            <a:ext cx="5943600" cy="3749040"/>
          </a:xfrm>
          <a:prstGeom prst="rect">
            <a:avLst/>
          </a:prstGeom>
          <a:noFill/>
          <a:ln/>
        </p:spPr>
        <p:txBody>
          <a:bodyPr wrap="square" lIns="0" tIns="0" rIns="0" bIns="0" rtlCol="0" anchor="t"/>
          <a:lstStyle/>
          <a:p>
            <a:pPr algn="l" indent="0" marL="0">
              <a:buNone/>
            </a:pPr>
            <a:r>
              <a:rPr lang="en-US" sz="1300" dirty="0">
                <a:solidFill>
                  <a:schemeClr val="bg1"/>
                </a:solidFill>
                <a:latin typeface="Courier New" pitchFamily="34" charset="0"/>
                <a:ea typeface="Courier New" pitchFamily="34" charset="-122"/>
                <a:cs typeface="Courier New" pitchFamily="34" charset="-120"/>
              </a:rPr>
              <a:t>{ "flight_date": "2026-10-10",</a:t>
            </a:r>
            <a:endParaRPr lang="en-US" sz="1300" dirty="0"/>
          </a:p>
          <a:p>
            <a:pPr algn="l" indent="0" marL="0">
              <a:buNone/>
            </a:pPr>
            <a:r>
              <a:rPr lang="en-US" sz="1300" dirty="0">
                <a:solidFill>
                  <a:schemeClr val="bg1"/>
                </a:solidFill>
                <a:latin typeface="Courier New" pitchFamily="34" charset="0"/>
                <a:ea typeface="Courier New" pitchFamily="34" charset="-122"/>
                <a:cs typeface="Courier New" pitchFamily="34" charset="-120"/>
              </a:rPr>
              <a:t>  "flight_status": "scheduled",</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"departure": { "airport": "Auckland International",</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"iata": "AKL", "delay": null,</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"scheduled": "2026-10-10T00:55:00+00:00",</a:t>
            </a:r>
            <a:endParaRPr lang="en-US" sz="1300" dirty="0"/>
          </a:p>
          <a:p>
            <a:pPr algn="l" indent="0" marL="0">
              <a:buNone/>
            </a:pPr>
            <a:r>
              <a:rPr lang="en-US" sz="1300" dirty="0">
                <a:solidFill>
                  <a:schemeClr val="accent2"/>
                </a:solidFill>
                <a:latin typeface="Courier New" pitchFamily="34" charset="0"/>
                <a:ea typeface="Courier New" pitchFamily="34" charset="-122"/>
                <a:cs typeface="Courier New" pitchFamily="34" charset="-120"/>
              </a:rPr>
              <a:t>                 "actual": null, ... },</a:t>
            </a:r>
            <a:endParaRPr lang="en-US" sz="1300" dirty="0"/>
          </a:p>
          <a:p>
            <a:pPr algn="l" indent="0" marL="0">
              <a:buNone/>
            </a:pPr>
            <a:r>
              <a:rPr lang="en-US" sz="1300" dirty="0">
                <a:solidFill>
                  <a:schemeClr val="accent3"/>
                </a:solidFill>
                <a:latin typeface="Courier New" pitchFamily="34" charset="0"/>
                <a:ea typeface="Courier New" pitchFamily="34" charset="-122"/>
                <a:cs typeface="Courier New" pitchFamily="34" charset="-120"/>
              </a:rPr>
              <a:t>  "arrival":   { "airport": "Singapore Changi",</a:t>
            </a:r>
            <a:endParaRPr lang="en-US" sz="1300" dirty="0"/>
          </a:p>
          <a:p>
            <a:pPr algn="l" indent="0" marL="0">
              <a:buNone/>
            </a:pPr>
            <a:r>
              <a:rPr lang="en-US" sz="1300" dirty="0">
                <a:solidFill>
                  <a:schemeClr val="accent3"/>
                </a:solidFill>
                <a:latin typeface="Courier New" pitchFamily="34" charset="0"/>
                <a:ea typeface="Courier New" pitchFamily="34" charset="-122"/>
                <a:cs typeface="Courier New" pitchFamily="34" charset="-120"/>
              </a:rPr>
              <a:t>                 "iata": "SIN", "gate": null, ... },</a:t>
            </a:r>
            <a:endParaRPr lang="en-US" sz="1300" dirty="0"/>
          </a:p>
          <a:p>
            <a:pPr algn="l" indent="0" marL="0">
              <a:buNone/>
            </a:pPr>
            <a:r>
              <a:rPr lang="en-US" sz="1300" dirty="0">
                <a:solidFill>
                  <a:schemeClr val="accent4"/>
                </a:solidFill>
                <a:latin typeface="Courier New" pitchFamily="34" charset="0"/>
                <a:ea typeface="Courier New" pitchFamily="34" charset="-122"/>
                <a:cs typeface="Courier New" pitchFamily="34" charset="-120"/>
              </a:rPr>
              <a:t>  "airline":   { "name": "Air New Zealand", "iata": "NZ" },</a:t>
            </a:r>
            <a:endParaRPr lang="en-US" sz="1300" dirty="0"/>
          </a:p>
          <a:p>
            <a:pPr algn="l" indent="0" marL="0">
              <a:buNone/>
            </a:pPr>
            <a:r>
              <a:rPr lang="en-US" sz="1300" dirty="0">
                <a:solidFill>
                  <a:schemeClr val="accent6"/>
                </a:solidFill>
                <a:latin typeface="Courier New" pitchFamily="34" charset="0"/>
                <a:ea typeface="Courier New" pitchFamily="34" charset="-122"/>
                <a:cs typeface="Courier New" pitchFamily="34" charset="-120"/>
              </a:rPr>
              <a:t>  "flight":    { "number": "282", "iata": "NZ282",</a:t>
            </a:r>
            <a:endParaRPr lang="en-US" sz="1300" dirty="0"/>
          </a:p>
          <a:p>
            <a:pPr algn="l" indent="0" marL="0">
              <a:buNone/>
            </a:pPr>
            <a:r>
              <a:rPr lang="en-US" sz="1300" dirty="0">
                <a:solidFill>
                  <a:schemeClr val="accent6"/>
                </a:solidFill>
                <a:latin typeface="Courier New" pitchFamily="34" charset="0"/>
                <a:ea typeface="Courier New" pitchFamily="34" charset="-122"/>
                <a:cs typeface="Courier New" pitchFamily="34" charset="-120"/>
              </a:rPr>
              <a:t>                 "codeshared": null },</a:t>
            </a:r>
            <a:endParaRPr lang="en-US" sz="1300" dirty="0"/>
          </a:p>
          <a:p>
            <a:pPr algn="l" indent="0" marL="0">
              <a:buNone/>
            </a:pPr>
            <a:r>
              <a:rPr lang="en-US" sz="1300" dirty="0">
                <a:solidFill>
                  <a:schemeClr val="bg2"/>
                </a:solidFill>
                <a:latin typeface="Courier New" pitchFamily="34" charset="0"/>
                <a:ea typeface="Courier New" pitchFamily="34" charset="-122"/>
                <a:cs typeface="Courier New" pitchFamily="34" charset="-120"/>
              </a:rPr>
              <a:t>  "aircraft":  { "registration": null, ... },</a:t>
            </a:r>
            <a:endParaRPr lang="en-US" sz="1300" dirty="0"/>
          </a:p>
          <a:p>
            <a:pPr algn="l" indent="0" marL="0">
              <a:buNone/>
            </a:pPr>
            <a:r>
              <a:rPr lang="en-US" sz="1300" dirty="0">
                <a:solidFill>
                  <a:schemeClr val="bg2"/>
                </a:solidFill>
                <a:latin typeface="Courier New" pitchFamily="34" charset="0"/>
                <a:ea typeface="Courier New" pitchFamily="34" charset="-122"/>
                <a:cs typeface="Courier New" pitchFamily="34" charset="-120"/>
              </a:rPr>
              <a:t>  "live":      null }</a:t>
            </a:r>
            <a:endParaRPr lang="en-US" sz="1300" dirty="0"/>
          </a:p>
        </p:txBody>
      </p:sp>
      <p:sp>
        <p:nvSpPr>
          <p:cNvPr id="8" name="rowcard"/>
          <p:cNvSpPr/>
          <p:nvPr/>
        </p:nvSpPr>
        <p:spPr>
          <a:xfrm>
            <a:off x="548640" y="1691640"/>
            <a:ext cx="6309360" cy="4389120"/>
          </a:xfrm>
          <a:prstGeom prst="roundRect">
            <a:avLst>
              <a:gd name="adj" fmla="val 2500"/>
            </a:avLst>
          </a:prstGeom>
          <a:solidFill>
            <a:schemeClr val="tx1">
              <a:alpha val="85000"/>
            </a:schemeClr>
          </a:solidFill>
          <a:ln w="9525">
            <a:solidFill>
              <a:schemeClr val="accent2">
                <a:alpha val="60000"/>
              </a:schemeClr>
            </a:solidFill>
            <a:prstDash val="solid"/>
          </a:ln>
        </p:spPr>
      </p:sp>
      <p:sp>
        <p:nvSpPr>
          <p:cNvPr id="9" name="rowhd"/>
          <p:cNvSpPr txBox="1"/>
          <p:nvPr/>
        </p:nvSpPr>
        <p:spPr>
          <a:xfrm>
            <a:off x="777240" y="1801368"/>
            <a:ext cx="5852160" cy="274320"/>
          </a:xfrm>
          <a:prstGeom prst="rect">
            <a:avLst/>
          </a:prstGeom>
          <a:noFill/>
          <a:ln/>
        </p:spPr>
        <p:txBody>
          <a:bodyPr wrap="square" lIns="0" tIns="0" rIns="0" bIns="0" rtlCol="0" anchor="t"/>
          <a:lstStyle/>
          <a:p>
            <a:pPr algn="l" indent="0" marL="0">
              <a:buNone/>
            </a:pPr>
            <a:r>
              <a:rPr lang="en-US" sz="1100" b="1" spc="200" kern="0" dirty="0">
                <a:solidFill>
                  <a:schemeClr val="accent2"/>
                </a:solidFill>
              </a:rPr>
              <a:t>SKYLENS ROW  ·  flights table, 42 columns (excerpt)</a:t>
            </a:r>
            <a:endParaRPr lang="en-US" sz="1100" dirty="0"/>
          </a:p>
        </p:txBody>
      </p:sp>
      <p:sp>
        <p:nvSpPr>
          <p:cNvPr id="10" name="ra0"/>
          <p:cNvSpPr txBox="1"/>
          <p:nvPr/>
        </p:nvSpPr>
        <p:spPr>
          <a:xfrm>
            <a:off x="777240" y="2194560"/>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flight_date</a:t>
            </a:r>
            <a:endParaRPr lang="en-US" sz="1400" dirty="0"/>
          </a:p>
        </p:txBody>
      </p:sp>
      <p:sp>
        <p:nvSpPr>
          <p:cNvPr id="11" name="rb0"/>
          <p:cNvSpPr txBox="1"/>
          <p:nvPr/>
        </p:nvSpPr>
        <p:spPr>
          <a:xfrm>
            <a:off x="3108960" y="2194560"/>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2026-10-10</a:t>
            </a:r>
            <a:endParaRPr lang="en-US" sz="1400" dirty="0"/>
          </a:p>
        </p:txBody>
      </p:sp>
      <p:sp>
        <p:nvSpPr>
          <p:cNvPr id="12" name="ra1"/>
          <p:cNvSpPr txBox="1"/>
          <p:nvPr/>
        </p:nvSpPr>
        <p:spPr>
          <a:xfrm>
            <a:off x="777240" y="2532888"/>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flight_status</a:t>
            </a:r>
            <a:endParaRPr lang="en-US" sz="1400" dirty="0"/>
          </a:p>
        </p:txBody>
      </p:sp>
      <p:sp>
        <p:nvSpPr>
          <p:cNvPr id="13" name="rb1"/>
          <p:cNvSpPr txBox="1"/>
          <p:nvPr/>
        </p:nvSpPr>
        <p:spPr>
          <a:xfrm>
            <a:off x="3108960" y="2532888"/>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scheduled</a:t>
            </a:r>
            <a:endParaRPr lang="en-US" sz="1400" dirty="0"/>
          </a:p>
        </p:txBody>
      </p:sp>
      <p:sp>
        <p:nvSpPr>
          <p:cNvPr id="14" name="ra2"/>
          <p:cNvSpPr txBox="1"/>
          <p:nvPr/>
        </p:nvSpPr>
        <p:spPr>
          <a:xfrm>
            <a:off x="777240" y="2871216"/>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flight_iata</a:t>
            </a:r>
            <a:endParaRPr lang="en-US" sz="1400" dirty="0"/>
          </a:p>
        </p:txBody>
      </p:sp>
      <p:sp>
        <p:nvSpPr>
          <p:cNvPr id="15" name="rb2"/>
          <p:cNvSpPr txBox="1"/>
          <p:nvPr/>
        </p:nvSpPr>
        <p:spPr>
          <a:xfrm>
            <a:off x="3108960" y="2871216"/>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NZ282</a:t>
            </a:r>
            <a:endParaRPr lang="en-US" sz="1400" dirty="0"/>
          </a:p>
        </p:txBody>
      </p:sp>
      <p:sp>
        <p:nvSpPr>
          <p:cNvPr id="16" name="ra3"/>
          <p:cNvSpPr txBox="1"/>
          <p:nvPr/>
        </p:nvSpPr>
        <p:spPr>
          <a:xfrm>
            <a:off x="777240" y="3209544"/>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airline_name</a:t>
            </a:r>
            <a:endParaRPr lang="en-US" sz="1400" dirty="0"/>
          </a:p>
        </p:txBody>
      </p:sp>
      <p:sp>
        <p:nvSpPr>
          <p:cNvPr id="17" name="rb3"/>
          <p:cNvSpPr txBox="1"/>
          <p:nvPr/>
        </p:nvSpPr>
        <p:spPr>
          <a:xfrm>
            <a:off x="3108960" y="3209544"/>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Air New Zealand</a:t>
            </a:r>
            <a:endParaRPr lang="en-US" sz="1400" dirty="0"/>
          </a:p>
        </p:txBody>
      </p:sp>
      <p:sp>
        <p:nvSpPr>
          <p:cNvPr id="18" name="ra4"/>
          <p:cNvSpPr txBox="1"/>
          <p:nvPr/>
        </p:nvSpPr>
        <p:spPr>
          <a:xfrm>
            <a:off x="777240" y="3547872"/>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route</a:t>
            </a:r>
            <a:endParaRPr lang="en-US" sz="1400" dirty="0"/>
          </a:p>
        </p:txBody>
      </p:sp>
      <p:sp>
        <p:nvSpPr>
          <p:cNvPr id="19" name="rb4"/>
          <p:cNvSpPr txBox="1"/>
          <p:nvPr/>
        </p:nvSpPr>
        <p:spPr>
          <a:xfrm>
            <a:off x="3108960" y="3547872"/>
            <a:ext cx="3566160" cy="301752"/>
          </a:xfrm>
          <a:prstGeom prst="rect">
            <a:avLst/>
          </a:prstGeom>
          <a:noFill/>
          <a:ln/>
        </p:spPr>
        <p:txBody>
          <a:bodyPr wrap="square" lIns="0" tIns="0" rIns="0" bIns="0" rtlCol="0" anchor="t"/>
          <a:lstStyle/>
          <a:p>
            <a:pPr algn="l" indent="0" marL="0">
              <a:buNone/>
            </a:pPr>
            <a:r>
              <a:rPr lang="en-US" sz="1400" b="1" dirty="0">
                <a:solidFill>
                  <a:schemeClr val="accent3"/>
                </a:solidFill>
                <a:latin typeface="Courier New" pitchFamily="34" charset="0"/>
                <a:ea typeface="Courier New" pitchFamily="34" charset="-122"/>
                <a:cs typeface="Courier New" pitchFamily="34" charset="-120"/>
              </a:rPr>
              <a:t>AKL-SIN  (derived)</a:t>
            </a:r>
            <a:endParaRPr lang="en-US" sz="1400" dirty="0"/>
          </a:p>
        </p:txBody>
      </p:sp>
      <p:sp>
        <p:nvSpPr>
          <p:cNvPr id="20" name="ra5"/>
          <p:cNvSpPr txBox="1"/>
          <p:nvPr/>
        </p:nvSpPr>
        <p:spPr>
          <a:xfrm>
            <a:off x="777240" y="3886200"/>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dep_airport</a:t>
            </a:r>
            <a:endParaRPr lang="en-US" sz="1400" dirty="0"/>
          </a:p>
        </p:txBody>
      </p:sp>
      <p:sp>
        <p:nvSpPr>
          <p:cNvPr id="21" name="rb5"/>
          <p:cNvSpPr txBox="1"/>
          <p:nvPr/>
        </p:nvSpPr>
        <p:spPr>
          <a:xfrm>
            <a:off x="3108960" y="3886200"/>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Auckland International</a:t>
            </a:r>
            <a:endParaRPr lang="en-US" sz="1400" dirty="0"/>
          </a:p>
        </p:txBody>
      </p:sp>
      <p:sp>
        <p:nvSpPr>
          <p:cNvPr id="22" name="ra6"/>
          <p:cNvSpPr txBox="1"/>
          <p:nvPr/>
        </p:nvSpPr>
        <p:spPr>
          <a:xfrm>
            <a:off x="777240" y="4224528"/>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arr_airport</a:t>
            </a:r>
            <a:endParaRPr lang="en-US" sz="1400" dirty="0"/>
          </a:p>
        </p:txBody>
      </p:sp>
      <p:sp>
        <p:nvSpPr>
          <p:cNvPr id="23" name="rb6"/>
          <p:cNvSpPr txBox="1"/>
          <p:nvPr/>
        </p:nvSpPr>
        <p:spPr>
          <a:xfrm>
            <a:off x="3108960" y="4224528"/>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Singapore Changi</a:t>
            </a:r>
            <a:endParaRPr lang="en-US" sz="1400" dirty="0"/>
          </a:p>
        </p:txBody>
      </p:sp>
      <p:sp>
        <p:nvSpPr>
          <p:cNvPr id="24" name="ra7"/>
          <p:cNvSpPr txBox="1"/>
          <p:nvPr/>
        </p:nvSpPr>
        <p:spPr>
          <a:xfrm>
            <a:off x="777240" y="4562856"/>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dep_scheduled</a:t>
            </a:r>
            <a:endParaRPr lang="en-US" sz="1400" dirty="0"/>
          </a:p>
        </p:txBody>
      </p:sp>
      <p:sp>
        <p:nvSpPr>
          <p:cNvPr id="25" name="rb7"/>
          <p:cNvSpPr txBox="1"/>
          <p:nvPr/>
        </p:nvSpPr>
        <p:spPr>
          <a:xfrm>
            <a:off x="3108960" y="4562856"/>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2026-10-10 00:55 UTC</a:t>
            </a:r>
            <a:endParaRPr lang="en-US" sz="1400" dirty="0"/>
          </a:p>
        </p:txBody>
      </p:sp>
      <p:sp>
        <p:nvSpPr>
          <p:cNvPr id="26" name="ra8"/>
          <p:cNvSpPr txBox="1"/>
          <p:nvPr/>
        </p:nvSpPr>
        <p:spPr>
          <a:xfrm>
            <a:off x="777240" y="4901184"/>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dep_delay_min</a:t>
            </a:r>
            <a:endParaRPr lang="en-US" sz="1400" dirty="0"/>
          </a:p>
        </p:txBody>
      </p:sp>
      <p:sp>
        <p:nvSpPr>
          <p:cNvPr id="27" name="rb8"/>
          <p:cNvSpPr txBox="1"/>
          <p:nvPr/>
        </p:nvSpPr>
        <p:spPr>
          <a:xfrm>
            <a:off x="3108960" y="4901184"/>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NULL</a:t>
            </a:r>
            <a:endParaRPr lang="en-US" sz="1400" dirty="0"/>
          </a:p>
        </p:txBody>
      </p:sp>
      <p:sp>
        <p:nvSpPr>
          <p:cNvPr id="28" name="ra9"/>
          <p:cNvSpPr txBox="1"/>
          <p:nvPr/>
        </p:nvSpPr>
        <p:spPr>
          <a:xfrm>
            <a:off x="777240" y="5239512"/>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is_delayed</a:t>
            </a:r>
            <a:endParaRPr lang="en-US" sz="1400" dirty="0"/>
          </a:p>
        </p:txBody>
      </p:sp>
      <p:sp>
        <p:nvSpPr>
          <p:cNvPr id="29" name="rb9"/>
          <p:cNvSpPr txBox="1"/>
          <p:nvPr/>
        </p:nvSpPr>
        <p:spPr>
          <a:xfrm>
            <a:off x="3108960" y="5239512"/>
            <a:ext cx="3566160" cy="301752"/>
          </a:xfrm>
          <a:prstGeom prst="rect">
            <a:avLst/>
          </a:prstGeom>
          <a:noFill/>
          <a:ln/>
        </p:spPr>
        <p:txBody>
          <a:bodyPr wrap="square" lIns="0" tIns="0" rIns="0" bIns="0" rtlCol="0" anchor="t"/>
          <a:lstStyle/>
          <a:p>
            <a:pPr algn="l" indent="0" marL="0">
              <a:buNone/>
            </a:pPr>
            <a:r>
              <a:rPr lang="en-US" sz="1400" b="1" dirty="0">
                <a:solidFill>
                  <a:schemeClr val="accent3"/>
                </a:solidFill>
                <a:latin typeface="Courier New" pitchFamily="34" charset="0"/>
                <a:ea typeface="Courier New" pitchFamily="34" charset="-122"/>
                <a:cs typeface="Courier New" pitchFamily="34" charset="-120"/>
              </a:rPr>
              <a:t>False  (derived)</a:t>
            </a:r>
            <a:endParaRPr lang="en-US" sz="1400" dirty="0"/>
          </a:p>
        </p:txBody>
      </p:sp>
      <p:sp>
        <p:nvSpPr>
          <p:cNvPr id="30" name="ra10"/>
          <p:cNvSpPr txBox="1"/>
          <p:nvPr/>
        </p:nvSpPr>
        <p:spPr>
          <a:xfrm>
            <a:off x="777240" y="5577840"/>
            <a:ext cx="2286000" cy="301752"/>
          </a:xfrm>
          <a:prstGeom prst="rect">
            <a:avLst/>
          </a:prstGeom>
          <a:noFill/>
          <a:ln/>
        </p:spPr>
        <p:txBody>
          <a:bodyPr wrap="square" lIns="0" tIns="0" rIns="0" bIns="0" rtlCol="0" anchor="t"/>
          <a:lstStyle/>
          <a:p>
            <a:pPr algn="l" indent="0" marL="0">
              <a:buNone/>
            </a:pPr>
            <a:r>
              <a:rPr lang="en-US" sz="1400" dirty="0">
                <a:solidFill>
                  <a:schemeClr val="bg2"/>
                </a:solidFill>
                <a:latin typeface="Courier New" pitchFamily="34" charset="0"/>
                <a:ea typeface="Courier New" pitchFamily="34" charset="-122"/>
                <a:cs typeface="Courier New" pitchFamily="34" charset="-120"/>
              </a:rPr>
              <a:t>is_codeshared</a:t>
            </a:r>
            <a:endParaRPr lang="en-US" sz="1400" dirty="0"/>
          </a:p>
        </p:txBody>
      </p:sp>
      <p:sp>
        <p:nvSpPr>
          <p:cNvPr id="31" name="rb10"/>
          <p:cNvSpPr txBox="1"/>
          <p:nvPr/>
        </p:nvSpPr>
        <p:spPr>
          <a:xfrm>
            <a:off x="3108960" y="5577840"/>
            <a:ext cx="3566160" cy="301752"/>
          </a:xfrm>
          <a:prstGeom prst="rect">
            <a:avLst/>
          </a:prstGeom>
          <a:noFill/>
          <a:ln/>
        </p:spPr>
        <p:txBody>
          <a:bodyPr wrap="square" lIns="0" tIns="0" rIns="0" bIns="0" rtlCol="0" anchor="t"/>
          <a:lstStyle/>
          <a:p>
            <a:pPr algn="l" indent="0" marL="0">
              <a:buNone/>
            </a:pPr>
            <a:r>
              <a:rPr lang="en-US" sz="1400" b="1" dirty="0">
                <a:solidFill>
                  <a:schemeClr val="bg1"/>
                </a:solidFill>
                <a:latin typeface="Courier New" pitchFamily="34" charset="0"/>
                <a:ea typeface="Courier New" pitchFamily="34" charset="-122"/>
                <a:cs typeface="Courier New" pitchFamily="34" charset="-120"/>
              </a:rPr>
              <a:t>False</a:t>
            </a:r>
            <a:endParaRPr lang="en-US" sz="1400" dirty="0"/>
          </a:p>
        </p:txBody>
      </p:sp>
      <p:sp>
        <p:nvSpPr>
          <p:cNvPr id="32" name="cm0c"/>
          <p:cNvSpPr/>
          <p:nvPr/>
        </p:nvSpPr>
        <p:spPr>
          <a:xfrm>
            <a:off x="7132320" y="1691640"/>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3" name="cm0t"/>
          <p:cNvSpPr txBox="1"/>
          <p:nvPr/>
        </p:nvSpPr>
        <p:spPr>
          <a:xfrm>
            <a:off x="7360920" y="1783080"/>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Structure</a:t>
            </a:r>
            <a:endParaRPr lang="en-US" sz="1500" dirty="0"/>
          </a:p>
          <a:p>
            <a:pPr algn="l" indent="0" marL="0">
              <a:buNone/>
            </a:pPr>
            <a:r>
              <a:rPr lang="en-US" sz="1500" dirty="0">
                <a:solidFill>
                  <a:schemeClr val="bg1"/>
                </a:solidFill>
              </a:rPr>
              <a:t>Nested blocks become one flat row</a:t>
            </a:r>
            <a:endParaRPr lang="en-US" sz="1500" dirty="0"/>
          </a:p>
        </p:txBody>
      </p:sp>
      <p:sp>
        <p:nvSpPr>
          <p:cNvPr id="34" name="cm1c"/>
          <p:cNvSpPr/>
          <p:nvPr/>
        </p:nvSpPr>
        <p:spPr>
          <a:xfrm>
            <a:off x="7132320" y="2807208"/>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5" name="cm1t"/>
          <p:cNvSpPr txBox="1"/>
          <p:nvPr/>
        </p:nvSpPr>
        <p:spPr>
          <a:xfrm>
            <a:off x="7360920" y="2898648"/>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Quality</a:t>
            </a:r>
            <a:endParaRPr lang="en-US" sz="1500" dirty="0"/>
          </a:p>
          <a:p>
            <a:pPr algn="l" indent="0" marL="0">
              <a:buNone/>
            </a:pPr>
            <a:r>
              <a:rPr lang="en-US" sz="1500" dirty="0">
                <a:solidFill>
                  <a:schemeClr val="bg1"/>
                </a:solidFill>
              </a:rPr>
              <a:t>Pydantic validates every record</a:t>
            </a:r>
            <a:endParaRPr lang="en-US" sz="1500" dirty="0"/>
          </a:p>
        </p:txBody>
      </p:sp>
      <p:sp>
        <p:nvSpPr>
          <p:cNvPr id="36" name="cm2c"/>
          <p:cNvSpPr/>
          <p:nvPr/>
        </p:nvSpPr>
        <p:spPr>
          <a:xfrm>
            <a:off x="7132320" y="3922776"/>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7" name="cm2t"/>
          <p:cNvSpPr txBox="1"/>
          <p:nvPr/>
        </p:nvSpPr>
        <p:spPr>
          <a:xfrm>
            <a:off x="7360920" y="4014216"/>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Persistence</a:t>
            </a:r>
            <a:endParaRPr lang="en-US" sz="1500" dirty="0"/>
          </a:p>
          <a:p>
            <a:pPr algn="l" indent="0" marL="0">
              <a:buNone/>
            </a:pPr>
            <a:r>
              <a:rPr lang="en-US" sz="1500" dirty="0">
                <a:solidFill>
                  <a:schemeClr val="bg1"/>
                </a:solidFill>
              </a:rPr>
              <a:t>SQLite upsert keeps one row per flight</a:t>
            </a:r>
            <a:endParaRPr lang="en-US" sz="1500" dirty="0"/>
          </a:p>
        </p:txBody>
      </p:sp>
      <p:sp>
        <p:nvSpPr>
          <p:cNvPr id="38" name="cm3c"/>
          <p:cNvSpPr/>
          <p:nvPr/>
        </p:nvSpPr>
        <p:spPr>
          <a:xfrm>
            <a:off x="7132320" y="5038344"/>
            <a:ext cx="4507992" cy="987552"/>
          </a:xfrm>
          <a:prstGeom prst="roundRect">
            <a:avLst>
              <a:gd name="adj" fmla="val 11111"/>
            </a:avLst>
          </a:prstGeom>
          <a:solidFill>
            <a:schemeClr val="bg1">
              <a:alpha val="9000"/>
            </a:schemeClr>
          </a:solidFill>
          <a:ln w="9525">
            <a:solidFill>
              <a:schemeClr val="bg1">
                <a:alpha val="22000"/>
              </a:schemeClr>
            </a:solidFill>
            <a:prstDash val="solid"/>
          </a:ln>
        </p:spPr>
      </p:sp>
      <p:sp>
        <p:nvSpPr>
          <p:cNvPr id="39" name="cm3t"/>
          <p:cNvSpPr txBox="1"/>
          <p:nvPr/>
        </p:nvSpPr>
        <p:spPr>
          <a:xfrm>
            <a:off x="7360920" y="5129784"/>
            <a:ext cx="4114800" cy="822960"/>
          </a:xfrm>
          <a:prstGeom prst="rect">
            <a:avLst/>
          </a:prstGeom>
          <a:noFill/>
          <a:ln/>
        </p:spPr>
        <p:txBody>
          <a:bodyPr wrap="square" lIns="0" tIns="0" rIns="0" bIns="0" rtlCol="0" anchor="ctr"/>
          <a:lstStyle/>
          <a:p>
            <a:pPr algn="l" indent="0" marL="0">
              <a:buNone/>
            </a:pPr>
            <a:r>
              <a:rPr lang="en-US" sz="1500" b="1" dirty="0">
                <a:solidFill>
                  <a:schemeClr val="accent3"/>
                </a:solidFill>
              </a:rPr>
              <a:t>Insight</a:t>
            </a:r>
            <a:endParaRPr lang="en-US" sz="1500" dirty="0"/>
          </a:p>
          <a:p>
            <a:pPr algn="l" indent="0" marL="0">
              <a:buNone/>
            </a:pPr>
            <a:r>
              <a:rPr lang="en-US" sz="1500" dirty="0">
                <a:solidFill>
                  <a:schemeClr val="bg1"/>
                </a:solidFill>
              </a:rPr>
              <a:t>Statistics, charts and a dashboard</a:t>
            </a:r>
            <a:endParaRPr lang="en-US" sz="1500" dirty="0"/>
          </a:p>
        </p:txBody>
      </p:sp>
      <p:sp>
        <p:nvSpPr>
          <p:cNvPr id="40" name="track"/>
          <p:cNvSpPr/>
          <p:nvPr/>
        </p:nvSpPr>
        <p:spPr>
          <a:xfrm>
            <a:off x="3383280" y="6510528"/>
            <a:ext cx="7132320" cy="0"/>
          </a:xfrm>
          <a:prstGeom prst="line">
            <a:avLst/>
          </a:prstGeom>
          <a:noFill/>
          <a:ln w="12700">
            <a:solidFill>
              <a:schemeClr val="bg2">
                <a:alpha val="45000"/>
              </a:schemeClr>
            </a:solidFill>
            <a:prstDash val="dash"/>
          </a:ln>
        </p:spPr>
      </p:sp>
      <p:sp>
        <p:nvSpPr>
          <p:cNvPr id="41" name="progress"/>
          <p:cNvSpPr/>
          <p:nvPr/>
        </p:nvSpPr>
        <p:spPr>
          <a:xfrm>
            <a:off x="3383280" y="6510528"/>
            <a:ext cx="983768" cy="0"/>
          </a:xfrm>
          <a:prstGeom prst="line">
            <a:avLst/>
          </a:prstGeom>
          <a:noFill/>
          <a:ln w="28575">
            <a:solidFill>
              <a:schemeClr val="accent2"/>
            </a:solidFill>
            <a:prstDash val="solid"/>
          </a:ln>
        </p:spPr>
      </p:sp>
      <p:sp>
        <p:nvSpPr>
          <p:cNvPr id="42" name="wp0"/>
          <p:cNvSpPr/>
          <p:nvPr/>
        </p:nvSpPr>
        <p:spPr>
          <a:xfrm>
            <a:off x="3834016" y="6469380"/>
            <a:ext cx="82296" cy="82296"/>
          </a:xfrm>
          <a:prstGeom prst="ellipse">
            <a:avLst/>
          </a:prstGeom>
          <a:solidFill>
            <a:schemeClr val="accent2"/>
          </a:solidFill>
          <a:ln/>
        </p:spPr>
      </p:sp>
      <p:sp>
        <p:nvSpPr>
          <p:cNvPr id="43" name="wp1"/>
          <p:cNvSpPr/>
          <p:nvPr/>
        </p:nvSpPr>
        <p:spPr>
          <a:xfrm>
            <a:off x="4817784" y="6469380"/>
            <a:ext cx="82296" cy="82296"/>
          </a:xfrm>
          <a:prstGeom prst="ellipse">
            <a:avLst/>
          </a:prstGeom>
          <a:solidFill>
            <a:schemeClr val="bg2">
              <a:alpha val="60000"/>
            </a:schemeClr>
          </a:solidFill>
          <a:ln/>
        </p:spPr>
      </p:sp>
      <p:sp>
        <p:nvSpPr>
          <p:cNvPr id="44" name="wp2"/>
          <p:cNvSpPr/>
          <p:nvPr/>
        </p:nvSpPr>
        <p:spPr>
          <a:xfrm>
            <a:off x="7277205" y="6469380"/>
            <a:ext cx="82296" cy="82296"/>
          </a:xfrm>
          <a:prstGeom prst="ellipse">
            <a:avLst/>
          </a:prstGeom>
          <a:solidFill>
            <a:schemeClr val="bg2">
              <a:alpha val="60000"/>
            </a:schemeClr>
          </a:solidFill>
          <a:ln/>
        </p:spPr>
      </p:sp>
      <p:sp>
        <p:nvSpPr>
          <p:cNvPr id="45" name="wp3"/>
          <p:cNvSpPr/>
          <p:nvPr/>
        </p:nvSpPr>
        <p:spPr>
          <a:xfrm>
            <a:off x="8506915" y="6469380"/>
            <a:ext cx="82296" cy="82296"/>
          </a:xfrm>
          <a:prstGeom prst="ellipse">
            <a:avLst/>
          </a:prstGeom>
          <a:solidFill>
            <a:schemeClr val="bg2">
              <a:alpha val="60000"/>
            </a:schemeClr>
          </a:solidFill>
          <a:ln/>
        </p:spPr>
      </p:sp>
      <p:sp>
        <p:nvSpPr>
          <p:cNvPr id="46" name="wp4"/>
          <p:cNvSpPr/>
          <p:nvPr/>
        </p:nvSpPr>
        <p:spPr>
          <a:xfrm>
            <a:off x="9982568" y="6469380"/>
            <a:ext cx="82296" cy="82296"/>
          </a:xfrm>
          <a:prstGeom prst="ellipse">
            <a:avLst/>
          </a:prstGeom>
          <a:solidFill>
            <a:schemeClr val="bg2">
              <a:alpha val="60000"/>
            </a:schemeClr>
          </a:solidFill>
          <a:ln/>
        </p:spPr>
      </p:sp>
      <p:sp>
        <p:nvSpPr>
          <p:cNvPr id="47" name="progress_ext"/>
          <p:cNvSpPr/>
          <p:nvPr/>
        </p:nvSpPr>
        <p:spPr>
          <a:xfrm>
            <a:off x="4367048" y="6510528"/>
            <a:ext cx="245942" cy="0"/>
          </a:xfrm>
          <a:prstGeom prst="line">
            <a:avLst/>
          </a:prstGeom>
          <a:noFill/>
          <a:ln w="28575">
            <a:solidFill>
              <a:schemeClr val="accent2"/>
            </a:solidFill>
            <a:prstDash val="solid"/>
          </a:ln>
        </p:spPr>
      </p:sp>
      <p:pic>
        <p:nvPicPr>
          <p:cNvPr id="48" name="!!tracker" descr="Progress marker">    </p:cNvPr>
          <p:cNvPicPr>
            <a:picLocks noChangeAspect="1"/>
          </p:cNvPicPr>
          <p:nvPr/>
        </p:nvPicPr>
        <p:blipFill>
          <a:blip r:embed="rId1"/>
          <a:stretch>
            <a:fillRect/>
          </a:stretch>
        </p:blipFill>
        <p:spPr>
          <a:xfrm>
            <a:off x="4184168"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800"/>
                                        <p:tgtEl>
                                          <p:spTgt spid="5"/>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800"/>
                                        <p:tgtEl>
                                          <p:spTgt spid="6"/>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8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10" presetClass="exit" presetSubtype="0" fill="hold" grpId="0" nodeType="clickEffect">
                                  <p:stCondLst>
                                    <p:cond delay="0"/>
                                  </p:stCondLst>
                                  <p:childTnLst>
                                    <p:animEffect transition="out" filter="fade">
                                      <p:cBhvr>
                                        <p:cTn id="25" dur="500"/>
                                        <p:tgtEl>
                                          <p:spTgt spid="5"/>
                                        </p:tgtEl>
                                      </p:cBhvr>
                                    </p:animEffect>
                                    <p:set>
                                      <p:cBhvr>
                                        <p:cTn id="26" dur="1" fill="hold">
                                          <p:stCondLst>
                                            <p:cond delay="499"/>
                                          </p:stCondLst>
                                        </p:cTn>
                                        <p:tgtEl>
                                          <p:spTgt spid="5"/>
                                        </p:tgtEl>
                                        <p:attrNameLst>
                                          <p:attrName>style.visibility</p:attrName>
                                        </p:attrNameLst>
                                      </p:cBhvr>
                                      <p:to>
                                        <p:strVal val="hidden"/>
                                      </p:to>
                                    </p:set>
                                  </p:childTnLst>
                                </p:cTn>
                              </p:par>
                              <p:par>
                                <p:cTn id="27" presetID="10" presetClass="exit" presetSubtype="0" fill="hold" grpId="0" nodeType="withEffect">
                                  <p:stCondLst>
                                    <p:cond delay="0"/>
                                  </p:stCondLst>
                                  <p:childTnLst>
                                    <p:animEffect transition="out" filter="fade">
                                      <p:cBhvr>
                                        <p:cTn id="28" dur="500"/>
                                        <p:tgtEl>
                                          <p:spTgt spid="6"/>
                                        </p:tgtEl>
                                      </p:cBhvr>
                                    </p:animEffect>
                                    <p:set>
                                      <p:cBhvr>
                                        <p:cTn id="29" dur="1" fill="hold">
                                          <p:stCondLst>
                                            <p:cond delay="499"/>
                                          </p:stCondLst>
                                        </p:cTn>
                                        <p:tgtEl>
                                          <p:spTgt spid="6"/>
                                        </p:tgtEl>
                                        <p:attrNameLst>
                                          <p:attrName>style.visibility</p:attrName>
                                        </p:attrNameLst>
                                      </p:cBhvr>
                                      <p:to>
                                        <p:strVal val="hidden"/>
                                      </p:to>
                                    </p:set>
                                  </p:childTnLst>
                                </p:cTn>
                              </p:par>
                              <p:par>
                                <p:cTn id="30" presetID="10" presetClass="exit" presetSubtype="0" fill="hold" grpId="0" nodeType="withEffect">
                                  <p:stCondLst>
                                    <p:cond delay="0"/>
                                  </p:stCondLst>
                                  <p:childTnLst>
                                    <p:animEffect transition="out" filter="fade">
                                      <p:cBhvr>
                                        <p:cTn id="31" dur="500"/>
                                        <p:tgtEl>
                                          <p:spTgt spid="7"/>
                                        </p:tgtEl>
                                      </p:cBhvr>
                                    </p:animEffect>
                                    <p:set>
                                      <p:cBhvr>
                                        <p:cTn id="32" dur="1" fill="hold">
                                          <p:stCondLst>
                                            <p:cond delay="499"/>
                                          </p:stCondLst>
                                        </p:cTn>
                                        <p:tgtEl>
                                          <p:spTgt spid="7"/>
                                        </p:tgtEl>
                                        <p:attrNameLst>
                                          <p:attrName>style.visibility</p:attrName>
                                        </p:attrNameLst>
                                      </p:cBhvr>
                                      <p:to>
                                        <p:strVal val="hidden"/>
                                      </p:to>
                                    </p:set>
                                  </p:childTnLst>
                                </p:cTn>
                              </p:par>
                              <p:par>
                                <p:cTn id="33" presetID="10" presetClass="entr" presetSubtype="0" fill="hold" grpId="0" nodeType="withEffect">
                                  <p:stCondLst>
                                    <p:cond delay="300"/>
                                  </p:stCondLst>
                                  <p:childTnLst>
                                    <p:set>
                                      <p:cBhvr>
                                        <p:cTn id="34" dur="1" fill="hold">
                                          <p:stCondLst>
                                            <p:cond delay="0"/>
                                          </p:stCondLst>
                                        </p:cTn>
                                        <p:tgtEl>
                                          <p:spTgt spid="8"/>
                                        </p:tgtEl>
                                        <p:attrNameLst>
                                          <p:attrName>style.visibility</p:attrName>
                                        </p:attrNameLst>
                                      </p:cBhvr>
                                      <p:to>
                                        <p:strVal val="visible"/>
                                      </p:to>
                                    </p:set>
                                    <p:animEffect transition="in" filter="fade">
                                      <p:cBhvr>
                                        <p:cTn id="35" dur="600"/>
                                        <p:tgtEl>
                                          <p:spTgt spid="8"/>
                                        </p:tgtEl>
                                      </p:cBhvr>
                                    </p:animEffect>
                                  </p:childTnLst>
                                </p:cTn>
                              </p:par>
                              <p:par>
                                <p:cTn id="36" presetID="10" presetClass="entr" presetSubtype="0" fill="hold" grpId="0" nodeType="withEffect">
                                  <p:stCondLst>
                                    <p:cond delay="30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600"/>
                                        <p:tgtEl>
                                          <p:spTgt spid="9"/>
                                        </p:tgtEl>
                                      </p:cBhvr>
                                    </p:animEffect>
                                  </p:childTnLst>
                                </p:cTn>
                              </p:par>
                              <p:par>
                                <p:cTn id="39" presetID="10" presetClass="entr" presetSubtype="0" fill="hold" grpId="0" nodeType="withEffect">
                                  <p:stCondLst>
                                    <p:cond delay="300"/>
                                  </p:stCondLst>
                                  <p:childTnLst>
                                    <p:set>
                                      <p:cBhvr>
                                        <p:cTn id="40" dur="1" fill="hold">
                                          <p:stCondLst>
                                            <p:cond delay="0"/>
                                          </p:stCondLst>
                                        </p:cTn>
                                        <p:tgtEl>
                                          <p:spTgt spid="10"/>
                                        </p:tgtEl>
                                        <p:attrNameLst>
                                          <p:attrName>style.visibility</p:attrName>
                                        </p:attrNameLst>
                                      </p:cBhvr>
                                      <p:to>
                                        <p:strVal val="visible"/>
                                      </p:to>
                                    </p:set>
                                    <p:animEffect transition="in" filter="fade">
                                      <p:cBhvr>
                                        <p:cTn id="41" dur="600"/>
                                        <p:tgtEl>
                                          <p:spTgt spid="10"/>
                                        </p:tgtEl>
                                      </p:cBhvr>
                                    </p:animEffect>
                                  </p:childTnLst>
                                </p:cTn>
                              </p:par>
                              <p:par>
                                <p:cTn id="42" presetID="10" presetClass="entr" presetSubtype="0" fill="hold" grpId="0" nodeType="withEffect">
                                  <p:stCondLst>
                                    <p:cond delay="30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600"/>
                                        <p:tgtEl>
                                          <p:spTgt spid="11"/>
                                        </p:tgtEl>
                                      </p:cBhvr>
                                    </p:animEffect>
                                  </p:childTnLst>
                                </p:cTn>
                              </p:par>
                              <p:par>
                                <p:cTn id="45" presetID="10" presetClass="entr" presetSubtype="0" fill="hold" grpId="0" nodeType="withEffect">
                                  <p:stCondLst>
                                    <p:cond delay="30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600"/>
                                        <p:tgtEl>
                                          <p:spTgt spid="12"/>
                                        </p:tgtEl>
                                      </p:cBhvr>
                                    </p:animEffect>
                                  </p:childTnLst>
                                </p:cTn>
                              </p:par>
                              <p:par>
                                <p:cTn id="48" presetID="10" presetClass="entr" presetSubtype="0" fill="hold" grpId="0" nodeType="withEffect">
                                  <p:stCondLst>
                                    <p:cond delay="300"/>
                                  </p:stCondLst>
                                  <p:childTnLst>
                                    <p:set>
                                      <p:cBhvr>
                                        <p:cTn id="49" dur="1" fill="hold">
                                          <p:stCondLst>
                                            <p:cond delay="0"/>
                                          </p:stCondLst>
                                        </p:cTn>
                                        <p:tgtEl>
                                          <p:spTgt spid="13"/>
                                        </p:tgtEl>
                                        <p:attrNameLst>
                                          <p:attrName>style.visibility</p:attrName>
                                        </p:attrNameLst>
                                      </p:cBhvr>
                                      <p:to>
                                        <p:strVal val="visible"/>
                                      </p:to>
                                    </p:set>
                                    <p:animEffect transition="in" filter="fade">
                                      <p:cBhvr>
                                        <p:cTn id="50" dur="600"/>
                                        <p:tgtEl>
                                          <p:spTgt spid="13"/>
                                        </p:tgtEl>
                                      </p:cBhvr>
                                    </p:animEffect>
                                  </p:childTnLst>
                                </p:cTn>
                              </p:par>
                              <p:par>
                                <p:cTn id="51" presetID="10" presetClass="entr" presetSubtype="0" fill="hold" grpId="0" nodeType="withEffect">
                                  <p:stCondLst>
                                    <p:cond delay="30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600"/>
                                        <p:tgtEl>
                                          <p:spTgt spid="14"/>
                                        </p:tgtEl>
                                      </p:cBhvr>
                                    </p:animEffect>
                                  </p:childTnLst>
                                </p:cTn>
                              </p:par>
                              <p:par>
                                <p:cTn id="54" presetID="10" presetClass="entr" presetSubtype="0" fill="hold" grpId="0" nodeType="withEffect">
                                  <p:stCondLst>
                                    <p:cond delay="300"/>
                                  </p:stCondLst>
                                  <p:childTnLst>
                                    <p:set>
                                      <p:cBhvr>
                                        <p:cTn id="55" dur="1" fill="hold">
                                          <p:stCondLst>
                                            <p:cond delay="0"/>
                                          </p:stCondLst>
                                        </p:cTn>
                                        <p:tgtEl>
                                          <p:spTgt spid="15"/>
                                        </p:tgtEl>
                                        <p:attrNameLst>
                                          <p:attrName>style.visibility</p:attrName>
                                        </p:attrNameLst>
                                      </p:cBhvr>
                                      <p:to>
                                        <p:strVal val="visible"/>
                                      </p:to>
                                    </p:set>
                                    <p:animEffect transition="in" filter="fade">
                                      <p:cBhvr>
                                        <p:cTn id="56" dur="600"/>
                                        <p:tgtEl>
                                          <p:spTgt spid="15"/>
                                        </p:tgtEl>
                                      </p:cBhvr>
                                    </p:animEffect>
                                  </p:childTnLst>
                                </p:cTn>
                              </p:par>
                              <p:par>
                                <p:cTn id="57" presetID="10" presetClass="entr" presetSubtype="0" fill="hold" grpId="0" nodeType="withEffect">
                                  <p:stCondLst>
                                    <p:cond delay="300"/>
                                  </p:stCondLst>
                                  <p:childTnLst>
                                    <p:set>
                                      <p:cBhvr>
                                        <p:cTn id="58" dur="1" fill="hold">
                                          <p:stCondLst>
                                            <p:cond delay="0"/>
                                          </p:stCondLst>
                                        </p:cTn>
                                        <p:tgtEl>
                                          <p:spTgt spid="16"/>
                                        </p:tgtEl>
                                        <p:attrNameLst>
                                          <p:attrName>style.visibility</p:attrName>
                                        </p:attrNameLst>
                                      </p:cBhvr>
                                      <p:to>
                                        <p:strVal val="visible"/>
                                      </p:to>
                                    </p:set>
                                    <p:animEffect transition="in" filter="fade">
                                      <p:cBhvr>
                                        <p:cTn id="59" dur="600"/>
                                        <p:tgtEl>
                                          <p:spTgt spid="16"/>
                                        </p:tgtEl>
                                      </p:cBhvr>
                                    </p:animEffect>
                                  </p:childTnLst>
                                </p:cTn>
                              </p:par>
                              <p:par>
                                <p:cTn id="60" presetID="10" presetClass="entr" presetSubtype="0" fill="hold" grpId="0" nodeType="withEffect">
                                  <p:stCondLst>
                                    <p:cond delay="300"/>
                                  </p:stCondLst>
                                  <p:childTnLst>
                                    <p:set>
                                      <p:cBhvr>
                                        <p:cTn id="61" dur="1" fill="hold">
                                          <p:stCondLst>
                                            <p:cond delay="0"/>
                                          </p:stCondLst>
                                        </p:cTn>
                                        <p:tgtEl>
                                          <p:spTgt spid="17"/>
                                        </p:tgtEl>
                                        <p:attrNameLst>
                                          <p:attrName>style.visibility</p:attrName>
                                        </p:attrNameLst>
                                      </p:cBhvr>
                                      <p:to>
                                        <p:strVal val="visible"/>
                                      </p:to>
                                    </p:set>
                                    <p:animEffect transition="in" filter="fade">
                                      <p:cBhvr>
                                        <p:cTn id="62" dur="600"/>
                                        <p:tgtEl>
                                          <p:spTgt spid="17"/>
                                        </p:tgtEl>
                                      </p:cBhvr>
                                    </p:animEffect>
                                  </p:childTnLst>
                                </p:cTn>
                              </p:par>
                              <p:par>
                                <p:cTn id="63" presetID="10" presetClass="entr" presetSubtype="0" fill="hold" grpId="0" nodeType="withEffect">
                                  <p:stCondLst>
                                    <p:cond delay="300"/>
                                  </p:stCondLst>
                                  <p:childTnLst>
                                    <p:set>
                                      <p:cBhvr>
                                        <p:cTn id="64" dur="1" fill="hold">
                                          <p:stCondLst>
                                            <p:cond delay="0"/>
                                          </p:stCondLst>
                                        </p:cTn>
                                        <p:tgtEl>
                                          <p:spTgt spid="18"/>
                                        </p:tgtEl>
                                        <p:attrNameLst>
                                          <p:attrName>style.visibility</p:attrName>
                                        </p:attrNameLst>
                                      </p:cBhvr>
                                      <p:to>
                                        <p:strVal val="visible"/>
                                      </p:to>
                                    </p:set>
                                    <p:animEffect transition="in" filter="fade">
                                      <p:cBhvr>
                                        <p:cTn id="65" dur="600"/>
                                        <p:tgtEl>
                                          <p:spTgt spid="18"/>
                                        </p:tgtEl>
                                      </p:cBhvr>
                                    </p:animEffect>
                                  </p:childTnLst>
                                </p:cTn>
                              </p:par>
                              <p:par>
                                <p:cTn id="66" presetID="10" presetClass="entr" presetSubtype="0" fill="hold" grpId="0" nodeType="withEffect">
                                  <p:stCondLst>
                                    <p:cond delay="300"/>
                                  </p:stCondLst>
                                  <p:childTnLst>
                                    <p:set>
                                      <p:cBhvr>
                                        <p:cTn id="67" dur="1" fill="hold">
                                          <p:stCondLst>
                                            <p:cond delay="0"/>
                                          </p:stCondLst>
                                        </p:cTn>
                                        <p:tgtEl>
                                          <p:spTgt spid="19"/>
                                        </p:tgtEl>
                                        <p:attrNameLst>
                                          <p:attrName>style.visibility</p:attrName>
                                        </p:attrNameLst>
                                      </p:cBhvr>
                                      <p:to>
                                        <p:strVal val="visible"/>
                                      </p:to>
                                    </p:set>
                                    <p:animEffect transition="in" filter="fade">
                                      <p:cBhvr>
                                        <p:cTn id="68" dur="600"/>
                                        <p:tgtEl>
                                          <p:spTgt spid="19"/>
                                        </p:tgtEl>
                                      </p:cBhvr>
                                    </p:animEffect>
                                  </p:childTnLst>
                                </p:cTn>
                              </p:par>
                              <p:par>
                                <p:cTn id="69" presetID="10" presetClass="entr" presetSubtype="0" fill="hold" grpId="0" nodeType="withEffect">
                                  <p:stCondLst>
                                    <p:cond delay="300"/>
                                  </p:stCondLst>
                                  <p:childTnLst>
                                    <p:set>
                                      <p:cBhvr>
                                        <p:cTn id="70" dur="1" fill="hold">
                                          <p:stCondLst>
                                            <p:cond delay="0"/>
                                          </p:stCondLst>
                                        </p:cTn>
                                        <p:tgtEl>
                                          <p:spTgt spid="20"/>
                                        </p:tgtEl>
                                        <p:attrNameLst>
                                          <p:attrName>style.visibility</p:attrName>
                                        </p:attrNameLst>
                                      </p:cBhvr>
                                      <p:to>
                                        <p:strVal val="visible"/>
                                      </p:to>
                                    </p:set>
                                    <p:animEffect transition="in" filter="fade">
                                      <p:cBhvr>
                                        <p:cTn id="71" dur="600"/>
                                        <p:tgtEl>
                                          <p:spTgt spid="20"/>
                                        </p:tgtEl>
                                      </p:cBhvr>
                                    </p:animEffect>
                                  </p:childTnLst>
                                </p:cTn>
                              </p:par>
                              <p:par>
                                <p:cTn id="72" presetID="10" presetClass="entr" presetSubtype="0" fill="hold" grpId="0" nodeType="withEffect">
                                  <p:stCondLst>
                                    <p:cond delay="30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600"/>
                                        <p:tgtEl>
                                          <p:spTgt spid="21"/>
                                        </p:tgtEl>
                                      </p:cBhvr>
                                    </p:animEffect>
                                  </p:childTnLst>
                                </p:cTn>
                              </p:par>
                              <p:par>
                                <p:cTn id="75" presetID="10" presetClass="entr" presetSubtype="0" fill="hold" grpId="0" nodeType="withEffect">
                                  <p:stCondLst>
                                    <p:cond delay="300"/>
                                  </p:stCondLst>
                                  <p:childTnLst>
                                    <p:set>
                                      <p:cBhvr>
                                        <p:cTn id="76" dur="1" fill="hold">
                                          <p:stCondLst>
                                            <p:cond delay="0"/>
                                          </p:stCondLst>
                                        </p:cTn>
                                        <p:tgtEl>
                                          <p:spTgt spid="22"/>
                                        </p:tgtEl>
                                        <p:attrNameLst>
                                          <p:attrName>style.visibility</p:attrName>
                                        </p:attrNameLst>
                                      </p:cBhvr>
                                      <p:to>
                                        <p:strVal val="visible"/>
                                      </p:to>
                                    </p:set>
                                    <p:animEffect transition="in" filter="fade">
                                      <p:cBhvr>
                                        <p:cTn id="77" dur="600"/>
                                        <p:tgtEl>
                                          <p:spTgt spid="22"/>
                                        </p:tgtEl>
                                      </p:cBhvr>
                                    </p:animEffect>
                                  </p:childTnLst>
                                </p:cTn>
                              </p:par>
                              <p:par>
                                <p:cTn id="78" presetID="10" presetClass="entr" presetSubtype="0" fill="hold" grpId="0" nodeType="withEffect">
                                  <p:stCondLst>
                                    <p:cond delay="300"/>
                                  </p:stCondLst>
                                  <p:childTnLst>
                                    <p:set>
                                      <p:cBhvr>
                                        <p:cTn id="79" dur="1" fill="hold">
                                          <p:stCondLst>
                                            <p:cond delay="0"/>
                                          </p:stCondLst>
                                        </p:cTn>
                                        <p:tgtEl>
                                          <p:spTgt spid="23"/>
                                        </p:tgtEl>
                                        <p:attrNameLst>
                                          <p:attrName>style.visibility</p:attrName>
                                        </p:attrNameLst>
                                      </p:cBhvr>
                                      <p:to>
                                        <p:strVal val="visible"/>
                                      </p:to>
                                    </p:set>
                                    <p:animEffect transition="in" filter="fade">
                                      <p:cBhvr>
                                        <p:cTn id="80" dur="600"/>
                                        <p:tgtEl>
                                          <p:spTgt spid="23"/>
                                        </p:tgtEl>
                                      </p:cBhvr>
                                    </p:animEffect>
                                  </p:childTnLst>
                                </p:cTn>
                              </p:par>
                              <p:par>
                                <p:cTn id="81" presetID="10" presetClass="entr" presetSubtype="0" fill="hold" grpId="0" nodeType="withEffect">
                                  <p:stCondLst>
                                    <p:cond delay="300"/>
                                  </p:stCondLst>
                                  <p:childTnLst>
                                    <p:set>
                                      <p:cBhvr>
                                        <p:cTn id="82" dur="1" fill="hold">
                                          <p:stCondLst>
                                            <p:cond delay="0"/>
                                          </p:stCondLst>
                                        </p:cTn>
                                        <p:tgtEl>
                                          <p:spTgt spid="24"/>
                                        </p:tgtEl>
                                        <p:attrNameLst>
                                          <p:attrName>style.visibility</p:attrName>
                                        </p:attrNameLst>
                                      </p:cBhvr>
                                      <p:to>
                                        <p:strVal val="visible"/>
                                      </p:to>
                                    </p:set>
                                    <p:animEffect transition="in" filter="fade">
                                      <p:cBhvr>
                                        <p:cTn id="83" dur="600"/>
                                        <p:tgtEl>
                                          <p:spTgt spid="24"/>
                                        </p:tgtEl>
                                      </p:cBhvr>
                                    </p:animEffect>
                                  </p:childTnLst>
                                </p:cTn>
                              </p:par>
                              <p:par>
                                <p:cTn id="84" presetID="10" presetClass="entr" presetSubtype="0" fill="hold" grpId="0" nodeType="withEffect">
                                  <p:stCondLst>
                                    <p:cond delay="300"/>
                                  </p:stCondLst>
                                  <p:childTnLst>
                                    <p:set>
                                      <p:cBhvr>
                                        <p:cTn id="85" dur="1" fill="hold">
                                          <p:stCondLst>
                                            <p:cond delay="0"/>
                                          </p:stCondLst>
                                        </p:cTn>
                                        <p:tgtEl>
                                          <p:spTgt spid="25"/>
                                        </p:tgtEl>
                                        <p:attrNameLst>
                                          <p:attrName>style.visibility</p:attrName>
                                        </p:attrNameLst>
                                      </p:cBhvr>
                                      <p:to>
                                        <p:strVal val="visible"/>
                                      </p:to>
                                    </p:set>
                                    <p:animEffect transition="in" filter="fade">
                                      <p:cBhvr>
                                        <p:cTn id="86" dur="600"/>
                                        <p:tgtEl>
                                          <p:spTgt spid="25"/>
                                        </p:tgtEl>
                                      </p:cBhvr>
                                    </p:animEffect>
                                  </p:childTnLst>
                                </p:cTn>
                              </p:par>
                              <p:par>
                                <p:cTn id="87" presetID="10" presetClass="entr" presetSubtype="0" fill="hold" grpId="0" nodeType="withEffect">
                                  <p:stCondLst>
                                    <p:cond delay="30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600"/>
                                        <p:tgtEl>
                                          <p:spTgt spid="26"/>
                                        </p:tgtEl>
                                      </p:cBhvr>
                                    </p:animEffect>
                                  </p:childTnLst>
                                </p:cTn>
                              </p:par>
                              <p:par>
                                <p:cTn id="90" presetID="10" presetClass="entr" presetSubtype="0" fill="hold" grpId="0" nodeType="withEffect">
                                  <p:stCondLst>
                                    <p:cond delay="300"/>
                                  </p:stCondLst>
                                  <p:childTnLst>
                                    <p:set>
                                      <p:cBhvr>
                                        <p:cTn id="91" dur="1" fill="hold">
                                          <p:stCondLst>
                                            <p:cond delay="0"/>
                                          </p:stCondLst>
                                        </p:cTn>
                                        <p:tgtEl>
                                          <p:spTgt spid="27"/>
                                        </p:tgtEl>
                                        <p:attrNameLst>
                                          <p:attrName>style.visibility</p:attrName>
                                        </p:attrNameLst>
                                      </p:cBhvr>
                                      <p:to>
                                        <p:strVal val="visible"/>
                                      </p:to>
                                    </p:set>
                                    <p:animEffect transition="in" filter="fade">
                                      <p:cBhvr>
                                        <p:cTn id="92" dur="600"/>
                                        <p:tgtEl>
                                          <p:spTgt spid="27"/>
                                        </p:tgtEl>
                                      </p:cBhvr>
                                    </p:animEffect>
                                  </p:childTnLst>
                                </p:cTn>
                              </p:par>
                              <p:par>
                                <p:cTn id="93" presetID="10" presetClass="entr" presetSubtype="0" fill="hold" grpId="0" nodeType="withEffect">
                                  <p:stCondLst>
                                    <p:cond delay="300"/>
                                  </p:stCondLst>
                                  <p:childTnLst>
                                    <p:set>
                                      <p:cBhvr>
                                        <p:cTn id="94" dur="1" fill="hold">
                                          <p:stCondLst>
                                            <p:cond delay="0"/>
                                          </p:stCondLst>
                                        </p:cTn>
                                        <p:tgtEl>
                                          <p:spTgt spid="28"/>
                                        </p:tgtEl>
                                        <p:attrNameLst>
                                          <p:attrName>style.visibility</p:attrName>
                                        </p:attrNameLst>
                                      </p:cBhvr>
                                      <p:to>
                                        <p:strVal val="visible"/>
                                      </p:to>
                                    </p:set>
                                    <p:animEffect transition="in" filter="fade">
                                      <p:cBhvr>
                                        <p:cTn id="95" dur="600"/>
                                        <p:tgtEl>
                                          <p:spTgt spid="28"/>
                                        </p:tgtEl>
                                      </p:cBhvr>
                                    </p:animEffect>
                                  </p:childTnLst>
                                </p:cTn>
                              </p:par>
                              <p:par>
                                <p:cTn id="96" presetID="10" presetClass="entr" presetSubtype="0" fill="hold" grpId="0" nodeType="withEffect">
                                  <p:stCondLst>
                                    <p:cond delay="300"/>
                                  </p:stCondLst>
                                  <p:childTnLst>
                                    <p:set>
                                      <p:cBhvr>
                                        <p:cTn id="97" dur="1" fill="hold">
                                          <p:stCondLst>
                                            <p:cond delay="0"/>
                                          </p:stCondLst>
                                        </p:cTn>
                                        <p:tgtEl>
                                          <p:spTgt spid="29"/>
                                        </p:tgtEl>
                                        <p:attrNameLst>
                                          <p:attrName>style.visibility</p:attrName>
                                        </p:attrNameLst>
                                      </p:cBhvr>
                                      <p:to>
                                        <p:strVal val="visible"/>
                                      </p:to>
                                    </p:set>
                                    <p:animEffect transition="in" filter="fade">
                                      <p:cBhvr>
                                        <p:cTn id="98" dur="600"/>
                                        <p:tgtEl>
                                          <p:spTgt spid="29"/>
                                        </p:tgtEl>
                                      </p:cBhvr>
                                    </p:animEffect>
                                  </p:childTnLst>
                                </p:cTn>
                              </p:par>
                              <p:par>
                                <p:cTn id="99" presetID="10" presetClass="entr" presetSubtype="0" fill="hold" grpId="0" nodeType="withEffect">
                                  <p:stCondLst>
                                    <p:cond delay="300"/>
                                  </p:stCondLst>
                                  <p:childTnLst>
                                    <p:set>
                                      <p:cBhvr>
                                        <p:cTn id="100" dur="1" fill="hold">
                                          <p:stCondLst>
                                            <p:cond delay="0"/>
                                          </p:stCondLst>
                                        </p:cTn>
                                        <p:tgtEl>
                                          <p:spTgt spid="30"/>
                                        </p:tgtEl>
                                        <p:attrNameLst>
                                          <p:attrName>style.visibility</p:attrName>
                                        </p:attrNameLst>
                                      </p:cBhvr>
                                      <p:to>
                                        <p:strVal val="visible"/>
                                      </p:to>
                                    </p:set>
                                    <p:animEffect transition="in" filter="fade">
                                      <p:cBhvr>
                                        <p:cTn id="101" dur="600"/>
                                        <p:tgtEl>
                                          <p:spTgt spid="30"/>
                                        </p:tgtEl>
                                      </p:cBhvr>
                                    </p:animEffect>
                                  </p:childTnLst>
                                </p:cTn>
                              </p:par>
                              <p:par>
                                <p:cTn id="102" presetID="10" presetClass="entr" presetSubtype="0" fill="hold" grpId="0" nodeType="withEffect">
                                  <p:stCondLst>
                                    <p:cond delay="300"/>
                                  </p:stCondLst>
                                  <p:childTnLst>
                                    <p:set>
                                      <p:cBhvr>
                                        <p:cTn id="103" dur="1" fill="hold">
                                          <p:stCondLst>
                                            <p:cond delay="0"/>
                                          </p:stCondLst>
                                        </p:cTn>
                                        <p:tgtEl>
                                          <p:spTgt spid="31"/>
                                        </p:tgtEl>
                                        <p:attrNameLst>
                                          <p:attrName>style.visibility</p:attrName>
                                        </p:attrNameLst>
                                      </p:cBhvr>
                                      <p:to>
                                        <p:strVal val="visible"/>
                                      </p:to>
                                    </p:set>
                                    <p:animEffect transition="in" filter="fade">
                                      <p:cBhvr>
                                        <p:cTn id="104" dur="600"/>
                                        <p:tgtEl>
                                          <p:spTgt spid="31"/>
                                        </p:tgtEl>
                                      </p:cBhvr>
                                    </p:animEffect>
                                  </p:childTnLst>
                                </p:cTn>
                              </p:par>
                            </p:childTnLst>
                          </p:cTn>
                        </p:par>
                        <p:par>
                          <p:cTn id="105" fill="hold">
                            <p:stCondLst>
                              <p:cond delay="900"/>
                            </p:stCondLst>
                            <p:childTnLst>
                              <p:par>
                                <p:cTn id="106" presetID="42" presetClass="entr" presetSubtype="0" fill="hold" grpId="0" nodeType="afterEffect">
                                  <p:stCondLst>
                                    <p:cond delay="200"/>
                                  </p:stCondLst>
                                  <p:childTnLst>
                                    <p:set>
                                      <p:cBhvr>
                                        <p:cTn id="107" dur="1" fill="hold">
                                          <p:stCondLst>
                                            <p:cond delay="0"/>
                                          </p:stCondLst>
                                        </p:cTn>
                                        <p:tgtEl>
                                          <p:spTgt spid="32"/>
                                        </p:tgtEl>
                                        <p:attrNameLst>
                                          <p:attrName>style.visibility</p:attrName>
                                        </p:attrNameLst>
                                      </p:cBhvr>
                                      <p:to>
                                        <p:strVal val="visible"/>
                                      </p:to>
                                    </p:set>
                                    <p:anim calcmode="lin" valueType="num">
                                      <p:cBhvr additive="base">
                                        <p:cTn id="108" dur="550" fill="hold"/>
                                        <p:tgtEl>
                                          <p:spTgt spid="32"/>
                                        </p:tgtEl>
                                        <p:attrNameLst>
                                          <p:attrName>ppt_y</p:attrName>
                                        </p:attrNameLst>
                                      </p:cBhvr>
                                      <p:tavLst>
                                        <p:tav tm="0">
                                          <p:val>
                                            <p:strVal val="#ppt_y+.1"/>
                                          </p:val>
                                        </p:tav>
                                        <p:tav tm="100000">
                                          <p:val>
                                            <p:strVal val="#ppt_y"/>
                                          </p:val>
                                        </p:tav>
                                      </p:tavLst>
                                    </p:anim>
                                    <p:animEffect transition="in" filter="fade">
                                      <p:cBhvr>
                                        <p:cTn id="109" dur="550"/>
                                        <p:tgtEl>
                                          <p:spTgt spid="32"/>
                                        </p:tgtEl>
                                      </p:cBhvr>
                                    </p:animEffect>
                                  </p:childTnLst>
                                </p:cTn>
                              </p:par>
                              <p:par>
                                <p:cTn id="110" presetID="42" presetClass="entr" presetSubtype="0" fill="hold" grpId="0" nodeType="withEffect">
                                  <p:stCondLst>
                                    <p:cond delay="200"/>
                                  </p:stCondLst>
                                  <p:childTnLst>
                                    <p:set>
                                      <p:cBhvr>
                                        <p:cTn id="111" dur="1" fill="hold">
                                          <p:stCondLst>
                                            <p:cond delay="0"/>
                                          </p:stCondLst>
                                        </p:cTn>
                                        <p:tgtEl>
                                          <p:spTgt spid="33"/>
                                        </p:tgtEl>
                                        <p:attrNameLst>
                                          <p:attrName>style.visibility</p:attrName>
                                        </p:attrNameLst>
                                      </p:cBhvr>
                                      <p:to>
                                        <p:strVal val="visible"/>
                                      </p:to>
                                    </p:set>
                                    <p:anim calcmode="lin" valueType="num">
                                      <p:cBhvr additive="base">
                                        <p:cTn id="112" dur="550" fill="hold"/>
                                        <p:tgtEl>
                                          <p:spTgt spid="33"/>
                                        </p:tgtEl>
                                        <p:attrNameLst>
                                          <p:attrName>ppt_y</p:attrName>
                                        </p:attrNameLst>
                                      </p:cBhvr>
                                      <p:tavLst>
                                        <p:tav tm="0">
                                          <p:val>
                                            <p:strVal val="#ppt_y+.1"/>
                                          </p:val>
                                        </p:tav>
                                        <p:tav tm="100000">
                                          <p:val>
                                            <p:strVal val="#ppt_y"/>
                                          </p:val>
                                        </p:tav>
                                      </p:tavLst>
                                    </p:anim>
                                    <p:animEffect transition="in" filter="fade">
                                      <p:cBhvr>
                                        <p:cTn id="113" dur="550"/>
                                        <p:tgtEl>
                                          <p:spTgt spid="33"/>
                                        </p:tgtEl>
                                      </p:cBhvr>
                                    </p:animEffect>
                                  </p:childTnLst>
                                </p:cTn>
                              </p:par>
                              <p:par>
                                <p:cTn id="114" presetID="42" presetClass="entr" presetSubtype="0" fill="hold" grpId="0" nodeType="withEffect">
                                  <p:stCondLst>
                                    <p:cond delay="500"/>
                                  </p:stCondLst>
                                  <p:childTnLst>
                                    <p:set>
                                      <p:cBhvr>
                                        <p:cTn id="115" dur="1" fill="hold">
                                          <p:stCondLst>
                                            <p:cond delay="0"/>
                                          </p:stCondLst>
                                        </p:cTn>
                                        <p:tgtEl>
                                          <p:spTgt spid="34"/>
                                        </p:tgtEl>
                                        <p:attrNameLst>
                                          <p:attrName>style.visibility</p:attrName>
                                        </p:attrNameLst>
                                      </p:cBhvr>
                                      <p:to>
                                        <p:strVal val="visible"/>
                                      </p:to>
                                    </p:set>
                                    <p:anim calcmode="lin" valueType="num">
                                      <p:cBhvr additive="base">
                                        <p:cTn id="116" dur="550" fill="hold"/>
                                        <p:tgtEl>
                                          <p:spTgt spid="34"/>
                                        </p:tgtEl>
                                        <p:attrNameLst>
                                          <p:attrName>ppt_y</p:attrName>
                                        </p:attrNameLst>
                                      </p:cBhvr>
                                      <p:tavLst>
                                        <p:tav tm="0">
                                          <p:val>
                                            <p:strVal val="#ppt_y+.1"/>
                                          </p:val>
                                        </p:tav>
                                        <p:tav tm="100000">
                                          <p:val>
                                            <p:strVal val="#ppt_y"/>
                                          </p:val>
                                        </p:tav>
                                      </p:tavLst>
                                    </p:anim>
                                    <p:animEffect transition="in" filter="fade">
                                      <p:cBhvr>
                                        <p:cTn id="117" dur="550"/>
                                        <p:tgtEl>
                                          <p:spTgt spid="34"/>
                                        </p:tgtEl>
                                      </p:cBhvr>
                                    </p:animEffect>
                                  </p:childTnLst>
                                </p:cTn>
                              </p:par>
                              <p:par>
                                <p:cTn id="118" presetID="42" presetClass="entr" presetSubtype="0" fill="hold" grpId="0" nodeType="withEffect">
                                  <p:stCondLst>
                                    <p:cond delay="500"/>
                                  </p:stCondLst>
                                  <p:childTnLst>
                                    <p:set>
                                      <p:cBhvr>
                                        <p:cTn id="119" dur="1" fill="hold">
                                          <p:stCondLst>
                                            <p:cond delay="0"/>
                                          </p:stCondLst>
                                        </p:cTn>
                                        <p:tgtEl>
                                          <p:spTgt spid="35"/>
                                        </p:tgtEl>
                                        <p:attrNameLst>
                                          <p:attrName>style.visibility</p:attrName>
                                        </p:attrNameLst>
                                      </p:cBhvr>
                                      <p:to>
                                        <p:strVal val="visible"/>
                                      </p:to>
                                    </p:set>
                                    <p:anim calcmode="lin" valueType="num">
                                      <p:cBhvr additive="base">
                                        <p:cTn id="120" dur="550" fill="hold"/>
                                        <p:tgtEl>
                                          <p:spTgt spid="35"/>
                                        </p:tgtEl>
                                        <p:attrNameLst>
                                          <p:attrName>ppt_y</p:attrName>
                                        </p:attrNameLst>
                                      </p:cBhvr>
                                      <p:tavLst>
                                        <p:tav tm="0">
                                          <p:val>
                                            <p:strVal val="#ppt_y+.1"/>
                                          </p:val>
                                        </p:tav>
                                        <p:tav tm="100000">
                                          <p:val>
                                            <p:strVal val="#ppt_y"/>
                                          </p:val>
                                        </p:tav>
                                      </p:tavLst>
                                    </p:anim>
                                    <p:animEffect transition="in" filter="fade">
                                      <p:cBhvr>
                                        <p:cTn id="121" dur="550"/>
                                        <p:tgtEl>
                                          <p:spTgt spid="35"/>
                                        </p:tgtEl>
                                      </p:cBhvr>
                                    </p:animEffect>
                                  </p:childTnLst>
                                </p:cTn>
                              </p:par>
                              <p:par>
                                <p:cTn id="122" presetID="42" presetClass="entr" presetSubtype="0" fill="hold" grpId="0" nodeType="withEffect">
                                  <p:stCondLst>
                                    <p:cond delay="800"/>
                                  </p:stCondLst>
                                  <p:childTnLst>
                                    <p:set>
                                      <p:cBhvr>
                                        <p:cTn id="123" dur="1" fill="hold">
                                          <p:stCondLst>
                                            <p:cond delay="0"/>
                                          </p:stCondLst>
                                        </p:cTn>
                                        <p:tgtEl>
                                          <p:spTgt spid="36"/>
                                        </p:tgtEl>
                                        <p:attrNameLst>
                                          <p:attrName>style.visibility</p:attrName>
                                        </p:attrNameLst>
                                      </p:cBhvr>
                                      <p:to>
                                        <p:strVal val="visible"/>
                                      </p:to>
                                    </p:set>
                                    <p:anim calcmode="lin" valueType="num">
                                      <p:cBhvr additive="base">
                                        <p:cTn id="124" dur="550" fill="hold"/>
                                        <p:tgtEl>
                                          <p:spTgt spid="36"/>
                                        </p:tgtEl>
                                        <p:attrNameLst>
                                          <p:attrName>ppt_y</p:attrName>
                                        </p:attrNameLst>
                                      </p:cBhvr>
                                      <p:tavLst>
                                        <p:tav tm="0">
                                          <p:val>
                                            <p:strVal val="#ppt_y+.1"/>
                                          </p:val>
                                        </p:tav>
                                        <p:tav tm="100000">
                                          <p:val>
                                            <p:strVal val="#ppt_y"/>
                                          </p:val>
                                        </p:tav>
                                      </p:tavLst>
                                    </p:anim>
                                    <p:animEffect transition="in" filter="fade">
                                      <p:cBhvr>
                                        <p:cTn id="125" dur="550"/>
                                        <p:tgtEl>
                                          <p:spTgt spid="36"/>
                                        </p:tgtEl>
                                      </p:cBhvr>
                                    </p:animEffect>
                                  </p:childTnLst>
                                </p:cTn>
                              </p:par>
                              <p:par>
                                <p:cTn id="126" presetID="42" presetClass="entr" presetSubtype="0" fill="hold" grpId="0" nodeType="withEffect">
                                  <p:stCondLst>
                                    <p:cond delay="800"/>
                                  </p:stCondLst>
                                  <p:childTnLst>
                                    <p:set>
                                      <p:cBhvr>
                                        <p:cTn id="127" dur="1" fill="hold">
                                          <p:stCondLst>
                                            <p:cond delay="0"/>
                                          </p:stCondLst>
                                        </p:cTn>
                                        <p:tgtEl>
                                          <p:spTgt spid="37"/>
                                        </p:tgtEl>
                                        <p:attrNameLst>
                                          <p:attrName>style.visibility</p:attrName>
                                        </p:attrNameLst>
                                      </p:cBhvr>
                                      <p:to>
                                        <p:strVal val="visible"/>
                                      </p:to>
                                    </p:set>
                                    <p:anim calcmode="lin" valueType="num">
                                      <p:cBhvr additive="base">
                                        <p:cTn id="128" dur="550" fill="hold"/>
                                        <p:tgtEl>
                                          <p:spTgt spid="37"/>
                                        </p:tgtEl>
                                        <p:attrNameLst>
                                          <p:attrName>ppt_y</p:attrName>
                                        </p:attrNameLst>
                                      </p:cBhvr>
                                      <p:tavLst>
                                        <p:tav tm="0">
                                          <p:val>
                                            <p:strVal val="#ppt_y+.1"/>
                                          </p:val>
                                        </p:tav>
                                        <p:tav tm="100000">
                                          <p:val>
                                            <p:strVal val="#ppt_y"/>
                                          </p:val>
                                        </p:tav>
                                      </p:tavLst>
                                    </p:anim>
                                    <p:animEffect transition="in" filter="fade">
                                      <p:cBhvr>
                                        <p:cTn id="129" dur="550"/>
                                        <p:tgtEl>
                                          <p:spTgt spid="37"/>
                                        </p:tgtEl>
                                      </p:cBhvr>
                                    </p:animEffect>
                                  </p:childTnLst>
                                </p:cTn>
                              </p:par>
                              <p:par>
                                <p:cTn id="130" presetID="42" presetClass="entr" presetSubtype="0" fill="hold" grpId="0" nodeType="withEffect">
                                  <p:stCondLst>
                                    <p:cond delay="1100"/>
                                  </p:stCondLst>
                                  <p:childTnLst>
                                    <p:set>
                                      <p:cBhvr>
                                        <p:cTn id="131" dur="1" fill="hold">
                                          <p:stCondLst>
                                            <p:cond delay="0"/>
                                          </p:stCondLst>
                                        </p:cTn>
                                        <p:tgtEl>
                                          <p:spTgt spid="38"/>
                                        </p:tgtEl>
                                        <p:attrNameLst>
                                          <p:attrName>style.visibility</p:attrName>
                                        </p:attrNameLst>
                                      </p:cBhvr>
                                      <p:to>
                                        <p:strVal val="visible"/>
                                      </p:to>
                                    </p:set>
                                    <p:anim calcmode="lin" valueType="num">
                                      <p:cBhvr additive="base">
                                        <p:cTn id="132" dur="550" fill="hold"/>
                                        <p:tgtEl>
                                          <p:spTgt spid="38"/>
                                        </p:tgtEl>
                                        <p:attrNameLst>
                                          <p:attrName>ppt_y</p:attrName>
                                        </p:attrNameLst>
                                      </p:cBhvr>
                                      <p:tavLst>
                                        <p:tav tm="0">
                                          <p:val>
                                            <p:strVal val="#ppt_y+.1"/>
                                          </p:val>
                                        </p:tav>
                                        <p:tav tm="100000">
                                          <p:val>
                                            <p:strVal val="#ppt_y"/>
                                          </p:val>
                                        </p:tav>
                                      </p:tavLst>
                                    </p:anim>
                                    <p:animEffect transition="in" filter="fade">
                                      <p:cBhvr>
                                        <p:cTn id="133" dur="550"/>
                                        <p:tgtEl>
                                          <p:spTgt spid="38"/>
                                        </p:tgtEl>
                                      </p:cBhvr>
                                    </p:animEffect>
                                  </p:childTnLst>
                                </p:cTn>
                              </p:par>
                              <p:par>
                                <p:cTn id="134" presetID="42" presetClass="entr" presetSubtype="0" fill="hold" grpId="0" nodeType="withEffect">
                                  <p:stCondLst>
                                    <p:cond delay="1100"/>
                                  </p:stCondLst>
                                  <p:childTnLst>
                                    <p:set>
                                      <p:cBhvr>
                                        <p:cTn id="135" dur="1" fill="hold">
                                          <p:stCondLst>
                                            <p:cond delay="0"/>
                                          </p:stCondLst>
                                        </p:cTn>
                                        <p:tgtEl>
                                          <p:spTgt spid="39"/>
                                        </p:tgtEl>
                                        <p:attrNameLst>
                                          <p:attrName>style.visibility</p:attrName>
                                        </p:attrNameLst>
                                      </p:cBhvr>
                                      <p:to>
                                        <p:strVal val="visible"/>
                                      </p:to>
                                    </p:set>
                                    <p:anim calcmode="lin" valueType="num">
                                      <p:cBhvr additive="base">
                                        <p:cTn id="136" dur="550" fill="hold"/>
                                        <p:tgtEl>
                                          <p:spTgt spid="39"/>
                                        </p:tgtEl>
                                        <p:attrNameLst>
                                          <p:attrName>ppt_y</p:attrName>
                                        </p:attrNameLst>
                                      </p:cBhvr>
                                      <p:tavLst>
                                        <p:tav tm="0">
                                          <p:val>
                                            <p:strVal val="#ppt_y+.1"/>
                                          </p:val>
                                        </p:tav>
                                        <p:tav tm="100000">
                                          <p:val>
                                            <p:strVal val="#ppt_y"/>
                                          </p:val>
                                        </p:tav>
                                      </p:tavLst>
                                    </p:anim>
                                    <p:animEffect transition="in" filter="fade">
                                      <p:cBhvr>
                                        <p:cTn id="137" dur="550"/>
                                        <p:tgtEl>
                                          <p:spTgt spid="39"/>
                                        </p:tgtEl>
                                      </p:cBhvr>
                                    </p:animEffect>
                                  </p:childTnLst>
                                </p:cTn>
                              </p:par>
                              <p:par>
                                <p:cTn id="138" presetID="22" presetClass="entr" presetSubtype="8" fill="hold" grpId="0" nodeType="withEffect">
                                  <p:stCondLst>
                                    <p:cond delay="600"/>
                                  </p:stCondLst>
                                  <p:childTnLst>
                                    <p:set>
                                      <p:cBhvr>
                                        <p:cTn id="139" dur="1" fill="hold">
                                          <p:stCondLst>
                                            <p:cond delay="0"/>
                                          </p:stCondLst>
                                        </p:cTn>
                                        <p:tgtEl>
                                          <p:spTgt spid="47"/>
                                        </p:tgtEl>
                                        <p:attrNameLst>
                                          <p:attrName>style.visibility</p:attrName>
                                        </p:attrNameLst>
                                      </p:cBhvr>
                                      <p:to>
                                        <p:strVal val="visible"/>
                                      </p:to>
                                    </p:set>
                                    <p:animEffect transition="in" filter="wipe(left)">
                                      <p:cBhvr>
                                        <p:cTn id="140" dur="1100"/>
                                        <p:tgtEl>
                                          <p:spTgt spid="47"/>
                                        </p:tgtEl>
                                      </p:cBhvr>
                                    </p:animEffect>
                                  </p:childTnLst>
                                </p:cTn>
                              </p:par>
                              <p:par>
                                <p:cTn id="142" presetID="0" presetClass="path" presetSubtype="0" fill="hold" accel="30000" decel="30000" nodeType="withEffect">
                                  <p:stCondLst>
                                    <p:cond delay="600"/>
                                  </p:stCondLst>
                                  <p:childTnLst>
                                    <p:animMotion origin="layout" path="M 0 0 L 0.02017 0 E" pathEditMode="relative" rAng="0" ptsTypes="AA">
                                      <p:cBhvr>
                                        <p:cTn id="141" dur="1100" fill="hold"/>
                                        <p:tgtEl>
                                          <p:spTgt spid="48"/>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3" name="trail1" descr="Dashed flight route">    </p:cNvPr>
          <p:cNvPicPr>
            <a:picLocks noChangeAspect="1"/>
          </p:cNvPicPr>
          <p:nvPr/>
        </p:nvPicPr>
        <p:blipFill>
          <a:blip r:embed="rId1"/>
          <a:stretch>
            <a:fillRect/>
          </a:stretch>
        </p:blipFill>
        <p:spPr>
          <a:xfrm>
            <a:off x="0" y="2706826"/>
            <a:ext cx="12191695" cy="1875556"/>
          </a:xfrm>
          <a:prstGeom prst="rect">
            <a:avLst/>
          </a:prstGeom>
        </p:spPr>
      </p:pic>
      <p:pic>
        <p:nvPicPr>
          <p:cNvPr id="4" name="!!plane" descr="Airplane">    </p:cNvPr>
          <p:cNvPicPr>
            <a:picLocks noChangeAspect="1"/>
          </p:cNvPicPr>
          <p:nvPr/>
        </p:nvPicPr>
        <p:blipFill>
          <a:blip r:embed="rId2"/>
          <a:stretch>
            <a:fillRect/>
          </a:stretch>
        </p:blipFill>
        <p:spPr>
          <a:xfrm rot="19751913">
            <a:off x="-2560320" y="4561713"/>
            <a:ext cx="1463040" cy="1300734"/>
          </a:xfrm>
          <a:prstGeom prst="rect">
            <a:avLst/>
          </a:prstGeom>
        </p:spPr>
      </p:pic>
      <p:sp>
        <p:nvSpPr>
          <p:cNvPr id="5" name="kicker"/>
          <p:cNvSpPr txBox="1"/>
          <p:nvPr/>
        </p:nvSpPr>
        <p:spPr>
          <a:xfrm>
            <a:off x="868680" y="2148840"/>
            <a:ext cx="3657600" cy="365760"/>
          </a:xfrm>
          <a:prstGeom prst="rect">
            <a:avLst/>
          </a:prstGeom>
          <a:noFill/>
          <a:ln/>
        </p:spPr>
        <p:txBody>
          <a:bodyPr wrap="square" lIns="0" tIns="0" rIns="0" bIns="0" rtlCol="0" anchor="t"/>
          <a:lstStyle/>
          <a:p>
            <a:pPr algn="l" indent="0" marL="0">
              <a:buNone/>
            </a:pPr>
            <a:r>
              <a:rPr lang="en-US" sz="1800" b="1" spc="600" kern="0" dirty="0">
                <a:solidFill>
                  <a:schemeClr val="accent3"/>
                </a:solidFill>
              </a:rPr>
              <a:t>PART 02</a:t>
            </a:r>
            <a:endParaRPr lang="en-US" sz="1800" dirty="0"/>
          </a:p>
        </p:txBody>
      </p:sp>
      <p:sp>
        <p:nvSpPr>
          <p:cNvPr id="6" name="hero"/>
          <p:cNvSpPr txBox="1"/>
          <p:nvPr/>
        </p:nvSpPr>
        <p:spPr>
          <a:xfrm>
            <a:off x="822960" y="2514600"/>
            <a:ext cx="10058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mj-lt" pitchFamily="34" charset="0"/>
                <a:ea typeface="+mj-lt" pitchFamily="34" charset="-122"/>
                <a:cs typeface="+mj-lt" pitchFamily="34" charset="-120"/>
              </a:rPr>
              <a:t>Solution and design</a:t>
            </a:r>
            <a:endParaRPr lang="en-US" sz="6600" dirty="0"/>
          </a:p>
        </p:txBody>
      </p:sp>
      <p:sp>
        <p:nvSpPr>
          <p:cNvPr id="7" name="sub"/>
          <p:cNvSpPr txBox="1"/>
          <p:nvPr/>
        </p:nvSpPr>
        <p:spPr>
          <a:xfrm>
            <a:off x="868680" y="3749040"/>
            <a:ext cx="8229600" cy="548640"/>
          </a:xfrm>
          <a:prstGeom prst="rect">
            <a:avLst/>
          </a:prstGeom>
          <a:noFill/>
          <a:ln/>
        </p:spPr>
        <p:txBody>
          <a:bodyPr wrap="square" lIns="0" tIns="0" rIns="0" bIns="0" rtlCol="0" anchor="t"/>
          <a:lstStyle/>
          <a:p>
            <a:pPr algn="l" indent="0" marL="0">
              <a:buNone/>
            </a:pPr>
            <a:r>
              <a:rPr lang="en-US" sz="2400" dirty="0">
                <a:solidFill>
                  <a:schemeClr val="bg1"/>
                </a:solidFill>
              </a:rPr>
              <a:t>From a raw API response to a trustworthy analytics core</a:t>
            </a:r>
            <a:endParaRPr lang="en-US" sz="2400" dirty="0"/>
          </a:p>
        </p:txBody>
      </p:sp>
      <p:pic>
        <p:nvPicPr>
          <p:cNvPr id="8" name="cloud2" descr="Cloud">    </p:cNvPr>
          <p:cNvPicPr>
            <a:picLocks noChangeAspect="1"/>
          </p:cNvPicPr>
          <p:nvPr/>
        </p:nvPicPr>
        <p:blipFill>
          <a:blip r:embed="rId3"/>
          <a:stretch>
            <a:fillRect/>
          </a:stretch>
        </p:blipFill>
        <p:spPr>
          <a:xfrm>
            <a:off x="5486400" y="3200400"/>
            <a:ext cx="4937760" cy="2073859"/>
          </a:xfrm>
          <a:prstGeom prst="rect">
            <a:avLst/>
          </a:prstGeom>
        </p:spPr>
      </p:pic>
      <p:pic>
        <p:nvPicPr>
          <p:cNvPr id="9" name="cloud3" descr="Cloud">    </p:cNvPr>
          <p:cNvPicPr>
            <a:picLocks noChangeAspect="1"/>
          </p:cNvPicPr>
          <p:nvPr/>
        </p:nvPicPr>
        <p:blipFill>
          <a:blip r:embed="rId4"/>
          <a:stretch>
            <a:fillRect/>
          </a:stretch>
        </p:blipFill>
        <p:spPr>
          <a:xfrm>
            <a:off x="-457200" y="5394960"/>
            <a:ext cx="5120640" cy="2150669"/>
          </a:xfrm>
          <a:prstGeom prst="rect">
            <a:avLst/>
          </a:prstGeom>
        </p:spPr>
      </p:pic>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accel="25000" decel="15000" nodeType="withEffect">
                                  <p:stCondLst>
                                    <p:cond delay="1292"/>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4628"/>
                                        <p:tgtEl>
                                          <p:spTgt spid="3"/>
                                        </p:tgtEl>
                                      </p:cBhvr>
                                    </p:animEffect>
                                  </p:childTnLst>
                                </p:cTn>
                              </p:par>
                              <p:par>
                                <p:cTn id="9" presetID="0" presetClass="path" presetSubtype="0" fill="hold" accel="25000" decel="15000" nodeType="withEffect">
                                  <p:stCondLst>
                                    <p:cond delay="500"/>
                                  </p:stCondLst>
                                  <p:childTnLst>
                                    <p:animMotion origin="layout" path="M 0 0 C 0.39001 -0.41333 0.78002 0.09333 1.33503 -0.50667 E" pathEditMode="relative" rAng="0" ptsTypes="AAAA">
                                      <p:cBhvr>
                                        <p:cTn id="8" dur="5200" fill="hold"/>
                                        <p:tgtEl>
                                          <p:spTgt spid="4"/>
                                        </p:tgtEl>
                                        <p:attrNameLst>
                                          <p:attrName>ppt_x</p:attrName>
                                          <p:attrName>ppt_y</p:attrName>
                                        </p:attrNameLst>
                                      </p:cBhvr>
                                      <p:rCtr x="0.66752" y="-0.25333"/>
                                    </p:animMotion>
                                  </p:childTnLst>
                                </p:cTn>
                              </p:par>
                              <p:par>
                                <p:cTn id="11" presetID="8" presetClass="emph" presetSubtype="0" fill="hold" nodeType="withEffect">
                                  <p:stCondLst>
                                    <p:cond delay="500"/>
                                  </p:stCondLst>
                                  <p:childTnLst>
                                    <p:animRot by="1063200">
                                      <p:cBhvr>
                                        <p:cTn id="10" dur="867" fill="hold"/>
                                        <p:tgtEl>
                                          <p:spTgt spid="4"/>
                                        </p:tgtEl>
                                        <p:attrNameLst>
                                          <p:attrName>r</p:attrName>
                                        </p:attrNameLst>
                                      </p:cBhvr>
                                    </p:animRot>
                                  </p:childTnLst>
                                </p:cTn>
                              </p:par>
                              <p:par>
                                <p:cTn id="13" presetID="8" presetClass="emph" presetSubtype="0" fill="hold" nodeType="withEffect">
                                  <p:stCondLst>
                                    <p:cond delay="1367"/>
                                  </p:stCondLst>
                                  <p:childTnLst>
                                    <p:animRot by="665400">
                                      <p:cBhvr>
                                        <p:cTn id="12" dur="867" fill="hold"/>
                                        <p:tgtEl>
                                          <p:spTgt spid="4"/>
                                        </p:tgtEl>
                                        <p:attrNameLst>
                                          <p:attrName>r</p:attrName>
                                        </p:attrNameLst>
                                      </p:cBhvr>
                                    </p:animRot>
                                  </p:childTnLst>
                                </p:cTn>
                              </p:par>
                              <p:par>
                                <p:cTn id="15" presetID="8" presetClass="emph" presetSubtype="0" fill="hold" nodeType="withEffect">
                                  <p:stCondLst>
                                    <p:cond delay="2233"/>
                                  </p:stCondLst>
                                  <p:childTnLst>
                                    <p:animRot by="119400">
                                      <p:cBhvr>
                                        <p:cTn id="14" dur="867" fill="hold"/>
                                        <p:tgtEl>
                                          <p:spTgt spid="4"/>
                                        </p:tgtEl>
                                        <p:attrNameLst>
                                          <p:attrName>r</p:attrName>
                                        </p:attrNameLst>
                                      </p:cBhvr>
                                    </p:animRot>
                                  </p:childTnLst>
                                </p:cTn>
                              </p:par>
                              <p:par>
                                <p:cTn id="17" presetID="8" presetClass="emph" presetSubtype="0" fill="hold" nodeType="withEffect">
                                  <p:stCondLst>
                                    <p:cond delay="3100"/>
                                  </p:stCondLst>
                                  <p:childTnLst>
                                    <p:animRot by="-363600">
                                      <p:cBhvr>
                                        <p:cTn id="16" dur="867" fill="hold"/>
                                        <p:tgtEl>
                                          <p:spTgt spid="4"/>
                                        </p:tgtEl>
                                        <p:attrNameLst>
                                          <p:attrName>r</p:attrName>
                                        </p:attrNameLst>
                                      </p:cBhvr>
                                    </p:animRot>
                                  </p:childTnLst>
                                </p:cTn>
                              </p:par>
                              <p:par>
                                <p:cTn id="19" presetID="8" presetClass="emph" presetSubtype="0" fill="hold" nodeType="withEffect">
                                  <p:stCondLst>
                                    <p:cond delay="3967"/>
                                  </p:stCondLst>
                                  <p:childTnLst>
                                    <p:animRot by="-702600">
                                      <p:cBhvr>
                                        <p:cTn id="18" dur="867" fill="hold"/>
                                        <p:tgtEl>
                                          <p:spTgt spid="4"/>
                                        </p:tgtEl>
                                        <p:attrNameLst>
                                          <p:attrName>r</p:attrName>
                                        </p:attrNameLst>
                                      </p:cBhvr>
                                    </p:animRot>
                                  </p:childTnLst>
                                </p:cTn>
                              </p:par>
                              <p:par>
                                <p:cTn id="21" presetID="8" presetClass="emph" presetSubtype="0" fill="hold" nodeType="withEffect">
                                  <p:stCondLst>
                                    <p:cond delay="4833"/>
                                  </p:stCondLst>
                                  <p:childTnLst>
                                    <p:animRot by="-812400">
                                      <p:cBhvr>
                                        <p:cTn id="20" dur="867" fill="hold"/>
                                        <p:tgtEl>
                                          <p:spTgt spid="4"/>
                                        </p:tgtEl>
                                        <p:attrNameLst>
                                          <p:attrName>r</p:attrName>
                                        </p:attrNameLst>
                                      </p:cBhvr>
                                    </p:animRot>
                                  </p:childTnLst>
                                </p:cTn>
                              </p:par>
                              <p:par>
                                <p:cTn id="23" presetID="6" presetClass="emph" presetSubtype="0" fill="hold" accel="25000" decel="15000" nodeType="withEffect">
                                  <p:stCondLst>
                                    <p:cond delay="500"/>
                                  </p:stCondLst>
                                  <p:childTnLst>
                                    <p:animScale>
                                      <p:cBhvr>
                                        <p:cTn id="22" dur="5200" fill="hold"/>
                                        <p:tgtEl>
                                          <p:spTgt spid="4"/>
                                        </p:tgtEl>
                                      </p:cBhvr>
                                      <p:by x="120000" y="120000"/>
                                    </p:animScale>
                                  </p:childTnLst>
                                </p:cTn>
                              </p:par>
                              <p:par>
                                <p:cTn id="25" presetID="0" presetClass="path" presetSubtype="0" fill="hold" nodeType="withEffect">
                                  <p:stCondLst>
                                    <p:cond delay="0"/>
                                  </p:stCondLst>
                                  <p:childTnLst>
                                    <p:animMotion origin="layout" path="M 0 0 L -0.06 0 E" pathEditMode="relative" rAng="0" ptsTypes="AA">
                                      <p:cBhvr>
                                        <p:cTn id="24" dur="12000" fill="hold"/>
                                        <p:tgtEl>
                                          <p:spTgt spid="8"/>
                                        </p:tgtEl>
                                        <p:attrNameLst>
                                          <p:attrName>ppt_x</p:attrName>
                                          <p:attrName>ppt_y</p:attrName>
                                        </p:attrNameLst>
                                      </p:cBhvr>
                                      <p:rCtr x="-0.03" y="0"/>
                                    </p:animMotion>
                                  </p:childTnLst>
                                </p:cTn>
                              </p:par>
                              <p:par>
                                <p:cTn id="27" presetID="0" presetClass="path" presetSubtype="0" fill="hold" nodeType="withEffect">
                                  <p:stCondLst>
                                    <p:cond delay="0"/>
                                  </p:stCondLst>
                                  <p:childTnLst>
                                    <p:animMotion origin="layout" path="M 0 0 L 0.0675 0 E" pathEditMode="relative" rAng="0" ptsTypes="AA">
                                      <p:cBhvr>
                                        <p:cTn id="26" dur="12000" fill="hold"/>
                                        <p:tgtEl>
                                          <p:spTgt spid="9"/>
                                        </p:tgtEl>
                                        <p:attrNameLst>
                                          <p:attrName>ppt_x</p:attrName>
                                          <p:attrName>ppt_y</p:attrName>
                                        </p:attrNameLst>
                                      </p:cBhvr>
                                      <p:rCtr x="0.03375" y="0"/>
                                    </p:animMotion>
                                  </p:childTnLst>
                                </p:cTn>
                              </p:par>
                              <p:par>
                                <p:cTn id="28" presetID="10" presetClass="entr" presetSubtype="0" fill="hold" grpId="0" nodeType="withEffect">
                                  <p:stCondLst>
                                    <p:cond delay="2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700"/>
                                        <p:tgtEl>
                                          <p:spTgt spid="5"/>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1100"/>
                                        <p:tgtEl>
                                          <p:spTgt spid="6"/>
                                        </p:tgtEl>
                                      </p:cBhvr>
                                    </p:animEffect>
                                  </p:childTnLst>
                                </p:cTn>
                              </p:par>
                              <p:par>
                                <p:cTn id="34" presetID="42" presetClass="entr" presetSubtype="0" fill="hold" grpId="0" nodeType="withEffect">
                                  <p:stCondLst>
                                    <p:cond delay="140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800" fill="hold"/>
                                        <p:tgtEl>
                                          <p:spTgt spid="7"/>
                                        </p:tgtEl>
                                        <p:attrNameLst>
                                          <p:attrName>ppt_y</p:attrName>
                                        </p:attrNameLst>
                                      </p:cBhvr>
                                      <p:tavLst>
                                        <p:tav tm="0">
                                          <p:val>
                                            <p:strVal val="#ppt_y+.1"/>
                                          </p:val>
                                        </p:tav>
                                        <p:tav tm="100000">
                                          <p:val>
                                            <p:strVal val="#ppt_y"/>
                                          </p:val>
                                        </p:tav>
                                      </p:tavLst>
                                    </p:anim>
                                    <p:animEffect transition="in" filter="fade">
                                      <p:cBhvr>
                                        <p:cTn id="3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One pipeline, six stages</a:t>
            </a:r>
            <a:endParaRPr lang="en-US" sz="3600" dirty="0"/>
          </a:p>
        </p:txBody>
      </p:sp>
      <p:sp>
        <p:nvSpPr>
          <p:cNvPr id="5" name="!!st_api"/>
          <p:cNvSpPr txBox="1"/>
          <p:nvPr/>
        </p:nvSpPr>
        <p:spPr>
          <a:xfrm>
            <a:off x="548640" y="1828800"/>
            <a:ext cx="1691640" cy="2514600"/>
          </a:xfrm>
          <a:prstGeom prst="roundRect">
            <a:avLst>
              <a:gd name="adj" fmla="val 6486"/>
            </a:avLst>
          </a:prstGeom>
          <a:solidFill>
            <a:schemeClr val="bg1">
              <a:alpha val="9000"/>
            </a:schemeClr>
          </a:solidFill>
          <a:ln w="9525">
            <a:solidFill>
              <a:schemeClr val="accent1">
                <a:alpha val="65000"/>
              </a:schemeClr>
            </a:solidFill>
          </a:ln>
        </p:spPr>
        <p:txBody>
          <a:bodyPr wrap="square" lIns="152400" tIns="152400" rIns="152400" bIns="127000" rtlCol="0" anchor="t"/>
          <a:lstStyle/>
          <a:p>
            <a:pPr algn="l" indent="0" marL="0">
              <a:buNone/>
            </a:pPr>
            <a:r>
              <a:rPr lang="en-US" sz="1400" b="1" dirty="0">
                <a:solidFill>
                  <a:schemeClr val="accent1"/>
                </a:solidFill>
              </a:rPr>
              <a:t>01</a:t>
            </a:r>
            <a:endParaRPr lang="en-US" sz="1400" dirty="0"/>
          </a:p>
          <a:p>
            <a:pPr algn="l" indent="0" marL="0">
              <a:buNone/>
            </a:pPr>
            <a:r>
              <a:rPr lang="en-US" sz="2000" b="1" dirty="0">
                <a:solidFill>
                  <a:schemeClr val="bg1"/>
                </a:solidFill>
              </a:rPr>
              <a:t>Source</a:t>
            </a:r>
            <a:endParaRPr lang="en-US" sz="1400" dirty="0"/>
          </a:p>
          <a:p>
            <a:pPr algn="l" indent="0" marL="0">
              <a:buNone/>
            </a:pPr>
            <a:r>
              <a:rPr lang="en-US" sz="1400" dirty="0">
                <a:solidFill>
                  <a:schemeClr val="bg2"/>
                </a:solidFill>
              </a:rPr>
              <a:t>AviationStack</a:t>
            </a:r>
            <a:endParaRPr lang="en-US" sz="1400" dirty="0"/>
          </a:p>
          <a:p>
            <a:pPr algn="l" indent="0" marL="0">
              <a:buNone/>
            </a:pPr>
            <a:r>
              <a:rPr lang="en-US" sz="1400" dirty="0">
                <a:solidFill>
                  <a:schemeClr val="bg2"/>
                </a:solidFill>
              </a:rPr>
              <a:t>/v1/flights</a:t>
            </a:r>
            <a:endParaRPr lang="en-US" sz="1400" dirty="0"/>
          </a:p>
        </p:txBody>
      </p:sp>
      <p:sp>
        <p:nvSpPr>
          <p:cNvPr id="6" name="ar0"/>
          <p:cNvSpPr/>
          <p:nvPr/>
        </p:nvSpPr>
        <p:spPr>
          <a:xfrm>
            <a:off x="2258568" y="3081528"/>
            <a:ext cx="146304" cy="0"/>
          </a:xfrm>
          <a:prstGeom prst="line">
            <a:avLst/>
          </a:prstGeom>
          <a:noFill/>
          <a:ln w="22225">
            <a:solidFill>
              <a:schemeClr val="bg1"/>
            </a:solidFill>
            <a:prstDash val="solid"/>
            <a:tailEnd type="triangle"/>
          </a:ln>
        </p:spPr>
      </p:sp>
      <p:sp>
        <p:nvSpPr>
          <p:cNvPr id="7" name="!!st_valid"/>
          <p:cNvSpPr txBox="1"/>
          <p:nvPr/>
        </p:nvSpPr>
        <p:spPr>
          <a:xfrm>
            <a:off x="2423160" y="1828800"/>
            <a:ext cx="1691640" cy="2514600"/>
          </a:xfrm>
          <a:prstGeom prst="roundRect">
            <a:avLst>
              <a:gd name="adj" fmla="val 6486"/>
            </a:avLst>
          </a:prstGeom>
          <a:solidFill>
            <a:schemeClr val="bg1">
              <a:alpha val="9000"/>
            </a:schemeClr>
          </a:solidFill>
          <a:ln w="9525">
            <a:solidFill>
              <a:schemeClr val="accent4">
                <a:alpha val="65000"/>
              </a:schemeClr>
            </a:solidFill>
          </a:ln>
        </p:spPr>
        <p:txBody>
          <a:bodyPr wrap="square" lIns="152400" tIns="152400" rIns="152400" bIns="127000" rtlCol="0" anchor="t"/>
          <a:lstStyle/>
          <a:p>
            <a:pPr algn="l" indent="0" marL="0">
              <a:buNone/>
            </a:pPr>
            <a:r>
              <a:rPr lang="en-US" sz="1400" b="1" dirty="0">
                <a:solidFill>
                  <a:schemeClr val="accent4"/>
                </a:solidFill>
              </a:rPr>
              <a:t>02</a:t>
            </a:r>
            <a:endParaRPr lang="en-US" sz="1400" dirty="0"/>
          </a:p>
          <a:p>
            <a:pPr algn="l" indent="0" marL="0">
              <a:buNone/>
            </a:pPr>
            <a:r>
              <a:rPr lang="en-US" sz="2000" b="1" dirty="0">
                <a:solidFill>
                  <a:schemeClr val="bg1"/>
                </a:solidFill>
              </a:rPr>
              <a:t>Validate</a:t>
            </a:r>
            <a:endParaRPr lang="en-US" sz="1400" dirty="0"/>
          </a:p>
          <a:p>
            <a:pPr algn="l" indent="0" marL="0">
              <a:buNone/>
            </a:pPr>
            <a:r>
              <a:rPr lang="en-US" sz="1400" dirty="0">
                <a:solidFill>
                  <a:schemeClr val="bg2"/>
                </a:solidFill>
              </a:rPr>
              <a:t>Pydantic models</a:t>
            </a:r>
            <a:endParaRPr lang="en-US" sz="1400" dirty="0"/>
          </a:p>
          <a:p>
            <a:pPr algn="l" indent="0" marL="0">
              <a:buNone/>
            </a:pPr>
            <a:r>
              <a:rPr lang="en-US" sz="1400" dirty="0">
                <a:solidFill>
                  <a:schemeClr val="bg2"/>
                </a:solidFill>
              </a:rPr>
              <a:t>reject bad rows</a:t>
            </a:r>
            <a:endParaRPr lang="en-US" sz="1400" dirty="0"/>
          </a:p>
        </p:txBody>
      </p:sp>
      <p:sp>
        <p:nvSpPr>
          <p:cNvPr id="8" name="ar1"/>
          <p:cNvSpPr/>
          <p:nvPr/>
        </p:nvSpPr>
        <p:spPr>
          <a:xfrm>
            <a:off x="4133088" y="3081528"/>
            <a:ext cx="146304" cy="0"/>
          </a:xfrm>
          <a:prstGeom prst="line">
            <a:avLst/>
          </a:prstGeom>
          <a:noFill/>
          <a:ln w="22225">
            <a:solidFill>
              <a:schemeClr val="bg1"/>
            </a:solidFill>
            <a:prstDash val="solid"/>
            <a:tailEnd type="triangle"/>
          </a:ln>
        </p:spPr>
      </p:sp>
      <p:sp>
        <p:nvSpPr>
          <p:cNvPr id="9" name="!!st_proc"/>
          <p:cNvSpPr txBox="1"/>
          <p:nvPr/>
        </p:nvSpPr>
        <p:spPr>
          <a:xfrm>
            <a:off x="4297680" y="1828800"/>
            <a:ext cx="1691640" cy="2514600"/>
          </a:xfrm>
          <a:prstGeom prst="roundRect">
            <a:avLst>
              <a:gd name="adj" fmla="val 6486"/>
            </a:avLst>
          </a:prstGeom>
          <a:solidFill>
            <a:schemeClr val="bg1">
              <a:alpha val="9000"/>
            </a:schemeClr>
          </a:solidFill>
          <a:ln w="9525">
            <a:solidFill>
              <a:schemeClr val="accent2">
                <a:alpha val="65000"/>
              </a:schemeClr>
            </a:solidFill>
          </a:ln>
        </p:spPr>
        <p:txBody>
          <a:bodyPr wrap="square" lIns="152400" tIns="152400" rIns="152400" bIns="127000" rtlCol="0" anchor="t"/>
          <a:lstStyle/>
          <a:p>
            <a:pPr algn="l" indent="0" marL="0">
              <a:buNone/>
            </a:pPr>
            <a:r>
              <a:rPr lang="en-US" sz="1400" b="1" dirty="0">
                <a:solidFill>
                  <a:schemeClr val="accent2"/>
                </a:solidFill>
              </a:rPr>
              <a:t>03</a:t>
            </a:r>
            <a:endParaRPr lang="en-US" sz="1400" dirty="0"/>
          </a:p>
          <a:p>
            <a:pPr algn="l" indent="0" marL="0">
              <a:buNone/>
            </a:pPr>
            <a:r>
              <a:rPr lang="en-US" sz="2000" b="1" dirty="0">
                <a:solidFill>
                  <a:schemeClr val="bg1"/>
                </a:solidFill>
              </a:rPr>
              <a:t>Transform</a:t>
            </a:r>
            <a:endParaRPr lang="en-US" sz="1400" dirty="0"/>
          </a:p>
          <a:p>
            <a:pPr algn="l" indent="0" marL="0">
              <a:buNone/>
            </a:pPr>
            <a:r>
              <a:rPr lang="en-US" sz="1400" dirty="0">
                <a:solidFill>
                  <a:schemeClr val="bg2"/>
                </a:solidFill>
              </a:rPr>
              <a:t>pandas flattens and</a:t>
            </a:r>
            <a:endParaRPr lang="en-US" sz="1400" dirty="0"/>
          </a:p>
          <a:p>
            <a:pPr algn="l" indent="0" marL="0">
              <a:buNone/>
            </a:pPr>
            <a:r>
              <a:rPr lang="en-US" sz="1400" dirty="0">
                <a:solidFill>
                  <a:schemeClr val="bg2"/>
                </a:solidFill>
              </a:rPr>
              <a:t>derives route, delay</a:t>
            </a:r>
            <a:endParaRPr lang="en-US" sz="1400" dirty="0"/>
          </a:p>
        </p:txBody>
      </p:sp>
      <p:sp>
        <p:nvSpPr>
          <p:cNvPr id="10" name="ar2"/>
          <p:cNvSpPr/>
          <p:nvPr/>
        </p:nvSpPr>
        <p:spPr>
          <a:xfrm>
            <a:off x="6007608" y="3081528"/>
            <a:ext cx="146304" cy="0"/>
          </a:xfrm>
          <a:prstGeom prst="line">
            <a:avLst/>
          </a:prstGeom>
          <a:noFill/>
          <a:ln w="22225">
            <a:solidFill>
              <a:schemeClr val="bg1"/>
            </a:solidFill>
            <a:prstDash val="solid"/>
            <a:tailEnd type="triangle"/>
          </a:ln>
        </p:spPr>
      </p:sp>
      <p:sp>
        <p:nvSpPr>
          <p:cNvPr id="11" name="!!st_db"/>
          <p:cNvSpPr txBox="1"/>
          <p:nvPr/>
        </p:nvSpPr>
        <p:spPr>
          <a:xfrm>
            <a:off x="6172200" y="1828800"/>
            <a:ext cx="1691640" cy="2514600"/>
          </a:xfrm>
          <a:prstGeom prst="roundRect">
            <a:avLst>
              <a:gd name="adj" fmla="val 6486"/>
            </a:avLst>
          </a:prstGeom>
          <a:solidFill>
            <a:schemeClr val="bg1">
              <a:alpha val="9000"/>
            </a:schemeClr>
          </a:solidFill>
          <a:ln w="9525">
            <a:solidFill>
              <a:schemeClr val="accent3">
                <a:alpha val="65000"/>
              </a:schemeClr>
            </a:solidFill>
          </a:ln>
        </p:spPr>
        <p:txBody>
          <a:bodyPr wrap="square" lIns="152400" tIns="152400" rIns="152400" bIns="127000" rtlCol="0" anchor="t"/>
          <a:lstStyle/>
          <a:p>
            <a:pPr algn="l" indent="0" marL="0">
              <a:buNone/>
            </a:pPr>
            <a:r>
              <a:rPr lang="en-US" sz="1400" b="1" dirty="0">
                <a:solidFill>
                  <a:schemeClr val="accent3"/>
                </a:solidFill>
              </a:rPr>
              <a:t>04</a:t>
            </a:r>
            <a:endParaRPr lang="en-US" sz="1400" dirty="0"/>
          </a:p>
          <a:p>
            <a:pPr algn="l" indent="0" marL="0">
              <a:buNone/>
            </a:pPr>
            <a:r>
              <a:rPr lang="en-US" sz="2000" b="1" dirty="0">
                <a:solidFill>
                  <a:schemeClr val="bg1"/>
                </a:solidFill>
              </a:rPr>
              <a:t>Store</a:t>
            </a:r>
            <a:endParaRPr lang="en-US" sz="1400" dirty="0"/>
          </a:p>
          <a:p>
            <a:pPr algn="l" indent="0" marL="0">
              <a:buNone/>
            </a:pPr>
            <a:r>
              <a:rPr lang="en-US" sz="1400" dirty="0">
                <a:solidFill>
                  <a:schemeClr val="bg2"/>
                </a:solidFill>
              </a:rPr>
              <a:t>SQLite upsert,</a:t>
            </a:r>
            <a:endParaRPr lang="en-US" sz="1400" dirty="0"/>
          </a:p>
          <a:p>
            <a:pPr algn="l" indent="0" marL="0">
              <a:buNone/>
            </a:pPr>
            <a:r>
              <a:rPr lang="en-US" sz="1400" dirty="0">
                <a:solidFill>
                  <a:schemeClr val="bg2"/>
                </a:solidFill>
              </a:rPr>
              <a:t>one row per flight</a:t>
            </a:r>
            <a:endParaRPr lang="en-US" sz="1400" dirty="0"/>
          </a:p>
        </p:txBody>
      </p:sp>
      <p:sp>
        <p:nvSpPr>
          <p:cNvPr id="12" name="ar3"/>
          <p:cNvSpPr/>
          <p:nvPr/>
        </p:nvSpPr>
        <p:spPr>
          <a:xfrm>
            <a:off x="7882128" y="3081528"/>
            <a:ext cx="146304" cy="0"/>
          </a:xfrm>
          <a:prstGeom prst="line">
            <a:avLst/>
          </a:prstGeom>
          <a:noFill/>
          <a:ln w="22225">
            <a:solidFill>
              <a:schemeClr val="bg1"/>
            </a:solidFill>
            <a:prstDash val="solid"/>
            <a:tailEnd type="triangle"/>
          </a:ln>
        </p:spPr>
      </p:sp>
      <p:sp>
        <p:nvSpPr>
          <p:cNvPr id="13" name="!!st_an"/>
          <p:cNvSpPr txBox="1"/>
          <p:nvPr/>
        </p:nvSpPr>
        <p:spPr>
          <a:xfrm>
            <a:off x="8046720" y="1828800"/>
            <a:ext cx="1691640" cy="2514600"/>
          </a:xfrm>
          <a:prstGeom prst="roundRect">
            <a:avLst>
              <a:gd name="adj" fmla="val 6486"/>
            </a:avLst>
          </a:prstGeom>
          <a:solidFill>
            <a:schemeClr val="bg1">
              <a:alpha val="9000"/>
            </a:schemeClr>
          </a:solidFill>
          <a:ln w="9525">
            <a:solidFill>
              <a:schemeClr val="accent6">
                <a:alpha val="65000"/>
              </a:schemeClr>
            </a:solidFill>
          </a:ln>
        </p:spPr>
        <p:txBody>
          <a:bodyPr wrap="square" lIns="152400" tIns="152400" rIns="152400" bIns="127000" rtlCol="0" anchor="t"/>
          <a:lstStyle/>
          <a:p>
            <a:pPr algn="l" indent="0" marL="0">
              <a:buNone/>
            </a:pPr>
            <a:r>
              <a:rPr lang="en-US" sz="1400" b="1" dirty="0">
                <a:solidFill>
                  <a:schemeClr val="accent6"/>
                </a:solidFill>
              </a:rPr>
              <a:t>05</a:t>
            </a:r>
            <a:endParaRPr lang="en-US" sz="1400" dirty="0"/>
          </a:p>
          <a:p>
            <a:pPr algn="l" indent="0" marL="0">
              <a:buNone/>
            </a:pPr>
            <a:r>
              <a:rPr lang="en-US" sz="2000" b="1" dirty="0">
                <a:solidFill>
                  <a:schemeClr val="bg1"/>
                </a:solidFill>
              </a:rPr>
              <a:t>Analyse</a:t>
            </a:r>
            <a:endParaRPr lang="en-US" sz="1400" dirty="0"/>
          </a:p>
          <a:p>
            <a:pPr algn="l" indent="0" marL="0">
              <a:buNone/>
            </a:pPr>
            <a:r>
              <a:rPr lang="en-US" sz="1400" dirty="0">
                <a:solidFill>
                  <a:schemeClr val="bg2"/>
                </a:solidFill>
              </a:rPr>
              <a:t>Statistics and</a:t>
            </a:r>
            <a:endParaRPr lang="en-US" sz="1400" dirty="0"/>
          </a:p>
          <a:p>
            <a:pPr algn="l" indent="0" marL="0">
              <a:buNone/>
            </a:pPr>
            <a:r>
              <a:rPr lang="en-US" sz="1400" dirty="0">
                <a:solidFill>
                  <a:schemeClr val="bg2"/>
                </a:solidFill>
              </a:rPr>
              <a:t>8 chart builders</a:t>
            </a:r>
            <a:endParaRPr lang="en-US" sz="1400" dirty="0"/>
          </a:p>
        </p:txBody>
      </p:sp>
      <p:sp>
        <p:nvSpPr>
          <p:cNvPr id="14" name="ar4"/>
          <p:cNvSpPr/>
          <p:nvPr/>
        </p:nvSpPr>
        <p:spPr>
          <a:xfrm>
            <a:off x="9756648" y="3081528"/>
            <a:ext cx="146304" cy="0"/>
          </a:xfrm>
          <a:prstGeom prst="line">
            <a:avLst/>
          </a:prstGeom>
          <a:noFill/>
          <a:ln w="22225">
            <a:solidFill>
              <a:schemeClr val="bg1"/>
            </a:solidFill>
            <a:prstDash val="solid"/>
            <a:tailEnd type="triangle"/>
          </a:ln>
        </p:spPr>
      </p:sp>
      <p:sp>
        <p:nvSpPr>
          <p:cNvPr id="15" name="!!st_ui"/>
          <p:cNvSpPr txBox="1"/>
          <p:nvPr/>
        </p:nvSpPr>
        <p:spPr>
          <a:xfrm>
            <a:off x="9921240" y="1828800"/>
            <a:ext cx="1691640" cy="2514600"/>
          </a:xfrm>
          <a:prstGeom prst="roundRect">
            <a:avLst>
              <a:gd name="adj" fmla="val 6486"/>
            </a:avLst>
          </a:prstGeom>
          <a:solidFill>
            <a:schemeClr val="bg1">
              <a:alpha val="9000"/>
            </a:schemeClr>
          </a:solidFill>
          <a:ln w="9525">
            <a:solidFill>
              <a:schemeClr val="accent5">
                <a:alpha val="65000"/>
              </a:schemeClr>
            </a:solidFill>
          </a:ln>
        </p:spPr>
        <p:txBody>
          <a:bodyPr wrap="square" lIns="152400" tIns="152400" rIns="152400" bIns="127000" rtlCol="0" anchor="t"/>
          <a:lstStyle/>
          <a:p>
            <a:pPr algn="l" indent="0" marL="0">
              <a:buNone/>
            </a:pPr>
            <a:r>
              <a:rPr lang="en-US" sz="1400" b="1" dirty="0">
                <a:solidFill>
                  <a:schemeClr val="accent5"/>
                </a:solidFill>
              </a:rPr>
              <a:t>06</a:t>
            </a:r>
            <a:endParaRPr lang="en-US" sz="1400" dirty="0"/>
          </a:p>
          <a:p>
            <a:pPr algn="l" indent="0" marL="0">
              <a:buNone/>
            </a:pPr>
            <a:r>
              <a:rPr lang="en-US" sz="2000" b="1" dirty="0">
                <a:solidFill>
                  <a:schemeClr val="bg1"/>
                </a:solidFill>
              </a:rPr>
              <a:t>Present</a:t>
            </a:r>
            <a:endParaRPr lang="en-US" sz="1400" dirty="0"/>
          </a:p>
          <a:p>
            <a:pPr algn="l" indent="0" marL="0">
              <a:buNone/>
            </a:pPr>
            <a:r>
              <a:rPr lang="en-US" sz="1400" dirty="0">
                <a:solidFill>
                  <a:schemeClr val="bg2"/>
                </a:solidFill>
              </a:rPr>
              <a:t>Terminal app and</a:t>
            </a:r>
            <a:endParaRPr lang="en-US" sz="1400" dirty="0"/>
          </a:p>
          <a:p>
            <a:pPr algn="l" indent="0" marL="0">
              <a:buNone/>
            </a:pPr>
            <a:r>
              <a:rPr lang="en-US" sz="1400" dirty="0">
                <a:solidFill>
                  <a:schemeClr val="bg2"/>
                </a:solidFill>
              </a:rPr>
              <a:t>PySide6 GUI</a:t>
            </a:r>
            <a:endParaRPr lang="en-US" sz="1400" dirty="0"/>
          </a:p>
        </p:txBody>
      </p:sp>
      <p:sp>
        <p:nvSpPr>
          <p:cNvPr id="16" name="why"/>
          <p:cNvSpPr/>
          <p:nvPr/>
        </p:nvSpPr>
        <p:spPr>
          <a:xfrm>
            <a:off x="548640" y="4709160"/>
            <a:ext cx="1109167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17" name="whytext"/>
          <p:cNvSpPr txBox="1"/>
          <p:nvPr/>
        </p:nvSpPr>
        <p:spPr>
          <a:xfrm>
            <a:off x="822960" y="4846320"/>
            <a:ext cx="10515600" cy="1097280"/>
          </a:xfrm>
          <a:prstGeom prst="rect">
            <a:avLst/>
          </a:prstGeom>
          <a:noFill/>
          <a:ln/>
        </p:spPr>
        <p:txBody>
          <a:bodyPr wrap="square" lIns="0" tIns="0" rIns="0" bIns="0" rtlCol="0" anchor="ctr"/>
          <a:lstStyle/>
          <a:p>
            <a:pPr algn="l" indent="0" marL="0">
              <a:buNone/>
            </a:pPr>
            <a:r>
              <a:rPr lang="en-US" sz="1700" b="1" dirty="0">
                <a:solidFill>
                  <a:schemeClr val="accent3"/>
                </a:solidFill>
              </a:rPr>
              <a:t>Why this order?  </a:t>
            </a:r>
            <a:pPr algn="l" indent="0" marL="0">
              <a:buNone/>
            </a:pPr>
            <a:r>
              <a:rPr lang="en-US" sz="1700" dirty="0">
                <a:solidFill>
                  <a:schemeClr val="bg1"/>
                </a:solidFill>
              </a:rPr>
              <a:t>Validation before transformation rejects bad data early. Storage is the single source of truth, and both front-ends read the same analytics layer, so the terminal app and the GUI can never disagree.</a:t>
            </a:r>
            <a:endParaRPr lang="en-US" sz="1700" dirty="0"/>
          </a:p>
        </p:txBody>
      </p:sp>
      <p:sp>
        <p:nvSpPr>
          <p:cNvPr id="18" name="track"/>
          <p:cNvSpPr/>
          <p:nvPr/>
        </p:nvSpPr>
        <p:spPr>
          <a:xfrm>
            <a:off x="3383280" y="6510528"/>
            <a:ext cx="7132320" cy="0"/>
          </a:xfrm>
          <a:prstGeom prst="line">
            <a:avLst/>
          </a:prstGeom>
          <a:noFill/>
          <a:ln w="12700">
            <a:solidFill>
              <a:schemeClr val="bg2">
                <a:alpha val="45000"/>
              </a:schemeClr>
            </a:solidFill>
            <a:prstDash val="dash"/>
          </a:ln>
        </p:spPr>
      </p:sp>
      <p:sp>
        <p:nvSpPr>
          <p:cNvPr id="19" name="progress"/>
          <p:cNvSpPr/>
          <p:nvPr/>
        </p:nvSpPr>
        <p:spPr>
          <a:xfrm>
            <a:off x="3383280" y="6510528"/>
            <a:ext cx="1721594" cy="0"/>
          </a:xfrm>
          <a:prstGeom prst="line">
            <a:avLst/>
          </a:prstGeom>
          <a:noFill/>
          <a:ln w="28575">
            <a:solidFill>
              <a:schemeClr val="accent2"/>
            </a:solidFill>
            <a:prstDash val="solid"/>
          </a:ln>
        </p:spPr>
      </p:sp>
      <p:sp>
        <p:nvSpPr>
          <p:cNvPr id="20" name="wp0"/>
          <p:cNvSpPr/>
          <p:nvPr/>
        </p:nvSpPr>
        <p:spPr>
          <a:xfrm>
            <a:off x="3834016" y="6469380"/>
            <a:ext cx="82296" cy="82296"/>
          </a:xfrm>
          <a:prstGeom prst="ellipse">
            <a:avLst/>
          </a:prstGeom>
          <a:solidFill>
            <a:schemeClr val="accent2"/>
          </a:solidFill>
          <a:ln/>
        </p:spPr>
      </p:sp>
      <p:sp>
        <p:nvSpPr>
          <p:cNvPr id="21" name="wp1"/>
          <p:cNvSpPr/>
          <p:nvPr/>
        </p:nvSpPr>
        <p:spPr>
          <a:xfrm>
            <a:off x="4817784" y="6469380"/>
            <a:ext cx="82296" cy="82296"/>
          </a:xfrm>
          <a:prstGeom prst="ellipse">
            <a:avLst/>
          </a:prstGeom>
          <a:solidFill>
            <a:schemeClr val="accent2"/>
          </a:solidFill>
          <a:ln/>
        </p:spPr>
      </p:sp>
      <p:sp>
        <p:nvSpPr>
          <p:cNvPr id="22" name="wp2"/>
          <p:cNvSpPr/>
          <p:nvPr/>
        </p:nvSpPr>
        <p:spPr>
          <a:xfrm>
            <a:off x="7277205" y="6469380"/>
            <a:ext cx="82296" cy="82296"/>
          </a:xfrm>
          <a:prstGeom prst="ellipse">
            <a:avLst/>
          </a:prstGeom>
          <a:solidFill>
            <a:schemeClr val="bg2">
              <a:alpha val="60000"/>
            </a:schemeClr>
          </a:solidFill>
          <a:ln/>
        </p:spPr>
      </p:sp>
      <p:sp>
        <p:nvSpPr>
          <p:cNvPr id="23" name="wp3"/>
          <p:cNvSpPr/>
          <p:nvPr/>
        </p:nvSpPr>
        <p:spPr>
          <a:xfrm>
            <a:off x="8506915" y="6469380"/>
            <a:ext cx="82296" cy="82296"/>
          </a:xfrm>
          <a:prstGeom prst="ellipse">
            <a:avLst/>
          </a:prstGeom>
          <a:solidFill>
            <a:schemeClr val="bg2">
              <a:alpha val="60000"/>
            </a:schemeClr>
          </a:solidFill>
          <a:ln/>
        </p:spPr>
      </p:sp>
      <p:sp>
        <p:nvSpPr>
          <p:cNvPr id="24" name="wp4"/>
          <p:cNvSpPr/>
          <p:nvPr/>
        </p:nvSpPr>
        <p:spPr>
          <a:xfrm>
            <a:off x="9982568" y="6469380"/>
            <a:ext cx="82296" cy="82296"/>
          </a:xfrm>
          <a:prstGeom prst="ellipse">
            <a:avLst/>
          </a:prstGeom>
          <a:solidFill>
            <a:schemeClr val="bg2">
              <a:alpha val="60000"/>
            </a:schemeClr>
          </a:solidFill>
          <a:ln/>
        </p:spPr>
      </p:sp>
      <p:pic>
        <p:nvPicPr>
          <p:cNvPr id="25" name="!!tracker" descr="Progress marker">    </p:cNvPr>
          <p:cNvPicPr>
            <a:picLocks noChangeAspect="1"/>
          </p:cNvPicPr>
          <p:nvPr/>
        </p:nvPicPr>
        <p:blipFill>
          <a:blip r:embed="rId1"/>
          <a:stretch>
            <a:fillRect/>
          </a:stretch>
        </p:blipFill>
        <p:spPr>
          <a:xfrm>
            <a:off x="4921994"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8</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 calcmode="lin" valueType="num">
                                      <p:cBhvr additive="base">
                                        <p:cTn id="16" dur="600" fill="hold"/>
                                        <p:tgtEl>
                                          <p:spTgt spid="5"/>
                                        </p:tgtEl>
                                        <p:attrNameLst>
                                          <p:attrName>ppt_y</p:attrName>
                                        </p:attrNameLst>
                                      </p:cBhvr>
                                      <p:tavLst>
                                        <p:tav tm="0">
                                          <p:val>
                                            <p:strVal val="#ppt_y+.1"/>
                                          </p:val>
                                        </p:tav>
                                        <p:tav tm="100000">
                                          <p:val>
                                            <p:strVal val="#ppt_y"/>
                                          </p:val>
                                        </p:tav>
                                      </p:tavLst>
                                    </p:anim>
                                    <p:animEffect transition="in" filter="fade">
                                      <p:cBhvr>
                                        <p:cTn id="17" dur="6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 calcmode="lin" valueType="num">
                                      <p:cBhvr additive="base">
                                        <p:cTn id="22" dur="600" fill="hold"/>
                                        <p:tgtEl>
                                          <p:spTgt spid="7"/>
                                        </p:tgtEl>
                                        <p:attrNameLst>
                                          <p:attrName>ppt_y</p:attrName>
                                        </p:attrNameLst>
                                      </p:cBhvr>
                                      <p:tavLst>
                                        <p:tav tm="0">
                                          <p:val>
                                            <p:strVal val="#ppt_y+.1"/>
                                          </p:val>
                                        </p:tav>
                                        <p:tav tm="100000">
                                          <p:val>
                                            <p:strVal val="#ppt_y"/>
                                          </p:val>
                                        </p:tav>
                                      </p:tavLst>
                                    </p:anim>
                                    <p:animEffect transition="in" filter="fade">
                                      <p:cBhvr>
                                        <p:cTn id="23" dur="600"/>
                                        <p:tgtEl>
                                          <p:spTgt spid="7"/>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wipe(left)">
                                      <p:cBhvr>
                                        <p:cTn id="26" dur="4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ppt_y</p:attrName>
                                        </p:attrNameLst>
                                      </p:cBhvr>
                                      <p:tavLst>
                                        <p:tav tm="0">
                                          <p:val>
                                            <p:strVal val="#ppt_y+.1"/>
                                          </p:val>
                                        </p:tav>
                                        <p:tav tm="100000">
                                          <p:val>
                                            <p:strVal val="#ppt_y"/>
                                          </p:val>
                                        </p:tav>
                                      </p:tavLst>
                                    </p:anim>
                                    <p:animEffect transition="in" filter="fade">
                                      <p:cBhvr>
                                        <p:cTn id="32" dur="600"/>
                                        <p:tgtEl>
                                          <p:spTgt spid="9"/>
                                        </p:tgtEl>
                                      </p:cBhvr>
                                    </p:animEffect>
                                  </p:childTnLst>
                                </p:cTn>
                              </p:par>
                              <p:par>
                                <p:cTn id="33" presetID="22" presetClass="entr" presetSubtype="8" fill="hold" grpId="0" nodeType="with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wipe(left)">
                                      <p:cBhvr>
                                        <p:cTn id="35" dur="400"/>
                                        <p:tgtEl>
                                          <p:spTgt spid="8"/>
                                        </p:tgtEl>
                                      </p:cBhvr>
                                    </p:animEffect>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600" fill="hold"/>
                                        <p:tgtEl>
                                          <p:spTgt spid="11"/>
                                        </p:tgtEl>
                                        <p:attrNameLst>
                                          <p:attrName>ppt_y</p:attrName>
                                        </p:attrNameLst>
                                      </p:cBhvr>
                                      <p:tavLst>
                                        <p:tav tm="0">
                                          <p:val>
                                            <p:strVal val="#ppt_y+.1"/>
                                          </p:val>
                                        </p:tav>
                                        <p:tav tm="100000">
                                          <p:val>
                                            <p:strVal val="#ppt_y"/>
                                          </p:val>
                                        </p:tav>
                                      </p:tavLst>
                                    </p:anim>
                                    <p:animEffect transition="in" filter="fade">
                                      <p:cBhvr>
                                        <p:cTn id="41" dur="600"/>
                                        <p:tgtEl>
                                          <p:spTgt spid="11"/>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4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gtEl>
                                        <p:attrNameLst>
                                          <p:attrName>style.visibility</p:attrName>
                                        </p:attrNameLst>
                                      </p:cBhvr>
                                      <p:to>
                                        <p:strVal val="visible"/>
                                      </p:to>
                                    </p:set>
                                    <p:anim calcmode="lin" valueType="num">
                                      <p:cBhvr additive="base">
                                        <p:cTn id="49" dur="600" fill="hold"/>
                                        <p:tgtEl>
                                          <p:spTgt spid="13"/>
                                        </p:tgtEl>
                                        <p:attrNameLst>
                                          <p:attrName>ppt_y</p:attrName>
                                        </p:attrNameLst>
                                      </p:cBhvr>
                                      <p:tavLst>
                                        <p:tav tm="0">
                                          <p:val>
                                            <p:strVal val="#ppt_y+.1"/>
                                          </p:val>
                                        </p:tav>
                                        <p:tav tm="100000">
                                          <p:val>
                                            <p:strVal val="#ppt_y"/>
                                          </p:val>
                                        </p:tav>
                                      </p:tavLst>
                                    </p:anim>
                                    <p:animEffect transition="in" filter="fade">
                                      <p:cBhvr>
                                        <p:cTn id="50" dur="600"/>
                                        <p:tgtEl>
                                          <p:spTgt spid="13"/>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12"/>
                                        </p:tgtEl>
                                        <p:attrNameLst>
                                          <p:attrName>style.visibility</p:attrName>
                                        </p:attrNameLst>
                                      </p:cBhvr>
                                      <p:to>
                                        <p:strVal val="visible"/>
                                      </p:to>
                                    </p:set>
                                    <p:animEffect transition="in" filter="wipe(left)">
                                      <p:cBhvr>
                                        <p:cTn id="53" dur="400"/>
                                        <p:tgtEl>
                                          <p:spTgt spid="12"/>
                                        </p:tgtEl>
                                      </p:cBhvr>
                                    </p:animEffect>
                                  </p:childTnLst>
                                </p:cTn>
                              </p:par>
                            </p:childTnLst>
                          </p:cTn>
                        </p:par>
                      </p:childTnLst>
                    </p:cTn>
                  </p:par>
                  <p:par>
                    <p:cTn id="54" fill="hold">
                      <p:stCondLst>
                        <p:cond delay="indefinite"/>
                      </p:stCondLst>
                      <p:childTnLst>
                        <p:par>
                          <p:cTn id="55" fill="hold">
                            <p:stCondLst>
                              <p:cond delay="0"/>
                            </p:stCondLst>
                            <p:childTnLst>
                              <p:par>
                                <p:cTn id="56" presetID="42" presetClass="entr" presetSubtype="0" fill="hold" grpId="0" nodeType="click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600" fill="hold"/>
                                        <p:tgtEl>
                                          <p:spTgt spid="15"/>
                                        </p:tgtEl>
                                        <p:attrNameLst>
                                          <p:attrName>ppt_y</p:attrName>
                                        </p:attrNameLst>
                                      </p:cBhvr>
                                      <p:tavLst>
                                        <p:tav tm="0">
                                          <p:val>
                                            <p:strVal val="#ppt_y+.1"/>
                                          </p:val>
                                        </p:tav>
                                        <p:tav tm="100000">
                                          <p:val>
                                            <p:strVal val="#ppt_y"/>
                                          </p:val>
                                        </p:tav>
                                      </p:tavLst>
                                    </p:anim>
                                    <p:animEffect transition="in" filter="fade">
                                      <p:cBhvr>
                                        <p:cTn id="59" dur="600"/>
                                        <p:tgtEl>
                                          <p:spTgt spid="15"/>
                                        </p:tgtEl>
                                      </p:cBhvr>
                                    </p:animEffect>
                                  </p:childTnLst>
                                </p:cTn>
                              </p:par>
                              <p:par>
                                <p:cTn id="60" presetID="22" presetClass="entr" presetSubtype="8" fill="hold" grpId="0" nodeType="with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wipe(left)">
                                      <p:cBhvr>
                                        <p:cTn id="62" dur="4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700"/>
                                        <p:tgtEl>
                                          <p:spTgt spid="16"/>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animEffect transition="in" filter="fade">
                                      <p:cBhvr>
                                        <p:cTn id="70" dur="7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7" grpId="0" animBg="1"/>
      <p:bldP spid="6" grpId="0" animBg="1"/>
      <p:bldP spid="9" grpId="0" animBg="1"/>
      <p:bldP spid="8" grpId="0" animBg="1"/>
      <p:bldP spid="11" grpId="0" animBg="1"/>
      <p:bldP spid="10" grpId="0" animBg="1"/>
      <p:bldP spid="13" grpId="0" animBg="1"/>
      <p:bldP spid="12" grpId="0" animBg="1"/>
      <p:bldP spid="15" grpId="0" animBg="1"/>
      <p:bldP spid="14" grpId="0" animBg="1"/>
      <p:bldP spid="16" grpId="0" animBg="1"/>
      <p:bldP spid="17"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Layered system architecture</a:t>
            </a:r>
            <a:endParaRPr lang="en-US" sz="3600" dirty="0"/>
          </a:p>
        </p:txBody>
      </p:sp>
      <p:sp>
        <p:nvSpPr>
          <p:cNvPr id="5" name="ly0"/>
          <p:cNvSpPr txBox="1"/>
          <p:nvPr/>
        </p:nvSpPr>
        <p:spPr>
          <a:xfrm>
            <a:off x="548640" y="190195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PRESENTATION</a:t>
            </a:r>
            <a:endParaRPr lang="en-US" sz="1200" dirty="0"/>
          </a:p>
        </p:txBody>
      </p:sp>
      <p:sp>
        <p:nvSpPr>
          <p:cNvPr id="6" name="ly1"/>
          <p:cNvSpPr txBox="1"/>
          <p:nvPr/>
        </p:nvSpPr>
        <p:spPr>
          <a:xfrm>
            <a:off x="548640" y="286207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SERVICE</a:t>
            </a:r>
            <a:endParaRPr lang="en-US" sz="1200" dirty="0"/>
          </a:p>
        </p:txBody>
      </p:sp>
      <p:sp>
        <p:nvSpPr>
          <p:cNvPr id="7" name="ly2"/>
          <p:cNvSpPr txBox="1"/>
          <p:nvPr/>
        </p:nvSpPr>
        <p:spPr>
          <a:xfrm>
            <a:off x="548640" y="382219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DOMAIN</a:t>
            </a:r>
            <a:endParaRPr lang="en-US" sz="1200" dirty="0"/>
          </a:p>
        </p:txBody>
      </p:sp>
      <p:sp>
        <p:nvSpPr>
          <p:cNvPr id="8" name="ly3"/>
          <p:cNvSpPr txBox="1"/>
          <p:nvPr/>
        </p:nvSpPr>
        <p:spPr>
          <a:xfrm>
            <a:off x="548640" y="478231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DATA</a:t>
            </a:r>
            <a:endParaRPr lang="en-US" sz="1200" dirty="0"/>
          </a:p>
        </p:txBody>
      </p:sp>
      <p:sp>
        <p:nvSpPr>
          <p:cNvPr id="9" name="ly4"/>
          <p:cNvSpPr txBox="1"/>
          <p:nvPr/>
        </p:nvSpPr>
        <p:spPr>
          <a:xfrm>
            <a:off x="548640" y="5742432"/>
            <a:ext cx="1737360" cy="365760"/>
          </a:xfrm>
          <a:prstGeom prst="rect">
            <a:avLst/>
          </a:prstGeom>
          <a:noFill/>
          <a:ln/>
        </p:spPr>
        <p:txBody>
          <a:bodyPr wrap="square" lIns="0" tIns="0" rIns="0" bIns="0" rtlCol="0" anchor="t"/>
          <a:lstStyle/>
          <a:p>
            <a:pPr algn="l" indent="0" marL="0">
              <a:buNone/>
            </a:pPr>
            <a:r>
              <a:rPr lang="en-US" sz="1200" b="1" spc="200" kern="0" dirty="0">
                <a:solidFill>
                  <a:schemeClr val="accent2"/>
                </a:solidFill>
              </a:rPr>
              <a:t>EXTERNAL</a:t>
            </a:r>
            <a:endParaRPr lang="en-US" sz="1200" dirty="0"/>
          </a:p>
        </p:txBody>
      </p:sp>
      <p:sp>
        <p:nvSpPr>
          <p:cNvPr id="10" name="!!st_ui"/>
          <p:cNvSpPr txBox="1"/>
          <p:nvPr/>
        </p:nvSpPr>
        <p:spPr>
          <a:xfrm>
            <a:off x="2468880" y="1645920"/>
            <a:ext cx="9171432" cy="777240"/>
          </a:xfrm>
          <a:prstGeom prst="roundRect">
            <a:avLst>
              <a:gd name="adj" fmla="val 14118"/>
            </a:avLst>
          </a:prstGeom>
          <a:solidFill>
            <a:schemeClr val="bg1">
              <a:alpha val="9000"/>
            </a:schemeClr>
          </a:solidFill>
          <a:ln w="9525">
            <a:solidFill>
              <a:schemeClr val="accent5">
                <a:alpha val="65000"/>
              </a:schemeClr>
            </a:solidFill>
          </a:ln>
        </p:spPr>
        <p:txBody>
          <a:bodyPr wrap="square" lIns="101600" tIns="152400" rIns="152400" bIns="76200" rtlCol="0" anchor="ctr"/>
          <a:lstStyle/>
          <a:p>
            <a:pPr algn="l" indent="0" marL="0">
              <a:buNone/>
            </a:pPr>
            <a:r>
              <a:rPr lang="en-US" sz="1600" b="1" dirty="0">
                <a:solidFill>
                  <a:schemeClr val="bg1"/>
                </a:solidFill>
              </a:rPr>
              <a:t>Terminal app and desktop GUI</a:t>
            </a:r>
            <a:endParaRPr lang="en-US" sz="1400" dirty="0"/>
          </a:p>
          <a:p>
            <a:pPr algn="l" indent="0" marL="0">
              <a:buNone/>
            </a:pPr>
            <a:r>
              <a:rPr lang="en-US" sz="1300" dirty="0">
                <a:solidFill>
                  <a:schemeClr val="bg2"/>
                </a:solidFill>
              </a:rPr>
              <a:t>main_task/main.py  ·  main_task/gui_main.py  ·  src/gui (9 PySide6 files)</a:t>
            </a:r>
            <a:endParaRPr lang="en-US" sz="1400" dirty="0"/>
          </a:p>
        </p:txBody>
      </p:sp>
      <p:sp>
        <p:nvSpPr>
          <p:cNvPr id="11" name="svc"/>
          <p:cNvSpPr txBox="1"/>
          <p:nvPr/>
        </p:nvSpPr>
        <p:spPr>
          <a:xfrm>
            <a:off x="2468880" y="2606040"/>
            <a:ext cx="5989320" cy="777240"/>
          </a:xfrm>
          <a:prstGeom prst="roundRect">
            <a:avLst>
              <a:gd name="adj" fmla="val 14118"/>
            </a:avLst>
          </a:prstGeom>
          <a:solidFill>
            <a:schemeClr val="bg1">
              <a:alpha val="9000"/>
            </a:schemeClr>
          </a:solidFill>
          <a:ln w="9525">
            <a:solidFill>
              <a:schemeClr val="accent1">
                <a:alpha val="60000"/>
              </a:schemeClr>
            </a:solidFill>
          </a:ln>
        </p:spPr>
        <p:txBody>
          <a:bodyPr wrap="square" lIns="101600" tIns="152400" rIns="152400" bIns="76200" rtlCol="0" anchor="ctr"/>
          <a:lstStyle/>
          <a:p>
            <a:pPr algn="l" indent="0" marL="0">
              <a:buNone/>
            </a:pPr>
            <a:r>
              <a:rPr lang="en-US" sz="1600" b="1" dirty="0">
                <a:solidFill>
                  <a:schemeClr val="bg1"/>
                </a:solidFill>
              </a:rPr>
              <a:t>service.py</a:t>
            </a:r>
            <a:endParaRPr lang="en-US" sz="1400" dirty="0"/>
          </a:p>
          <a:p>
            <a:pPr algn="l" indent="0" marL="0">
              <a:buNone/>
            </a:pPr>
            <a:r>
              <a:rPr lang="en-US" sz="1300" dirty="0">
                <a:solidFill>
                  <a:schemeClr val="bg2"/>
                </a:solidFill>
              </a:rPr>
              <a:t>Shared refresh orchestration for both front-ends</a:t>
            </a:r>
            <a:endParaRPr lang="en-US" sz="1400" dirty="0"/>
          </a:p>
        </p:txBody>
      </p:sp>
      <p:sp>
        <p:nvSpPr>
          <p:cNvPr id="12" name="cfg"/>
          <p:cNvSpPr txBox="1"/>
          <p:nvPr/>
        </p:nvSpPr>
        <p:spPr>
          <a:xfrm>
            <a:off x="8595360" y="2606040"/>
            <a:ext cx="3044952" cy="777240"/>
          </a:xfrm>
          <a:prstGeom prst="roundRect">
            <a:avLst>
              <a:gd name="adj" fmla="val 14118"/>
            </a:avLst>
          </a:prstGeom>
          <a:solidFill>
            <a:schemeClr val="bg1">
              <a:alpha val="9000"/>
            </a:schemeClr>
          </a:solidFill>
          <a:ln w="9525">
            <a:solidFill>
              <a:schemeClr val="bg2">
                <a:alpha val="50000"/>
              </a:schemeClr>
            </a:solidFill>
          </a:ln>
        </p:spPr>
        <p:txBody>
          <a:bodyPr wrap="square" lIns="101600" tIns="152400" rIns="152400" bIns="76200" rtlCol="0" anchor="ctr"/>
          <a:lstStyle/>
          <a:p>
            <a:pPr algn="l" indent="0" marL="0">
              <a:buNone/>
            </a:pPr>
            <a:r>
              <a:rPr lang="en-US" sz="1600" b="1" dirty="0">
                <a:solidFill>
                  <a:schemeClr val="bg1"/>
                </a:solidFill>
              </a:rPr>
              <a:t>config.py · utils.py</a:t>
            </a:r>
            <a:endParaRPr lang="en-US" sz="1400" dirty="0"/>
          </a:p>
          <a:p>
            <a:pPr algn="l" indent="0" marL="0">
              <a:buNone/>
            </a:pPr>
            <a:r>
              <a:rPr lang="en-US" sz="1300" dirty="0">
                <a:solidFill>
                  <a:schemeClr val="bg2"/>
                </a:solidFill>
              </a:rPr>
              <a:t>Settings, logging, errors</a:t>
            </a:r>
            <a:endParaRPr lang="en-US" sz="1400" dirty="0"/>
          </a:p>
        </p:txBody>
      </p:sp>
      <p:sp>
        <p:nvSpPr>
          <p:cNvPr id="13" name="!!st_valid"/>
          <p:cNvSpPr txBox="1"/>
          <p:nvPr/>
        </p:nvSpPr>
        <p:spPr>
          <a:xfrm>
            <a:off x="2468880" y="3566160"/>
            <a:ext cx="2926080" cy="777240"/>
          </a:xfrm>
          <a:prstGeom prst="roundRect">
            <a:avLst>
              <a:gd name="adj" fmla="val 14118"/>
            </a:avLst>
          </a:prstGeom>
          <a:solidFill>
            <a:schemeClr val="bg1">
              <a:alpha val="9000"/>
            </a:schemeClr>
          </a:solidFill>
          <a:ln w="9525">
            <a:solidFill>
              <a:schemeClr val="accent4">
                <a:alpha val="65000"/>
              </a:schemeClr>
            </a:solidFill>
          </a:ln>
        </p:spPr>
        <p:txBody>
          <a:bodyPr wrap="square" lIns="101600" tIns="152400" rIns="152400" bIns="76200" rtlCol="0" anchor="ctr"/>
          <a:lstStyle/>
          <a:p>
            <a:pPr algn="l" indent="0" marL="0">
              <a:buNone/>
            </a:pPr>
            <a:r>
              <a:rPr lang="en-US" sz="1600" b="1" dirty="0">
                <a:solidFill>
                  <a:schemeClr val="bg1"/>
                </a:solidFill>
              </a:rPr>
              <a:t>models.py</a:t>
            </a:r>
            <a:endParaRPr lang="en-US" sz="1400" dirty="0"/>
          </a:p>
          <a:p>
            <a:pPr algn="l" indent="0" marL="0">
              <a:buNone/>
            </a:pPr>
            <a:r>
              <a:rPr lang="en-US" sz="1300" dirty="0">
                <a:solidFill>
                  <a:schemeClr val="bg2"/>
                </a:solidFill>
              </a:rPr>
              <a:t>Pydantic validation</a:t>
            </a:r>
            <a:endParaRPr lang="en-US" sz="1400" dirty="0"/>
          </a:p>
        </p:txBody>
      </p:sp>
      <p:sp>
        <p:nvSpPr>
          <p:cNvPr id="14" name="!!st_proc"/>
          <p:cNvSpPr txBox="1"/>
          <p:nvPr/>
        </p:nvSpPr>
        <p:spPr>
          <a:xfrm>
            <a:off x="5532120" y="3566160"/>
            <a:ext cx="2926080" cy="777240"/>
          </a:xfrm>
          <a:prstGeom prst="roundRect">
            <a:avLst>
              <a:gd name="adj" fmla="val 14118"/>
            </a:avLst>
          </a:prstGeom>
          <a:solidFill>
            <a:schemeClr val="bg1">
              <a:alpha val="9000"/>
            </a:schemeClr>
          </a:solidFill>
          <a:ln w="9525">
            <a:solidFill>
              <a:schemeClr val="accent2">
                <a:alpha val="65000"/>
              </a:schemeClr>
            </a:solidFill>
          </a:ln>
        </p:spPr>
        <p:txBody>
          <a:bodyPr wrap="square" lIns="101600" tIns="152400" rIns="152400" bIns="76200" rtlCol="0" anchor="ctr"/>
          <a:lstStyle/>
          <a:p>
            <a:pPr algn="l" indent="0" marL="0">
              <a:buNone/>
            </a:pPr>
            <a:r>
              <a:rPr lang="en-US" sz="1600" b="1" dirty="0">
                <a:solidFill>
                  <a:schemeClr val="bg1"/>
                </a:solidFill>
              </a:rPr>
              <a:t>data_processor.py</a:t>
            </a:r>
            <a:endParaRPr lang="en-US" sz="1400" dirty="0"/>
          </a:p>
          <a:p>
            <a:pPr algn="l" indent="0" marL="0">
              <a:buNone/>
            </a:pPr>
            <a:r>
              <a:rPr lang="en-US" sz="1300" dirty="0">
                <a:solidFill>
                  <a:schemeClr val="bg2"/>
                </a:solidFill>
              </a:rPr>
              <a:t>pandas transform and dedup</a:t>
            </a:r>
            <a:endParaRPr lang="en-US" sz="1400" dirty="0"/>
          </a:p>
        </p:txBody>
      </p:sp>
      <p:sp>
        <p:nvSpPr>
          <p:cNvPr id="15" name="!!st_an"/>
          <p:cNvSpPr txBox="1"/>
          <p:nvPr/>
        </p:nvSpPr>
        <p:spPr>
          <a:xfrm>
            <a:off x="8595360" y="3566160"/>
            <a:ext cx="3044952" cy="777240"/>
          </a:xfrm>
          <a:prstGeom prst="roundRect">
            <a:avLst>
              <a:gd name="adj" fmla="val 14118"/>
            </a:avLst>
          </a:prstGeom>
          <a:solidFill>
            <a:schemeClr val="bg1">
              <a:alpha val="9000"/>
            </a:schemeClr>
          </a:solidFill>
          <a:ln w="9525">
            <a:solidFill>
              <a:schemeClr val="accent6">
                <a:alpha val="65000"/>
              </a:schemeClr>
            </a:solidFill>
          </a:ln>
        </p:spPr>
        <p:txBody>
          <a:bodyPr wrap="square" lIns="101600" tIns="152400" rIns="152400" bIns="76200" rtlCol="0" anchor="ctr"/>
          <a:lstStyle/>
          <a:p>
            <a:pPr algn="l" indent="0" marL="0">
              <a:buNone/>
            </a:pPr>
            <a:r>
              <a:rPr lang="en-US" sz="1600" b="1" dirty="0">
                <a:solidFill>
                  <a:schemeClr val="bg1"/>
                </a:solidFill>
              </a:rPr>
              <a:t>analytics + visualizations</a:t>
            </a:r>
            <a:endParaRPr lang="en-US" sz="1400" dirty="0"/>
          </a:p>
          <a:p>
            <a:pPr algn="l" indent="0" marL="0">
              <a:buNone/>
            </a:pPr>
            <a:r>
              <a:rPr lang="en-US" sz="1300" dirty="0">
                <a:solidFill>
                  <a:schemeClr val="bg2"/>
                </a:solidFill>
              </a:rPr>
              <a:t>Statistics and 8 charts</a:t>
            </a:r>
            <a:endParaRPr lang="en-US" sz="1400" dirty="0"/>
          </a:p>
        </p:txBody>
      </p:sp>
      <p:sp>
        <p:nvSpPr>
          <p:cNvPr id="16" name="!!st_db"/>
          <p:cNvSpPr txBox="1"/>
          <p:nvPr/>
        </p:nvSpPr>
        <p:spPr>
          <a:xfrm>
            <a:off x="2468880" y="4526280"/>
            <a:ext cx="5989320" cy="777240"/>
          </a:xfrm>
          <a:prstGeom prst="roundRect">
            <a:avLst>
              <a:gd name="adj" fmla="val 14118"/>
            </a:avLst>
          </a:prstGeom>
          <a:solidFill>
            <a:schemeClr val="bg1">
              <a:alpha val="9000"/>
            </a:schemeClr>
          </a:solidFill>
          <a:ln w="9525">
            <a:solidFill>
              <a:schemeClr val="accent3">
                <a:alpha val="65000"/>
              </a:schemeClr>
            </a:solidFill>
          </a:ln>
        </p:spPr>
        <p:txBody>
          <a:bodyPr wrap="square" lIns="101600" tIns="152400" rIns="152400" bIns="76200" rtlCol="0" anchor="ctr"/>
          <a:lstStyle/>
          <a:p>
            <a:pPr algn="l" indent="0" marL="0">
              <a:buNone/>
            </a:pPr>
            <a:r>
              <a:rPr lang="en-US" sz="1600" b="1" dirty="0">
                <a:solidFill>
                  <a:schemeClr val="bg1"/>
                </a:solidFill>
              </a:rPr>
              <a:t>database.py  →  SQLite</a:t>
            </a:r>
            <a:endParaRPr lang="en-US" sz="1400" dirty="0"/>
          </a:p>
          <a:p>
            <a:pPr algn="l" indent="0" marL="0">
              <a:buNone/>
            </a:pPr>
            <a:r>
              <a:rPr lang="en-US" sz="1300" dirty="0">
                <a:solidFill>
                  <a:schemeClr val="bg2"/>
                </a:solidFill>
              </a:rPr>
              <a:t>flights  ·  airports  ·  refresh_log</a:t>
            </a:r>
            <a:endParaRPr lang="en-US" sz="1400" dirty="0"/>
          </a:p>
        </p:txBody>
      </p:sp>
      <p:sp>
        <p:nvSpPr>
          <p:cNvPr id="17" name="files"/>
          <p:cNvSpPr txBox="1"/>
          <p:nvPr/>
        </p:nvSpPr>
        <p:spPr>
          <a:xfrm>
            <a:off x="8595360" y="4526280"/>
            <a:ext cx="3044952" cy="777240"/>
          </a:xfrm>
          <a:prstGeom prst="roundRect">
            <a:avLst>
              <a:gd name="adj" fmla="val 14118"/>
            </a:avLst>
          </a:prstGeom>
          <a:solidFill>
            <a:schemeClr val="bg1">
              <a:alpha val="9000"/>
            </a:schemeClr>
          </a:solidFill>
          <a:ln w="9525">
            <a:solidFill>
              <a:schemeClr val="bg2">
                <a:alpha val="50000"/>
              </a:schemeClr>
            </a:solidFill>
          </a:ln>
        </p:spPr>
        <p:txBody>
          <a:bodyPr wrap="square" lIns="101600" tIns="152400" rIns="152400" bIns="76200" rtlCol="0" anchor="ctr"/>
          <a:lstStyle/>
          <a:p>
            <a:pPr algn="l" indent="0" marL="0">
              <a:buNone/>
            </a:pPr>
            <a:r>
              <a:rPr lang="en-US" sz="1500" b="1" dirty="0">
                <a:solidFill>
                  <a:schemeClr val="bg1"/>
                </a:solidFill>
              </a:rPr>
              <a:t>data/raw  ·  data/processed</a:t>
            </a:r>
            <a:endParaRPr lang="en-US" sz="1400" dirty="0"/>
          </a:p>
          <a:p>
            <a:pPr algn="l" indent="0" marL="0">
              <a:buNone/>
            </a:pPr>
            <a:r>
              <a:rPr lang="en-US" sz="1300" dirty="0">
                <a:solidFill>
                  <a:schemeClr val="bg2"/>
                </a:solidFill>
              </a:rPr>
              <a:t>JSON archive and CSV</a:t>
            </a:r>
            <a:endParaRPr lang="en-US" sz="1400" dirty="0"/>
          </a:p>
        </p:txBody>
      </p:sp>
      <p:sp>
        <p:nvSpPr>
          <p:cNvPr id="18" name="!!st_api"/>
          <p:cNvSpPr txBox="1"/>
          <p:nvPr/>
        </p:nvSpPr>
        <p:spPr>
          <a:xfrm>
            <a:off x="2468880" y="5486400"/>
            <a:ext cx="5989320" cy="777240"/>
          </a:xfrm>
          <a:prstGeom prst="roundRect">
            <a:avLst>
              <a:gd name="adj" fmla="val 14118"/>
            </a:avLst>
          </a:prstGeom>
          <a:solidFill>
            <a:schemeClr val="bg1">
              <a:alpha val="9000"/>
            </a:schemeClr>
          </a:solidFill>
          <a:ln w="9525">
            <a:solidFill>
              <a:schemeClr val="accent1">
                <a:alpha val="65000"/>
              </a:schemeClr>
            </a:solidFill>
          </a:ln>
        </p:spPr>
        <p:txBody>
          <a:bodyPr wrap="square" lIns="101600" tIns="152400" rIns="152400" bIns="76200" rtlCol="0" anchor="ctr"/>
          <a:lstStyle/>
          <a:p>
            <a:pPr algn="l" indent="0" marL="0">
              <a:buNone/>
            </a:pPr>
            <a:r>
              <a:rPr lang="en-US" sz="1600" b="1" dirty="0">
                <a:solidFill>
                  <a:schemeClr val="bg1"/>
                </a:solidFill>
              </a:rPr>
              <a:t>api_client.py</a:t>
            </a:r>
            <a:endParaRPr lang="en-US" sz="1400" dirty="0"/>
          </a:p>
          <a:p>
            <a:pPr algn="l" indent="0" marL="0">
              <a:buNone/>
            </a:pPr>
            <a:r>
              <a:rPr lang="en-US" sz="1300" dirty="0">
                <a:solidFill>
                  <a:schemeClr val="bg2"/>
                </a:solidFill>
              </a:rPr>
              <a:t>HTTP clients with error mapping</a:t>
            </a:r>
            <a:endParaRPr lang="en-US" sz="1400" dirty="0"/>
          </a:p>
        </p:txBody>
      </p:sp>
      <p:sp>
        <p:nvSpPr>
          <p:cNvPr id="19" name="ext"/>
          <p:cNvSpPr txBox="1"/>
          <p:nvPr/>
        </p:nvSpPr>
        <p:spPr>
          <a:xfrm>
            <a:off x="8595360" y="5486400"/>
            <a:ext cx="3044952" cy="777240"/>
          </a:xfrm>
          <a:prstGeom prst="roundRect">
            <a:avLst>
              <a:gd name="adj" fmla="val 14118"/>
            </a:avLst>
          </a:prstGeom>
          <a:solidFill>
            <a:schemeClr val="bg1">
              <a:alpha val="9000"/>
            </a:schemeClr>
          </a:solidFill>
          <a:ln w="9525">
            <a:solidFill>
              <a:schemeClr val="bg2">
                <a:alpha val="50000"/>
              </a:schemeClr>
            </a:solidFill>
          </a:ln>
        </p:spPr>
        <p:txBody>
          <a:bodyPr wrap="square" lIns="101600" tIns="152400" rIns="152400" bIns="76200" rtlCol="0" anchor="ctr"/>
          <a:lstStyle/>
          <a:p>
            <a:pPr algn="l" indent="0" marL="0">
              <a:buNone/>
            </a:pPr>
            <a:r>
              <a:rPr lang="en-US" sz="1500" b="1" dirty="0">
                <a:solidFill>
                  <a:schemeClr val="bg1"/>
                </a:solidFill>
              </a:rPr>
              <a:t>AviationStack · Open-Meteo</a:t>
            </a:r>
            <a:endParaRPr lang="en-US" sz="1400" dirty="0"/>
          </a:p>
          <a:p>
            <a:pPr algn="l" indent="0" marL="0">
              <a:buNone/>
            </a:pPr>
            <a:r>
              <a:rPr lang="en-US" sz="1300" dirty="0">
                <a:solidFill>
                  <a:schemeClr val="bg2"/>
                </a:solidFill>
              </a:rPr>
              <a:t>External services</a:t>
            </a:r>
            <a:endParaRPr lang="en-US" sz="1400" dirty="0"/>
          </a:p>
        </p:txBody>
      </p:sp>
      <p:sp>
        <p:nvSpPr>
          <p:cNvPr id="20" name="track"/>
          <p:cNvSpPr/>
          <p:nvPr/>
        </p:nvSpPr>
        <p:spPr>
          <a:xfrm>
            <a:off x="3383280" y="6510528"/>
            <a:ext cx="7132320" cy="0"/>
          </a:xfrm>
          <a:prstGeom prst="line">
            <a:avLst/>
          </a:prstGeom>
          <a:noFill/>
          <a:ln w="12700">
            <a:solidFill>
              <a:schemeClr val="bg2">
                <a:alpha val="45000"/>
              </a:schemeClr>
            </a:solidFill>
            <a:prstDash val="dash"/>
          </a:ln>
        </p:spPr>
      </p:sp>
      <p:sp>
        <p:nvSpPr>
          <p:cNvPr id="21" name="progress"/>
          <p:cNvSpPr/>
          <p:nvPr/>
        </p:nvSpPr>
        <p:spPr>
          <a:xfrm>
            <a:off x="3383280" y="6510528"/>
            <a:ext cx="1967537" cy="0"/>
          </a:xfrm>
          <a:prstGeom prst="line">
            <a:avLst/>
          </a:prstGeom>
          <a:noFill/>
          <a:ln w="28575">
            <a:solidFill>
              <a:schemeClr val="accent2"/>
            </a:solidFill>
            <a:prstDash val="solid"/>
          </a:ln>
        </p:spPr>
      </p:sp>
      <p:sp>
        <p:nvSpPr>
          <p:cNvPr id="22" name="wp0"/>
          <p:cNvSpPr/>
          <p:nvPr/>
        </p:nvSpPr>
        <p:spPr>
          <a:xfrm>
            <a:off x="3834016" y="6469380"/>
            <a:ext cx="82296" cy="82296"/>
          </a:xfrm>
          <a:prstGeom prst="ellipse">
            <a:avLst/>
          </a:prstGeom>
          <a:solidFill>
            <a:schemeClr val="accent2"/>
          </a:solidFill>
          <a:ln/>
        </p:spPr>
      </p:sp>
      <p:sp>
        <p:nvSpPr>
          <p:cNvPr id="23" name="wp1"/>
          <p:cNvSpPr/>
          <p:nvPr/>
        </p:nvSpPr>
        <p:spPr>
          <a:xfrm>
            <a:off x="4817784" y="6469380"/>
            <a:ext cx="82296" cy="82296"/>
          </a:xfrm>
          <a:prstGeom prst="ellipse">
            <a:avLst/>
          </a:prstGeom>
          <a:solidFill>
            <a:schemeClr val="accent2"/>
          </a:solidFill>
          <a:ln/>
        </p:spPr>
      </p:sp>
      <p:sp>
        <p:nvSpPr>
          <p:cNvPr id="24" name="wp2"/>
          <p:cNvSpPr/>
          <p:nvPr/>
        </p:nvSpPr>
        <p:spPr>
          <a:xfrm>
            <a:off x="7277205" y="6469380"/>
            <a:ext cx="82296" cy="82296"/>
          </a:xfrm>
          <a:prstGeom prst="ellipse">
            <a:avLst/>
          </a:prstGeom>
          <a:solidFill>
            <a:schemeClr val="bg2">
              <a:alpha val="60000"/>
            </a:schemeClr>
          </a:solidFill>
          <a:ln/>
        </p:spPr>
      </p:sp>
      <p:sp>
        <p:nvSpPr>
          <p:cNvPr id="25" name="wp3"/>
          <p:cNvSpPr/>
          <p:nvPr/>
        </p:nvSpPr>
        <p:spPr>
          <a:xfrm>
            <a:off x="8506915" y="6469380"/>
            <a:ext cx="82296" cy="82296"/>
          </a:xfrm>
          <a:prstGeom prst="ellipse">
            <a:avLst/>
          </a:prstGeom>
          <a:solidFill>
            <a:schemeClr val="bg2">
              <a:alpha val="60000"/>
            </a:schemeClr>
          </a:solidFill>
          <a:ln/>
        </p:spPr>
      </p:sp>
      <p:sp>
        <p:nvSpPr>
          <p:cNvPr id="26" name="wp4"/>
          <p:cNvSpPr/>
          <p:nvPr/>
        </p:nvSpPr>
        <p:spPr>
          <a:xfrm>
            <a:off x="9982568" y="6469380"/>
            <a:ext cx="82296" cy="82296"/>
          </a:xfrm>
          <a:prstGeom prst="ellipse">
            <a:avLst/>
          </a:prstGeom>
          <a:solidFill>
            <a:schemeClr val="bg2">
              <a:alpha val="60000"/>
            </a:schemeClr>
          </a:solidFill>
          <a:ln/>
        </p:spPr>
      </p:sp>
      <p:pic>
        <p:nvPicPr>
          <p:cNvPr id="27" name="!!tracker" descr="Progress marker">    </p:cNvPr>
          <p:cNvPicPr>
            <a:picLocks noChangeAspect="1"/>
          </p:cNvPicPr>
          <p:nvPr/>
        </p:nvPicPr>
        <p:blipFill>
          <a:blip r:embed="rId1"/>
          <a:stretch>
            <a:fillRect/>
          </a:stretch>
        </p:blipFill>
        <p:spPr>
          <a:xfrm>
            <a:off x="516793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10" presetClass="entr" presetSubtype="0" fill="hold" grpId="0" nodeType="afterEffect">
                                  <p:stCondLst>
                                    <p:cond delay="4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10" presetClass="entr" presetSubtype="0" fill="hold" grpId="0" nodeType="withEffect">
                                  <p:stCondLst>
                                    <p:cond delay="55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par>
                                <p:cTn id="19" presetID="10" presetClass="entr" presetSubtype="0" fill="hold" grpId="0" nodeType="withEffect">
                                  <p:stCondLst>
                                    <p:cond delay="7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85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10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par>
                                <p:cTn id="28" presetID="42" presetClass="entr" presetSubtype="0" fill="hold" grpId="0" nodeType="withEffect">
                                  <p:stCondLst>
                                    <p:cond delay="600"/>
                                  </p:stCondLst>
                                  <p:childTnLst>
                                    <p:set>
                                      <p:cBhvr>
                                        <p:cTn id="29" dur="1" fill="hold">
                                          <p:stCondLst>
                                            <p:cond delay="0"/>
                                          </p:stCondLst>
                                        </p:cTn>
                                        <p:tgtEl>
                                          <p:spTgt spid="11"/>
                                        </p:tgtEl>
                                        <p:attrNameLst>
                                          <p:attrName>style.visibility</p:attrName>
                                        </p:attrNameLst>
                                      </p:cBhvr>
                                      <p:to>
                                        <p:strVal val="visible"/>
                                      </p:to>
                                    </p:set>
                                    <p:anim calcmode="lin" valueType="num">
                                      <p:cBhvr additive="base">
                                        <p:cTn id="30" dur="600" fill="hold"/>
                                        <p:tgtEl>
                                          <p:spTgt spid="11"/>
                                        </p:tgtEl>
                                        <p:attrNameLst>
                                          <p:attrName>ppt_y</p:attrName>
                                        </p:attrNameLst>
                                      </p:cBhvr>
                                      <p:tavLst>
                                        <p:tav tm="0">
                                          <p:val>
                                            <p:strVal val="#ppt_y+.1"/>
                                          </p:val>
                                        </p:tav>
                                        <p:tav tm="100000">
                                          <p:val>
                                            <p:strVal val="#ppt_y"/>
                                          </p:val>
                                        </p:tav>
                                      </p:tavLst>
                                    </p:anim>
                                    <p:animEffect transition="in" filter="fade">
                                      <p:cBhvr>
                                        <p:cTn id="31" dur="600"/>
                                        <p:tgtEl>
                                          <p:spTgt spid="11"/>
                                        </p:tgtEl>
                                      </p:cBhvr>
                                    </p:animEffect>
                                  </p:childTnLst>
                                </p:cTn>
                              </p:par>
                              <p:par>
                                <p:cTn id="32" presetID="42" presetClass="entr" presetSubtype="0" fill="hold" grpId="0" nodeType="withEffect">
                                  <p:stCondLst>
                                    <p:cond delay="800"/>
                                  </p:stCondLst>
                                  <p:childTnLst>
                                    <p:set>
                                      <p:cBhvr>
                                        <p:cTn id="33" dur="1" fill="hold">
                                          <p:stCondLst>
                                            <p:cond delay="0"/>
                                          </p:stCondLst>
                                        </p:cTn>
                                        <p:tgtEl>
                                          <p:spTgt spid="12"/>
                                        </p:tgtEl>
                                        <p:attrNameLst>
                                          <p:attrName>style.visibility</p:attrName>
                                        </p:attrNameLst>
                                      </p:cBhvr>
                                      <p:to>
                                        <p:strVal val="visible"/>
                                      </p:to>
                                    </p:set>
                                    <p:anim calcmode="lin" valueType="num">
                                      <p:cBhvr additive="base">
                                        <p:cTn id="34" dur="600" fill="hold"/>
                                        <p:tgtEl>
                                          <p:spTgt spid="12"/>
                                        </p:tgtEl>
                                        <p:attrNameLst>
                                          <p:attrName>ppt_y</p:attrName>
                                        </p:attrNameLst>
                                      </p:cBhvr>
                                      <p:tavLst>
                                        <p:tav tm="0">
                                          <p:val>
                                            <p:strVal val="#ppt_y+.1"/>
                                          </p:val>
                                        </p:tav>
                                        <p:tav tm="100000">
                                          <p:val>
                                            <p:strVal val="#ppt_y"/>
                                          </p:val>
                                        </p:tav>
                                      </p:tavLst>
                                    </p:anim>
                                    <p:animEffect transition="in" filter="fade">
                                      <p:cBhvr>
                                        <p:cTn id="35" dur="600"/>
                                        <p:tgtEl>
                                          <p:spTgt spid="12"/>
                                        </p:tgtEl>
                                      </p:cBhvr>
                                    </p:animEffect>
                                  </p:childTnLst>
                                </p:cTn>
                              </p:par>
                              <p:par>
                                <p:cTn id="36" presetID="42" presetClass="entr" presetSubtype="0" fill="hold" grpId="0" nodeType="withEffect">
                                  <p:stCondLst>
                                    <p:cond delay="1000"/>
                                  </p:stCondLst>
                                  <p:childTnLst>
                                    <p:set>
                                      <p:cBhvr>
                                        <p:cTn id="37" dur="1" fill="hold">
                                          <p:stCondLst>
                                            <p:cond delay="0"/>
                                          </p:stCondLst>
                                        </p:cTn>
                                        <p:tgtEl>
                                          <p:spTgt spid="17"/>
                                        </p:tgtEl>
                                        <p:attrNameLst>
                                          <p:attrName>style.visibility</p:attrName>
                                        </p:attrNameLst>
                                      </p:cBhvr>
                                      <p:to>
                                        <p:strVal val="visible"/>
                                      </p:to>
                                    </p:set>
                                    <p:anim calcmode="lin" valueType="num">
                                      <p:cBhvr additive="base">
                                        <p:cTn id="38" dur="600" fill="hold"/>
                                        <p:tgtEl>
                                          <p:spTgt spid="17"/>
                                        </p:tgtEl>
                                        <p:attrNameLst>
                                          <p:attrName>ppt_y</p:attrName>
                                        </p:attrNameLst>
                                      </p:cBhvr>
                                      <p:tavLst>
                                        <p:tav tm="0">
                                          <p:val>
                                            <p:strVal val="#ppt_y+.1"/>
                                          </p:val>
                                        </p:tav>
                                        <p:tav tm="100000">
                                          <p:val>
                                            <p:strVal val="#ppt_y"/>
                                          </p:val>
                                        </p:tav>
                                      </p:tavLst>
                                    </p:anim>
                                    <p:animEffect transition="in" filter="fade">
                                      <p:cBhvr>
                                        <p:cTn id="39" dur="600"/>
                                        <p:tgtEl>
                                          <p:spTgt spid="17"/>
                                        </p:tgtEl>
                                      </p:cBhvr>
                                    </p:animEffect>
                                  </p:childTnLst>
                                </p:cTn>
                              </p:par>
                              <p:par>
                                <p:cTn id="40" presetID="42" presetClass="entr" presetSubtype="0" fill="hold" grpId="0" nodeType="withEffect">
                                  <p:stCondLst>
                                    <p:cond delay="1200"/>
                                  </p:stCondLst>
                                  <p:childTnLst>
                                    <p:set>
                                      <p:cBhvr>
                                        <p:cTn id="41" dur="1" fill="hold">
                                          <p:stCondLst>
                                            <p:cond delay="0"/>
                                          </p:stCondLst>
                                        </p:cTn>
                                        <p:tgtEl>
                                          <p:spTgt spid="19"/>
                                        </p:tgtEl>
                                        <p:attrNameLst>
                                          <p:attrName>style.visibility</p:attrName>
                                        </p:attrNameLst>
                                      </p:cBhvr>
                                      <p:to>
                                        <p:strVal val="visible"/>
                                      </p:to>
                                    </p:set>
                                    <p:anim calcmode="lin" valueType="num">
                                      <p:cBhvr additive="base">
                                        <p:cTn id="42" dur="600" fill="hold"/>
                                        <p:tgtEl>
                                          <p:spTgt spid="19"/>
                                        </p:tgtEl>
                                        <p:attrNameLst>
                                          <p:attrName>ppt_y</p:attrName>
                                        </p:attrNameLst>
                                      </p:cBhvr>
                                      <p:tavLst>
                                        <p:tav tm="0">
                                          <p:val>
                                            <p:strVal val="#ppt_y+.1"/>
                                          </p:val>
                                        </p:tav>
                                        <p:tav tm="100000">
                                          <p:val>
                                            <p:strVal val="#ppt_y"/>
                                          </p:val>
                                        </p:tav>
                                      </p:tavLst>
                                    </p:anim>
                                    <p:animEffect transition="in" filter="fade">
                                      <p:cBhvr>
                                        <p:cTn id="43"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1" grpId="0" animBg="1"/>
      <p:bldP spid="12" grpId="0" animBg="1"/>
      <p:bldP spid="17" grpId="0" animBg="1"/>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Technology stack</a:t>
            </a:r>
            <a:endParaRPr lang="en-US" sz="3600" dirty="0"/>
          </a:p>
        </p:txBody>
      </p:sp>
      <p:sp>
        <p:nvSpPr>
          <p:cNvPr id="5" name="tc0c"/>
          <p:cNvSpPr/>
          <p:nvPr/>
        </p:nvSpPr>
        <p:spPr>
          <a:xfrm>
            <a:off x="548640" y="169164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6" name="tc0b_c"/>
          <p:cNvSpPr/>
          <p:nvPr/>
        </p:nvSpPr>
        <p:spPr>
          <a:xfrm>
            <a:off x="777240" y="2011680"/>
            <a:ext cx="640080" cy="640080"/>
          </a:xfrm>
          <a:prstGeom prst="ellipse">
            <a:avLst/>
          </a:prstGeom>
          <a:solidFill>
            <a:schemeClr val="accent3">
              <a:alpha val="28000"/>
            </a:schemeClr>
          </a:solidFill>
          <a:ln/>
        </p:spPr>
      </p:sp>
      <p:pic>
        <p:nvPicPr>
          <p:cNvPr id="7" name="tc0b_i" descr="LuCode">    </p:cNvPr>
          <p:cNvPicPr>
            <a:picLocks noChangeAspect="1"/>
          </p:cNvPicPr>
          <p:nvPr/>
        </p:nvPicPr>
        <p:blipFill>
          <a:blip r:embed="rId1"/>
          <a:stretch>
            <a:fillRect/>
          </a:stretch>
        </p:blipFill>
        <p:spPr>
          <a:xfrm>
            <a:off x="937260" y="2171700"/>
            <a:ext cx="320040" cy="320040"/>
          </a:xfrm>
          <a:prstGeom prst="rect">
            <a:avLst/>
          </a:prstGeom>
        </p:spPr>
      </p:pic>
      <p:sp>
        <p:nvSpPr>
          <p:cNvPr id="8" name="tc0n"/>
          <p:cNvSpPr txBox="1"/>
          <p:nvPr/>
        </p:nvSpPr>
        <p:spPr>
          <a:xfrm>
            <a:off x="1600200" y="196596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Python 3.10+</a:t>
            </a:r>
            <a:endParaRPr lang="en-US" sz="1800" dirty="0"/>
          </a:p>
        </p:txBody>
      </p:sp>
      <p:sp>
        <p:nvSpPr>
          <p:cNvPr id="9" name="tc0r"/>
          <p:cNvSpPr txBox="1"/>
          <p:nvPr/>
        </p:nvSpPr>
        <p:spPr>
          <a:xfrm>
            <a:off x="1600200" y="235000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Language and runtime</a:t>
            </a:r>
            <a:endParaRPr lang="en-US" sz="1400" dirty="0"/>
          </a:p>
        </p:txBody>
      </p:sp>
      <p:sp>
        <p:nvSpPr>
          <p:cNvPr id="10" name="tc1c"/>
          <p:cNvSpPr/>
          <p:nvPr/>
        </p:nvSpPr>
        <p:spPr>
          <a:xfrm>
            <a:off x="4270248" y="169164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11" name="tc1b_c"/>
          <p:cNvSpPr/>
          <p:nvPr/>
        </p:nvSpPr>
        <p:spPr>
          <a:xfrm>
            <a:off x="4498848" y="2011680"/>
            <a:ext cx="640080" cy="640080"/>
          </a:xfrm>
          <a:prstGeom prst="ellipse">
            <a:avLst/>
          </a:prstGeom>
          <a:solidFill>
            <a:schemeClr val="accent2">
              <a:alpha val="28000"/>
            </a:schemeClr>
          </a:solidFill>
          <a:ln/>
        </p:spPr>
      </p:sp>
      <p:pic>
        <p:nvPicPr>
          <p:cNvPr id="12" name="tc1b_i" descr="LuMonitor">    </p:cNvPr>
          <p:cNvPicPr>
            <a:picLocks noChangeAspect="1"/>
          </p:cNvPicPr>
          <p:nvPr/>
        </p:nvPicPr>
        <p:blipFill>
          <a:blip r:embed="rId2"/>
          <a:stretch>
            <a:fillRect/>
          </a:stretch>
        </p:blipFill>
        <p:spPr>
          <a:xfrm>
            <a:off x="4658868" y="2171700"/>
            <a:ext cx="320040" cy="320040"/>
          </a:xfrm>
          <a:prstGeom prst="rect">
            <a:avLst/>
          </a:prstGeom>
        </p:spPr>
      </p:pic>
      <p:sp>
        <p:nvSpPr>
          <p:cNvPr id="13" name="tc1n"/>
          <p:cNvSpPr txBox="1"/>
          <p:nvPr/>
        </p:nvSpPr>
        <p:spPr>
          <a:xfrm>
            <a:off x="5321808" y="196596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PySide6  ≥ 6.6</a:t>
            </a:r>
            <a:endParaRPr lang="en-US" sz="1800" dirty="0"/>
          </a:p>
        </p:txBody>
      </p:sp>
      <p:sp>
        <p:nvSpPr>
          <p:cNvPr id="14" name="tc1r"/>
          <p:cNvSpPr txBox="1"/>
          <p:nvPr/>
        </p:nvSpPr>
        <p:spPr>
          <a:xfrm>
            <a:off x="5321808" y="235000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Qt desktop interface</a:t>
            </a:r>
            <a:endParaRPr lang="en-US" sz="1400" dirty="0"/>
          </a:p>
        </p:txBody>
      </p:sp>
      <p:sp>
        <p:nvSpPr>
          <p:cNvPr id="15" name="tc2c"/>
          <p:cNvSpPr/>
          <p:nvPr/>
        </p:nvSpPr>
        <p:spPr>
          <a:xfrm>
            <a:off x="7991856" y="169164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16" name="tc2b_c"/>
          <p:cNvSpPr/>
          <p:nvPr/>
        </p:nvSpPr>
        <p:spPr>
          <a:xfrm>
            <a:off x="8220456" y="2011680"/>
            <a:ext cx="640080" cy="640080"/>
          </a:xfrm>
          <a:prstGeom prst="ellipse">
            <a:avLst/>
          </a:prstGeom>
          <a:solidFill>
            <a:schemeClr val="accent1">
              <a:alpha val="28000"/>
            </a:schemeClr>
          </a:solidFill>
          <a:ln/>
        </p:spPr>
      </p:sp>
      <p:pic>
        <p:nvPicPr>
          <p:cNvPr id="17" name="tc2b_i" descr="LuTable">    </p:cNvPr>
          <p:cNvPicPr>
            <a:picLocks noChangeAspect="1"/>
          </p:cNvPicPr>
          <p:nvPr/>
        </p:nvPicPr>
        <p:blipFill>
          <a:blip r:embed="rId3"/>
          <a:stretch>
            <a:fillRect/>
          </a:stretch>
        </p:blipFill>
        <p:spPr>
          <a:xfrm>
            <a:off x="8380476" y="2171700"/>
            <a:ext cx="320040" cy="320040"/>
          </a:xfrm>
          <a:prstGeom prst="rect">
            <a:avLst/>
          </a:prstGeom>
        </p:spPr>
      </p:pic>
      <p:sp>
        <p:nvSpPr>
          <p:cNvPr id="18" name="tc2n"/>
          <p:cNvSpPr txBox="1"/>
          <p:nvPr/>
        </p:nvSpPr>
        <p:spPr>
          <a:xfrm>
            <a:off x="9043416" y="196596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pandas  ≥ 2.0</a:t>
            </a:r>
            <a:endParaRPr lang="en-US" sz="1800" dirty="0"/>
          </a:p>
        </p:txBody>
      </p:sp>
      <p:sp>
        <p:nvSpPr>
          <p:cNvPr id="19" name="tc2r"/>
          <p:cNvSpPr txBox="1"/>
          <p:nvPr/>
        </p:nvSpPr>
        <p:spPr>
          <a:xfrm>
            <a:off x="9043416" y="235000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Transformation and analytics</a:t>
            </a:r>
            <a:endParaRPr lang="en-US" sz="1400" dirty="0"/>
          </a:p>
        </p:txBody>
      </p:sp>
      <p:sp>
        <p:nvSpPr>
          <p:cNvPr id="20" name="tc3c"/>
          <p:cNvSpPr/>
          <p:nvPr/>
        </p:nvSpPr>
        <p:spPr>
          <a:xfrm>
            <a:off x="548640" y="310896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21" name="tc3b_c"/>
          <p:cNvSpPr/>
          <p:nvPr/>
        </p:nvSpPr>
        <p:spPr>
          <a:xfrm>
            <a:off x="777240" y="3429000"/>
            <a:ext cx="640080" cy="640080"/>
          </a:xfrm>
          <a:prstGeom prst="ellipse">
            <a:avLst/>
          </a:prstGeom>
          <a:solidFill>
            <a:schemeClr val="accent4">
              <a:alpha val="28000"/>
            </a:schemeClr>
          </a:solidFill>
          <a:ln/>
        </p:spPr>
      </p:sp>
      <p:pic>
        <p:nvPicPr>
          <p:cNvPr id="22" name="tc3b_i" descr="LuShieldCheck">    </p:cNvPr>
          <p:cNvPicPr>
            <a:picLocks noChangeAspect="1"/>
          </p:cNvPicPr>
          <p:nvPr/>
        </p:nvPicPr>
        <p:blipFill>
          <a:blip r:embed="rId4"/>
          <a:stretch>
            <a:fillRect/>
          </a:stretch>
        </p:blipFill>
        <p:spPr>
          <a:xfrm>
            <a:off x="937260" y="3589020"/>
            <a:ext cx="320040" cy="320040"/>
          </a:xfrm>
          <a:prstGeom prst="rect">
            <a:avLst/>
          </a:prstGeom>
        </p:spPr>
      </p:pic>
      <p:sp>
        <p:nvSpPr>
          <p:cNvPr id="23" name="tc3n"/>
          <p:cNvSpPr txBox="1"/>
          <p:nvPr/>
        </p:nvSpPr>
        <p:spPr>
          <a:xfrm>
            <a:off x="1600200" y="338328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Pydantic  ≥ 2.5</a:t>
            </a:r>
            <a:endParaRPr lang="en-US" sz="1800" dirty="0"/>
          </a:p>
        </p:txBody>
      </p:sp>
      <p:sp>
        <p:nvSpPr>
          <p:cNvPr id="24" name="tc3r"/>
          <p:cNvSpPr txBox="1"/>
          <p:nvPr/>
        </p:nvSpPr>
        <p:spPr>
          <a:xfrm>
            <a:off x="1600200" y="376732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Record validation</a:t>
            </a:r>
            <a:endParaRPr lang="en-US" sz="1400" dirty="0"/>
          </a:p>
        </p:txBody>
      </p:sp>
      <p:sp>
        <p:nvSpPr>
          <p:cNvPr id="25" name="tc4c"/>
          <p:cNvSpPr/>
          <p:nvPr/>
        </p:nvSpPr>
        <p:spPr>
          <a:xfrm>
            <a:off x="4270248" y="310896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26" name="tc4b_c"/>
          <p:cNvSpPr/>
          <p:nvPr/>
        </p:nvSpPr>
        <p:spPr>
          <a:xfrm>
            <a:off x="4498848" y="3429000"/>
            <a:ext cx="640080" cy="640080"/>
          </a:xfrm>
          <a:prstGeom prst="ellipse">
            <a:avLst/>
          </a:prstGeom>
          <a:solidFill>
            <a:schemeClr val="accent3">
              <a:alpha val="28000"/>
            </a:schemeClr>
          </a:solidFill>
          <a:ln/>
        </p:spPr>
      </p:sp>
      <p:pic>
        <p:nvPicPr>
          <p:cNvPr id="27" name="tc4b_i" descr="LuDatabase">    </p:cNvPr>
          <p:cNvPicPr>
            <a:picLocks noChangeAspect="1"/>
          </p:cNvPicPr>
          <p:nvPr/>
        </p:nvPicPr>
        <p:blipFill>
          <a:blip r:embed="rId5"/>
          <a:stretch>
            <a:fillRect/>
          </a:stretch>
        </p:blipFill>
        <p:spPr>
          <a:xfrm>
            <a:off x="4658868" y="3589020"/>
            <a:ext cx="320040" cy="320040"/>
          </a:xfrm>
          <a:prstGeom prst="rect">
            <a:avLst/>
          </a:prstGeom>
        </p:spPr>
      </p:pic>
      <p:sp>
        <p:nvSpPr>
          <p:cNvPr id="28" name="tc4n"/>
          <p:cNvSpPr txBox="1"/>
          <p:nvPr/>
        </p:nvSpPr>
        <p:spPr>
          <a:xfrm>
            <a:off x="5321808" y="338328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SQLite</a:t>
            </a:r>
            <a:endParaRPr lang="en-US" sz="1800" dirty="0"/>
          </a:p>
        </p:txBody>
      </p:sp>
      <p:sp>
        <p:nvSpPr>
          <p:cNvPr id="29" name="tc4r"/>
          <p:cNvSpPr txBox="1"/>
          <p:nvPr/>
        </p:nvSpPr>
        <p:spPr>
          <a:xfrm>
            <a:off x="5321808" y="376732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Local persistence</a:t>
            </a:r>
            <a:endParaRPr lang="en-US" sz="1400" dirty="0"/>
          </a:p>
        </p:txBody>
      </p:sp>
      <p:sp>
        <p:nvSpPr>
          <p:cNvPr id="30" name="tc5c"/>
          <p:cNvSpPr/>
          <p:nvPr/>
        </p:nvSpPr>
        <p:spPr>
          <a:xfrm>
            <a:off x="7991856" y="310896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31" name="tc5b_c"/>
          <p:cNvSpPr/>
          <p:nvPr/>
        </p:nvSpPr>
        <p:spPr>
          <a:xfrm>
            <a:off x="8220456" y="3429000"/>
            <a:ext cx="640080" cy="640080"/>
          </a:xfrm>
          <a:prstGeom prst="ellipse">
            <a:avLst/>
          </a:prstGeom>
          <a:solidFill>
            <a:schemeClr val="accent6">
              <a:alpha val="28000"/>
            </a:schemeClr>
          </a:solidFill>
          <a:ln/>
        </p:spPr>
      </p:sp>
      <p:pic>
        <p:nvPicPr>
          <p:cNvPr id="32" name="tc5b_i" descr="LuChartBar">    </p:cNvPr>
          <p:cNvPicPr>
            <a:picLocks noChangeAspect="1"/>
          </p:cNvPicPr>
          <p:nvPr/>
        </p:nvPicPr>
        <p:blipFill>
          <a:blip r:embed="rId6"/>
          <a:stretch>
            <a:fillRect/>
          </a:stretch>
        </p:blipFill>
        <p:spPr>
          <a:xfrm>
            <a:off x="8380476" y="3589020"/>
            <a:ext cx="320040" cy="320040"/>
          </a:xfrm>
          <a:prstGeom prst="rect">
            <a:avLst/>
          </a:prstGeom>
        </p:spPr>
      </p:pic>
      <p:sp>
        <p:nvSpPr>
          <p:cNvPr id="33" name="tc5n"/>
          <p:cNvSpPr txBox="1"/>
          <p:nvPr/>
        </p:nvSpPr>
        <p:spPr>
          <a:xfrm>
            <a:off x="9043416" y="338328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Matplotlib  ≥ 3.8</a:t>
            </a:r>
            <a:endParaRPr lang="en-US" sz="1800" dirty="0"/>
          </a:p>
        </p:txBody>
      </p:sp>
      <p:sp>
        <p:nvSpPr>
          <p:cNvPr id="34" name="tc5r"/>
          <p:cNvSpPr txBox="1"/>
          <p:nvPr/>
        </p:nvSpPr>
        <p:spPr>
          <a:xfrm>
            <a:off x="9043416" y="376732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Charts in the GUI and saved PNGs</a:t>
            </a:r>
            <a:endParaRPr lang="en-US" sz="1400" dirty="0"/>
          </a:p>
        </p:txBody>
      </p:sp>
      <p:sp>
        <p:nvSpPr>
          <p:cNvPr id="35" name="tc6c"/>
          <p:cNvSpPr/>
          <p:nvPr/>
        </p:nvSpPr>
        <p:spPr>
          <a:xfrm>
            <a:off x="548640" y="452628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36" name="tc6b_c"/>
          <p:cNvSpPr/>
          <p:nvPr/>
        </p:nvSpPr>
        <p:spPr>
          <a:xfrm>
            <a:off x="777240" y="4846320"/>
            <a:ext cx="640080" cy="640080"/>
          </a:xfrm>
          <a:prstGeom prst="ellipse">
            <a:avLst/>
          </a:prstGeom>
          <a:solidFill>
            <a:schemeClr val="accent1">
              <a:alpha val="28000"/>
            </a:schemeClr>
          </a:solidFill>
          <a:ln/>
        </p:spPr>
      </p:sp>
      <p:pic>
        <p:nvPicPr>
          <p:cNvPr id="37" name="tc6b_i" descr="LuPlug">    </p:cNvPr>
          <p:cNvPicPr>
            <a:picLocks noChangeAspect="1"/>
          </p:cNvPicPr>
          <p:nvPr/>
        </p:nvPicPr>
        <p:blipFill>
          <a:blip r:embed="rId7"/>
          <a:stretch>
            <a:fillRect/>
          </a:stretch>
        </p:blipFill>
        <p:spPr>
          <a:xfrm>
            <a:off x="937260" y="5006340"/>
            <a:ext cx="320040" cy="320040"/>
          </a:xfrm>
          <a:prstGeom prst="rect">
            <a:avLst/>
          </a:prstGeom>
        </p:spPr>
      </p:pic>
      <p:sp>
        <p:nvSpPr>
          <p:cNvPr id="38" name="tc6n"/>
          <p:cNvSpPr txBox="1"/>
          <p:nvPr/>
        </p:nvSpPr>
        <p:spPr>
          <a:xfrm>
            <a:off x="1600200" y="480060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requests  ≥ 2.31</a:t>
            </a:r>
            <a:endParaRPr lang="en-US" sz="1800" dirty="0"/>
          </a:p>
        </p:txBody>
      </p:sp>
      <p:sp>
        <p:nvSpPr>
          <p:cNvPr id="39" name="tc6r"/>
          <p:cNvSpPr txBox="1"/>
          <p:nvPr/>
        </p:nvSpPr>
        <p:spPr>
          <a:xfrm>
            <a:off x="1600200" y="518464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HTTP client for the APIs</a:t>
            </a:r>
            <a:endParaRPr lang="en-US" sz="1400" dirty="0"/>
          </a:p>
        </p:txBody>
      </p:sp>
      <p:sp>
        <p:nvSpPr>
          <p:cNvPr id="40" name="tc7c"/>
          <p:cNvSpPr/>
          <p:nvPr/>
        </p:nvSpPr>
        <p:spPr>
          <a:xfrm>
            <a:off x="4270248" y="452628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41" name="tc7b_c"/>
          <p:cNvSpPr/>
          <p:nvPr/>
        </p:nvSpPr>
        <p:spPr>
          <a:xfrm>
            <a:off x="4498848" y="4846320"/>
            <a:ext cx="640080" cy="640080"/>
          </a:xfrm>
          <a:prstGeom prst="ellipse">
            <a:avLst/>
          </a:prstGeom>
          <a:solidFill>
            <a:schemeClr val="accent5">
              <a:alpha val="28000"/>
            </a:schemeClr>
          </a:solidFill>
          <a:ln/>
        </p:spPr>
      </p:sp>
      <p:pic>
        <p:nvPicPr>
          <p:cNvPr id="42" name="tc7b_i" descr="LuKey">    </p:cNvPr>
          <p:cNvPicPr>
            <a:picLocks noChangeAspect="1"/>
          </p:cNvPicPr>
          <p:nvPr/>
        </p:nvPicPr>
        <p:blipFill>
          <a:blip r:embed="rId8"/>
          <a:stretch>
            <a:fillRect/>
          </a:stretch>
        </p:blipFill>
        <p:spPr>
          <a:xfrm>
            <a:off x="4658868" y="5006340"/>
            <a:ext cx="320040" cy="320040"/>
          </a:xfrm>
          <a:prstGeom prst="rect">
            <a:avLst/>
          </a:prstGeom>
        </p:spPr>
      </p:pic>
      <p:sp>
        <p:nvSpPr>
          <p:cNvPr id="43" name="tc7n"/>
          <p:cNvSpPr txBox="1"/>
          <p:nvPr/>
        </p:nvSpPr>
        <p:spPr>
          <a:xfrm>
            <a:off x="5321808" y="480060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python-dotenv  ≥ 1.0</a:t>
            </a:r>
            <a:endParaRPr lang="en-US" sz="1800" dirty="0"/>
          </a:p>
        </p:txBody>
      </p:sp>
      <p:sp>
        <p:nvSpPr>
          <p:cNvPr id="44" name="tc7r"/>
          <p:cNvSpPr txBox="1"/>
          <p:nvPr/>
        </p:nvSpPr>
        <p:spPr>
          <a:xfrm>
            <a:off x="5321808" y="518464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Configuration from .env</a:t>
            </a:r>
            <a:endParaRPr lang="en-US" sz="1400" dirty="0"/>
          </a:p>
        </p:txBody>
      </p:sp>
      <p:sp>
        <p:nvSpPr>
          <p:cNvPr id="45" name="tc8c"/>
          <p:cNvSpPr/>
          <p:nvPr/>
        </p:nvSpPr>
        <p:spPr>
          <a:xfrm>
            <a:off x="7991856" y="4526280"/>
            <a:ext cx="3611880" cy="1280160"/>
          </a:xfrm>
          <a:prstGeom prst="roundRect">
            <a:avLst>
              <a:gd name="adj" fmla="val 8571"/>
            </a:avLst>
          </a:prstGeom>
          <a:solidFill>
            <a:schemeClr val="bg1">
              <a:alpha val="9000"/>
            </a:schemeClr>
          </a:solidFill>
          <a:ln w="9525">
            <a:solidFill>
              <a:schemeClr val="bg1">
                <a:alpha val="22000"/>
              </a:schemeClr>
            </a:solidFill>
            <a:prstDash val="solid"/>
          </a:ln>
        </p:spPr>
      </p:sp>
      <p:sp>
        <p:nvSpPr>
          <p:cNvPr id="46" name="tc8b_c"/>
          <p:cNvSpPr/>
          <p:nvPr/>
        </p:nvSpPr>
        <p:spPr>
          <a:xfrm>
            <a:off x="8220456" y="4846320"/>
            <a:ext cx="640080" cy="640080"/>
          </a:xfrm>
          <a:prstGeom prst="ellipse">
            <a:avLst/>
          </a:prstGeom>
          <a:solidFill>
            <a:schemeClr val="accent2">
              <a:alpha val="28000"/>
            </a:schemeClr>
          </a:solidFill>
          <a:ln/>
        </p:spPr>
      </p:sp>
      <p:pic>
        <p:nvPicPr>
          <p:cNvPr id="47" name="tc8b_i" descr="LuFlaskConical">    </p:cNvPr>
          <p:cNvPicPr>
            <a:picLocks noChangeAspect="1"/>
          </p:cNvPicPr>
          <p:nvPr/>
        </p:nvPicPr>
        <p:blipFill>
          <a:blip r:embed="rId9"/>
          <a:stretch>
            <a:fillRect/>
          </a:stretch>
        </p:blipFill>
        <p:spPr>
          <a:xfrm>
            <a:off x="8380476" y="5006340"/>
            <a:ext cx="320040" cy="320040"/>
          </a:xfrm>
          <a:prstGeom prst="rect">
            <a:avLst/>
          </a:prstGeom>
        </p:spPr>
      </p:pic>
      <p:sp>
        <p:nvSpPr>
          <p:cNvPr id="48" name="tc8n"/>
          <p:cNvSpPr txBox="1"/>
          <p:nvPr/>
        </p:nvSpPr>
        <p:spPr>
          <a:xfrm>
            <a:off x="9043416" y="4800600"/>
            <a:ext cx="2468880" cy="365760"/>
          </a:xfrm>
          <a:prstGeom prst="rect">
            <a:avLst/>
          </a:prstGeom>
          <a:noFill/>
          <a:ln/>
        </p:spPr>
        <p:txBody>
          <a:bodyPr wrap="square" lIns="0" tIns="0" rIns="0" bIns="0" rtlCol="0" anchor="t"/>
          <a:lstStyle/>
          <a:p>
            <a:pPr algn="l" indent="0" marL="0">
              <a:buNone/>
            </a:pPr>
            <a:r>
              <a:rPr lang="en-US" sz="1800" b="1" dirty="0">
                <a:solidFill>
                  <a:schemeClr val="bg1"/>
                </a:solidFill>
              </a:rPr>
              <a:t>pytest  ≥ 8.0</a:t>
            </a:r>
            <a:endParaRPr lang="en-US" sz="1800" dirty="0"/>
          </a:p>
        </p:txBody>
      </p:sp>
      <p:sp>
        <p:nvSpPr>
          <p:cNvPr id="49" name="tc8r"/>
          <p:cNvSpPr txBox="1"/>
          <p:nvPr/>
        </p:nvSpPr>
        <p:spPr>
          <a:xfrm>
            <a:off x="9043416" y="5184648"/>
            <a:ext cx="2468880" cy="457200"/>
          </a:xfrm>
          <a:prstGeom prst="rect">
            <a:avLst/>
          </a:prstGeom>
          <a:noFill/>
          <a:ln/>
        </p:spPr>
        <p:txBody>
          <a:bodyPr wrap="square" lIns="0" tIns="0" rIns="0" bIns="0" rtlCol="0" anchor="t"/>
          <a:lstStyle/>
          <a:p>
            <a:pPr algn="l" indent="0" marL="0">
              <a:buNone/>
            </a:pPr>
            <a:r>
              <a:rPr lang="en-US" sz="1400" dirty="0">
                <a:solidFill>
                  <a:schemeClr val="bg2"/>
                </a:solidFill>
              </a:rPr>
              <a:t>Automated test suite</a:t>
            </a:r>
            <a:endParaRPr lang="en-US" sz="1400" dirty="0"/>
          </a:p>
        </p:txBody>
      </p:sp>
      <p:sp>
        <p:nvSpPr>
          <p:cNvPr id="50" name="track"/>
          <p:cNvSpPr/>
          <p:nvPr/>
        </p:nvSpPr>
        <p:spPr>
          <a:xfrm>
            <a:off x="3383280" y="6510528"/>
            <a:ext cx="7132320" cy="0"/>
          </a:xfrm>
          <a:prstGeom prst="line">
            <a:avLst/>
          </a:prstGeom>
          <a:noFill/>
          <a:ln w="12700">
            <a:solidFill>
              <a:schemeClr val="bg2">
                <a:alpha val="45000"/>
              </a:schemeClr>
            </a:solidFill>
            <a:prstDash val="dash"/>
          </a:ln>
        </p:spPr>
      </p:sp>
      <p:sp>
        <p:nvSpPr>
          <p:cNvPr id="51" name="progress"/>
          <p:cNvSpPr/>
          <p:nvPr/>
        </p:nvSpPr>
        <p:spPr>
          <a:xfrm>
            <a:off x="3383280" y="6510528"/>
            <a:ext cx="1967537" cy="0"/>
          </a:xfrm>
          <a:prstGeom prst="line">
            <a:avLst/>
          </a:prstGeom>
          <a:noFill/>
          <a:ln w="28575">
            <a:solidFill>
              <a:schemeClr val="accent2"/>
            </a:solidFill>
            <a:prstDash val="solid"/>
          </a:ln>
        </p:spPr>
      </p:sp>
      <p:sp>
        <p:nvSpPr>
          <p:cNvPr id="52" name="wp0"/>
          <p:cNvSpPr/>
          <p:nvPr/>
        </p:nvSpPr>
        <p:spPr>
          <a:xfrm>
            <a:off x="3834016" y="6469380"/>
            <a:ext cx="82296" cy="82296"/>
          </a:xfrm>
          <a:prstGeom prst="ellipse">
            <a:avLst/>
          </a:prstGeom>
          <a:solidFill>
            <a:schemeClr val="accent2"/>
          </a:solidFill>
          <a:ln/>
        </p:spPr>
      </p:sp>
      <p:sp>
        <p:nvSpPr>
          <p:cNvPr id="53" name="wp1"/>
          <p:cNvSpPr/>
          <p:nvPr/>
        </p:nvSpPr>
        <p:spPr>
          <a:xfrm>
            <a:off x="4817784" y="6469380"/>
            <a:ext cx="82296" cy="82296"/>
          </a:xfrm>
          <a:prstGeom prst="ellipse">
            <a:avLst/>
          </a:prstGeom>
          <a:solidFill>
            <a:schemeClr val="accent2"/>
          </a:solidFill>
          <a:ln/>
        </p:spPr>
      </p:sp>
      <p:sp>
        <p:nvSpPr>
          <p:cNvPr id="54" name="wp2"/>
          <p:cNvSpPr/>
          <p:nvPr/>
        </p:nvSpPr>
        <p:spPr>
          <a:xfrm>
            <a:off x="7277205" y="6469380"/>
            <a:ext cx="82296" cy="82296"/>
          </a:xfrm>
          <a:prstGeom prst="ellipse">
            <a:avLst/>
          </a:prstGeom>
          <a:solidFill>
            <a:schemeClr val="bg2">
              <a:alpha val="60000"/>
            </a:schemeClr>
          </a:solidFill>
          <a:ln/>
        </p:spPr>
      </p:sp>
      <p:sp>
        <p:nvSpPr>
          <p:cNvPr id="55" name="wp3"/>
          <p:cNvSpPr/>
          <p:nvPr/>
        </p:nvSpPr>
        <p:spPr>
          <a:xfrm>
            <a:off x="8506915" y="6469380"/>
            <a:ext cx="82296" cy="82296"/>
          </a:xfrm>
          <a:prstGeom prst="ellipse">
            <a:avLst/>
          </a:prstGeom>
          <a:solidFill>
            <a:schemeClr val="bg2">
              <a:alpha val="60000"/>
            </a:schemeClr>
          </a:solidFill>
          <a:ln/>
        </p:spPr>
      </p:sp>
      <p:sp>
        <p:nvSpPr>
          <p:cNvPr id="56" name="wp4"/>
          <p:cNvSpPr/>
          <p:nvPr/>
        </p:nvSpPr>
        <p:spPr>
          <a:xfrm>
            <a:off x="9982568" y="6469380"/>
            <a:ext cx="82296" cy="82296"/>
          </a:xfrm>
          <a:prstGeom prst="ellipse">
            <a:avLst/>
          </a:prstGeom>
          <a:solidFill>
            <a:schemeClr val="bg2">
              <a:alpha val="60000"/>
            </a:schemeClr>
          </a:solidFill>
          <a:ln/>
        </p:spPr>
      </p:sp>
      <p:sp>
        <p:nvSpPr>
          <p:cNvPr id="57" name="progress_ext"/>
          <p:cNvSpPr/>
          <p:nvPr/>
        </p:nvSpPr>
        <p:spPr>
          <a:xfrm>
            <a:off x="5350817" y="6510528"/>
            <a:ext cx="245942" cy="0"/>
          </a:xfrm>
          <a:prstGeom prst="line">
            <a:avLst/>
          </a:prstGeom>
          <a:noFill/>
          <a:ln w="28575">
            <a:solidFill>
              <a:schemeClr val="accent2"/>
            </a:solidFill>
            <a:prstDash val="solid"/>
          </a:ln>
        </p:spPr>
      </p:sp>
      <p:pic>
        <p:nvPicPr>
          <p:cNvPr id="58" name="!!tracker" descr="Progress marker">    </p:cNvPr>
          <p:cNvPicPr>
            <a:picLocks noChangeAspect="1"/>
          </p:cNvPicPr>
          <p:nvPr/>
        </p:nvPicPr>
        <p:blipFill>
          <a:blip r:embed="rId10"/>
          <a:stretch>
            <a:fillRect/>
          </a:stretch>
        </p:blipFill>
        <p:spPr>
          <a:xfrm>
            <a:off x="516793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53" presetClass="entr" presetSubtype="16"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ppt_w</p:attrName>
                                        </p:attrNameLst>
                                      </p:cBhvr>
                                      <p:tavLst>
                                        <p:tav tm="0">
                                          <p:val>
                                            <p:fltVal val="0"/>
                                          </p:val>
                                        </p:tav>
                                        <p:tav tm="100000">
                                          <p:val>
                                            <p:strVal val="#ppt_w"/>
                                          </p:val>
                                        </p:tav>
                                      </p:tavLst>
                                    </p:anim>
                                    <p:anim calcmode="lin" valueType="num">
                                      <p:cBhvr additive="base">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20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ppt_w</p:attrName>
                                        </p:attrNameLst>
                                      </p:cBhvr>
                                      <p:tavLst>
                                        <p:tav tm="0">
                                          <p:val>
                                            <p:fltVal val="0"/>
                                          </p:val>
                                        </p:tav>
                                        <p:tav tm="100000">
                                          <p:val>
                                            <p:strVal val="#ppt_w"/>
                                          </p:val>
                                        </p:tav>
                                      </p:tavLst>
                                    </p:anim>
                                    <p:anim calcmode="lin" valueType="num">
                                      <p:cBhvr additive="base">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3" presetID="53" presetClass="entr" presetSubtype="16" fill="hold" nodeType="withEffect">
                                  <p:stCondLst>
                                    <p:cond delay="2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ppt_w</p:attrName>
                                        </p:attrNameLst>
                                      </p:cBhvr>
                                      <p:tavLst>
                                        <p:tav tm="0">
                                          <p:val>
                                            <p:fltVal val="0"/>
                                          </p:val>
                                        </p:tav>
                                        <p:tav tm="100000">
                                          <p:val>
                                            <p:strVal val="#ppt_w"/>
                                          </p:val>
                                        </p:tav>
                                      </p:tavLst>
                                    </p:anim>
                                    <p:anim calcmode="lin" valueType="num">
                                      <p:cBhvr additive="base">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53" presetClass="entr" presetSubtype="16" fill="hold" grpId="0" nodeType="withEffect">
                                  <p:stCondLst>
                                    <p:cond delay="20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ppt_w</p:attrName>
                                        </p:attrNameLst>
                                      </p:cBhvr>
                                      <p:tavLst>
                                        <p:tav tm="0">
                                          <p:val>
                                            <p:fltVal val="0"/>
                                          </p:val>
                                        </p:tav>
                                        <p:tav tm="100000">
                                          <p:val>
                                            <p:strVal val="#ppt_w"/>
                                          </p:val>
                                        </p:tav>
                                      </p:tavLst>
                                    </p:anim>
                                    <p:anim calcmode="lin" valueType="num">
                                      <p:cBhvr additive="base">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par>
                                <p:cTn id="33" presetID="53" presetClass="entr" presetSubtype="16" fill="hold" grpId="0" nodeType="withEffect">
                                  <p:stCondLst>
                                    <p:cond delay="2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ppt_w</p:attrName>
                                        </p:attrNameLst>
                                      </p:cBhvr>
                                      <p:tavLst>
                                        <p:tav tm="0">
                                          <p:val>
                                            <p:fltVal val="0"/>
                                          </p:val>
                                        </p:tav>
                                        <p:tav tm="100000">
                                          <p:val>
                                            <p:strVal val="#ppt_w"/>
                                          </p:val>
                                        </p:tav>
                                      </p:tavLst>
                                    </p:anim>
                                    <p:anim calcmode="lin" valueType="num">
                                      <p:cBhvr additive="base">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par>
                                <p:cTn id="38" presetID="53" presetClass="entr" presetSubtype="16" fill="hold" grpId="0" nodeType="withEffect">
                                  <p:stCondLst>
                                    <p:cond delay="38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ppt_w</p:attrName>
                                        </p:attrNameLst>
                                      </p:cBhvr>
                                      <p:tavLst>
                                        <p:tav tm="0">
                                          <p:val>
                                            <p:fltVal val="0"/>
                                          </p:val>
                                        </p:tav>
                                        <p:tav tm="100000">
                                          <p:val>
                                            <p:strVal val="#ppt_w"/>
                                          </p:val>
                                        </p:tav>
                                      </p:tavLst>
                                    </p:anim>
                                    <p:anim calcmode="lin" valueType="num">
                                      <p:cBhvr additive="base">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38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ppt_w</p:attrName>
                                        </p:attrNameLst>
                                      </p:cBhvr>
                                      <p:tavLst>
                                        <p:tav tm="0">
                                          <p:val>
                                            <p:fltVal val="0"/>
                                          </p:val>
                                        </p:tav>
                                        <p:tav tm="100000">
                                          <p:val>
                                            <p:strVal val="#ppt_w"/>
                                          </p:val>
                                        </p:tav>
                                      </p:tavLst>
                                    </p:anim>
                                    <p:anim calcmode="lin" valueType="num">
                                      <p:cBhvr additive="base">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nodeType="withEffect">
                                  <p:stCondLst>
                                    <p:cond delay="38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fltVal val="0"/>
                                          </p:val>
                                        </p:tav>
                                        <p:tav tm="100000">
                                          <p:val>
                                            <p:strVal val="#ppt_w"/>
                                          </p:val>
                                        </p:tav>
                                      </p:tavLst>
                                    </p:anim>
                                    <p:anim calcmode="lin" valueType="num">
                                      <p:cBhvr additive="base">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par>
                                <p:cTn id="53" presetID="53" presetClass="entr" presetSubtype="16" fill="hold" grpId="0" nodeType="withEffect">
                                  <p:stCondLst>
                                    <p:cond delay="38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ppt_w</p:attrName>
                                        </p:attrNameLst>
                                      </p:cBhvr>
                                      <p:tavLst>
                                        <p:tav tm="0">
                                          <p:val>
                                            <p:fltVal val="0"/>
                                          </p:val>
                                        </p:tav>
                                        <p:tav tm="100000">
                                          <p:val>
                                            <p:strVal val="#ppt_w"/>
                                          </p:val>
                                        </p:tav>
                                      </p:tavLst>
                                    </p:anim>
                                    <p:anim calcmode="lin" valueType="num">
                                      <p:cBhvr additive="base">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grpId="0" nodeType="withEffect">
                                  <p:stCondLst>
                                    <p:cond delay="38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500" fill="hold"/>
                                        <p:tgtEl>
                                          <p:spTgt spid="14"/>
                                        </p:tgtEl>
                                        <p:attrNameLst>
                                          <p:attrName>ppt_w</p:attrName>
                                        </p:attrNameLst>
                                      </p:cBhvr>
                                      <p:tavLst>
                                        <p:tav tm="0">
                                          <p:val>
                                            <p:fltVal val="0"/>
                                          </p:val>
                                        </p:tav>
                                        <p:tav tm="100000">
                                          <p:val>
                                            <p:strVal val="#ppt_w"/>
                                          </p:val>
                                        </p:tav>
                                      </p:tavLst>
                                    </p:anim>
                                    <p:anim calcmode="lin" valueType="num">
                                      <p:cBhvr additive="base">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3" presetID="53" presetClass="entr" presetSubtype="16" fill="hold" grpId="0" nodeType="withEffect">
                                  <p:stCondLst>
                                    <p:cond delay="56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ppt_w</p:attrName>
                                        </p:attrNameLst>
                                      </p:cBhvr>
                                      <p:tavLst>
                                        <p:tav tm="0">
                                          <p:val>
                                            <p:fltVal val="0"/>
                                          </p:val>
                                        </p:tav>
                                        <p:tav tm="100000">
                                          <p:val>
                                            <p:strVal val="#ppt_w"/>
                                          </p:val>
                                        </p:tav>
                                      </p:tavLst>
                                    </p:anim>
                                    <p:anim calcmode="lin" valueType="num">
                                      <p:cBhvr additive="base">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par>
                                <p:cTn id="68" presetID="53" presetClass="entr" presetSubtype="16" fill="hold" grpId="0" nodeType="withEffect">
                                  <p:stCondLst>
                                    <p:cond delay="56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ppt_w</p:attrName>
                                        </p:attrNameLst>
                                      </p:cBhvr>
                                      <p:tavLst>
                                        <p:tav tm="0">
                                          <p:val>
                                            <p:fltVal val="0"/>
                                          </p:val>
                                        </p:tav>
                                        <p:tav tm="100000">
                                          <p:val>
                                            <p:strVal val="#ppt_w"/>
                                          </p:val>
                                        </p:tav>
                                      </p:tavLst>
                                    </p:anim>
                                    <p:anim calcmode="lin" valueType="num">
                                      <p:cBhvr additive="base">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par>
                                <p:cTn id="73" presetID="53" presetClass="entr" presetSubtype="16" fill="hold" nodeType="withEffect">
                                  <p:stCondLst>
                                    <p:cond delay="56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fill="hold"/>
                                        <p:tgtEl>
                                          <p:spTgt spid="17"/>
                                        </p:tgtEl>
                                        <p:attrNameLst>
                                          <p:attrName>ppt_w</p:attrName>
                                        </p:attrNameLst>
                                      </p:cBhvr>
                                      <p:tavLst>
                                        <p:tav tm="0">
                                          <p:val>
                                            <p:fltVal val="0"/>
                                          </p:val>
                                        </p:tav>
                                        <p:tav tm="100000">
                                          <p:val>
                                            <p:strVal val="#ppt_w"/>
                                          </p:val>
                                        </p:tav>
                                      </p:tavLst>
                                    </p:anim>
                                    <p:anim calcmode="lin" valueType="num">
                                      <p:cBhvr additive="base">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par>
                                <p:cTn id="78" presetID="53" presetClass="entr" presetSubtype="16" fill="hold" grpId="0" nodeType="withEffect">
                                  <p:stCondLst>
                                    <p:cond delay="56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500" fill="hold"/>
                                        <p:tgtEl>
                                          <p:spTgt spid="18"/>
                                        </p:tgtEl>
                                        <p:attrNameLst>
                                          <p:attrName>ppt_w</p:attrName>
                                        </p:attrNameLst>
                                      </p:cBhvr>
                                      <p:tavLst>
                                        <p:tav tm="0">
                                          <p:val>
                                            <p:fltVal val="0"/>
                                          </p:val>
                                        </p:tav>
                                        <p:tav tm="100000">
                                          <p:val>
                                            <p:strVal val="#ppt_w"/>
                                          </p:val>
                                        </p:tav>
                                      </p:tavLst>
                                    </p:anim>
                                    <p:anim calcmode="lin" valueType="num">
                                      <p:cBhvr additive="base">
                                        <p:cTn id="81" dur="500" fill="hold"/>
                                        <p:tgtEl>
                                          <p:spTgt spid="18"/>
                                        </p:tgtEl>
                                        <p:attrNameLst>
                                          <p:attrName>ppt_h</p:attrName>
                                        </p:attrNameLst>
                                      </p:cBhvr>
                                      <p:tavLst>
                                        <p:tav tm="0">
                                          <p:val>
                                            <p:fltVal val="0"/>
                                          </p:val>
                                        </p:tav>
                                        <p:tav tm="100000">
                                          <p:val>
                                            <p:strVal val="#ppt_h"/>
                                          </p:val>
                                        </p:tav>
                                      </p:tavLst>
                                    </p:anim>
                                    <p:animEffect transition="in" filter="fade">
                                      <p:cBhvr>
                                        <p:cTn id="82" dur="500"/>
                                        <p:tgtEl>
                                          <p:spTgt spid="18"/>
                                        </p:tgtEl>
                                      </p:cBhvr>
                                    </p:animEffect>
                                  </p:childTnLst>
                                </p:cTn>
                              </p:par>
                              <p:par>
                                <p:cTn id="83" presetID="53" presetClass="entr" presetSubtype="16" fill="hold" grpId="0" nodeType="withEffect">
                                  <p:stCondLst>
                                    <p:cond delay="56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00" fill="hold"/>
                                        <p:tgtEl>
                                          <p:spTgt spid="19"/>
                                        </p:tgtEl>
                                        <p:attrNameLst>
                                          <p:attrName>ppt_w</p:attrName>
                                        </p:attrNameLst>
                                      </p:cBhvr>
                                      <p:tavLst>
                                        <p:tav tm="0">
                                          <p:val>
                                            <p:fltVal val="0"/>
                                          </p:val>
                                        </p:tav>
                                        <p:tav tm="100000">
                                          <p:val>
                                            <p:strVal val="#ppt_w"/>
                                          </p:val>
                                        </p:tav>
                                      </p:tavLst>
                                    </p:anim>
                                    <p:anim calcmode="lin" valueType="num">
                                      <p:cBhvr additive="base">
                                        <p:cTn id="86" dur="500" fill="hold"/>
                                        <p:tgtEl>
                                          <p:spTgt spid="19"/>
                                        </p:tgtEl>
                                        <p:attrNameLst>
                                          <p:attrName>ppt_h</p:attrName>
                                        </p:attrNameLst>
                                      </p:cBhvr>
                                      <p:tavLst>
                                        <p:tav tm="0">
                                          <p:val>
                                            <p:fltVal val="0"/>
                                          </p:val>
                                        </p:tav>
                                        <p:tav tm="100000">
                                          <p:val>
                                            <p:strVal val="#ppt_h"/>
                                          </p:val>
                                        </p:tav>
                                      </p:tavLst>
                                    </p:anim>
                                    <p:animEffect transition="in" filter="fade">
                                      <p:cBhvr>
                                        <p:cTn id="87" dur="500"/>
                                        <p:tgtEl>
                                          <p:spTgt spid="19"/>
                                        </p:tgtEl>
                                      </p:cBhvr>
                                    </p:animEffect>
                                  </p:childTnLst>
                                </p:cTn>
                              </p:par>
                              <p:par>
                                <p:cTn id="88" presetID="53" presetClass="entr" presetSubtype="16" fill="hold" grpId="0" nodeType="withEffect">
                                  <p:stCondLst>
                                    <p:cond delay="740"/>
                                  </p:stCondLst>
                                  <p:childTnLst>
                                    <p:set>
                                      <p:cBhvr>
                                        <p:cTn id="89" dur="1" fill="hold">
                                          <p:stCondLst>
                                            <p:cond delay="0"/>
                                          </p:stCondLst>
                                        </p:cTn>
                                        <p:tgtEl>
                                          <p:spTgt spid="20"/>
                                        </p:tgtEl>
                                        <p:attrNameLst>
                                          <p:attrName>style.visibility</p:attrName>
                                        </p:attrNameLst>
                                      </p:cBhvr>
                                      <p:to>
                                        <p:strVal val="visible"/>
                                      </p:to>
                                    </p:set>
                                    <p:anim calcmode="lin" valueType="num">
                                      <p:cBhvr additive="base">
                                        <p:cTn id="90" dur="500" fill="hold"/>
                                        <p:tgtEl>
                                          <p:spTgt spid="20"/>
                                        </p:tgtEl>
                                        <p:attrNameLst>
                                          <p:attrName>ppt_w</p:attrName>
                                        </p:attrNameLst>
                                      </p:cBhvr>
                                      <p:tavLst>
                                        <p:tav tm="0">
                                          <p:val>
                                            <p:fltVal val="0"/>
                                          </p:val>
                                        </p:tav>
                                        <p:tav tm="100000">
                                          <p:val>
                                            <p:strVal val="#ppt_w"/>
                                          </p:val>
                                        </p:tav>
                                      </p:tavLst>
                                    </p:anim>
                                    <p:anim calcmode="lin" valueType="num">
                                      <p:cBhvr additive="base">
                                        <p:cTn id="91" dur="500" fill="hold"/>
                                        <p:tgtEl>
                                          <p:spTgt spid="20"/>
                                        </p:tgtEl>
                                        <p:attrNameLst>
                                          <p:attrName>ppt_h</p:attrName>
                                        </p:attrNameLst>
                                      </p:cBhvr>
                                      <p:tavLst>
                                        <p:tav tm="0">
                                          <p:val>
                                            <p:fltVal val="0"/>
                                          </p:val>
                                        </p:tav>
                                        <p:tav tm="100000">
                                          <p:val>
                                            <p:strVal val="#ppt_h"/>
                                          </p:val>
                                        </p:tav>
                                      </p:tavLst>
                                    </p:anim>
                                    <p:animEffect transition="in" filter="fade">
                                      <p:cBhvr>
                                        <p:cTn id="92" dur="500"/>
                                        <p:tgtEl>
                                          <p:spTgt spid="20"/>
                                        </p:tgtEl>
                                      </p:cBhvr>
                                    </p:animEffect>
                                  </p:childTnLst>
                                </p:cTn>
                              </p:par>
                              <p:par>
                                <p:cTn id="93" presetID="53" presetClass="entr" presetSubtype="16" fill="hold" grpId="0" nodeType="withEffect">
                                  <p:stCondLst>
                                    <p:cond delay="740"/>
                                  </p:stCondLst>
                                  <p:childTnLst>
                                    <p:set>
                                      <p:cBhvr>
                                        <p:cTn id="94" dur="1" fill="hold">
                                          <p:stCondLst>
                                            <p:cond delay="0"/>
                                          </p:stCondLst>
                                        </p:cTn>
                                        <p:tgtEl>
                                          <p:spTgt spid="21"/>
                                        </p:tgtEl>
                                        <p:attrNameLst>
                                          <p:attrName>style.visibility</p:attrName>
                                        </p:attrNameLst>
                                      </p:cBhvr>
                                      <p:to>
                                        <p:strVal val="visible"/>
                                      </p:to>
                                    </p:set>
                                    <p:anim calcmode="lin" valueType="num">
                                      <p:cBhvr additive="base">
                                        <p:cTn id="95" dur="500" fill="hold"/>
                                        <p:tgtEl>
                                          <p:spTgt spid="21"/>
                                        </p:tgtEl>
                                        <p:attrNameLst>
                                          <p:attrName>ppt_w</p:attrName>
                                        </p:attrNameLst>
                                      </p:cBhvr>
                                      <p:tavLst>
                                        <p:tav tm="0">
                                          <p:val>
                                            <p:fltVal val="0"/>
                                          </p:val>
                                        </p:tav>
                                        <p:tav tm="100000">
                                          <p:val>
                                            <p:strVal val="#ppt_w"/>
                                          </p:val>
                                        </p:tav>
                                      </p:tavLst>
                                    </p:anim>
                                    <p:anim calcmode="lin" valueType="num">
                                      <p:cBhvr additive="base">
                                        <p:cTn id="96" dur="500" fill="hold"/>
                                        <p:tgtEl>
                                          <p:spTgt spid="21"/>
                                        </p:tgtEl>
                                        <p:attrNameLst>
                                          <p:attrName>ppt_h</p:attrName>
                                        </p:attrNameLst>
                                      </p:cBhvr>
                                      <p:tavLst>
                                        <p:tav tm="0">
                                          <p:val>
                                            <p:fltVal val="0"/>
                                          </p:val>
                                        </p:tav>
                                        <p:tav tm="100000">
                                          <p:val>
                                            <p:strVal val="#ppt_h"/>
                                          </p:val>
                                        </p:tav>
                                      </p:tavLst>
                                    </p:anim>
                                    <p:animEffect transition="in" filter="fade">
                                      <p:cBhvr>
                                        <p:cTn id="97" dur="500"/>
                                        <p:tgtEl>
                                          <p:spTgt spid="21"/>
                                        </p:tgtEl>
                                      </p:cBhvr>
                                    </p:animEffect>
                                  </p:childTnLst>
                                </p:cTn>
                              </p:par>
                              <p:par>
                                <p:cTn id="98" presetID="53" presetClass="entr" presetSubtype="16" fill="hold" nodeType="withEffect">
                                  <p:stCondLst>
                                    <p:cond delay="740"/>
                                  </p:stCondLst>
                                  <p:childTnLst>
                                    <p:set>
                                      <p:cBhvr>
                                        <p:cTn id="99" dur="1" fill="hold">
                                          <p:stCondLst>
                                            <p:cond delay="0"/>
                                          </p:stCondLst>
                                        </p:cTn>
                                        <p:tgtEl>
                                          <p:spTgt spid="22"/>
                                        </p:tgtEl>
                                        <p:attrNameLst>
                                          <p:attrName>style.visibility</p:attrName>
                                        </p:attrNameLst>
                                      </p:cBhvr>
                                      <p:to>
                                        <p:strVal val="visible"/>
                                      </p:to>
                                    </p:set>
                                    <p:anim calcmode="lin" valueType="num">
                                      <p:cBhvr additive="base">
                                        <p:cTn id="100" dur="500" fill="hold"/>
                                        <p:tgtEl>
                                          <p:spTgt spid="22"/>
                                        </p:tgtEl>
                                        <p:attrNameLst>
                                          <p:attrName>ppt_w</p:attrName>
                                        </p:attrNameLst>
                                      </p:cBhvr>
                                      <p:tavLst>
                                        <p:tav tm="0">
                                          <p:val>
                                            <p:fltVal val="0"/>
                                          </p:val>
                                        </p:tav>
                                        <p:tav tm="100000">
                                          <p:val>
                                            <p:strVal val="#ppt_w"/>
                                          </p:val>
                                        </p:tav>
                                      </p:tavLst>
                                    </p:anim>
                                    <p:anim calcmode="lin" valueType="num">
                                      <p:cBhvr additive="base">
                                        <p:cTn id="101" dur="500" fill="hold"/>
                                        <p:tgtEl>
                                          <p:spTgt spid="22"/>
                                        </p:tgtEl>
                                        <p:attrNameLst>
                                          <p:attrName>ppt_h</p:attrName>
                                        </p:attrNameLst>
                                      </p:cBhvr>
                                      <p:tavLst>
                                        <p:tav tm="0">
                                          <p:val>
                                            <p:fltVal val="0"/>
                                          </p:val>
                                        </p:tav>
                                        <p:tav tm="100000">
                                          <p:val>
                                            <p:strVal val="#ppt_h"/>
                                          </p:val>
                                        </p:tav>
                                      </p:tavLst>
                                    </p:anim>
                                    <p:animEffect transition="in" filter="fade">
                                      <p:cBhvr>
                                        <p:cTn id="102" dur="500"/>
                                        <p:tgtEl>
                                          <p:spTgt spid="22"/>
                                        </p:tgtEl>
                                      </p:cBhvr>
                                    </p:animEffect>
                                  </p:childTnLst>
                                </p:cTn>
                              </p:par>
                              <p:par>
                                <p:cTn id="103" presetID="53" presetClass="entr" presetSubtype="16" fill="hold" grpId="0" nodeType="withEffect">
                                  <p:stCondLst>
                                    <p:cond delay="740"/>
                                  </p:stCondLst>
                                  <p:childTnLst>
                                    <p:set>
                                      <p:cBhvr>
                                        <p:cTn id="104" dur="1" fill="hold">
                                          <p:stCondLst>
                                            <p:cond delay="0"/>
                                          </p:stCondLst>
                                        </p:cTn>
                                        <p:tgtEl>
                                          <p:spTgt spid="23"/>
                                        </p:tgtEl>
                                        <p:attrNameLst>
                                          <p:attrName>style.visibility</p:attrName>
                                        </p:attrNameLst>
                                      </p:cBhvr>
                                      <p:to>
                                        <p:strVal val="visible"/>
                                      </p:to>
                                    </p:set>
                                    <p:anim calcmode="lin" valueType="num">
                                      <p:cBhvr additive="base">
                                        <p:cTn id="105" dur="500" fill="hold"/>
                                        <p:tgtEl>
                                          <p:spTgt spid="23"/>
                                        </p:tgtEl>
                                        <p:attrNameLst>
                                          <p:attrName>ppt_w</p:attrName>
                                        </p:attrNameLst>
                                      </p:cBhvr>
                                      <p:tavLst>
                                        <p:tav tm="0">
                                          <p:val>
                                            <p:fltVal val="0"/>
                                          </p:val>
                                        </p:tav>
                                        <p:tav tm="100000">
                                          <p:val>
                                            <p:strVal val="#ppt_w"/>
                                          </p:val>
                                        </p:tav>
                                      </p:tavLst>
                                    </p:anim>
                                    <p:anim calcmode="lin" valueType="num">
                                      <p:cBhvr additive="base">
                                        <p:cTn id="106" dur="500" fill="hold"/>
                                        <p:tgtEl>
                                          <p:spTgt spid="23"/>
                                        </p:tgtEl>
                                        <p:attrNameLst>
                                          <p:attrName>ppt_h</p:attrName>
                                        </p:attrNameLst>
                                      </p:cBhvr>
                                      <p:tavLst>
                                        <p:tav tm="0">
                                          <p:val>
                                            <p:fltVal val="0"/>
                                          </p:val>
                                        </p:tav>
                                        <p:tav tm="100000">
                                          <p:val>
                                            <p:strVal val="#ppt_h"/>
                                          </p:val>
                                        </p:tav>
                                      </p:tavLst>
                                    </p:anim>
                                    <p:animEffect transition="in" filter="fade">
                                      <p:cBhvr>
                                        <p:cTn id="107" dur="500"/>
                                        <p:tgtEl>
                                          <p:spTgt spid="23"/>
                                        </p:tgtEl>
                                      </p:cBhvr>
                                    </p:animEffect>
                                  </p:childTnLst>
                                </p:cTn>
                              </p:par>
                              <p:par>
                                <p:cTn id="108" presetID="53" presetClass="entr" presetSubtype="16" fill="hold" grpId="0" nodeType="withEffect">
                                  <p:stCondLst>
                                    <p:cond delay="740"/>
                                  </p:stCondLst>
                                  <p:childTnLst>
                                    <p:set>
                                      <p:cBhvr>
                                        <p:cTn id="109" dur="1" fill="hold">
                                          <p:stCondLst>
                                            <p:cond delay="0"/>
                                          </p:stCondLst>
                                        </p:cTn>
                                        <p:tgtEl>
                                          <p:spTgt spid="24"/>
                                        </p:tgtEl>
                                        <p:attrNameLst>
                                          <p:attrName>style.visibility</p:attrName>
                                        </p:attrNameLst>
                                      </p:cBhvr>
                                      <p:to>
                                        <p:strVal val="visible"/>
                                      </p:to>
                                    </p:set>
                                    <p:anim calcmode="lin" valueType="num">
                                      <p:cBhvr additive="base">
                                        <p:cTn id="110" dur="500" fill="hold"/>
                                        <p:tgtEl>
                                          <p:spTgt spid="24"/>
                                        </p:tgtEl>
                                        <p:attrNameLst>
                                          <p:attrName>ppt_w</p:attrName>
                                        </p:attrNameLst>
                                      </p:cBhvr>
                                      <p:tavLst>
                                        <p:tav tm="0">
                                          <p:val>
                                            <p:fltVal val="0"/>
                                          </p:val>
                                        </p:tav>
                                        <p:tav tm="100000">
                                          <p:val>
                                            <p:strVal val="#ppt_w"/>
                                          </p:val>
                                        </p:tav>
                                      </p:tavLst>
                                    </p:anim>
                                    <p:anim calcmode="lin" valueType="num">
                                      <p:cBhvr additive="base">
                                        <p:cTn id="111" dur="500" fill="hold"/>
                                        <p:tgtEl>
                                          <p:spTgt spid="24"/>
                                        </p:tgtEl>
                                        <p:attrNameLst>
                                          <p:attrName>ppt_h</p:attrName>
                                        </p:attrNameLst>
                                      </p:cBhvr>
                                      <p:tavLst>
                                        <p:tav tm="0">
                                          <p:val>
                                            <p:fltVal val="0"/>
                                          </p:val>
                                        </p:tav>
                                        <p:tav tm="100000">
                                          <p:val>
                                            <p:strVal val="#ppt_h"/>
                                          </p:val>
                                        </p:tav>
                                      </p:tavLst>
                                    </p:anim>
                                    <p:animEffect transition="in" filter="fade">
                                      <p:cBhvr>
                                        <p:cTn id="112" dur="500"/>
                                        <p:tgtEl>
                                          <p:spTgt spid="24"/>
                                        </p:tgtEl>
                                      </p:cBhvr>
                                    </p:animEffect>
                                  </p:childTnLst>
                                </p:cTn>
                              </p:par>
                              <p:par>
                                <p:cTn id="113" presetID="53" presetClass="entr" presetSubtype="16" fill="hold" grpId="0" nodeType="withEffect">
                                  <p:stCondLst>
                                    <p:cond delay="920"/>
                                  </p:stCondLst>
                                  <p:childTnLst>
                                    <p:set>
                                      <p:cBhvr>
                                        <p:cTn id="114" dur="1" fill="hold">
                                          <p:stCondLst>
                                            <p:cond delay="0"/>
                                          </p:stCondLst>
                                        </p:cTn>
                                        <p:tgtEl>
                                          <p:spTgt spid="25"/>
                                        </p:tgtEl>
                                        <p:attrNameLst>
                                          <p:attrName>style.visibility</p:attrName>
                                        </p:attrNameLst>
                                      </p:cBhvr>
                                      <p:to>
                                        <p:strVal val="visible"/>
                                      </p:to>
                                    </p:set>
                                    <p:anim calcmode="lin" valueType="num">
                                      <p:cBhvr additive="base">
                                        <p:cTn id="115" dur="500" fill="hold"/>
                                        <p:tgtEl>
                                          <p:spTgt spid="25"/>
                                        </p:tgtEl>
                                        <p:attrNameLst>
                                          <p:attrName>ppt_w</p:attrName>
                                        </p:attrNameLst>
                                      </p:cBhvr>
                                      <p:tavLst>
                                        <p:tav tm="0">
                                          <p:val>
                                            <p:fltVal val="0"/>
                                          </p:val>
                                        </p:tav>
                                        <p:tav tm="100000">
                                          <p:val>
                                            <p:strVal val="#ppt_w"/>
                                          </p:val>
                                        </p:tav>
                                      </p:tavLst>
                                    </p:anim>
                                    <p:anim calcmode="lin" valueType="num">
                                      <p:cBhvr additive="base">
                                        <p:cTn id="116" dur="500" fill="hold"/>
                                        <p:tgtEl>
                                          <p:spTgt spid="25"/>
                                        </p:tgtEl>
                                        <p:attrNameLst>
                                          <p:attrName>ppt_h</p:attrName>
                                        </p:attrNameLst>
                                      </p:cBhvr>
                                      <p:tavLst>
                                        <p:tav tm="0">
                                          <p:val>
                                            <p:fltVal val="0"/>
                                          </p:val>
                                        </p:tav>
                                        <p:tav tm="100000">
                                          <p:val>
                                            <p:strVal val="#ppt_h"/>
                                          </p:val>
                                        </p:tav>
                                      </p:tavLst>
                                    </p:anim>
                                    <p:animEffect transition="in" filter="fade">
                                      <p:cBhvr>
                                        <p:cTn id="117" dur="500"/>
                                        <p:tgtEl>
                                          <p:spTgt spid="25"/>
                                        </p:tgtEl>
                                      </p:cBhvr>
                                    </p:animEffect>
                                  </p:childTnLst>
                                </p:cTn>
                              </p:par>
                              <p:par>
                                <p:cTn id="118" presetID="53" presetClass="entr" presetSubtype="16" fill="hold" grpId="0" nodeType="withEffect">
                                  <p:stCondLst>
                                    <p:cond delay="920"/>
                                  </p:stCondLst>
                                  <p:childTnLst>
                                    <p:set>
                                      <p:cBhvr>
                                        <p:cTn id="119" dur="1" fill="hold">
                                          <p:stCondLst>
                                            <p:cond delay="0"/>
                                          </p:stCondLst>
                                        </p:cTn>
                                        <p:tgtEl>
                                          <p:spTgt spid="26"/>
                                        </p:tgtEl>
                                        <p:attrNameLst>
                                          <p:attrName>style.visibility</p:attrName>
                                        </p:attrNameLst>
                                      </p:cBhvr>
                                      <p:to>
                                        <p:strVal val="visible"/>
                                      </p:to>
                                    </p:set>
                                    <p:anim calcmode="lin" valueType="num">
                                      <p:cBhvr additive="base">
                                        <p:cTn id="120" dur="500" fill="hold"/>
                                        <p:tgtEl>
                                          <p:spTgt spid="26"/>
                                        </p:tgtEl>
                                        <p:attrNameLst>
                                          <p:attrName>ppt_w</p:attrName>
                                        </p:attrNameLst>
                                      </p:cBhvr>
                                      <p:tavLst>
                                        <p:tav tm="0">
                                          <p:val>
                                            <p:fltVal val="0"/>
                                          </p:val>
                                        </p:tav>
                                        <p:tav tm="100000">
                                          <p:val>
                                            <p:strVal val="#ppt_w"/>
                                          </p:val>
                                        </p:tav>
                                      </p:tavLst>
                                    </p:anim>
                                    <p:anim calcmode="lin" valueType="num">
                                      <p:cBhvr additive="base">
                                        <p:cTn id="121" dur="500" fill="hold"/>
                                        <p:tgtEl>
                                          <p:spTgt spid="26"/>
                                        </p:tgtEl>
                                        <p:attrNameLst>
                                          <p:attrName>ppt_h</p:attrName>
                                        </p:attrNameLst>
                                      </p:cBhvr>
                                      <p:tavLst>
                                        <p:tav tm="0">
                                          <p:val>
                                            <p:fltVal val="0"/>
                                          </p:val>
                                        </p:tav>
                                        <p:tav tm="100000">
                                          <p:val>
                                            <p:strVal val="#ppt_h"/>
                                          </p:val>
                                        </p:tav>
                                      </p:tavLst>
                                    </p:anim>
                                    <p:animEffect transition="in" filter="fade">
                                      <p:cBhvr>
                                        <p:cTn id="122" dur="500"/>
                                        <p:tgtEl>
                                          <p:spTgt spid="26"/>
                                        </p:tgtEl>
                                      </p:cBhvr>
                                    </p:animEffect>
                                  </p:childTnLst>
                                </p:cTn>
                              </p:par>
                              <p:par>
                                <p:cTn id="123" presetID="53" presetClass="entr" presetSubtype="16" fill="hold" nodeType="withEffect">
                                  <p:stCondLst>
                                    <p:cond delay="920"/>
                                  </p:stCondLst>
                                  <p:childTnLst>
                                    <p:set>
                                      <p:cBhvr>
                                        <p:cTn id="124" dur="1" fill="hold">
                                          <p:stCondLst>
                                            <p:cond delay="0"/>
                                          </p:stCondLst>
                                        </p:cTn>
                                        <p:tgtEl>
                                          <p:spTgt spid="27"/>
                                        </p:tgtEl>
                                        <p:attrNameLst>
                                          <p:attrName>style.visibility</p:attrName>
                                        </p:attrNameLst>
                                      </p:cBhvr>
                                      <p:to>
                                        <p:strVal val="visible"/>
                                      </p:to>
                                    </p:set>
                                    <p:anim calcmode="lin" valueType="num">
                                      <p:cBhvr additive="base">
                                        <p:cTn id="125" dur="500" fill="hold"/>
                                        <p:tgtEl>
                                          <p:spTgt spid="27"/>
                                        </p:tgtEl>
                                        <p:attrNameLst>
                                          <p:attrName>ppt_w</p:attrName>
                                        </p:attrNameLst>
                                      </p:cBhvr>
                                      <p:tavLst>
                                        <p:tav tm="0">
                                          <p:val>
                                            <p:fltVal val="0"/>
                                          </p:val>
                                        </p:tav>
                                        <p:tav tm="100000">
                                          <p:val>
                                            <p:strVal val="#ppt_w"/>
                                          </p:val>
                                        </p:tav>
                                      </p:tavLst>
                                    </p:anim>
                                    <p:anim calcmode="lin" valueType="num">
                                      <p:cBhvr additive="base">
                                        <p:cTn id="126" dur="500" fill="hold"/>
                                        <p:tgtEl>
                                          <p:spTgt spid="27"/>
                                        </p:tgtEl>
                                        <p:attrNameLst>
                                          <p:attrName>ppt_h</p:attrName>
                                        </p:attrNameLst>
                                      </p:cBhvr>
                                      <p:tavLst>
                                        <p:tav tm="0">
                                          <p:val>
                                            <p:fltVal val="0"/>
                                          </p:val>
                                        </p:tav>
                                        <p:tav tm="100000">
                                          <p:val>
                                            <p:strVal val="#ppt_h"/>
                                          </p:val>
                                        </p:tav>
                                      </p:tavLst>
                                    </p:anim>
                                    <p:animEffect transition="in" filter="fade">
                                      <p:cBhvr>
                                        <p:cTn id="127" dur="500"/>
                                        <p:tgtEl>
                                          <p:spTgt spid="27"/>
                                        </p:tgtEl>
                                      </p:cBhvr>
                                    </p:animEffect>
                                  </p:childTnLst>
                                </p:cTn>
                              </p:par>
                              <p:par>
                                <p:cTn id="128" presetID="53" presetClass="entr" presetSubtype="16" fill="hold" grpId="0" nodeType="withEffect">
                                  <p:stCondLst>
                                    <p:cond delay="920"/>
                                  </p:stCondLst>
                                  <p:childTnLst>
                                    <p:set>
                                      <p:cBhvr>
                                        <p:cTn id="129" dur="1" fill="hold">
                                          <p:stCondLst>
                                            <p:cond delay="0"/>
                                          </p:stCondLst>
                                        </p:cTn>
                                        <p:tgtEl>
                                          <p:spTgt spid="28"/>
                                        </p:tgtEl>
                                        <p:attrNameLst>
                                          <p:attrName>style.visibility</p:attrName>
                                        </p:attrNameLst>
                                      </p:cBhvr>
                                      <p:to>
                                        <p:strVal val="visible"/>
                                      </p:to>
                                    </p:set>
                                    <p:anim calcmode="lin" valueType="num">
                                      <p:cBhvr additive="base">
                                        <p:cTn id="130" dur="500" fill="hold"/>
                                        <p:tgtEl>
                                          <p:spTgt spid="28"/>
                                        </p:tgtEl>
                                        <p:attrNameLst>
                                          <p:attrName>ppt_w</p:attrName>
                                        </p:attrNameLst>
                                      </p:cBhvr>
                                      <p:tavLst>
                                        <p:tav tm="0">
                                          <p:val>
                                            <p:fltVal val="0"/>
                                          </p:val>
                                        </p:tav>
                                        <p:tav tm="100000">
                                          <p:val>
                                            <p:strVal val="#ppt_w"/>
                                          </p:val>
                                        </p:tav>
                                      </p:tavLst>
                                    </p:anim>
                                    <p:anim calcmode="lin" valueType="num">
                                      <p:cBhvr additive="base">
                                        <p:cTn id="131" dur="500" fill="hold"/>
                                        <p:tgtEl>
                                          <p:spTgt spid="28"/>
                                        </p:tgtEl>
                                        <p:attrNameLst>
                                          <p:attrName>ppt_h</p:attrName>
                                        </p:attrNameLst>
                                      </p:cBhvr>
                                      <p:tavLst>
                                        <p:tav tm="0">
                                          <p:val>
                                            <p:fltVal val="0"/>
                                          </p:val>
                                        </p:tav>
                                        <p:tav tm="100000">
                                          <p:val>
                                            <p:strVal val="#ppt_h"/>
                                          </p:val>
                                        </p:tav>
                                      </p:tavLst>
                                    </p:anim>
                                    <p:animEffect transition="in" filter="fade">
                                      <p:cBhvr>
                                        <p:cTn id="132" dur="500"/>
                                        <p:tgtEl>
                                          <p:spTgt spid="28"/>
                                        </p:tgtEl>
                                      </p:cBhvr>
                                    </p:animEffect>
                                  </p:childTnLst>
                                </p:cTn>
                              </p:par>
                              <p:par>
                                <p:cTn id="133" presetID="53" presetClass="entr" presetSubtype="16" fill="hold" grpId="0" nodeType="withEffect">
                                  <p:stCondLst>
                                    <p:cond delay="920"/>
                                  </p:stCondLst>
                                  <p:childTnLst>
                                    <p:set>
                                      <p:cBhvr>
                                        <p:cTn id="134" dur="1" fill="hold">
                                          <p:stCondLst>
                                            <p:cond delay="0"/>
                                          </p:stCondLst>
                                        </p:cTn>
                                        <p:tgtEl>
                                          <p:spTgt spid="29"/>
                                        </p:tgtEl>
                                        <p:attrNameLst>
                                          <p:attrName>style.visibility</p:attrName>
                                        </p:attrNameLst>
                                      </p:cBhvr>
                                      <p:to>
                                        <p:strVal val="visible"/>
                                      </p:to>
                                    </p:set>
                                    <p:anim calcmode="lin" valueType="num">
                                      <p:cBhvr additive="base">
                                        <p:cTn id="135" dur="500" fill="hold"/>
                                        <p:tgtEl>
                                          <p:spTgt spid="29"/>
                                        </p:tgtEl>
                                        <p:attrNameLst>
                                          <p:attrName>ppt_w</p:attrName>
                                        </p:attrNameLst>
                                      </p:cBhvr>
                                      <p:tavLst>
                                        <p:tav tm="0">
                                          <p:val>
                                            <p:fltVal val="0"/>
                                          </p:val>
                                        </p:tav>
                                        <p:tav tm="100000">
                                          <p:val>
                                            <p:strVal val="#ppt_w"/>
                                          </p:val>
                                        </p:tav>
                                      </p:tavLst>
                                    </p:anim>
                                    <p:anim calcmode="lin" valueType="num">
                                      <p:cBhvr additive="base">
                                        <p:cTn id="136" dur="500" fill="hold"/>
                                        <p:tgtEl>
                                          <p:spTgt spid="29"/>
                                        </p:tgtEl>
                                        <p:attrNameLst>
                                          <p:attrName>ppt_h</p:attrName>
                                        </p:attrNameLst>
                                      </p:cBhvr>
                                      <p:tavLst>
                                        <p:tav tm="0">
                                          <p:val>
                                            <p:fltVal val="0"/>
                                          </p:val>
                                        </p:tav>
                                        <p:tav tm="100000">
                                          <p:val>
                                            <p:strVal val="#ppt_h"/>
                                          </p:val>
                                        </p:tav>
                                      </p:tavLst>
                                    </p:anim>
                                    <p:animEffect transition="in" filter="fade">
                                      <p:cBhvr>
                                        <p:cTn id="137" dur="500"/>
                                        <p:tgtEl>
                                          <p:spTgt spid="29"/>
                                        </p:tgtEl>
                                      </p:cBhvr>
                                    </p:animEffect>
                                  </p:childTnLst>
                                </p:cTn>
                              </p:par>
                              <p:par>
                                <p:cTn id="138" presetID="53" presetClass="entr" presetSubtype="16" fill="hold" grpId="0" nodeType="withEffect">
                                  <p:stCondLst>
                                    <p:cond delay="1100"/>
                                  </p:stCondLst>
                                  <p:childTnLst>
                                    <p:set>
                                      <p:cBhvr>
                                        <p:cTn id="139" dur="1" fill="hold">
                                          <p:stCondLst>
                                            <p:cond delay="0"/>
                                          </p:stCondLst>
                                        </p:cTn>
                                        <p:tgtEl>
                                          <p:spTgt spid="30"/>
                                        </p:tgtEl>
                                        <p:attrNameLst>
                                          <p:attrName>style.visibility</p:attrName>
                                        </p:attrNameLst>
                                      </p:cBhvr>
                                      <p:to>
                                        <p:strVal val="visible"/>
                                      </p:to>
                                    </p:set>
                                    <p:anim calcmode="lin" valueType="num">
                                      <p:cBhvr additive="base">
                                        <p:cTn id="140" dur="500" fill="hold"/>
                                        <p:tgtEl>
                                          <p:spTgt spid="30"/>
                                        </p:tgtEl>
                                        <p:attrNameLst>
                                          <p:attrName>ppt_w</p:attrName>
                                        </p:attrNameLst>
                                      </p:cBhvr>
                                      <p:tavLst>
                                        <p:tav tm="0">
                                          <p:val>
                                            <p:fltVal val="0"/>
                                          </p:val>
                                        </p:tav>
                                        <p:tav tm="100000">
                                          <p:val>
                                            <p:strVal val="#ppt_w"/>
                                          </p:val>
                                        </p:tav>
                                      </p:tavLst>
                                    </p:anim>
                                    <p:anim calcmode="lin" valueType="num">
                                      <p:cBhvr additive="base">
                                        <p:cTn id="141" dur="500" fill="hold"/>
                                        <p:tgtEl>
                                          <p:spTgt spid="30"/>
                                        </p:tgtEl>
                                        <p:attrNameLst>
                                          <p:attrName>ppt_h</p:attrName>
                                        </p:attrNameLst>
                                      </p:cBhvr>
                                      <p:tavLst>
                                        <p:tav tm="0">
                                          <p:val>
                                            <p:fltVal val="0"/>
                                          </p:val>
                                        </p:tav>
                                        <p:tav tm="100000">
                                          <p:val>
                                            <p:strVal val="#ppt_h"/>
                                          </p:val>
                                        </p:tav>
                                      </p:tavLst>
                                    </p:anim>
                                    <p:animEffect transition="in" filter="fade">
                                      <p:cBhvr>
                                        <p:cTn id="142" dur="500"/>
                                        <p:tgtEl>
                                          <p:spTgt spid="30"/>
                                        </p:tgtEl>
                                      </p:cBhvr>
                                    </p:animEffect>
                                  </p:childTnLst>
                                </p:cTn>
                              </p:par>
                              <p:par>
                                <p:cTn id="143" presetID="53" presetClass="entr" presetSubtype="16" fill="hold" grpId="0" nodeType="withEffect">
                                  <p:stCondLst>
                                    <p:cond delay="1100"/>
                                  </p:stCondLst>
                                  <p:childTnLst>
                                    <p:set>
                                      <p:cBhvr>
                                        <p:cTn id="144" dur="1" fill="hold">
                                          <p:stCondLst>
                                            <p:cond delay="0"/>
                                          </p:stCondLst>
                                        </p:cTn>
                                        <p:tgtEl>
                                          <p:spTgt spid="31"/>
                                        </p:tgtEl>
                                        <p:attrNameLst>
                                          <p:attrName>style.visibility</p:attrName>
                                        </p:attrNameLst>
                                      </p:cBhvr>
                                      <p:to>
                                        <p:strVal val="visible"/>
                                      </p:to>
                                    </p:set>
                                    <p:anim calcmode="lin" valueType="num">
                                      <p:cBhvr additive="base">
                                        <p:cTn id="145" dur="500" fill="hold"/>
                                        <p:tgtEl>
                                          <p:spTgt spid="31"/>
                                        </p:tgtEl>
                                        <p:attrNameLst>
                                          <p:attrName>ppt_w</p:attrName>
                                        </p:attrNameLst>
                                      </p:cBhvr>
                                      <p:tavLst>
                                        <p:tav tm="0">
                                          <p:val>
                                            <p:fltVal val="0"/>
                                          </p:val>
                                        </p:tav>
                                        <p:tav tm="100000">
                                          <p:val>
                                            <p:strVal val="#ppt_w"/>
                                          </p:val>
                                        </p:tav>
                                      </p:tavLst>
                                    </p:anim>
                                    <p:anim calcmode="lin" valueType="num">
                                      <p:cBhvr additive="base">
                                        <p:cTn id="146" dur="500" fill="hold"/>
                                        <p:tgtEl>
                                          <p:spTgt spid="31"/>
                                        </p:tgtEl>
                                        <p:attrNameLst>
                                          <p:attrName>ppt_h</p:attrName>
                                        </p:attrNameLst>
                                      </p:cBhvr>
                                      <p:tavLst>
                                        <p:tav tm="0">
                                          <p:val>
                                            <p:fltVal val="0"/>
                                          </p:val>
                                        </p:tav>
                                        <p:tav tm="100000">
                                          <p:val>
                                            <p:strVal val="#ppt_h"/>
                                          </p:val>
                                        </p:tav>
                                      </p:tavLst>
                                    </p:anim>
                                    <p:animEffect transition="in" filter="fade">
                                      <p:cBhvr>
                                        <p:cTn id="147" dur="500"/>
                                        <p:tgtEl>
                                          <p:spTgt spid="31"/>
                                        </p:tgtEl>
                                      </p:cBhvr>
                                    </p:animEffect>
                                  </p:childTnLst>
                                </p:cTn>
                              </p:par>
                              <p:par>
                                <p:cTn id="148" presetID="53" presetClass="entr" presetSubtype="16" fill="hold" nodeType="withEffect">
                                  <p:stCondLst>
                                    <p:cond delay="1100"/>
                                  </p:stCondLst>
                                  <p:childTnLst>
                                    <p:set>
                                      <p:cBhvr>
                                        <p:cTn id="149" dur="1" fill="hold">
                                          <p:stCondLst>
                                            <p:cond delay="0"/>
                                          </p:stCondLst>
                                        </p:cTn>
                                        <p:tgtEl>
                                          <p:spTgt spid="32"/>
                                        </p:tgtEl>
                                        <p:attrNameLst>
                                          <p:attrName>style.visibility</p:attrName>
                                        </p:attrNameLst>
                                      </p:cBhvr>
                                      <p:to>
                                        <p:strVal val="visible"/>
                                      </p:to>
                                    </p:set>
                                    <p:anim calcmode="lin" valueType="num">
                                      <p:cBhvr additive="base">
                                        <p:cTn id="150" dur="500" fill="hold"/>
                                        <p:tgtEl>
                                          <p:spTgt spid="32"/>
                                        </p:tgtEl>
                                        <p:attrNameLst>
                                          <p:attrName>ppt_w</p:attrName>
                                        </p:attrNameLst>
                                      </p:cBhvr>
                                      <p:tavLst>
                                        <p:tav tm="0">
                                          <p:val>
                                            <p:fltVal val="0"/>
                                          </p:val>
                                        </p:tav>
                                        <p:tav tm="100000">
                                          <p:val>
                                            <p:strVal val="#ppt_w"/>
                                          </p:val>
                                        </p:tav>
                                      </p:tavLst>
                                    </p:anim>
                                    <p:anim calcmode="lin" valueType="num">
                                      <p:cBhvr additive="base">
                                        <p:cTn id="151" dur="500" fill="hold"/>
                                        <p:tgtEl>
                                          <p:spTgt spid="32"/>
                                        </p:tgtEl>
                                        <p:attrNameLst>
                                          <p:attrName>ppt_h</p:attrName>
                                        </p:attrNameLst>
                                      </p:cBhvr>
                                      <p:tavLst>
                                        <p:tav tm="0">
                                          <p:val>
                                            <p:fltVal val="0"/>
                                          </p:val>
                                        </p:tav>
                                        <p:tav tm="100000">
                                          <p:val>
                                            <p:strVal val="#ppt_h"/>
                                          </p:val>
                                        </p:tav>
                                      </p:tavLst>
                                    </p:anim>
                                    <p:animEffect transition="in" filter="fade">
                                      <p:cBhvr>
                                        <p:cTn id="152" dur="500"/>
                                        <p:tgtEl>
                                          <p:spTgt spid="32"/>
                                        </p:tgtEl>
                                      </p:cBhvr>
                                    </p:animEffect>
                                  </p:childTnLst>
                                </p:cTn>
                              </p:par>
                              <p:par>
                                <p:cTn id="153" presetID="53" presetClass="entr" presetSubtype="16" fill="hold" grpId="0" nodeType="withEffect">
                                  <p:stCondLst>
                                    <p:cond delay="1100"/>
                                  </p:stCondLst>
                                  <p:childTnLst>
                                    <p:set>
                                      <p:cBhvr>
                                        <p:cTn id="154" dur="1" fill="hold">
                                          <p:stCondLst>
                                            <p:cond delay="0"/>
                                          </p:stCondLst>
                                        </p:cTn>
                                        <p:tgtEl>
                                          <p:spTgt spid="33"/>
                                        </p:tgtEl>
                                        <p:attrNameLst>
                                          <p:attrName>style.visibility</p:attrName>
                                        </p:attrNameLst>
                                      </p:cBhvr>
                                      <p:to>
                                        <p:strVal val="visible"/>
                                      </p:to>
                                    </p:set>
                                    <p:anim calcmode="lin" valueType="num">
                                      <p:cBhvr additive="base">
                                        <p:cTn id="155" dur="500" fill="hold"/>
                                        <p:tgtEl>
                                          <p:spTgt spid="33"/>
                                        </p:tgtEl>
                                        <p:attrNameLst>
                                          <p:attrName>ppt_w</p:attrName>
                                        </p:attrNameLst>
                                      </p:cBhvr>
                                      <p:tavLst>
                                        <p:tav tm="0">
                                          <p:val>
                                            <p:fltVal val="0"/>
                                          </p:val>
                                        </p:tav>
                                        <p:tav tm="100000">
                                          <p:val>
                                            <p:strVal val="#ppt_w"/>
                                          </p:val>
                                        </p:tav>
                                      </p:tavLst>
                                    </p:anim>
                                    <p:anim calcmode="lin" valueType="num">
                                      <p:cBhvr additive="base">
                                        <p:cTn id="156" dur="500" fill="hold"/>
                                        <p:tgtEl>
                                          <p:spTgt spid="33"/>
                                        </p:tgtEl>
                                        <p:attrNameLst>
                                          <p:attrName>ppt_h</p:attrName>
                                        </p:attrNameLst>
                                      </p:cBhvr>
                                      <p:tavLst>
                                        <p:tav tm="0">
                                          <p:val>
                                            <p:fltVal val="0"/>
                                          </p:val>
                                        </p:tav>
                                        <p:tav tm="100000">
                                          <p:val>
                                            <p:strVal val="#ppt_h"/>
                                          </p:val>
                                        </p:tav>
                                      </p:tavLst>
                                    </p:anim>
                                    <p:animEffect transition="in" filter="fade">
                                      <p:cBhvr>
                                        <p:cTn id="157" dur="500"/>
                                        <p:tgtEl>
                                          <p:spTgt spid="33"/>
                                        </p:tgtEl>
                                      </p:cBhvr>
                                    </p:animEffect>
                                  </p:childTnLst>
                                </p:cTn>
                              </p:par>
                              <p:par>
                                <p:cTn id="158" presetID="53" presetClass="entr" presetSubtype="16" fill="hold" grpId="0" nodeType="withEffect">
                                  <p:stCondLst>
                                    <p:cond delay="1100"/>
                                  </p:stCondLst>
                                  <p:childTnLst>
                                    <p:set>
                                      <p:cBhvr>
                                        <p:cTn id="159" dur="1" fill="hold">
                                          <p:stCondLst>
                                            <p:cond delay="0"/>
                                          </p:stCondLst>
                                        </p:cTn>
                                        <p:tgtEl>
                                          <p:spTgt spid="34"/>
                                        </p:tgtEl>
                                        <p:attrNameLst>
                                          <p:attrName>style.visibility</p:attrName>
                                        </p:attrNameLst>
                                      </p:cBhvr>
                                      <p:to>
                                        <p:strVal val="visible"/>
                                      </p:to>
                                    </p:set>
                                    <p:anim calcmode="lin" valueType="num">
                                      <p:cBhvr additive="base">
                                        <p:cTn id="160" dur="500" fill="hold"/>
                                        <p:tgtEl>
                                          <p:spTgt spid="34"/>
                                        </p:tgtEl>
                                        <p:attrNameLst>
                                          <p:attrName>ppt_w</p:attrName>
                                        </p:attrNameLst>
                                      </p:cBhvr>
                                      <p:tavLst>
                                        <p:tav tm="0">
                                          <p:val>
                                            <p:fltVal val="0"/>
                                          </p:val>
                                        </p:tav>
                                        <p:tav tm="100000">
                                          <p:val>
                                            <p:strVal val="#ppt_w"/>
                                          </p:val>
                                        </p:tav>
                                      </p:tavLst>
                                    </p:anim>
                                    <p:anim calcmode="lin" valueType="num">
                                      <p:cBhvr additive="base">
                                        <p:cTn id="161" dur="500" fill="hold"/>
                                        <p:tgtEl>
                                          <p:spTgt spid="34"/>
                                        </p:tgtEl>
                                        <p:attrNameLst>
                                          <p:attrName>ppt_h</p:attrName>
                                        </p:attrNameLst>
                                      </p:cBhvr>
                                      <p:tavLst>
                                        <p:tav tm="0">
                                          <p:val>
                                            <p:fltVal val="0"/>
                                          </p:val>
                                        </p:tav>
                                        <p:tav tm="100000">
                                          <p:val>
                                            <p:strVal val="#ppt_h"/>
                                          </p:val>
                                        </p:tav>
                                      </p:tavLst>
                                    </p:anim>
                                    <p:animEffect transition="in" filter="fade">
                                      <p:cBhvr>
                                        <p:cTn id="162" dur="500"/>
                                        <p:tgtEl>
                                          <p:spTgt spid="34"/>
                                        </p:tgtEl>
                                      </p:cBhvr>
                                    </p:animEffect>
                                  </p:childTnLst>
                                </p:cTn>
                              </p:par>
                              <p:par>
                                <p:cTn id="163" presetID="53" presetClass="entr" presetSubtype="16" fill="hold" grpId="0" nodeType="withEffect">
                                  <p:stCondLst>
                                    <p:cond delay="1280"/>
                                  </p:stCondLst>
                                  <p:childTnLst>
                                    <p:set>
                                      <p:cBhvr>
                                        <p:cTn id="164" dur="1" fill="hold">
                                          <p:stCondLst>
                                            <p:cond delay="0"/>
                                          </p:stCondLst>
                                        </p:cTn>
                                        <p:tgtEl>
                                          <p:spTgt spid="35"/>
                                        </p:tgtEl>
                                        <p:attrNameLst>
                                          <p:attrName>style.visibility</p:attrName>
                                        </p:attrNameLst>
                                      </p:cBhvr>
                                      <p:to>
                                        <p:strVal val="visible"/>
                                      </p:to>
                                    </p:set>
                                    <p:anim calcmode="lin" valueType="num">
                                      <p:cBhvr additive="base">
                                        <p:cTn id="165" dur="500" fill="hold"/>
                                        <p:tgtEl>
                                          <p:spTgt spid="35"/>
                                        </p:tgtEl>
                                        <p:attrNameLst>
                                          <p:attrName>ppt_w</p:attrName>
                                        </p:attrNameLst>
                                      </p:cBhvr>
                                      <p:tavLst>
                                        <p:tav tm="0">
                                          <p:val>
                                            <p:fltVal val="0"/>
                                          </p:val>
                                        </p:tav>
                                        <p:tav tm="100000">
                                          <p:val>
                                            <p:strVal val="#ppt_w"/>
                                          </p:val>
                                        </p:tav>
                                      </p:tavLst>
                                    </p:anim>
                                    <p:anim calcmode="lin" valueType="num">
                                      <p:cBhvr additive="base">
                                        <p:cTn id="166" dur="500" fill="hold"/>
                                        <p:tgtEl>
                                          <p:spTgt spid="35"/>
                                        </p:tgtEl>
                                        <p:attrNameLst>
                                          <p:attrName>ppt_h</p:attrName>
                                        </p:attrNameLst>
                                      </p:cBhvr>
                                      <p:tavLst>
                                        <p:tav tm="0">
                                          <p:val>
                                            <p:fltVal val="0"/>
                                          </p:val>
                                        </p:tav>
                                        <p:tav tm="100000">
                                          <p:val>
                                            <p:strVal val="#ppt_h"/>
                                          </p:val>
                                        </p:tav>
                                      </p:tavLst>
                                    </p:anim>
                                    <p:animEffect transition="in" filter="fade">
                                      <p:cBhvr>
                                        <p:cTn id="167" dur="500"/>
                                        <p:tgtEl>
                                          <p:spTgt spid="35"/>
                                        </p:tgtEl>
                                      </p:cBhvr>
                                    </p:animEffect>
                                  </p:childTnLst>
                                </p:cTn>
                              </p:par>
                              <p:par>
                                <p:cTn id="168" presetID="53" presetClass="entr" presetSubtype="16" fill="hold" grpId="0" nodeType="withEffect">
                                  <p:stCondLst>
                                    <p:cond delay="1280"/>
                                  </p:stCondLst>
                                  <p:childTnLst>
                                    <p:set>
                                      <p:cBhvr>
                                        <p:cTn id="169" dur="1" fill="hold">
                                          <p:stCondLst>
                                            <p:cond delay="0"/>
                                          </p:stCondLst>
                                        </p:cTn>
                                        <p:tgtEl>
                                          <p:spTgt spid="36"/>
                                        </p:tgtEl>
                                        <p:attrNameLst>
                                          <p:attrName>style.visibility</p:attrName>
                                        </p:attrNameLst>
                                      </p:cBhvr>
                                      <p:to>
                                        <p:strVal val="visible"/>
                                      </p:to>
                                    </p:set>
                                    <p:anim calcmode="lin" valueType="num">
                                      <p:cBhvr additive="base">
                                        <p:cTn id="170" dur="500" fill="hold"/>
                                        <p:tgtEl>
                                          <p:spTgt spid="36"/>
                                        </p:tgtEl>
                                        <p:attrNameLst>
                                          <p:attrName>ppt_w</p:attrName>
                                        </p:attrNameLst>
                                      </p:cBhvr>
                                      <p:tavLst>
                                        <p:tav tm="0">
                                          <p:val>
                                            <p:fltVal val="0"/>
                                          </p:val>
                                        </p:tav>
                                        <p:tav tm="100000">
                                          <p:val>
                                            <p:strVal val="#ppt_w"/>
                                          </p:val>
                                        </p:tav>
                                      </p:tavLst>
                                    </p:anim>
                                    <p:anim calcmode="lin" valueType="num">
                                      <p:cBhvr additive="base">
                                        <p:cTn id="171" dur="500" fill="hold"/>
                                        <p:tgtEl>
                                          <p:spTgt spid="36"/>
                                        </p:tgtEl>
                                        <p:attrNameLst>
                                          <p:attrName>ppt_h</p:attrName>
                                        </p:attrNameLst>
                                      </p:cBhvr>
                                      <p:tavLst>
                                        <p:tav tm="0">
                                          <p:val>
                                            <p:fltVal val="0"/>
                                          </p:val>
                                        </p:tav>
                                        <p:tav tm="100000">
                                          <p:val>
                                            <p:strVal val="#ppt_h"/>
                                          </p:val>
                                        </p:tav>
                                      </p:tavLst>
                                    </p:anim>
                                    <p:animEffect transition="in" filter="fade">
                                      <p:cBhvr>
                                        <p:cTn id="172" dur="500"/>
                                        <p:tgtEl>
                                          <p:spTgt spid="36"/>
                                        </p:tgtEl>
                                      </p:cBhvr>
                                    </p:animEffect>
                                  </p:childTnLst>
                                </p:cTn>
                              </p:par>
                              <p:par>
                                <p:cTn id="173" presetID="53" presetClass="entr" presetSubtype="16" fill="hold" nodeType="withEffect">
                                  <p:stCondLst>
                                    <p:cond delay="1280"/>
                                  </p:stCondLst>
                                  <p:childTnLst>
                                    <p:set>
                                      <p:cBhvr>
                                        <p:cTn id="174" dur="1" fill="hold">
                                          <p:stCondLst>
                                            <p:cond delay="0"/>
                                          </p:stCondLst>
                                        </p:cTn>
                                        <p:tgtEl>
                                          <p:spTgt spid="37"/>
                                        </p:tgtEl>
                                        <p:attrNameLst>
                                          <p:attrName>style.visibility</p:attrName>
                                        </p:attrNameLst>
                                      </p:cBhvr>
                                      <p:to>
                                        <p:strVal val="visible"/>
                                      </p:to>
                                    </p:set>
                                    <p:anim calcmode="lin" valueType="num">
                                      <p:cBhvr additive="base">
                                        <p:cTn id="175" dur="500" fill="hold"/>
                                        <p:tgtEl>
                                          <p:spTgt spid="37"/>
                                        </p:tgtEl>
                                        <p:attrNameLst>
                                          <p:attrName>ppt_w</p:attrName>
                                        </p:attrNameLst>
                                      </p:cBhvr>
                                      <p:tavLst>
                                        <p:tav tm="0">
                                          <p:val>
                                            <p:fltVal val="0"/>
                                          </p:val>
                                        </p:tav>
                                        <p:tav tm="100000">
                                          <p:val>
                                            <p:strVal val="#ppt_w"/>
                                          </p:val>
                                        </p:tav>
                                      </p:tavLst>
                                    </p:anim>
                                    <p:anim calcmode="lin" valueType="num">
                                      <p:cBhvr additive="base">
                                        <p:cTn id="176" dur="500" fill="hold"/>
                                        <p:tgtEl>
                                          <p:spTgt spid="37"/>
                                        </p:tgtEl>
                                        <p:attrNameLst>
                                          <p:attrName>ppt_h</p:attrName>
                                        </p:attrNameLst>
                                      </p:cBhvr>
                                      <p:tavLst>
                                        <p:tav tm="0">
                                          <p:val>
                                            <p:fltVal val="0"/>
                                          </p:val>
                                        </p:tav>
                                        <p:tav tm="100000">
                                          <p:val>
                                            <p:strVal val="#ppt_h"/>
                                          </p:val>
                                        </p:tav>
                                      </p:tavLst>
                                    </p:anim>
                                    <p:animEffect transition="in" filter="fade">
                                      <p:cBhvr>
                                        <p:cTn id="177" dur="500"/>
                                        <p:tgtEl>
                                          <p:spTgt spid="37"/>
                                        </p:tgtEl>
                                      </p:cBhvr>
                                    </p:animEffect>
                                  </p:childTnLst>
                                </p:cTn>
                              </p:par>
                              <p:par>
                                <p:cTn id="178" presetID="53" presetClass="entr" presetSubtype="16" fill="hold" grpId="0" nodeType="withEffect">
                                  <p:stCondLst>
                                    <p:cond delay="1280"/>
                                  </p:stCondLst>
                                  <p:childTnLst>
                                    <p:set>
                                      <p:cBhvr>
                                        <p:cTn id="179" dur="1" fill="hold">
                                          <p:stCondLst>
                                            <p:cond delay="0"/>
                                          </p:stCondLst>
                                        </p:cTn>
                                        <p:tgtEl>
                                          <p:spTgt spid="38"/>
                                        </p:tgtEl>
                                        <p:attrNameLst>
                                          <p:attrName>style.visibility</p:attrName>
                                        </p:attrNameLst>
                                      </p:cBhvr>
                                      <p:to>
                                        <p:strVal val="visible"/>
                                      </p:to>
                                    </p:set>
                                    <p:anim calcmode="lin" valueType="num">
                                      <p:cBhvr additive="base">
                                        <p:cTn id="180" dur="500" fill="hold"/>
                                        <p:tgtEl>
                                          <p:spTgt spid="38"/>
                                        </p:tgtEl>
                                        <p:attrNameLst>
                                          <p:attrName>ppt_w</p:attrName>
                                        </p:attrNameLst>
                                      </p:cBhvr>
                                      <p:tavLst>
                                        <p:tav tm="0">
                                          <p:val>
                                            <p:fltVal val="0"/>
                                          </p:val>
                                        </p:tav>
                                        <p:tav tm="100000">
                                          <p:val>
                                            <p:strVal val="#ppt_w"/>
                                          </p:val>
                                        </p:tav>
                                      </p:tavLst>
                                    </p:anim>
                                    <p:anim calcmode="lin" valueType="num">
                                      <p:cBhvr additive="base">
                                        <p:cTn id="181" dur="500" fill="hold"/>
                                        <p:tgtEl>
                                          <p:spTgt spid="38"/>
                                        </p:tgtEl>
                                        <p:attrNameLst>
                                          <p:attrName>ppt_h</p:attrName>
                                        </p:attrNameLst>
                                      </p:cBhvr>
                                      <p:tavLst>
                                        <p:tav tm="0">
                                          <p:val>
                                            <p:fltVal val="0"/>
                                          </p:val>
                                        </p:tav>
                                        <p:tav tm="100000">
                                          <p:val>
                                            <p:strVal val="#ppt_h"/>
                                          </p:val>
                                        </p:tav>
                                      </p:tavLst>
                                    </p:anim>
                                    <p:animEffect transition="in" filter="fade">
                                      <p:cBhvr>
                                        <p:cTn id="182" dur="500"/>
                                        <p:tgtEl>
                                          <p:spTgt spid="38"/>
                                        </p:tgtEl>
                                      </p:cBhvr>
                                    </p:animEffect>
                                  </p:childTnLst>
                                </p:cTn>
                              </p:par>
                              <p:par>
                                <p:cTn id="183" presetID="53" presetClass="entr" presetSubtype="16" fill="hold" grpId="0" nodeType="withEffect">
                                  <p:stCondLst>
                                    <p:cond delay="1280"/>
                                  </p:stCondLst>
                                  <p:childTnLst>
                                    <p:set>
                                      <p:cBhvr>
                                        <p:cTn id="184" dur="1" fill="hold">
                                          <p:stCondLst>
                                            <p:cond delay="0"/>
                                          </p:stCondLst>
                                        </p:cTn>
                                        <p:tgtEl>
                                          <p:spTgt spid="39"/>
                                        </p:tgtEl>
                                        <p:attrNameLst>
                                          <p:attrName>style.visibility</p:attrName>
                                        </p:attrNameLst>
                                      </p:cBhvr>
                                      <p:to>
                                        <p:strVal val="visible"/>
                                      </p:to>
                                    </p:set>
                                    <p:anim calcmode="lin" valueType="num">
                                      <p:cBhvr additive="base">
                                        <p:cTn id="185" dur="500" fill="hold"/>
                                        <p:tgtEl>
                                          <p:spTgt spid="39"/>
                                        </p:tgtEl>
                                        <p:attrNameLst>
                                          <p:attrName>ppt_w</p:attrName>
                                        </p:attrNameLst>
                                      </p:cBhvr>
                                      <p:tavLst>
                                        <p:tav tm="0">
                                          <p:val>
                                            <p:fltVal val="0"/>
                                          </p:val>
                                        </p:tav>
                                        <p:tav tm="100000">
                                          <p:val>
                                            <p:strVal val="#ppt_w"/>
                                          </p:val>
                                        </p:tav>
                                      </p:tavLst>
                                    </p:anim>
                                    <p:anim calcmode="lin" valueType="num">
                                      <p:cBhvr additive="base">
                                        <p:cTn id="186" dur="500" fill="hold"/>
                                        <p:tgtEl>
                                          <p:spTgt spid="39"/>
                                        </p:tgtEl>
                                        <p:attrNameLst>
                                          <p:attrName>ppt_h</p:attrName>
                                        </p:attrNameLst>
                                      </p:cBhvr>
                                      <p:tavLst>
                                        <p:tav tm="0">
                                          <p:val>
                                            <p:fltVal val="0"/>
                                          </p:val>
                                        </p:tav>
                                        <p:tav tm="100000">
                                          <p:val>
                                            <p:strVal val="#ppt_h"/>
                                          </p:val>
                                        </p:tav>
                                      </p:tavLst>
                                    </p:anim>
                                    <p:animEffect transition="in" filter="fade">
                                      <p:cBhvr>
                                        <p:cTn id="187" dur="500"/>
                                        <p:tgtEl>
                                          <p:spTgt spid="39"/>
                                        </p:tgtEl>
                                      </p:cBhvr>
                                    </p:animEffect>
                                  </p:childTnLst>
                                </p:cTn>
                              </p:par>
                              <p:par>
                                <p:cTn id="188" presetID="53" presetClass="entr" presetSubtype="16" fill="hold" grpId="0" nodeType="withEffect">
                                  <p:stCondLst>
                                    <p:cond delay="1460"/>
                                  </p:stCondLst>
                                  <p:childTnLst>
                                    <p:set>
                                      <p:cBhvr>
                                        <p:cTn id="189" dur="1" fill="hold">
                                          <p:stCondLst>
                                            <p:cond delay="0"/>
                                          </p:stCondLst>
                                        </p:cTn>
                                        <p:tgtEl>
                                          <p:spTgt spid="40"/>
                                        </p:tgtEl>
                                        <p:attrNameLst>
                                          <p:attrName>style.visibility</p:attrName>
                                        </p:attrNameLst>
                                      </p:cBhvr>
                                      <p:to>
                                        <p:strVal val="visible"/>
                                      </p:to>
                                    </p:set>
                                    <p:anim calcmode="lin" valueType="num">
                                      <p:cBhvr additive="base">
                                        <p:cTn id="190" dur="500" fill="hold"/>
                                        <p:tgtEl>
                                          <p:spTgt spid="40"/>
                                        </p:tgtEl>
                                        <p:attrNameLst>
                                          <p:attrName>ppt_w</p:attrName>
                                        </p:attrNameLst>
                                      </p:cBhvr>
                                      <p:tavLst>
                                        <p:tav tm="0">
                                          <p:val>
                                            <p:fltVal val="0"/>
                                          </p:val>
                                        </p:tav>
                                        <p:tav tm="100000">
                                          <p:val>
                                            <p:strVal val="#ppt_w"/>
                                          </p:val>
                                        </p:tav>
                                      </p:tavLst>
                                    </p:anim>
                                    <p:anim calcmode="lin" valueType="num">
                                      <p:cBhvr additive="base">
                                        <p:cTn id="191" dur="500" fill="hold"/>
                                        <p:tgtEl>
                                          <p:spTgt spid="40"/>
                                        </p:tgtEl>
                                        <p:attrNameLst>
                                          <p:attrName>ppt_h</p:attrName>
                                        </p:attrNameLst>
                                      </p:cBhvr>
                                      <p:tavLst>
                                        <p:tav tm="0">
                                          <p:val>
                                            <p:fltVal val="0"/>
                                          </p:val>
                                        </p:tav>
                                        <p:tav tm="100000">
                                          <p:val>
                                            <p:strVal val="#ppt_h"/>
                                          </p:val>
                                        </p:tav>
                                      </p:tavLst>
                                    </p:anim>
                                    <p:animEffect transition="in" filter="fade">
                                      <p:cBhvr>
                                        <p:cTn id="192" dur="500"/>
                                        <p:tgtEl>
                                          <p:spTgt spid="40"/>
                                        </p:tgtEl>
                                      </p:cBhvr>
                                    </p:animEffect>
                                  </p:childTnLst>
                                </p:cTn>
                              </p:par>
                              <p:par>
                                <p:cTn id="193" presetID="53" presetClass="entr" presetSubtype="16" fill="hold" grpId="0" nodeType="withEffect">
                                  <p:stCondLst>
                                    <p:cond delay="1460"/>
                                  </p:stCondLst>
                                  <p:childTnLst>
                                    <p:set>
                                      <p:cBhvr>
                                        <p:cTn id="194" dur="1" fill="hold">
                                          <p:stCondLst>
                                            <p:cond delay="0"/>
                                          </p:stCondLst>
                                        </p:cTn>
                                        <p:tgtEl>
                                          <p:spTgt spid="41"/>
                                        </p:tgtEl>
                                        <p:attrNameLst>
                                          <p:attrName>style.visibility</p:attrName>
                                        </p:attrNameLst>
                                      </p:cBhvr>
                                      <p:to>
                                        <p:strVal val="visible"/>
                                      </p:to>
                                    </p:set>
                                    <p:anim calcmode="lin" valueType="num">
                                      <p:cBhvr additive="base">
                                        <p:cTn id="195" dur="500" fill="hold"/>
                                        <p:tgtEl>
                                          <p:spTgt spid="41"/>
                                        </p:tgtEl>
                                        <p:attrNameLst>
                                          <p:attrName>ppt_w</p:attrName>
                                        </p:attrNameLst>
                                      </p:cBhvr>
                                      <p:tavLst>
                                        <p:tav tm="0">
                                          <p:val>
                                            <p:fltVal val="0"/>
                                          </p:val>
                                        </p:tav>
                                        <p:tav tm="100000">
                                          <p:val>
                                            <p:strVal val="#ppt_w"/>
                                          </p:val>
                                        </p:tav>
                                      </p:tavLst>
                                    </p:anim>
                                    <p:anim calcmode="lin" valueType="num">
                                      <p:cBhvr additive="base">
                                        <p:cTn id="196" dur="500" fill="hold"/>
                                        <p:tgtEl>
                                          <p:spTgt spid="41"/>
                                        </p:tgtEl>
                                        <p:attrNameLst>
                                          <p:attrName>ppt_h</p:attrName>
                                        </p:attrNameLst>
                                      </p:cBhvr>
                                      <p:tavLst>
                                        <p:tav tm="0">
                                          <p:val>
                                            <p:fltVal val="0"/>
                                          </p:val>
                                        </p:tav>
                                        <p:tav tm="100000">
                                          <p:val>
                                            <p:strVal val="#ppt_h"/>
                                          </p:val>
                                        </p:tav>
                                      </p:tavLst>
                                    </p:anim>
                                    <p:animEffect transition="in" filter="fade">
                                      <p:cBhvr>
                                        <p:cTn id="197" dur="500"/>
                                        <p:tgtEl>
                                          <p:spTgt spid="41"/>
                                        </p:tgtEl>
                                      </p:cBhvr>
                                    </p:animEffect>
                                  </p:childTnLst>
                                </p:cTn>
                              </p:par>
                              <p:par>
                                <p:cTn id="198" presetID="53" presetClass="entr" presetSubtype="16" fill="hold" nodeType="withEffect">
                                  <p:stCondLst>
                                    <p:cond delay="1460"/>
                                  </p:stCondLst>
                                  <p:childTnLst>
                                    <p:set>
                                      <p:cBhvr>
                                        <p:cTn id="199" dur="1" fill="hold">
                                          <p:stCondLst>
                                            <p:cond delay="0"/>
                                          </p:stCondLst>
                                        </p:cTn>
                                        <p:tgtEl>
                                          <p:spTgt spid="42"/>
                                        </p:tgtEl>
                                        <p:attrNameLst>
                                          <p:attrName>style.visibility</p:attrName>
                                        </p:attrNameLst>
                                      </p:cBhvr>
                                      <p:to>
                                        <p:strVal val="visible"/>
                                      </p:to>
                                    </p:set>
                                    <p:anim calcmode="lin" valueType="num">
                                      <p:cBhvr additive="base">
                                        <p:cTn id="200" dur="500" fill="hold"/>
                                        <p:tgtEl>
                                          <p:spTgt spid="42"/>
                                        </p:tgtEl>
                                        <p:attrNameLst>
                                          <p:attrName>ppt_w</p:attrName>
                                        </p:attrNameLst>
                                      </p:cBhvr>
                                      <p:tavLst>
                                        <p:tav tm="0">
                                          <p:val>
                                            <p:fltVal val="0"/>
                                          </p:val>
                                        </p:tav>
                                        <p:tav tm="100000">
                                          <p:val>
                                            <p:strVal val="#ppt_w"/>
                                          </p:val>
                                        </p:tav>
                                      </p:tavLst>
                                    </p:anim>
                                    <p:anim calcmode="lin" valueType="num">
                                      <p:cBhvr additive="base">
                                        <p:cTn id="201" dur="500" fill="hold"/>
                                        <p:tgtEl>
                                          <p:spTgt spid="42"/>
                                        </p:tgtEl>
                                        <p:attrNameLst>
                                          <p:attrName>ppt_h</p:attrName>
                                        </p:attrNameLst>
                                      </p:cBhvr>
                                      <p:tavLst>
                                        <p:tav tm="0">
                                          <p:val>
                                            <p:fltVal val="0"/>
                                          </p:val>
                                        </p:tav>
                                        <p:tav tm="100000">
                                          <p:val>
                                            <p:strVal val="#ppt_h"/>
                                          </p:val>
                                        </p:tav>
                                      </p:tavLst>
                                    </p:anim>
                                    <p:animEffect transition="in" filter="fade">
                                      <p:cBhvr>
                                        <p:cTn id="202" dur="500"/>
                                        <p:tgtEl>
                                          <p:spTgt spid="42"/>
                                        </p:tgtEl>
                                      </p:cBhvr>
                                    </p:animEffect>
                                  </p:childTnLst>
                                </p:cTn>
                              </p:par>
                              <p:par>
                                <p:cTn id="203" presetID="53" presetClass="entr" presetSubtype="16" fill="hold" grpId="0" nodeType="withEffect">
                                  <p:stCondLst>
                                    <p:cond delay="1460"/>
                                  </p:stCondLst>
                                  <p:childTnLst>
                                    <p:set>
                                      <p:cBhvr>
                                        <p:cTn id="204" dur="1" fill="hold">
                                          <p:stCondLst>
                                            <p:cond delay="0"/>
                                          </p:stCondLst>
                                        </p:cTn>
                                        <p:tgtEl>
                                          <p:spTgt spid="43"/>
                                        </p:tgtEl>
                                        <p:attrNameLst>
                                          <p:attrName>style.visibility</p:attrName>
                                        </p:attrNameLst>
                                      </p:cBhvr>
                                      <p:to>
                                        <p:strVal val="visible"/>
                                      </p:to>
                                    </p:set>
                                    <p:anim calcmode="lin" valueType="num">
                                      <p:cBhvr additive="base">
                                        <p:cTn id="205" dur="500" fill="hold"/>
                                        <p:tgtEl>
                                          <p:spTgt spid="43"/>
                                        </p:tgtEl>
                                        <p:attrNameLst>
                                          <p:attrName>ppt_w</p:attrName>
                                        </p:attrNameLst>
                                      </p:cBhvr>
                                      <p:tavLst>
                                        <p:tav tm="0">
                                          <p:val>
                                            <p:fltVal val="0"/>
                                          </p:val>
                                        </p:tav>
                                        <p:tav tm="100000">
                                          <p:val>
                                            <p:strVal val="#ppt_w"/>
                                          </p:val>
                                        </p:tav>
                                      </p:tavLst>
                                    </p:anim>
                                    <p:anim calcmode="lin" valueType="num">
                                      <p:cBhvr additive="base">
                                        <p:cTn id="206" dur="500" fill="hold"/>
                                        <p:tgtEl>
                                          <p:spTgt spid="43"/>
                                        </p:tgtEl>
                                        <p:attrNameLst>
                                          <p:attrName>ppt_h</p:attrName>
                                        </p:attrNameLst>
                                      </p:cBhvr>
                                      <p:tavLst>
                                        <p:tav tm="0">
                                          <p:val>
                                            <p:fltVal val="0"/>
                                          </p:val>
                                        </p:tav>
                                        <p:tav tm="100000">
                                          <p:val>
                                            <p:strVal val="#ppt_h"/>
                                          </p:val>
                                        </p:tav>
                                      </p:tavLst>
                                    </p:anim>
                                    <p:animEffect transition="in" filter="fade">
                                      <p:cBhvr>
                                        <p:cTn id="207" dur="500"/>
                                        <p:tgtEl>
                                          <p:spTgt spid="43"/>
                                        </p:tgtEl>
                                      </p:cBhvr>
                                    </p:animEffect>
                                  </p:childTnLst>
                                </p:cTn>
                              </p:par>
                              <p:par>
                                <p:cTn id="208" presetID="53" presetClass="entr" presetSubtype="16" fill="hold" grpId="0" nodeType="withEffect">
                                  <p:stCondLst>
                                    <p:cond delay="1460"/>
                                  </p:stCondLst>
                                  <p:childTnLst>
                                    <p:set>
                                      <p:cBhvr>
                                        <p:cTn id="209" dur="1" fill="hold">
                                          <p:stCondLst>
                                            <p:cond delay="0"/>
                                          </p:stCondLst>
                                        </p:cTn>
                                        <p:tgtEl>
                                          <p:spTgt spid="44"/>
                                        </p:tgtEl>
                                        <p:attrNameLst>
                                          <p:attrName>style.visibility</p:attrName>
                                        </p:attrNameLst>
                                      </p:cBhvr>
                                      <p:to>
                                        <p:strVal val="visible"/>
                                      </p:to>
                                    </p:set>
                                    <p:anim calcmode="lin" valueType="num">
                                      <p:cBhvr additive="base">
                                        <p:cTn id="210" dur="500" fill="hold"/>
                                        <p:tgtEl>
                                          <p:spTgt spid="44"/>
                                        </p:tgtEl>
                                        <p:attrNameLst>
                                          <p:attrName>ppt_w</p:attrName>
                                        </p:attrNameLst>
                                      </p:cBhvr>
                                      <p:tavLst>
                                        <p:tav tm="0">
                                          <p:val>
                                            <p:fltVal val="0"/>
                                          </p:val>
                                        </p:tav>
                                        <p:tav tm="100000">
                                          <p:val>
                                            <p:strVal val="#ppt_w"/>
                                          </p:val>
                                        </p:tav>
                                      </p:tavLst>
                                    </p:anim>
                                    <p:anim calcmode="lin" valueType="num">
                                      <p:cBhvr additive="base">
                                        <p:cTn id="211" dur="500" fill="hold"/>
                                        <p:tgtEl>
                                          <p:spTgt spid="44"/>
                                        </p:tgtEl>
                                        <p:attrNameLst>
                                          <p:attrName>ppt_h</p:attrName>
                                        </p:attrNameLst>
                                      </p:cBhvr>
                                      <p:tavLst>
                                        <p:tav tm="0">
                                          <p:val>
                                            <p:fltVal val="0"/>
                                          </p:val>
                                        </p:tav>
                                        <p:tav tm="100000">
                                          <p:val>
                                            <p:strVal val="#ppt_h"/>
                                          </p:val>
                                        </p:tav>
                                      </p:tavLst>
                                    </p:anim>
                                    <p:animEffect transition="in" filter="fade">
                                      <p:cBhvr>
                                        <p:cTn id="212" dur="500"/>
                                        <p:tgtEl>
                                          <p:spTgt spid="44"/>
                                        </p:tgtEl>
                                      </p:cBhvr>
                                    </p:animEffect>
                                  </p:childTnLst>
                                </p:cTn>
                              </p:par>
                              <p:par>
                                <p:cTn id="213" presetID="53" presetClass="entr" presetSubtype="16" fill="hold" grpId="0" nodeType="withEffect">
                                  <p:stCondLst>
                                    <p:cond delay="1640"/>
                                  </p:stCondLst>
                                  <p:childTnLst>
                                    <p:set>
                                      <p:cBhvr>
                                        <p:cTn id="214" dur="1" fill="hold">
                                          <p:stCondLst>
                                            <p:cond delay="0"/>
                                          </p:stCondLst>
                                        </p:cTn>
                                        <p:tgtEl>
                                          <p:spTgt spid="45"/>
                                        </p:tgtEl>
                                        <p:attrNameLst>
                                          <p:attrName>style.visibility</p:attrName>
                                        </p:attrNameLst>
                                      </p:cBhvr>
                                      <p:to>
                                        <p:strVal val="visible"/>
                                      </p:to>
                                    </p:set>
                                    <p:anim calcmode="lin" valueType="num">
                                      <p:cBhvr additive="base">
                                        <p:cTn id="215" dur="500" fill="hold"/>
                                        <p:tgtEl>
                                          <p:spTgt spid="45"/>
                                        </p:tgtEl>
                                        <p:attrNameLst>
                                          <p:attrName>ppt_w</p:attrName>
                                        </p:attrNameLst>
                                      </p:cBhvr>
                                      <p:tavLst>
                                        <p:tav tm="0">
                                          <p:val>
                                            <p:fltVal val="0"/>
                                          </p:val>
                                        </p:tav>
                                        <p:tav tm="100000">
                                          <p:val>
                                            <p:strVal val="#ppt_w"/>
                                          </p:val>
                                        </p:tav>
                                      </p:tavLst>
                                    </p:anim>
                                    <p:anim calcmode="lin" valueType="num">
                                      <p:cBhvr additive="base">
                                        <p:cTn id="216" dur="500" fill="hold"/>
                                        <p:tgtEl>
                                          <p:spTgt spid="45"/>
                                        </p:tgtEl>
                                        <p:attrNameLst>
                                          <p:attrName>ppt_h</p:attrName>
                                        </p:attrNameLst>
                                      </p:cBhvr>
                                      <p:tavLst>
                                        <p:tav tm="0">
                                          <p:val>
                                            <p:fltVal val="0"/>
                                          </p:val>
                                        </p:tav>
                                        <p:tav tm="100000">
                                          <p:val>
                                            <p:strVal val="#ppt_h"/>
                                          </p:val>
                                        </p:tav>
                                      </p:tavLst>
                                    </p:anim>
                                    <p:animEffect transition="in" filter="fade">
                                      <p:cBhvr>
                                        <p:cTn id="217" dur="500"/>
                                        <p:tgtEl>
                                          <p:spTgt spid="45"/>
                                        </p:tgtEl>
                                      </p:cBhvr>
                                    </p:animEffect>
                                  </p:childTnLst>
                                </p:cTn>
                              </p:par>
                              <p:par>
                                <p:cTn id="218" presetID="53" presetClass="entr" presetSubtype="16" fill="hold" grpId="0" nodeType="withEffect">
                                  <p:stCondLst>
                                    <p:cond delay="1640"/>
                                  </p:stCondLst>
                                  <p:childTnLst>
                                    <p:set>
                                      <p:cBhvr>
                                        <p:cTn id="219" dur="1" fill="hold">
                                          <p:stCondLst>
                                            <p:cond delay="0"/>
                                          </p:stCondLst>
                                        </p:cTn>
                                        <p:tgtEl>
                                          <p:spTgt spid="46"/>
                                        </p:tgtEl>
                                        <p:attrNameLst>
                                          <p:attrName>style.visibility</p:attrName>
                                        </p:attrNameLst>
                                      </p:cBhvr>
                                      <p:to>
                                        <p:strVal val="visible"/>
                                      </p:to>
                                    </p:set>
                                    <p:anim calcmode="lin" valueType="num">
                                      <p:cBhvr additive="base">
                                        <p:cTn id="220" dur="500" fill="hold"/>
                                        <p:tgtEl>
                                          <p:spTgt spid="46"/>
                                        </p:tgtEl>
                                        <p:attrNameLst>
                                          <p:attrName>ppt_w</p:attrName>
                                        </p:attrNameLst>
                                      </p:cBhvr>
                                      <p:tavLst>
                                        <p:tav tm="0">
                                          <p:val>
                                            <p:fltVal val="0"/>
                                          </p:val>
                                        </p:tav>
                                        <p:tav tm="100000">
                                          <p:val>
                                            <p:strVal val="#ppt_w"/>
                                          </p:val>
                                        </p:tav>
                                      </p:tavLst>
                                    </p:anim>
                                    <p:anim calcmode="lin" valueType="num">
                                      <p:cBhvr additive="base">
                                        <p:cTn id="221" dur="500" fill="hold"/>
                                        <p:tgtEl>
                                          <p:spTgt spid="46"/>
                                        </p:tgtEl>
                                        <p:attrNameLst>
                                          <p:attrName>ppt_h</p:attrName>
                                        </p:attrNameLst>
                                      </p:cBhvr>
                                      <p:tavLst>
                                        <p:tav tm="0">
                                          <p:val>
                                            <p:fltVal val="0"/>
                                          </p:val>
                                        </p:tav>
                                        <p:tav tm="100000">
                                          <p:val>
                                            <p:strVal val="#ppt_h"/>
                                          </p:val>
                                        </p:tav>
                                      </p:tavLst>
                                    </p:anim>
                                    <p:animEffect transition="in" filter="fade">
                                      <p:cBhvr>
                                        <p:cTn id="222" dur="500"/>
                                        <p:tgtEl>
                                          <p:spTgt spid="46"/>
                                        </p:tgtEl>
                                      </p:cBhvr>
                                    </p:animEffect>
                                  </p:childTnLst>
                                </p:cTn>
                              </p:par>
                              <p:par>
                                <p:cTn id="223" presetID="53" presetClass="entr" presetSubtype="16" fill="hold" nodeType="withEffect">
                                  <p:stCondLst>
                                    <p:cond delay="1640"/>
                                  </p:stCondLst>
                                  <p:childTnLst>
                                    <p:set>
                                      <p:cBhvr>
                                        <p:cTn id="224" dur="1" fill="hold">
                                          <p:stCondLst>
                                            <p:cond delay="0"/>
                                          </p:stCondLst>
                                        </p:cTn>
                                        <p:tgtEl>
                                          <p:spTgt spid="47"/>
                                        </p:tgtEl>
                                        <p:attrNameLst>
                                          <p:attrName>style.visibility</p:attrName>
                                        </p:attrNameLst>
                                      </p:cBhvr>
                                      <p:to>
                                        <p:strVal val="visible"/>
                                      </p:to>
                                    </p:set>
                                    <p:anim calcmode="lin" valueType="num">
                                      <p:cBhvr additive="base">
                                        <p:cTn id="225" dur="500" fill="hold"/>
                                        <p:tgtEl>
                                          <p:spTgt spid="47"/>
                                        </p:tgtEl>
                                        <p:attrNameLst>
                                          <p:attrName>ppt_w</p:attrName>
                                        </p:attrNameLst>
                                      </p:cBhvr>
                                      <p:tavLst>
                                        <p:tav tm="0">
                                          <p:val>
                                            <p:fltVal val="0"/>
                                          </p:val>
                                        </p:tav>
                                        <p:tav tm="100000">
                                          <p:val>
                                            <p:strVal val="#ppt_w"/>
                                          </p:val>
                                        </p:tav>
                                      </p:tavLst>
                                    </p:anim>
                                    <p:anim calcmode="lin" valueType="num">
                                      <p:cBhvr additive="base">
                                        <p:cTn id="226" dur="500" fill="hold"/>
                                        <p:tgtEl>
                                          <p:spTgt spid="47"/>
                                        </p:tgtEl>
                                        <p:attrNameLst>
                                          <p:attrName>ppt_h</p:attrName>
                                        </p:attrNameLst>
                                      </p:cBhvr>
                                      <p:tavLst>
                                        <p:tav tm="0">
                                          <p:val>
                                            <p:fltVal val="0"/>
                                          </p:val>
                                        </p:tav>
                                        <p:tav tm="100000">
                                          <p:val>
                                            <p:strVal val="#ppt_h"/>
                                          </p:val>
                                        </p:tav>
                                      </p:tavLst>
                                    </p:anim>
                                    <p:animEffect transition="in" filter="fade">
                                      <p:cBhvr>
                                        <p:cTn id="227" dur="500"/>
                                        <p:tgtEl>
                                          <p:spTgt spid="47"/>
                                        </p:tgtEl>
                                      </p:cBhvr>
                                    </p:animEffect>
                                  </p:childTnLst>
                                </p:cTn>
                              </p:par>
                              <p:par>
                                <p:cTn id="228" presetID="53" presetClass="entr" presetSubtype="16" fill="hold" grpId="0" nodeType="withEffect">
                                  <p:stCondLst>
                                    <p:cond delay="1640"/>
                                  </p:stCondLst>
                                  <p:childTnLst>
                                    <p:set>
                                      <p:cBhvr>
                                        <p:cTn id="229" dur="1" fill="hold">
                                          <p:stCondLst>
                                            <p:cond delay="0"/>
                                          </p:stCondLst>
                                        </p:cTn>
                                        <p:tgtEl>
                                          <p:spTgt spid="48"/>
                                        </p:tgtEl>
                                        <p:attrNameLst>
                                          <p:attrName>style.visibility</p:attrName>
                                        </p:attrNameLst>
                                      </p:cBhvr>
                                      <p:to>
                                        <p:strVal val="visible"/>
                                      </p:to>
                                    </p:set>
                                    <p:anim calcmode="lin" valueType="num">
                                      <p:cBhvr additive="base">
                                        <p:cTn id="230" dur="500" fill="hold"/>
                                        <p:tgtEl>
                                          <p:spTgt spid="48"/>
                                        </p:tgtEl>
                                        <p:attrNameLst>
                                          <p:attrName>ppt_w</p:attrName>
                                        </p:attrNameLst>
                                      </p:cBhvr>
                                      <p:tavLst>
                                        <p:tav tm="0">
                                          <p:val>
                                            <p:fltVal val="0"/>
                                          </p:val>
                                        </p:tav>
                                        <p:tav tm="100000">
                                          <p:val>
                                            <p:strVal val="#ppt_w"/>
                                          </p:val>
                                        </p:tav>
                                      </p:tavLst>
                                    </p:anim>
                                    <p:anim calcmode="lin" valueType="num">
                                      <p:cBhvr additive="base">
                                        <p:cTn id="231" dur="500" fill="hold"/>
                                        <p:tgtEl>
                                          <p:spTgt spid="48"/>
                                        </p:tgtEl>
                                        <p:attrNameLst>
                                          <p:attrName>ppt_h</p:attrName>
                                        </p:attrNameLst>
                                      </p:cBhvr>
                                      <p:tavLst>
                                        <p:tav tm="0">
                                          <p:val>
                                            <p:fltVal val="0"/>
                                          </p:val>
                                        </p:tav>
                                        <p:tav tm="100000">
                                          <p:val>
                                            <p:strVal val="#ppt_h"/>
                                          </p:val>
                                        </p:tav>
                                      </p:tavLst>
                                    </p:anim>
                                    <p:animEffect transition="in" filter="fade">
                                      <p:cBhvr>
                                        <p:cTn id="232" dur="500"/>
                                        <p:tgtEl>
                                          <p:spTgt spid="48"/>
                                        </p:tgtEl>
                                      </p:cBhvr>
                                    </p:animEffect>
                                  </p:childTnLst>
                                </p:cTn>
                              </p:par>
                              <p:par>
                                <p:cTn id="233" presetID="53" presetClass="entr" presetSubtype="16" fill="hold" grpId="0" nodeType="withEffect">
                                  <p:stCondLst>
                                    <p:cond delay="1640"/>
                                  </p:stCondLst>
                                  <p:childTnLst>
                                    <p:set>
                                      <p:cBhvr>
                                        <p:cTn id="234" dur="1" fill="hold">
                                          <p:stCondLst>
                                            <p:cond delay="0"/>
                                          </p:stCondLst>
                                        </p:cTn>
                                        <p:tgtEl>
                                          <p:spTgt spid="49"/>
                                        </p:tgtEl>
                                        <p:attrNameLst>
                                          <p:attrName>style.visibility</p:attrName>
                                        </p:attrNameLst>
                                      </p:cBhvr>
                                      <p:to>
                                        <p:strVal val="visible"/>
                                      </p:to>
                                    </p:set>
                                    <p:anim calcmode="lin" valueType="num">
                                      <p:cBhvr additive="base">
                                        <p:cTn id="235" dur="500" fill="hold"/>
                                        <p:tgtEl>
                                          <p:spTgt spid="49"/>
                                        </p:tgtEl>
                                        <p:attrNameLst>
                                          <p:attrName>ppt_w</p:attrName>
                                        </p:attrNameLst>
                                      </p:cBhvr>
                                      <p:tavLst>
                                        <p:tav tm="0">
                                          <p:val>
                                            <p:fltVal val="0"/>
                                          </p:val>
                                        </p:tav>
                                        <p:tav tm="100000">
                                          <p:val>
                                            <p:strVal val="#ppt_w"/>
                                          </p:val>
                                        </p:tav>
                                      </p:tavLst>
                                    </p:anim>
                                    <p:anim calcmode="lin" valueType="num">
                                      <p:cBhvr additive="base">
                                        <p:cTn id="236" dur="500" fill="hold"/>
                                        <p:tgtEl>
                                          <p:spTgt spid="49"/>
                                        </p:tgtEl>
                                        <p:attrNameLst>
                                          <p:attrName>ppt_h</p:attrName>
                                        </p:attrNameLst>
                                      </p:cBhvr>
                                      <p:tavLst>
                                        <p:tav tm="0">
                                          <p:val>
                                            <p:fltVal val="0"/>
                                          </p:val>
                                        </p:tav>
                                        <p:tav tm="100000">
                                          <p:val>
                                            <p:strVal val="#ppt_h"/>
                                          </p:val>
                                        </p:tav>
                                      </p:tavLst>
                                    </p:anim>
                                    <p:animEffect transition="in" filter="fade">
                                      <p:cBhvr>
                                        <p:cTn id="237" dur="500"/>
                                        <p:tgtEl>
                                          <p:spTgt spid="49"/>
                                        </p:tgtEl>
                                      </p:cBhvr>
                                    </p:animEffect>
                                  </p:childTnLst>
                                </p:cTn>
                              </p:par>
                              <p:par>
                                <p:cTn id="238" presetID="22" presetClass="entr" presetSubtype="8" fill="hold" grpId="0" nodeType="withEffect">
                                  <p:stCondLst>
                                    <p:cond delay="600"/>
                                  </p:stCondLst>
                                  <p:childTnLst>
                                    <p:set>
                                      <p:cBhvr>
                                        <p:cTn id="239" dur="1" fill="hold">
                                          <p:stCondLst>
                                            <p:cond delay="0"/>
                                          </p:stCondLst>
                                        </p:cTn>
                                        <p:tgtEl>
                                          <p:spTgt spid="57"/>
                                        </p:tgtEl>
                                        <p:attrNameLst>
                                          <p:attrName>style.visibility</p:attrName>
                                        </p:attrNameLst>
                                      </p:cBhvr>
                                      <p:to>
                                        <p:strVal val="visible"/>
                                      </p:to>
                                    </p:set>
                                    <p:animEffect transition="in" filter="wipe(left)">
                                      <p:cBhvr>
                                        <p:cTn id="240" dur="1100"/>
                                        <p:tgtEl>
                                          <p:spTgt spid="57"/>
                                        </p:tgtEl>
                                      </p:cBhvr>
                                    </p:animEffect>
                                  </p:childTnLst>
                                </p:cTn>
                              </p:par>
                              <p:par>
                                <p:cTn id="242" presetID="0" presetClass="path" presetSubtype="0" fill="hold" accel="30000" decel="30000" nodeType="withEffect">
                                  <p:stCondLst>
                                    <p:cond delay="600"/>
                                  </p:stCondLst>
                                  <p:childTnLst>
                                    <p:animMotion origin="layout" path="M 0 0 L 0.02017 0 E" pathEditMode="relative" rAng="0" ptsTypes="AA">
                                      <p:cBhvr>
                                        <p:cTn id="241" dur="1100" fill="hold"/>
                                        <p:tgtEl>
                                          <p:spTgt spid="58"/>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35" grpId="0" animBg="1"/>
      <p:bldP spid="36" grpId="0" animBg="1"/>
      <p:bldP spid="38" grpId="0" animBg="1"/>
      <p:bldP spid="39" grpId="0" animBg="1"/>
      <p:bldP spid="40" grpId="0" animBg="1"/>
      <p:bldP spid="41" grpId="0" animBg="1"/>
      <p:bldP spid="43" grpId="0" animBg="1"/>
      <p:bldP spid="44" grpId="0" animBg="1"/>
      <p:bldP spid="45" grpId="0" animBg="1"/>
      <p:bldP spid="46" grpId="0" animBg="1"/>
      <p:bldP spid="48" grpId="0" animBg="1"/>
      <p:bldP spid="49" grpId="0" animBg="1"/>
      <p:bldP spid="5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Data flow and deduplication</a:t>
            </a:r>
            <a:endParaRPr lang="en-US" sz="3600" dirty="0"/>
          </a:p>
        </p:txBody>
      </p:sp>
      <p:sp>
        <p:nvSpPr>
          <p:cNvPr id="5" name="wf0c"/>
          <p:cNvSpPr/>
          <p:nvPr/>
        </p:nvSpPr>
        <p:spPr>
          <a:xfrm>
            <a:off x="548640" y="1691640"/>
            <a:ext cx="6766560" cy="658368"/>
          </a:xfrm>
          <a:prstGeom prst="roundRect">
            <a:avLst>
              <a:gd name="adj" fmla="val 16667"/>
            </a:avLst>
          </a:prstGeom>
          <a:solidFill>
            <a:schemeClr val="bg1">
              <a:alpha val="9000"/>
            </a:schemeClr>
          </a:solidFill>
          <a:ln w="9525">
            <a:solidFill>
              <a:schemeClr val="accent1">
                <a:alpha val="45000"/>
              </a:schemeClr>
            </a:solidFill>
            <a:prstDash val="solid"/>
          </a:ln>
        </p:spPr>
      </p:sp>
      <p:sp>
        <p:nvSpPr>
          <p:cNvPr id="6" name="wf0d"/>
          <p:cNvSpPr/>
          <p:nvPr/>
        </p:nvSpPr>
        <p:spPr>
          <a:xfrm>
            <a:off x="713232" y="1819656"/>
            <a:ext cx="402336" cy="402336"/>
          </a:xfrm>
          <a:prstGeom prst="ellipse">
            <a:avLst/>
          </a:prstGeom>
          <a:solidFill>
            <a:schemeClr val="accent1">
              <a:alpha val="80000"/>
            </a:schemeClr>
          </a:solidFill>
          <a:ln/>
        </p:spPr>
      </p:sp>
      <p:sp>
        <p:nvSpPr>
          <p:cNvPr id="7" name="wf0dn"/>
          <p:cNvSpPr txBox="1"/>
          <p:nvPr/>
        </p:nvSpPr>
        <p:spPr>
          <a:xfrm>
            <a:off x="713232" y="178308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wf0t"/>
          <p:cNvSpPr txBox="1"/>
          <p:nvPr/>
        </p:nvSpPr>
        <p:spPr>
          <a:xfrm>
            <a:off x="1280160" y="1728216"/>
            <a:ext cx="5943600" cy="585216"/>
          </a:xfrm>
          <a:prstGeom prst="rect">
            <a:avLst/>
          </a:prstGeom>
          <a:noFill/>
          <a:ln/>
        </p:spPr>
        <p:txBody>
          <a:bodyPr wrap="square" lIns="0" tIns="0" rIns="0" bIns="0" rtlCol="0" anchor="ctr"/>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fetch_flights()</a:t>
            </a:r>
            <a:endParaRPr lang="en-US" sz="1400" dirty="0"/>
          </a:p>
          <a:p>
            <a:pPr algn="l" indent="0" marL="0">
              <a:buNone/>
            </a:pPr>
            <a:r>
              <a:rPr lang="en-US" sz="1400" dirty="0">
                <a:solidFill>
                  <a:schemeClr val="bg2"/>
                </a:solidFill>
              </a:rPr>
              <a:t>Call /v1/flights with filters; archive raw JSON</a:t>
            </a:r>
            <a:endParaRPr lang="en-US" sz="1400" dirty="0"/>
          </a:p>
        </p:txBody>
      </p:sp>
      <p:sp>
        <p:nvSpPr>
          <p:cNvPr id="9" name="wf1c"/>
          <p:cNvSpPr/>
          <p:nvPr/>
        </p:nvSpPr>
        <p:spPr>
          <a:xfrm>
            <a:off x="548640" y="2423160"/>
            <a:ext cx="6766560" cy="658368"/>
          </a:xfrm>
          <a:prstGeom prst="roundRect">
            <a:avLst>
              <a:gd name="adj" fmla="val 16667"/>
            </a:avLst>
          </a:prstGeom>
          <a:solidFill>
            <a:schemeClr val="bg1">
              <a:alpha val="9000"/>
            </a:schemeClr>
          </a:solidFill>
          <a:ln w="9525">
            <a:solidFill>
              <a:schemeClr val="accent4">
                <a:alpha val="45000"/>
              </a:schemeClr>
            </a:solidFill>
            <a:prstDash val="solid"/>
          </a:ln>
        </p:spPr>
      </p:sp>
      <p:sp>
        <p:nvSpPr>
          <p:cNvPr id="10" name="wf1d"/>
          <p:cNvSpPr/>
          <p:nvPr/>
        </p:nvSpPr>
        <p:spPr>
          <a:xfrm>
            <a:off x="713232" y="2551176"/>
            <a:ext cx="402336" cy="402336"/>
          </a:xfrm>
          <a:prstGeom prst="ellipse">
            <a:avLst/>
          </a:prstGeom>
          <a:solidFill>
            <a:schemeClr val="accent4">
              <a:alpha val="80000"/>
            </a:schemeClr>
          </a:solidFill>
          <a:ln/>
        </p:spPr>
      </p:sp>
      <p:sp>
        <p:nvSpPr>
          <p:cNvPr id="11" name="wf1dn"/>
          <p:cNvSpPr txBox="1"/>
          <p:nvPr/>
        </p:nvSpPr>
        <p:spPr>
          <a:xfrm>
            <a:off x="713232" y="251460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wf1t"/>
          <p:cNvSpPr txBox="1"/>
          <p:nvPr/>
        </p:nvSpPr>
        <p:spPr>
          <a:xfrm>
            <a:off x="1280160" y="2459736"/>
            <a:ext cx="5943600" cy="585216"/>
          </a:xfrm>
          <a:prstGeom prst="rect">
            <a:avLst/>
          </a:prstGeom>
          <a:noFill/>
          <a:ln/>
        </p:spPr>
        <p:txBody>
          <a:bodyPr wrap="square" lIns="0" tIns="0" rIns="0" bIns="0" rtlCol="0" anchor="ctr"/>
          <a:lstStyle/>
          <a:p>
            <a:pPr algn="l" indent="0" marL="0">
              <a:buNone/>
            </a:pPr>
            <a:r>
              <a:rPr lang="en-US" sz="1500" b="1" dirty="0">
                <a:solidFill>
                  <a:schemeClr val="accent4"/>
                </a:solidFill>
                <a:latin typeface="Courier New" pitchFamily="34" charset="0"/>
                <a:ea typeface="Courier New" pitchFamily="34" charset="-122"/>
                <a:cs typeface="Courier New" pitchFamily="34" charset="-120"/>
              </a:rPr>
              <a:t>validate_flight_records()</a:t>
            </a:r>
            <a:endParaRPr lang="en-US" sz="1400" dirty="0"/>
          </a:p>
          <a:p>
            <a:pPr algn="l" indent="0" marL="0">
              <a:buNone/>
            </a:pPr>
            <a:r>
              <a:rPr lang="en-US" sz="1400" dirty="0">
                <a:solidFill>
                  <a:schemeClr val="bg2"/>
                </a:solidFill>
              </a:rPr>
              <a:t>Pydantic checks; rejected rows are reported</a:t>
            </a:r>
            <a:endParaRPr lang="en-US" sz="1400" dirty="0"/>
          </a:p>
        </p:txBody>
      </p:sp>
      <p:sp>
        <p:nvSpPr>
          <p:cNvPr id="13" name="wf2c"/>
          <p:cNvSpPr/>
          <p:nvPr/>
        </p:nvSpPr>
        <p:spPr>
          <a:xfrm>
            <a:off x="548640" y="3154680"/>
            <a:ext cx="6766560" cy="658368"/>
          </a:xfrm>
          <a:prstGeom prst="roundRect">
            <a:avLst>
              <a:gd name="adj" fmla="val 16667"/>
            </a:avLst>
          </a:prstGeom>
          <a:solidFill>
            <a:schemeClr val="bg1">
              <a:alpha val="9000"/>
            </a:schemeClr>
          </a:solidFill>
          <a:ln w="9525">
            <a:solidFill>
              <a:schemeClr val="accent2">
                <a:alpha val="45000"/>
              </a:schemeClr>
            </a:solidFill>
            <a:prstDash val="solid"/>
          </a:ln>
        </p:spPr>
      </p:sp>
      <p:sp>
        <p:nvSpPr>
          <p:cNvPr id="14" name="wf2d"/>
          <p:cNvSpPr/>
          <p:nvPr/>
        </p:nvSpPr>
        <p:spPr>
          <a:xfrm>
            <a:off x="713232" y="3282696"/>
            <a:ext cx="402336" cy="402336"/>
          </a:xfrm>
          <a:prstGeom prst="ellipse">
            <a:avLst/>
          </a:prstGeom>
          <a:solidFill>
            <a:schemeClr val="accent2">
              <a:alpha val="80000"/>
            </a:schemeClr>
          </a:solidFill>
          <a:ln/>
        </p:spPr>
      </p:sp>
      <p:sp>
        <p:nvSpPr>
          <p:cNvPr id="15" name="wf2dn"/>
          <p:cNvSpPr txBox="1"/>
          <p:nvPr/>
        </p:nvSpPr>
        <p:spPr>
          <a:xfrm>
            <a:off x="713232" y="324612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6" name="wf2t"/>
          <p:cNvSpPr txBox="1"/>
          <p:nvPr/>
        </p:nvSpPr>
        <p:spPr>
          <a:xfrm>
            <a:off x="1280160" y="3191256"/>
            <a:ext cx="5943600" cy="585216"/>
          </a:xfrm>
          <a:prstGeom prst="rect">
            <a:avLst/>
          </a:prstGeom>
          <a:noFill/>
          <a:ln/>
        </p:spPr>
        <p:txBody>
          <a:bodyPr wrap="square" lIns="0" tIns="0" rIns="0" bIns="0" rtlCol="0" anchor="ctr"/>
          <a:lstStyle/>
          <a:p>
            <a:pPr algn="l" indent="0" marL="0">
              <a:buNone/>
            </a:pPr>
            <a:r>
              <a:rPr lang="en-US" sz="1500" b="1" dirty="0">
                <a:solidFill>
                  <a:schemeClr val="accent2"/>
                </a:solidFill>
                <a:latin typeface="Courier New" pitchFamily="34" charset="0"/>
                <a:ea typeface="Courier New" pitchFamily="34" charset="-122"/>
                <a:cs typeface="Courier New" pitchFamily="34" charset="-120"/>
              </a:rPr>
              <a:t>records_to_dataframe()</a:t>
            </a:r>
            <a:endParaRPr lang="en-US" sz="1400" dirty="0"/>
          </a:p>
          <a:p>
            <a:pPr algn="l" indent="0" marL="0">
              <a:buNone/>
            </a:pPr>
            <a:r>
              <a:rPr lang="en-US" sz="1400" dirty="0">
                <a:solidFill>
                  <a:schemeClr val="bg2"/>
                </a:solidFill>
              </a:rPr>
              <a:t>Flatten, parse times, derive route and delay</a:t>
            </a:r>
            <a:endParaRPr lang="en-US" sz="1400" dirty="0"/>
          </a:p>
        </p:txBody>
      </p:sp>
      <p:sp>
        <p:nvSpPr>
          <p:cNvPr id="17" name="wf3c"/>
          <p:cNvSpPr/>
          <p:nvPr/>
        </p:nvSpPr>
        <p:spPr>
          <a:xfrm>
            <a:off x="548640" y="3886200"/>
            <a:ext cx="6766560" cy="658368"/>
          </a:xfrm>
          <a:prstGeom prst="roundRect">
            <a:avLst>
              <a:gd name="adj" fmla="val 16667"/>
            </a:avLst>
          </a:prstGeom>
          <a:solidFill>
            <a:schemeClr val="bg1">
              <a:alpha val="9000"/>
            </a:schemeClr>
          </a:solidFill>
          <a:ln w="9525">
            <a:solidFill>
              <a:schemeClr val="accent3">
                <a:alpha val="45000"/>
              </a:schemeClr>
            </a:solidFill>
            <a:prstDash val="solid"/>
          </a:ln>
        </p:spPr>
      </p:sp>
      <p:sp>
        <p:nvSpPr>
          <p:cNvPr id="18" name="wf3d"/>
          <p:cNvSpPr/>
          <p:nvPr/>
        </p:nvSpPr>
        <p:spPr>
          <a:xfrm>
            <a:off x="713232" y="4014216"/>
            <a:ext cx="402336" cy="402336"/>
          </a:xfrm>
          <a:prstGeom prst="ellipse">
            <a:avLst/>
          </a:prstGeom>
          <a:solidFill>
            <a:schemeClr val="accent3">
              <a:alpha val="80000"/>
            </a:schemeClr>
          </a:solidFill>
          <a:ln/>
        </p:spPr>
      </p:sp>
      <p:sp>
        <p:nvSpPr>
          <p:cNvPr id="19" name="wf3dn"/>
          <p:cNvSpPr txBox="1"/>
          <p:nvPr/>
        </p:nvSpPr>
        <p:spPr>
          <a:xfrm>
            <a:off x="713232" y="397764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0" name="wf3t"/>
          <p:cNvSpPr txBox="1"/>
          <p:nvPr/>
        </p:nvSpPr>
        <p:spPr>
          <a:xfrm>
            <a:off x="1280160" y="3922776"/>
            <a:ext cx="5943600" cy="585216"/>
          </a:xfrm>
          <a:prstGeom prst="rect">
            <a:avLst/>
          </a:prstGeom>
          <a:noFill/>
          <a:ln/>
        </p:spPr>
        <p:txBody>
          <a:bodyPr wrap="square" lIns="0" tIns="0" rIns="0" bIns="0" rtlCol="0" anchor="ctr"/>
          <a:lstStyle/>
          <a:p>
            <a:pPr algn="l" indent="0" marL="0">
              <a:buNone/>
            </a:pPr>
            <a:r>
              <a:rPr lang="en-US" sz="1500" b="1" dirty="0">
                <a:solidFill>
                  <a:schemeClr val="accent3"/>
                </a:solidFill>
                <a:latin typeface="Courier New" pitchFamily="34" charset="0"/>
                <a:ea typeface="Courier New" pitchFamily="34" charset="-122"/>
                <a:cs typeface="Courier New" pitchFamily="34" charset="-120"/>
              </a:rPr>
              <a:t>insert_flights()</a:t>
            </a:r>
            <a:endParaRPr lang="en-US" sz="1400" dirty="0"/>
          </a:p>
          <a:p>
            <a:pPr algn="l" indent="0" marL="0">
              <a:buNone/>
            </a:pPr>
            <a:r>
              <a:rPr lang="en-US" sz="1400" dirty="0">
                <a:solidFill>
                  <a:schemeClr val="bg2"/>
                </a:solidFill>
              </a:rPr>
              <a:t>Upsert into SQLite on the natural key</a:t>
            </a:r>
            <a:endParaRPr lang="en-US" sz="1400" dirty="0"/>
          </a:p>
        </p:txBody>
      </p:sp>
      <p:sp>
        <p:nvSpPr>
          <p:cNvPr id="21" name="wf4c"/>
          <p:cNvSpPr/>
          <p:nvPr/>
        </p:nvSpPr>
        <p:spPr>
          <a:xfrm>
            <a:off x="548640" y="4617720"/>
            <a:ext cx="6766560" cy="658368"/>
          </a:xfrm>
          <a:prstGeom prst="roundRect">
            <a:avLst>
              <a:gd name="adj" fmla="val 16667"/>
            </a:avLst>
          </a:prstGeom>
          <a:solidFill>
            <a:schemeClr val="bg1">
              <a:alpha val="9000"/>
            </a:schemeClr>
          </a:solidFill>
          <a:ln w="9525">
            <a:solidFill>
              <a:schemeClr val="accent6">
                <a:alpha val="45000"/>
              </a:schemeClr>
            </a:solidFill>
            <a:prstDash val="solid"/>
          </a:ln>
        </p:spPr>
      </p:sp>
      <p:sp>
        <p:nvSpPr>
          <p:cNvPr id="22" name="wf4d"/>
          <p:cNvSpPr/>
          <p:nvPr/>
        </p:nvSpPr>
        <p:spPr>
          <a:xfrm>
            <a:off x="713232" y="4745736"/>
            <a:ext cx="402336" cy="402336"/>
          </a:xfrm>
          <a:prstGeom prst="ellipse">
            <a:avLst/>
          </a:prstGeom>
          <a:solidFill>
            <a:schemeClr val="accent6">
              <a:alpha val="80000"/>
            </a:schemeClr>
          </a:solidFill>
          <a:ln/>
        </p:spPr>
      </p:sp>
      <p:sp>
        <p:nvSpPr>
          <p:cNvPr id="23" name="wf4dn"/>
          <p:cNvSpPr txBox="1"/>
          <p:nvPr/>
        </p:nvSpPr>
        <p:spPr>
          <a:xfrm>
            <a:off x="713232" y="470916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4" name="wf4t"/>
          <p:cNvSpPr txBox="1"/>
          <p:nvPr/>
        </p:nvSpPr>
        <p:spPr>
          <a:xfrm>
            <a:off x="1280160" y="4654296"/>
            <a:ext cx="5943600" cy="585216"/>
          </a:xfrm>
          <a:prstGeom prst="rect">
            <a:avLst/>
          </a:prstGeom>
          <a:noFill/>
          <a:ln/>
        </p:spPr>
        <p:txBody>
          <a:bodyPr wrap="square" lIns="0" tIns="0" rIns="0" bIns="0" rtlCol="0" anchor="ctr"/>
          <a:lstStyle/>
          <a:p>
            <a:pPr algn="l" indent="0" marL="0">
              <a:buNone/>
            </a:pPr>
            <a:r>
              <a:rPr lang="en-US" sz="1500" b="1" dirty="0">
                <a:solidFill>
                  <a:schemeClr val="accent6"/>
                </a:solidFill>
                <a:latin typeface="Courier New" pitchFamily="34" charset="0"/>
                <a:ea typeface="Courier New" pitchFamily="34" charset="-122"/>
                <a:cs typeface="Courier New" pitchFamily="34" charset="-120"/>
              </a:rPr>
              <a:t>derive_airports()</a:t>
            </a:r>
            <a:endParaRPr lang="en-US" sz="1400" dirty="0"/>
          </a:p>
          <a:p>
            <a:pPr algn="l" indent="0" marL="0">
              <a:buNone/>
            </a:pPr>
            <a:r>
              <a:rPr lang="en-US" sz="1400" dirty="0">
                <a:solidFill>
                  <a:schemeClr val="bg2"/>
                </a:solidFill>
              </a:rPr>
              <a:t>Aggregate airport blocks with sighting counts</a:t>
            </a:r>
            <a:endParaRPr lang="en-US" sz="1400" dirty="0"/>
          </a:p>
        </p:txBody>
      </p:sp>
      <p:sp>
        <p:nvSpPr>
          <p:cNvPr id="25" name="wf5c"/>
          <p:cNvSpPr/>
          <p:nvPr/>
        </p:nvSpPr>
        <p:spPr>
          <a:xfrm>
            <a:off x="548640" y="5349240"/>
            <a:ext cx="6766560" cy="658368"/>
          </a:xfrm>
          <a:prstGeom prst="roundRect">
            <a:avLst>
              <a:gd name="adj" fmla="val 16667"/>
            </a:avLst>
          </a:prstGeom>
          <a:solidFill>
            <a:schemeClr val="bg1">
              <a:alpha val="9000"/>
            </a:schemeClr>
          </a:solidFill>
          <a:ln w="9525">
            <a:solidFill>
              <a:schemeClr val="accent5">
                <a:alpha val="45000"/>
              </a:schemeClr>
            </a:solidFill>
            <a:prstDash val="solid"/>
          </a:ln>
        </p:spPr>
      </p:sp>
      <p:sp>
        <p:nvSpPr>
          <p:cNvPr id="26" name="wf5d"/>
          <p:cNvSpPr/>
          <p:nvPr/>
        </p:nvSpPr>
        <p:spPr>
          <a:xfrm>
            <a:off x="713232" y="5477256"/>
            <a:ext cx="402336" cy="402336"/>
          </a:xfrm>
          <a:prstGeom prst="ellipse">
            <a:avLst/>
          </a:prstGeom>
          <a:solidFill>
            <a:schemeClr val="accent5">
              <a:alpha val="80000"/>
            </a:schemeClr>
          </a:solidFill>
          <a:ln/>
        </p:spPr>
      </p:sp>
      <p:sp>
        <p:nvSpPr>
          <p:cNvPr id="27" name="wf5dn"/>
          <p:cNvSpPr txBox="1"/>
          <p:nvPr/>
        </p:nvSpPr>
        <p:spPr>
          <a:xfrm>
            <a:off x="713232" y="5440680"/>
            <a:ext cx="402336" cy="475488"/>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28" name="wf5t"/>
          <p:cNvSpPr txBox="1"/>
          <p:nvPr/>
        </p:nvSpPr>
        <p:spPr>
          <a:xfrm>
            <a:off x="1280160" y="5385816"/>
            <a:ext cx="5943600" cy="585216"/>
          </a:xfrm>
          <a:prstGeom prst="rect">
            <a:avLst/>
          </a:prstGeom>
          <a:noFill/>
          <a:ln/>
        </p:spPr>
        <p:txBody>
          <a:bodyPr wrap="square" lIns="0" tIns="0" rIns="0" bIns="0" rtlCol="0" anchor="ctr"/>
          <a:lstStyle/>
          <a:p>
            <a:pPr algn="l" indent="0" marL="0">
              <a:buNone/>
            </a:pPr>
            <a:r>
              <a:rPr lang="en-US" sz="1500" b="1" dirty="0">
                <a:solidFill>
                  <a:schemeClr val="accent5"/>
                </a:solidFill>
                <a:latin typeface="Courier New" pitchFamily="34" charset="0"/>
                <a:ea typeface="Courier New" pitchFamily="34" charset="-122"/>
                <a:cs typeface="Courier New" pitchFamily="34" charset="-120"/>
              </a:rPr>
              <a:t>database.fetch_*()</a:t>
            </a:r>
            <a:endParaRPr lang="en-US" sz="1400" dirty="0"/>
          </a:p>
          <a:p>
            <a:pPr algn="l" indent="0" marL="0">
              <a:buNone/>
            </a:pPr>
            <a:r>
              <a:rPr lang="en-US" sz="1400" dirty="0">
                <a:solidFill>
                  <a:schemeClr val="bg2"/>
                </a:solidFill>
              </a:rPr>
              <a:t>Both front-ends read through one layer</a:t>
            </a:r>
            <a:endParaRPr lang="en-US" sz="1400" dirty="0"/>
          </a:p>
        </p:txBody>
      </p:sp>
      <p:sp>
        <p:nvSpPr>
          <p:cNvPr id="29" name="keycard"/>
          <p:cNvSpPr/>
          <p:nvPr/>
        </p:nvSpPr>
        <p:spPr>
          <a:xfrm>
            <a:off x="7589520" y="1691640"/>
            <a:ext cx="4050792" cy="4315968"/>
          </a:xfrm>
          <a:prstGeom prst="roundRect">
            <a:avLst>
              <a:gd name="adj" fmla="val 2709"/>
            </a:avLst>
          </a:prstGeom>
          <a:solidFill>
            <a:schemeClr val="bg1">
              <a:alpha val="9000"/>
            </a:schemeClr>
          </a:solidFill>
          <a:ln w="9525">
            <a:solidFill>
              <a:schemeClr val="bg1">
                <a:alpha val="22000"/>
              </a:schemeClr>
            </a:solidFill>
            <a:prstDash val="solid"/>
          </a:ln>
        </p:spPr>
      </p:sp>
      <p:sp>
        <p:nvSpPr>
          <p:cNvPr id="30" name="keyhd"/>
          <p:cNvSpPr txBox="1"/>
          <p:nvPr/>
        </p:nvSpPr>
        <p:spPr>
          <a:xfrm>
            <a:off x="7818120" y="1828800"/>
            <a:ext cx="356616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NATURAL KEY</a:t>
            </a:r>
            <a:endParaRPr lang="en-US" sz="1200" dirty="0"/>
          </a:p>
        </p:txBody>
      </p:sp>
      <p:sp>
        <p:nvSpPr>
          <p:cNvPr id="31" name="keycode"/>
          <p:cNvSpPr txBox="1"/>
          <p:nvPr/>
        </p:nvSpPr>
        <p:spPr>
          <a:xfrm>
            <a:off x="7818120" y="2194560"/>
            <a:ext cx="3593592" cy="1097280"/>
          </a:xfrm>
          <a:prstGeom prst="roundRect">
            <a:avLst>
              <a:gd name="adj" fmla="val 10000"/>
            </a:avLst>
          </a:prstGeom>
          <a:solidFill>
            <a:schemeClr val="tx1">
              <a:alpha val="90000"/>
            </a:schemeClr>
          </a:solidFill>
          <a:ln/>
        </p:spPr>
        <p:txBody>
          <a:bodyPr wrap="square" lIns="127000" tIns="152400" rIns="152400" bIns="127000" rtlCol="0" anchor="ctr"/>
          <a:lstStyle/>
          <a:p>
            <a:pPr algn="l" indent="0" marL="0">
              <a:buNone/>
            </a:pPr>
            <a:r>
              <a:rPr lang="en-US" sz="1400" dirty="0">
                <a:solidFill>
                  <a:schemeClr val="bg1"/>
                </a:solidFill>
                <a:latin typeface="Courier New" pitchFamily="34" charset="0"/>
                <a:ea typeface="Courier New" pitchFamily="34" charset="-122"/>
                <a:cs typeface="Courier New" pitchFamily="34" charset="-120"/>
              </a:rPr>
              <a:t>(flight_date, flight_iata,</a:t>
            </a:r>
            <a:endParaRPr lang="en-US" sz="1400" dirty="0"/>
          </a:p>
          <a:p>
            <a:pPr algn="l" indent="0" marL="0">
              <a:buNone/>
            </a:pPr>
            <a:r>
              <a:rPr lang="en-US" sz="1400" dirty="0">
                <a:solidFill>
                  <a:schemeClr val="bg1"/>
                </a:solidFill>
                <a:latin typeface="Courier New" pitchFamily="34" charset="0"/>
                <a:ea typeface="Courier New" pitchFamily="34" charset="-122"/>
                <a:cs typeface="Courier New" pitchFamily="34" charset="-120"/>
              </a:rPr>
              <a:t> dep_iata, arr_iata)</a:t>
            </a:r>
            <a:endParaRPr lang="en-US" sz="1400" dirty="0"/>
          </a:p>
          <a:p>
            <a:pPr algn="l" indent="0" marL="0">
              <a:buNone/>
            </a:pPr>
            <a:r>
              <a:rPr lang="en-US" sz="1400" dirty="0">
                <a:solidFill>
                  <a:schemeClr val="accent3"/>
                </a:solidFill>
                <a:latin typeface="Courier New" pitchFamily="34" charset="0"/>
                <a:ea typeface="Courier New" pitchFamily="34" charset="-122"/>
                <a:cs typeface="Courier New" pitchFamily="34" charset="-120"/>
              </a:rPr>
              <a:t>ON CONFLICT REPLACE</a:t>
            </a:r>
            <a:endParaRPr lang="en-US" sz="1400" dirty="0"/>
          </a:p>
        </p:txBody>
      </p:sp>
      <p:sp>
        <p:nvSpPr>
          <p:cNvPr id="32" name="dedupbig"/>
          <p:cNvSpPr txBox="1"/>
          <p:nvPr/>
        </p:nvSpPr>
        <p:spPr>
          <a:xfrm>
            <a:off x="7818120" y="3520440"/>
            <a:ext cx="3566160" cy="868680"/>
          </a:xfrm>
          <a:prstGeom prst="rect">
            <a:avLst/>
          </a:prstGeom>
          <a:noFill/>
          <a:ln/>
        </p:spPr>
        <p:txBody>
          <a:bodyPr wrap="square" lIns="0" tIns="0" rIns="0" bIns="0" rtlCol="0" anchor="t"/>
          <a:lstStyle/>
          <a:p>
            <a:pPr algn="l" indent="0" marL="0">
              <a:buNone/>
            </a:pPr>
            <a:r>
              <a:rPr lang="en-US" sz="5400" b="1" dirty="0">
                <a:solidFill>
                  <a:schemeClr val="accent3"/>
                </a:solidFill>
                <a:latin typeface="+mj-lt" pitchFamily="34" charset="0"/>
                <a:ea typeface="+mj-lt" pitchFamily="34" charset="-122"/>
                <a:cs typeface="+mj-lt" pitchFamily="34" charset="-120"/>
              </a:rPr>
              <a:t>135 → 133</a:t>
            </a:r>
            <a:endParaRPr lang="en-US" sz="5400" dirty="0"/>
          </a:p>
        </p:txBody>
      </p:sp>
      <p:sp>
        <p:nvSpPr>
          <p:cNvPr id="33" name="dedupsub"/>
          <p:cNvSpPr txBox="1"/>
          <p:nvPr/>
        </p:nvSpPr>
        <p:spPr>
          <a:xfrm>
            <a:off x="7818120" y="4434840"/>
            <a:ext cx="3566160" cy="1371600"/>
          </a:xfrm>
          <a:prstGeom prst="rect">
            <a:avLst/>
          </a:prstGeom>
          <a:noFill/>
          <a:ln/>
        </p:spPr>
        <p:txBody>
          <a:bodyPr wrap="square" lIns="0" tIns="0" rIns="0" bIns="0" rtlCol="0" anchor="t"/>
          <a:lstStyle/>
          <a:p>
            <a:pPr algn="l" indent="0" marL="0">
              <a:buNone/>
            </a:pPr>
            <a:r>
              <a:rPr lang="en-US" sz="1500" dirty="0">
                <a:solidFill>
                  <a:schemeClr val="bg2"/>
                </a:solidFill>
              </a:rPr>
              <a:t>records fetched over three successful refreshes became 133 unique rows. Every attempt is logged in refresh_log.</a:t>
            </a:r>
            <a:endParaRPr lang="en-US" sz="1500" dirty="0"/>
          </a:p>
        </p:txBody>
      </p:sp>
      <p:sp>
        <p:nvSpPr>
          <p:cNvPr id="34" name="track"/>
          <p:cNvSpPr/>
          <p:nvPr/>
        </p:nvSpPr>
        <p:spPr>
          <a:xfrm>
            <a:off x="3383280" y="6510528"/>
            <a:ext cx="7132320" cy="0"/>
          </a:xfrm>
          <a:prstGeom prst="line">
            <a:avLst/>
          </a:prstGeom>
          <a:noFill/>
          <a:ln w="12700">
            <a:solidFill>
              <a:schemeClr val="bg2">
                <a:alpha val="45000"/>
              </a:schemeClr>
            </a:solidFill>
            <a:prstDash val="dash"/>
          </a:ln>
        </p:spPr>
      </p:sp>
      <p:sp>
        <p:nvSpPr>
          <p:cNvPr id="35" name="progress"/>
          <p:cNvSpPr/>
          <p:nvPr/>
        </p:nvSpPr>
        <p:spPr>
          <a:xfrm>
            <a:off x="3383280" y="6510528"/>
            <a:ext cx="2213479" cy="0"/>
          </a:xfrm>
          <a:prstGeom prst="line">
            <a:avLst/>
          </a:prstGeom>
          <a:noFill/>
          <a:ln w="28575">
            <a:solidFill>
              <a:schemeClr val="accent2"/>
            </a:solidFill>
            <a:prstDash val="solid"/>
          </a:ln>
        </p:spPr>
      </p:sp>
      <p:sp>
        <p:nvSpPr>
          <p:cNvPr id="36" name="wp0"/>
          <p:cNvSpPr/>
          <p:nvPr/>
        </p:nvSpPr>
        <p:spPr>
          <a:xfrm>
            <a:off x="3834016" y="6469380"/>
            <a:ext cx="82296" cy="82296"/>
          </a:xfrm>
          <a:prstGeom prst="ellipse">
            <a:avLst/>
          </a:prstGeom>
          <a:solidFill>
            <a:schemeClr val="accent2"/>
          </a:solidFill>
          <a:ln/>
        </p:spPr>
      </p:sp>
      <p:sp>
        <p:nvSpPr>
          <p:cNvPr id="37" name="wp1"/>
          <p:cNvSpPr/>
          <p:nvPr/>
        </p:nvSpPr>
        <p:spPr>
          <a:xfrm>
            <a:off x="4817784" y="6469380"/>
            <a:ext cx="82296" cy="82296"/>
          </a:xfrm>
          <a:prstGeom prst="ellipse">
            <a:avLst/>
          </a:prstGeom>
          <a:solidFill>
            <a:schemeClr val="accent2"/>
          </a:solidFill>
          <a:ln/>
        </p:spPr>
      </p:sp>
      <p:sp>
        <p:nvSpPr>
          <p:cNvPr id="38" name="wp2"/>
          <p:cNvSpPr/>
          <p:nvPr/>
        </p:nvSpPr>
        <p:spPr>
          <a:xfrm>
            <a:off x="7277205" y="6469380"/>
            <a:ext cx="82296" cy="82296"/>
          </a:xfrm>
          <a:prstGeom prst="ellipse">
            <a:avLst/>
          </a:prstGeom>
          <a:solidFill>
            <a:schemeClr val="bg2">
              <a:alpha val="60000"/>
            </a:schemeClr>
          </a:solidFill>
          <a:ln/>
        </p:spPr>
      </p:sp>
      <p:sp>
        <p:nvSpPr>
          <p:cNvPr id="39" name="wp3"/>
          <p:cNvSpPr/>
          <p:nvPr/>
        </p:nvSpPr>
        <p:spPr>
          <a:xfrm>
            <a:off x="8506915" y="6469380"/>
            <a:ext cx="82296" cy="82296"/>
          </a:xfrm>
          <a:prstGeom prst="ellipse">
            <a:avLst/>
          </a:prstGeom>
          <a:solidFill>
            <a:schemeClr val="bg2">
              <a:alpha val="60000"/>
            </a:schemeClr>
          </a:solidFill>
          <a:ln/>
        </p:spPr>
      </p:sp>
      <p:sp>
        <p:nvSpPr>
          <p:cNvPr id="40" name="wp4"/>
          <p:cNvSpPr/>
          <p:nvPr/>
        </p:nvSpPr>
        <p:spPr>
          <a:xfrm>
            <a:off x="9982568" y="6469380"/>
            <a:ext cx="82296" cy="82296"/>
          </a:xfrm>
          <a:prstGeom prst="ellipse">
            <a:avLst/>
          </a:prstGeom>
          <a:solidFill>
            <a:schemeClr val="bg2">
              <a:alpha val="60000"/>
            </a:schemeClr>
          </a:solidFill>
          <a:ln/>
        </p:spPr>
      </p:sp>
      <p:sp>
        <p:nvSpPr>
          <p:cNvPr id="41" name="progress_ext"/>
          <p:cNvSpPr/>
          <p:nvPr/>
        </p:nvSpPr>
        <p:spPr>
          <a:xfrm>
            <a:off x="5596759" y="6510528"/>
            <a:ext cx="245942" cy="0"/>
          </a:xfrm>
          <a:prstGeom prst="line">
            <a:avLst/>
          </a:prstGeom>
          <a:noFill/>
          <a:ln w="28575">
            <a:solidFill>
              <a:schemeClr val="accent2"/>
            </a:solidFill>
            <a:prstDash val="solid"/>
          </a:ln>
        </p:spPr>
      </p:sp>
      <p:pic>
        <p:nvPicPr>
          <p:cNvPr id="42" name="!!tracker" descr="Progress marker">    </p:cNvPr>
          <p:cNvPicPr>
            <a:picLocks noChangeAspect="1"/>
          </p:cNvPicPr>
          <p:nvPr/>
        </p:nvPicPr>
        <p:blipFill>
          <a:blip r:embed="rId1"/>
          <a:stretch>
            <a:fillRect/>
          </a:stretch>
        </p:blipFill>
        <p:spPr>
          <a:xfrm>
            <a:off x="541387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3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par>
                                <p:cTn id="16" presetID="22" presetClass="entr" presetSubtype="8" fill="hold" grpId="0" nodeType="withEffect">
                                  <p:stCondLst>
                                    <p:cond delay="3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500"/>
                                        <p:tgtEl>
                                          <p:spTgt spid="6"/>
                                        </p:tgtEl>
                                      </p:cBhvr>
                                    </p:animEffect>
                                  </p:childTnLst>
                                </p:cTn>
                              </p:par>
                              <p:par>
                                <p:cTn id="19" presetID="22" presetClass="entr" presetSubtype="8" fill="hold" grpId="0" nodeType="withEffect">
                                  <p:stCondLst>
                                    <p:cond delay="3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par>
                                <p:cTn id="22" presetID="22" presetClass="entr" presetSubtype="8" fill="hold" grpId="0" nodeType="withEffect">
                                  <p:stCondLst>
                                    <p:cond delay="30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500"/>
                                        <p:tgtEl>
                                          <p:spTgt spid="8"/>
                                        </p:tgtEl>
                                      </p:cBhvr>
                                    </p:animEffect>
                                  </p:childTnLst>
                                </p:cTn>
                              </p:par>
                              <p:par>
                                <p:cTn id="25" presetID="22" presetClass="entr" presetSubtype="8" fill="hold" grpId="0" nodeType="withEffect">
                                  <p:stCondLst>
                                    <p:cond delay="80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par>
                                <p:cTn id="28" presetID="22" presetClass="entr" presetSubtype="8" fill="hold" grpId="0" nodeType="withEffect">
                                  <p:stCondLst>
                                    <p:cond delay="8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500"/>
                                        <p:tgtEl>
                                          <p:spTgt spid="10"/>
                                        </p:tgtEl>
                                      </p:cBhvr>
                                    </p:animEffect>
                                  </p:childTnLst>
                                </p:cTn>
                              </p:par>
                              <p:par>
                                <p:cTn id="31" presetID="22" presetClass="entr" presetSubtype="8" fill="hold" grpId="0" nodeType="withEffect">
                                  <p:stCondLst>
                                    <p:cond delay="80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par>
                                <p:cTn id="34" presetID="22" presetClass="entr" presetSubtype="8" fill="hold" grpId="0" nodeType="withEffect">
                                  <p:stCondLst>
                                    <p:cond delay="80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par>
                                <p:cTn id="37" presetID="22" presetClass="entr" presetSubtype="8" fill="hold" grpId="0" nodeType="withEffect">
                                  <p:stCondLst>
                                    <p:cond delay="1300"/>
                                  </p:stCondLst>
                                  <p:childTnLst>
                                    <p:set>
                                      <p:cBhvr>
                                        <p:cTn id="38" dur="1" fill="hold">
                                          <p:stCondLst>
                                            <p:cond delay="0"/>
                                          </p:stCondLst>
                                        </p:cTn>
                                        <p:tgtEl>
                                          <p:spTgt spid="13"/>
                                        </p:tgtEl>
                                        <p:attrNameLst>
                                          <p:attrName>style.visibility</p:attrName>
                                        </p:attrNameLst>
                                      </p:cBhvr>
                                      <p:to>
                                        <p:strVal val="visible"/>
                                      </p:to>
                                    </p:set>
                                    <p:animEffect transition="in" filter="wipe(left)">
                                      <p:cBhvr>
                                        <p:cTn id="39" dur="500"/>
                                        <p:tgtEl>
                                          <p:spTgt spid="13"/>
                                        </p:tgtEl>
                                      </p:cBhvr>
                                    </p:animEffect>
                                  </p:childTnLst>
                                </p:cTn>
                              </p:par>
                              <p:par>
                                <p:cTn id="40" presetID="22" presetClass="entr" presetSubtype="8" fill="hold" grpId="0" nodeType="withEffect">
                                  <p:stCondLst>
                                    <p:cond delay="1300"/>
                                  </p:stCondLst>
                                  <p:childTnLst>
                                    <p:set>
                                      <p:cBhvr>
                                        <p:cTn id="41" dur="1" fill="hold">
                                          <p:stCondLst>
                                            <p:cond delay="0"/>
                                          </p:stCondLst>
                                        </p:cTn>
                                        <p:tgtEl>
                                          <p:spTgt spid="14"/>
                                        </p:tgtEl>
                                        <p:attrNameLst>
                                          <p:attrName>style.visibility</p:attrName>
                                        </p:attrNameLst>
                                      </p:cBhvr>
                                      <p:to>
                                        <p:strVal val="visible"/>
                                      </p:to>
                                    </p:set>
                                    <p:animEffect transition="in" filter="wipe(left)">
                                      <p:cBhvr>
                                        <p:cTn id="42" dur="500"/>
                                        <p:tgtEl>
                                          <p:spTgt spid="14"/>
                                        </p:tgtEl>
                                      </p:cBhvr>
                                    </p:animEffect>
                                  </p:childTnLst>
                                </p:cTn>
                              </p:par>
                              <p:par>
                                <p:cTn id="43" presetID="22" presetClass="entr" presetSubtype="8" fill="hold" grpId="0" nodeType="withEffect">
                                  <p:stCondLst>
                                    <p:cond delay="1300"/>
                                  </p:stCondLst>
                                  <p:childTnLst>
                                    <p:set>
                                      <p:cBhvr>
                                        <p:cTn id="44" dur="1" fill="hold">
                                          <p:stCondLst>
                                            <p:cond delay="0"/>
                                          </p:stCondLst>
                                        </p:cTn>
                                        <p:tgtEl>
                                          <p:spTgt spid="15"/>
                                        </p:tgtEl>
                                        <p:attrNameLst>
                                          <p:attrName>style.visibility</p:attrName>
                                        </p:attrNameLst>
                                      </p:cBhvr>
                                      <p:to>
                                        <p:strVal val="visible"/>
                                      </p:to>
                                    </p:set>
                                    <p:animEffect transition="in" filter="wipe(left)">
                                      <p:cBhvr>
                                        <p:cTn id="45" dur="500"/>
                                        <p:tgtEl>
                                          <p:spTgt spid="15"/>
                                        </p:tgtEl>
                                      </p:cBhvr>
                                    </p:animEffect>
                                  </p:childTnLst>
                                </p:cTn>
                              </p:par>
                              <p:par>
                                <p:cTn id="46" presetID="22" presetClass="entr" presetSubtype="8" fill="hold" grpId="0" nodeType="withEffect">
                                  <p:stCondLst>
                                    <p:cond delay="1300"/>
                                  </p:stCondLst>
                                  <p:childTnLst>
                                    <p:set>
                                      <p:cBhvr>
                                        <p:cTn id="47" dur="1" fill="hold">
                                          <p:stCondLst>
                                            <p:cond delay="0"/>
                                          </p:stCondLst>
                                        </p:cTn>
                                        <p:tgtEl>
                                          <p:spTgt spid="16"/>
                                        </p:tgtEl>
                                        <p:attrNameLst>
                                          <p:attrName>style.visibility</p:attrName>
                                        </p:attrNameLst>
                                      </p:cBhvr>
                                      <p:to>
                                        <p:strVal val="visible"/>
                                      </p:to>
                                    </p:set>
                                    <p:animEffect transition="in" filter="wipe(left)">
                                      <p:cBhvr>
                                        <p:cTn id="48" dur="500"/>
                                        <p:tgtEl>
                                          <p:spTgt spid="16"/>
                                        </p:tgtEl>
                                      </p:cBhvr>
                                    </p:animEffect>
                                  </p:childTnLst>
                                </p:cTn>
                              </p:par>
                              <p:par>
                                <p:cTn id="49" presetID="22" presetClass="entr" presetSubtype="8" fill="hold" grpId="0" nodeType="withEffect">
                                  <p:stCondLst>
                                    <p:cond delay="1800"/>
                                  </p:stCondLst>
                                  <p:childTnLst>
                                    <p:set>
                                      <p:cBhvr>
                                        <p:cTn id="50" dur="1" fill="hold">
                                          <p:stCondLst>
                                            <p:cond delay="0"/>
                                          </p:stCondLst>
                                        </p:cTn>
                                        <p:tgtEl>
                                          <p:spTgt spid="17"/>
                                        </p:tgtEl>
                                        <p:attrNameLst>
                                          <p:attrName>style.visibility</p:attrName>
                                        </p:attrNameLst>
                                      </p:cBhvr>
                                      <p:to>
                                        <p:strVal val="visible"/>
                                      </p:to>
                                    </p:set>
                                    <p:animEffect transition="in" filter="wipe(left)">
                                      <p:cBhvr>
                                        <p:cTn id="51" dur="500"/>
                                        <p:tgtEl>
                                          <p:spTgt spid="17"/>
                                        </p:tgtEl>
                                      </p:cBhvr>
                                    </p:animEffect>
                                  </p:childTnLst>
                                </p:cTn>
                              </p:par>
                              <p:par>
                                <p:cTn id="52" presetID="22" presetClass="entr" presetSubtype="8" fill="hold" grpId="0" nodeType="withEffect">
                                  <p:stCondLst>
                                    <p:cond delay="1800"/>
                                  </p:stCondLst>
                                  <p:childTnLst>
                                    <p:set>
                                      <p:cBhvr>
                                        <p:cTn id="53" dur="1" fill="hold">
                                          <p:stCondLst>
                                            <p:cond delay="0"/>
                                          </p:stCondLst>
                                        </p:cTn>
                                        <p:tgtEl>
                                          <p:spTgt spid="18"/>
                                        </p:tgtEl>
                                        <p:attrNameLst>
                                          <p:attrName>style.visibility</p:attrName>
                                        </p:attrNameLst>
                                      </p:cBhvr>
                                      <p:to>
                                        <p:strVal val="visible"/>
                                      </p:to>
                                    </p:set>
                                    <p:animEffect transition="in" filter="wipe(left)">
                                      <p:cBhvr>
                                        <p:cTn id="54" dur="500"/>
                                        <p:tgtEl>
                                          <p:spTgt spid="18"/>
                                        </p:tgtEl>
                                      </p:cBhvr>
                                    </p:animEffect>
                                  </p:childTnLst>
                                </p:cTn>
                              </p:par>
                              <p:par>
                                <p:cTn id="55" presetID="22" presetClass="entr" presetSubtype="8" fill="hold" grpId="0" nodeType="withEffect">
                                  <p:stCondLst>
                                    <p:cond delay="1800"/>
                                  </p:stCondLst>
                                  <p:childTnLst>
                                    <p:set>
                                      <p:cBhvr>
                                        <p:cTn id="56" dur="1" fill="hold">
                                          <p:stCondLst>
                                            <p:cond delay="0"/>
                                          </p:stCondLst>
                                        </p:cTn>
                                        <p:tgtEl>
                                          <p:spTgt spid="19"/>
                                        </p:tgtEl>
                                        <p:attrNameLst>
                                          <p:attrName>style.visibility</p:attrName>
                                        </p:attrNameLst>
                                      </p:cBhvr>
                                      <p:to>
                                        <p:strVal val="visible"/>
                                      </p:to>
                                    </p:set>
                                    <p:animEffect transition="in" filter="wipe(left)">
                                      <p:cBhvr>
                                        <p:cTn id="57" dur="500"/>
                                        <p:tgtEl>
                                          <p:spTgt spid="19"/>
                                        </p:tgtEl>
                                      </p:cBhvr>
                                    </p:animEffect>
                                  </p:childTnLst>
                                </p:cTn>
                              </p:par>
                              <p:par>
                                <p:cTn id="58" presetID="22" presetClass="entr" presetSubtype="8" fill="hold" grpId="0" nodeType="withEffect">
                                  <p:stCondLst>
                                    <p:cond delay="1800"/>
                                  </p:stCondLst>
                                  <p:childTnLst>
                                    <p:set>
                                      <p:cBhvr>
                                        <p:cTn id="59" dur="1" fill="hold">
                                          <p:stCondLst>
                                            <p:cond delay="0"/>
                                          </p:stCondLst>
                                        </p:cTn>
                                        <p:tgtEl>
                                          <p:spTgt spid="20"/>
                                        </p:tgtEl>
                                        <p:attrNameLst>
                                          <p:attrName>style.visibility</p:attrName>
                                        </p:attrNameLst>
                                      </p:cBhvr>
                                      <p:to>
                                        <p:strVal val="visible"/>
                                      </p:to>
                                    </p:set>
                                    <p:animEffect transition="in" filter="wipe(left)">
                                      <p:cBhvr>
                                        <p:cTn id="60" dur="500"/>
                                        <p:tgtEl>
                                          <p:spTgt spid="20"/>
                                        </p:tgtEl>
                                      </p:cBhvr>
                                    </p:animEffect>
                                  </p:childTnLst>
                                </p:cTn>
                              </p:par>
                              <p:par>
                                <p:cTn id="61" presetID="22" presetClass="entr" presetSubtype="8" fill="hold" grpId="0" nodeType="withEffect">
                                  <p:stCondLst>
                                    <p:cond delay="2300"/>
                                  </p:stCondLst>
                                  <p:childTnLst>
                                    <p:set>
                                      <p:cBhvr>
                                        <p:cTn id="62" dur="1" fill="hold">
                                          <p:stCondLst>
                                            <p:cond delay="0"/>
                                          </p:stCondLst>
                                        </p:cTn>
                                        <p:tgtEl>
                                          <p:spTgt spid="21"/>
                                        </p:tgtEl>
                                        <p:attrNameLst>
                                          <p:attrName>style.visibility</p:attrName>
                                        </p:attrNameLst>
                                      </p:cBhvr>
                                      <p:to>
                                        <p:strVal val="visible"/>
                                      </p:to>
                                    </p:set>
                                    <p:animEffect transition="in" filter="wipe(left)">
                                      <p:cBhvr>
                                        <p:cTn id="63" dur="500"/>
                                        <p:tgtEl>
                                          <p:spTgt spid="21"/>
                                        </p:tgtEl>
                                      </p:cBhvr>
                                    </p:animEffect>
                                  </p:childTnLst>
                                </p:cTn>
                              </p:par>
                              <p:par>
                                <p:cTn id="64" presetID="22" presetClass="entr" presetSubtype="8" fill="hold" grpId="0" nodeType="withEffect">
                                  <p:stCondLst>
                                    <p:cond delay="2300"/>
                                  </p:stCondLst>
                                  <p:childTnLst>
                                    <p:set>
                                      <p:cBhvr>
                                        <p:cTn id="65" dur="1" fill="hold">
                                          <p:stCondLst>
                                            <p:cond delay="0"/>
                                          </p:stCondLst>
                                        </p:cTn>
                                        <p:tgtEl>
                                          <p:spTgt spid="22"/>
                                        </p:tgtEl>
                                        <p:attrNameLst>
                                          <p:attrName>style.visibility</p:attrName>
                                        </p:attrNameLst>
                                      </p:cBhvr>
                                      <p:to>
                                        <p:strVal val="visible"/>
                                      </p:to>
                                    </p:set>
                                    <p:animEffect transition="in" filter="wipe(left)">
                                      <p:cBhvr>
                                        <p:cTn id="66" dur="500"/>
                                        <p:tgtEl>
                                          <p:spTgt spid="22"/>
                                        </p:tgtEl>
                                      </p:cBhvr>
                                    </p:animEffect>
                                  </p:childTnLst>
                                </p:cTn>
                              </p:par>
                              <p:par>
                                <p:cTn id="67" presetID="22" presetClass="entr" presetSubtype="8" fill="hold" grpId="0" nodeType="withEffect">
                                  <p:stCondLst>
                                    <p:cond delay="2300"/>
                                  </p:stCondLst>
                                  <p:childTnLst>
                                    <p:set>
                                      <p:cBhvr>
                                        <p:cTn id="68" dur="1" fill="hold">
                                          <p:stCondLst>
                                            <p:cond delay="0"/>
                                          </p:stCondLst>
                                        </p:cTn>
                                        <p:tgtEl>
                                          <p:spTgt spid="23"/>
                                        </p:tgtEl>
                                        <p:attrNameLst>
                                          <p:attrName>style.visibility</p:attrName>
                                        </p:attrNameLst>
                                      </p:cBhvr>
                                      <p:to>
                                        <p:strVal val="visible"/>
                                      </p:to>
                                    </p:set>
                                    <p:animEffect transition="in" filter="wipe(left)">
                                      <p:cBhvr>
                                        <p:cTn id="69" dur="500"/>
                                        <p:tgtEl>
                                          <p:spTgt spid="23"/>
                                        </p:tgtEl>
                                      </p:cBhvr>
                                    </p:animEffect>
                                  </p:childTnLst>
                                </p:cTn>
                              </p:par>
                              <p:par>
                                <p:cTn id="70" presetID="22" presetClass="entr" presetSubtype="8" fill="hold" grpId="0" nodeType="withEffect">
                                  <p:stCondLst>
                                    <p:cond delay="2300"/>
                                  </p:stCondLst>
                                  <p:childTnLst>
                                    <p:set>
                                      <p:cBhvr>
                                        <p:cTn id="71" dur="1" fill="hold">
                                          <p:stCondLst>
                                            <p:cond delay="0"/>
                                          </p:stCondLst>
                                        </p:cTn>
                                        <p:tgtEl>
                                          <p:spTgt spid="24"/>
                                        </p:tgtEl>
                                        <p:attrNameLst>
                                          <p:attrName>style.visibility</p:attrName>
                                        </p:attrNameLst>
                                      </p:cBhvr>
                                      <p:to>
                                        <p:strVal val="visible"/>
                                      </p:to>
                                    </p:set>
                                    <p:animEffect transition="in" filter="wipe(left)">
                                      <p:cBhvr>
                                        <p:cTn id="72" dur="500"/>
                                        <p:tgtEl>
                                          <p:spTgt spid="24"/>
                                        </p:tgtEl>
                                      </p:cBhvr>
                                    </p:animEffect>
                                  </p:childTnLst>
                                </p:cTn>
                              </p:par>
                              <p:par>
                                <p:cTn id="73" presetID="22" presetClass="entr" presetSubtype="8" fill="hold" grpId="0" nodeType="withEffect">
                                  <p:stCondLst>
                                    <p:cond delay="2800"/>
                                  </p:stCondLst>
                                  <p:childTnLst>
                                    <p:set>
                                      <p:cBhvr>
                                        <p:cTn id="74" dur="1" fill="hold">
                                          <p:stCondLst>
                                            <p:cond delay="0"/>
                                          </p:stCondLst>
                                        </p:cTn>
                                        <p:tgtEl>
                                          <p:spTgt spid="25"/>
                                        </p:tgtEl>
                                        <p:attrNameLst>
                                          <p:attrName>style.visibility</p:attrName>
                                        </p:attrNameLst>
                                      </p:cBhvr>
                                      <p:to>
                                        <p:strVal val="visible"/>
                                      </p:to>
                                    </p:set>
                                    <p:animEffect transition="in" filter="wipe(left)">
                                      <p:cBhvr>
                                        <p:cTn id="75" dur="500"/>
                                        <p:tgtEl>
                                          <p:spTgt spid="25"/>
                                        </p:tgtEl>
                                      </p:cBhvr>
                                    </p:animEffect>
                                  </p:childTnLst>
                                </p:cTn>
                              </p:par>
                              <p:par>
                                <p:cTn id="76" presetID="22" presetClass="entr" presetSubtype="8" fill="hold" grpId="0" nodeType="withEffect">
                                  <p:stCondLst>
                                    <p:cond delay="2800"/>
                                  </p:stCondLst>
                                  <p:childTnLst>
                                    <p:set>
                                      <p:cBhvr>
                                        <p:cTn id="77" dur="1" fill="hold">
                                          <p:stCondLst>
                                            <p:cond delay="0"/>
                                          </p:stCondLst>
                                        </p:cTn>
                                        <p:tgtEl>
                                          <p:spTgt spid="26"/>
                                        </p:tgtEl>
                                        <p:attrNameLst>
                                          <p:attrName>style.visibility</p:attrName>
                                        </p:attrNameLst>
                                      </p:cBhvr>
                                      <p:to>
                                        <p:strVal val="visible"/>
                                      </p:to>
                                    </p:set>
                                    <p:animEffect transition="in" filter="wipe(left)">
                                      <p:cBhvr>
                                        <p:cTn id="78" dur="500"/>
                                        <p:tgtEl>
                                          <p:spTgt spid="26"/>
                                        </p:tgtEl>
                                      </p:cBhvr>
                                    </p:animEffect>
                                  </p:childTnLst>
                                </p:cTn>
                              </p:par>
                              <p:par>
                                <p:cTn id="79" presetID="22" presetClass="entr" presetSubtype="8" fill="hold" grpId="0" nodeType="withEffect">
                                  <p:stCondLst>
                                    <p:cond delay="2800"/>
                                  </p:stCondLst>
                                  <p:childTnLst>
                                    <p:set>
                                      <p:cBhvr>
                                        <p:cTn id="80" dur="1" fill="hold">
                                          <p:stCondLst>
                                            <p:cond delay="0"/>
                                          </p:stCondLst>
                                        </p:cTn>
                                        <p:tgtEl>
                                          <p:spTgt spid="27"/>
                                        </p:tgtEl>
                                        <p:attrNameLst>
                                          <p:attrName>style.visibility</p:attrName>
                                        </p:attrNameLst>
                                      </p:cBhvr>
                                      <p:to>
                                        <p:strVal val="visible"/>
                                      </p:to>
                                    </p:set>
                                    <p:animEffect transition="in" filter="wipe(left)">
                                      <p:cBhvr>
                                        <p:cTn id="81" dur="500"/>
                                        <p:tgtEl>
                                          <p:spTgt spid="27"/>
                                        </p:tgtEl>
                                      </p:cBhvr>
                                    </p:animEffect>
                                  </p:childTnLst>
                                </p:cTn>
                              </p:par>
                              <p:par>
                                <p:cTn id="82" presetID="22" presetClass="entr" presetSubtype="8" fill="hold" grpId="0" nodeType="withEffect">
                                  <p:stCondLst>
                                    <p:cond delay="2800"/>
                                  </p:stCondLst>
                                  <p:childTnLst>
                                    <p:set>
                                      <p:cBhvr>
                                        <p:cTn id="83" dur="1" fill="hold">
                                          <p:stCondLst>
                                            <p:cond delay="0"/>
                                          </p:stCondLst>
                                        </p:cTn>
                                        <p:tgtEl>
                                          <p:spTgt spid="28"/>
                                        </p:tgtEl>
                                        <p:attrNameLst>
                                          <p:attrName>style.visibility</p:attrName>
                                        </p:attrNameLst>
                                      </p:cBhvr>
                                      <p:to>
                                        <p:strVal val="visible"/>
                                      </p:to>
                                    </p:set>
                                    <p:animEffect transition="in" filter="wipe(left)">
                                      <p:cBhvr>
                                        <p:cTn id="84" dur="500"/>
                                        <p:tgtEl>
                                          <p:spTgt spid="28"/>
                                        </p:tgtEl>
                                      </p:cBhvr>
                                    </p:animEffect>
                                  </p:childTnLst>
                                </p:cTn>
                              </p:par>
                            </p:childTnLst>
                          </p:cTn>
                        </p:par>
                      </p:childTnLst>
                    </p:cTn>
                  </p:par>
                  <p:par>
                    <p:cTn id="85" fill="hold">
                      <p:stCondLst>
                        <p:cond delay="indefinite"/>
                      </p:stCondLst>
                      <p:childTnLst>
                        <p:par>
                          <p:cTn id="86" fill="hold">
                            <p:stCondLst>
                              <p:cond delay="0"/>
                            </p:stCondLst>
                            <p:childTnLst>
                              <p:par>
                                <p:cTn id="87" presetID="42" presetClass="entr" presetSubtype="0" fill="hold" grpId="0" nodeType="clickEffect">
                                  <p:stCondLst>
                                    <p:cond delay="0"/>
                                  </p:stCondLst>
                                  <p:childTnLst>
                                    <p:set>
                                      <p:cBhvr>
                                        <p:cTn id="88" dur="1" fill="hold">
                                          <p:stCondLst>
                                            <p:cond delay="0"/>
                                          </p:stCondLst>
                                        </p:cTn>
                                        <p:tgtEl>
                                          <p:spTgt spid="29"/>
                                        </p:tgtEl>
                                        <p:attrNameLst>
                                          <p:attrName>style.visibility</p:attrName>
                                        </p:attrNameLst>
                                      </p:cBhvr>
                                      <p:to>
                                        <p:strVal val="visible"/>
                                      </p:to>
                                    </p:set>
                                    <p:anim calcmode="lin" valueType="num">
                                      <p:cBhvr additive="base">
                                        <p:cTn id="89" dur="600" fill="hold"/>
                                        <p:tgtEl>
                                          <p:spTgt spid="29"/>
                                        </p:tgtEl>
                                        <p:attrNameLst>
                                          <p:attrName>ppt_y</p:attrName>
                                        </p:attrNameLst>
                                      </p:cBhvr>
                                      <p:tavLst>
                                        <p:tav tm="0">
                                          <p:val>
                                            <p:strVal val="#ppt_y+.1"/>
                                          </p:val>
                                        </p:tav>
                                        <p:tav tm="100000">
                                          <p:val>
                                            <p:strVal val="#ppt_y"/>
                                          </p:val>
                                        </p:tav>
                                      </p:tavLst>
                                    </p:anim>
                                    <p:animEffect transition="in" filter="fade">
                                      <p:cBhvr>
                                        <p:cTn id="90" dur="600"/>
                                        <p:tgtEl>
                                          <p:spTgt spid="29"/>
                                        </p:tgtEl>
                                      </p:cBhvr>
                                    </p:animEffect>
                                  </p:childTnLst>
                                </p:cTn>
                              </p:par>
                              <p:par>
                                <p:cTn id="91" presetID="42" presetClass="entr" presetSubtype="0" fill="hold" grpId="0" nodeType="withEffect">
                                  <p:stCondLst>
                                    <p:cond delay="0"/>
                                  </p:stCondLst>
                                  <p:childTnLst>
                                    <p:set>
                                      <p:cBhvr>
                                        <p:cTn id="92" dur="1" fill="hold">
                                          <p:stCondLst>
                                            <p:cond delay="0"/>
                                          </p:stCondLst>
                                        </p:cTn>
                                        <p:tgtEl>
                                          <p:spTgt spid="30"/>
                                        </p:tgtEl>
                                        <p:attrNameLst>
                                          <p:attrName>style.visibility</p:attrName>
                                        </p:attrNameLst>
                                      </p:cBhvr>
                                      <p:to>
                                        <p:strVal val="visible"/>
                                      </p:to>
                                    </p:set>
                                    <p:anim calcmode="lin" valueType="num">
                                      <p:cBhvr additive="base">
                                        <p:cTn id="93" dur="600" fill="hold"/>
                                        <p:tgtEl>
                                          <p:spTgt spid="30"/>
                                        </p:tgtEl>
                                        <p:attrNameLst>
                                          <p:attrName>ppt_y</p:attrName>
                                        </p:attrNameLst>
                                      </p:cBhvr>
                                      <p:tavLst>
                                        <p:tav tm="0">
                                          <p:val>
                                            <p:strVal val="#ppt_y+.1"/>
                                          </p:val>
                                        </p:tav>
                                        <p:tav tm="100000">
                                          <p:val>
                                            <p:strVal val="#ppt_y"/>
                                          </p:val>
                                        </p:tav>
                                      </p:tavLst>
                                    </p:anim>
                                    <p:animEffect transition="in" filter="fade">
                                      <p:cBhvr>
                                        <p:cTn id="94" dur="600"/>
                                        <p:tgtEl>
                                          <p:spTgt spid="30"/>
                                        </p:tgtEl>
                                      </p:cBhvr>
                                    </p:animEffect>
                                  </p:childTnLst>
                                </p:cTn>
                              </p:par>
                              <p:par>
                                <p:cTn id="95" presetID="42" presetClass="entr" presetSubtype="0" fill="hold" grpId="0" nodeType="withEffect">
                                  <p:stCondLst>
                                    <p:cond delay="0"/>
                                  </p:stCondLst>
                                  <p:childTnLst>
                                    <p:set>
                                      <p:cBhvr>
                                        <p:cTn id="96" dur="1" fill="hold">
                                          <p:stCondLst>
                                            <p:cond delay="0"/>
                                          </p:stCondLst>
                                        </p:cTn>
                                        <p:tgtEl>
                                          <p:spTgt spid="31"/>
                                        </p:tgtEl>
                                        <p:attrNameLst>
                                          <p:attrName>style.visibility</p:attrName>
                                        </p:attrNameLst>
                                      </p:cBhvr>
                                      <p:to>
                                        <p:strVal val="visible"/>
                                      </p:to>
                                    </p:set>
                                    <p:anim calcmode="lin" valueType="num">
                                      <p:cBhvr additive="base">
                                        <p:cTn id="97" dur="600" fill="hold"/>
                                        <p:tgtEl>
                                          <p:spTgt spid="31"/>
                                        </p:tgtEl>
                                        <p:attrNameLst>
                                          <p:attrName>ppt_y</p:attrName>
                                        </p:attrNameLst>
                                      </p:cBhvr>
                                      <p:tavLst>
                                        <p:tav tm="0">
                                          <p:val>
                                            <p:strVal val="#ppt_y+.1"/>
                                          </p:val>
                                        </p:tav>
                                        <p:tav tm="100000">
                                          <p:val>
                                            <p:strVal val="#ppt_y"/>
                                          </p:val>
                                        </p:tav>
                                      </p:tavLst>
                                    </p:anim>
                                    <p:animEffect transition="in" filter="fade">
                                      <p:cBhvr>
                                        <p:cTn id="98" dur="600"/>
                                        <p:tgtEl>
                                          <p:spTgt spid="31"/>
                                        </p:tgtEl>
                                      </p:cBhvr>
                                    </p:animEffect>
                                  </p:childTnLst>
                                </p:cTn>
                              </p:par>
                            </p:childTnLst>
                          </p:cTn>
                        </p:par>
                        <p:par>
                          <p:cTn id="99" fill="hold">
                            <p:stCondLst>
                              <p:cond delay="600"/>
                            </p:stCondLst>
                            <p:childTnLst>
                              <p:par>
                                <p:cTn id="100" presetID="53" presetClass="entr" presetSubtype="16" fill="hold" grpId="0" nodeType="afterEffect">
                                  <p:stCondLst>
                                    <p:cond delay="200"/>
                                  </p:stCondLst>
                                  <p:childTnLst>
                                    <p:set>
                                      <p:cBhvr>
                                        <p:cTn id="101" dur="1" fill="hold">
                                          <p:stCondLst>
                                            <p:cond delay="0"/>
                                          </p:stCondLst>
                                        </p:cTn>
                                        <p:tgtEl>
                                          <p:spTgt spid="32"/>
                                        </p:tgtEl>
                                        <p:attrNameLst>
                                          <p:attrName>style.visibility</p:attrName>
                                        </p:attrNameLst>
                                      </p:cBhvr>
                                      <p:to>
                                        <p:strVal val="visible"/>
                                      </p:to>
                                    </p:set>
                                    <p:anim calcmode="lin" valueType="num">
                                      <p:cBhvr additive="base">
                                        <p:cTn id="102" dur="600" fill="hold"/>
                                        <p:tgtEl>
                                          <p:spTgt spid="32"/>
                                        </p:tgtEl>
                                        <p:attrNameLst>
                                          <p:attrName>ppt_w</p:attrName>
                                        </p:attrNameLst>
                                      </p:cBhvr>
                                      <p:tavLst>
                                        <p:tav tm="0">
                                          <p:val>
                                            <p:fltVal val="0"/>
                                          </p:val>
                                        </p:tav>
                                        <p:tav tm="100000">
                                          <p:val>
                                            <p:strVal val="#ppt_w"/>
                                          </p:val>
                                        </p:tav>
                                      </p:tavLst>
                                    </p:anim>
                                    <p:anim calcmode="lin" valueType="num">
                                      <p:cBhvr additive="base">
                                        <p:cTn id="103" dur="600" fill="hold"/>
                                        <p:tgtEl>
                                          <p:spTgt spid="32"/>
                                        </p:tgtEl>
                                        <p:attrNameLst>
                                          <p:attrName>ppt_h</p:attrName>
                                        </p:attrNameLst>
                                      </p:cBhvr>
                                      <p:tavLst>
                                        <p:tav tm="0">
                                          <p:val>
                                            <p:fltVal val="0"/>
                                          </p:val>
                                        </p:tav>
                                        <p:tav tm="100000">
                                          <p:val>
                                            <p:strVal val="#ppt_h"/>
                                          </p:val>
                                        </p:tav>
                                      </p:tavLst>
                                    </p:anim>
                                    <p:animEffect transition="in" filter="fade">
                                      <p:cBhvr>
                                        <p:cTn id="104" dur="600"/>
                                        <p:tgtEl>
                                          <p:spTgt spid="32"/>
                                        </p:tgtEl>
                                      </p:cBhvr>
                                    </p:animEffect>
                                  </p:childTnLst>
                                </p:cTn>
                              </p:par>
                              <p:par>
                                <p:cTn id="105" presetID="53" presetClass="entr" presetSubtype="16" fill="hold" grpId="0" nodeType="withEffect">
                                  <p:stCondLst>
                                    <p:cond delay="500"/>
                                  </p:stCondLst>
                                  <p:childTnLst>
                                    <p:set>
                                      <p:cBhvr>
                                        <p:cTn id="106" dur="1" fill="hold">
                                          <p:stCondLst>
                                            <p:cond delay="0"/>
                                          </p:stCondLst>
                                        </p:cTn>
                                        <p:tgtEl>
                                          <p:spTgt spid="33"/>
                                        </p:tgtEl>
                                        <p:attrNameLst>
                                          <p:attrName>style.visibility</p:attrName>
                                        </p:attrNameLst>
                                      </p:cBhvr>
                                      <p:to>
                                        <p:strVal val="visible"/>
                                      </p:to>
                                    </p:set>
                                    <p:anim calcmode="lin" valueType="num">
                                      <p:cBhvr additive="base">
                                        <p:cTn id="107" dur="600" fill="hold"/>
                                        <p:tgtEl>
                                          <p:spTgt spid="33"/>
                                        </p:tgtEl>
                                        <p:attrNameLst>
                                          <p:attrName>ppt_w</p:attrName>
                                        </p:attrNameLst>
                                      </p:cBhvr>
                                      <p:tavLst>
                                        <p:tav tm="0">
                                          <p:val>
                                            <p:fltVal val="0"/>
                                          </p:val>
                                        </p:tav>
                                        <p:tav tm="100000">
                                          <p:val>
                                            <p:strVal val="#ppt_w"/>
                                          </p:val>
                                        </p:tav>
                                      </p:tavLst>
                                    </p:anim>
                                    <p:anim calcmode="lin" valueType="num">
                                      <p:cBhvr additive="base">
                                        <p:cTn id="108" dur="600" fill="hold"/>
                                        <p:tgtEl>
                                          <p:spTgt spid="33"/>
                                        </p:tgtEl>
                                        <p:attrNameLst>
                                          <p:attrName>ppt_h</p:attrName>
                                        </p:attrNameLst>
                                      </p:cBhvr>
                                      <p:tavLst>
                                        <p:tav tm="0">
                                          <p:val>
                                            <p:fltVal val="0"/>
                                          </p:val>
                                        </p:tav>
                                        <p:tav tm="100000">
                                          <p:val>
                                            <p:strVal val="#ppt_h"/>
                                          </p:val>
                                        </p:tav>
                                      </p:tavLst>
                                    </p:anim>
                                    <p:animEffect transition="in" filter="fade">
                                      <p:cBhvr>
                                        <p:cTn id="109" dur="600"/>
                                        <p:tgtEl>
                                          <p:spTgt spid="33"/>
                                        </p:tgtEl>
                                      </p:cBhvr>
                                    </p:animEffect>
                                  </p:childTnLst>
                                </p:cTn>
                              </p:par>
                              <p:par>
                                <p:cTn id="110" presetID="22" presetClass="entr" presetSubtype="8" fill="hold" grpId="0" nodeType="withEffect">
                                  <p:stCondLst>
                                    <p:cond delay="600"/>
                                  </p:stCondLst>
                                  <p:childTnLst>
                                    <p:set>
                                      <p:cBhvr>
                                        <p:cTn id="111" dur="1" fill="hold">
                                          <p:stCondLst>
                                            <p:cond delay="0"/>
                                          </p:stCondLst>
                                        </p:cTn>
                                        <p:tgtEl>
                                          <p:spTgt spid="41"/>
                                        </p:tgtEl>
                                        <p:attrNameLst>
                                          <p:attrName>style.visibility</p:attrName>
                                        </p:attrNameLst>
                                      </p:cBhvr>
                                      <p:to>
                                        <p:strVal val="visible"/>
                                      </p:to>
                                    </p:set>
                                    <p:animEffect transition="in" filter="wipe(left)">
                                      <p:cBhvr>
                                        <p:cTn id="112" dur="1100"/>
                                        <p:tgtEl>
                                          <p:spTgt spid="41"/>
                                        </p:tgtEl>
                                      </p:cBhvr>
                                    </p:animEffect>
                                  </p:childTnLst>
                                </p:cTn>
                              </p:par>
                              <p:par>
                                <p:cTn id="114" presetID="0" presetClass="path" presetSubtype="0" fill="hold" accel="30000" decel="30000" nodeType="withEffect">
                                  <p:stCondLst>
                                    <p:cond delay="600"/>
                                  </p:stCondLst>
                                  <p:childTnLst>
                                    <p:animMotion origin="layout" path="M 0 0 L 0.02017 0 E" pathEditMode="relative" rAng="0" ptsTypes="AA">
                                      <p:cBhvr>
                                        <p:cTn id="113" dur="1100" fill="hold"/>
                                        <p:tgtEl>
                                          <p:spTgt spid="42"/>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4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Project structure</a:t>
            </a:r>
            <a:endParaRPr lang="en-US" sz="3600" dirty="0"/>
          </a:p>
        </p:txBody>
      </p:sp>
      <p:sp>
        <p:nvSpPr>
          <p:cNvPr id="5" name="tree"/>
          <p:cNvSpPr/>
          <p:nvPr/>
        </p:nvSpPr>
        <p:spPr>
          <a:xfrm>
            <a:off x="548640" y="1691640"/>
            <a:ext cx="6949440" cy="4389120"/>
          </a:xfrm>
          <a:prstGeom prst="roundRect">
            <a:avLst>
              <a:gd name="adj" fmla="val 2500"/>
            </a:avLst>
          </a:prstGeom>
          <a:solidFill>
            <a:schemeClr val="tx1">
              <a:alpha val="85000"/>
            </a:schemeClr>
          </a:solidFill>
          <a:ln w="9525">
            <a:solidFill>
              <a:schemeClr val="accent1">
                <a:alpha val="40000"/>
              </a:schemeClr>
            </a:solidFill>
            <a:prstDash val="solid"/>
          </a:ln>
        </p:spPr>
      </p:sp>
      <p:sp>
        <p:nvSpPr>
          <p:cNvPr id="6" name="treetext"/>
          <p:cNvSpPr txBox="1"/>
          <p:nvPr/>
        </p:nvSpPr>
        <p:spPr>
          <a:xfrm>
            <a:off x="822960" y="1874520"/>
            <a:ext cx="6492240" cy="4023360"/>
          </a:xfrm>
          <a:prstGeom prst="rect">
            <a:avLst/>
          </a:prstGeom>
          <a:noFill/>
          <a:ln/>
        </p:spPr>
        <p:txBody>
          <a:bodyPr wrap="square" lIns="0" tIns="0" rIns="0" bIns="0" rtlCol="0" anchor="t"/>
          <a:lstStyle/>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Flight_Airport_Analytics/</a:t>
            </a:r>
            <a:pPr algn="l" indent="0" marL="0">
              <a:lnSpc>
                <a:spcPct val="112000"/>
              </a:lnSpc>
              <a:buNone/>
            </a:pP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main_task/</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entry points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src/</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core logic, 11 modules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 gui/</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PySide6 front end</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data/</a:t>
            </a:r>
            <a:pPr algn="l" indent="0" marL="0">
              <a:lnSpc>
                <a:spcPct val="112000"/>
              </a:lnSpc>
              <a:buNone/>
            </a:pP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 raw/</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archived API JSON</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 processed/</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cleaned CSV, exports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database/</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flight_airport.db</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visualizations/</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saved PNG charts</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tests/</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pytest suite</a:t>
            </a:r>
            <a:endParaRPr lang="en-US" sz="1400" dirty="0"/>
          </a:p>
          <a:p>
            <a:pPr algn="l" indent="0" marL="0">
              <a:lnSpc>
                <a:spcPct val="112000"/>
              </a:lnSpc>
              <a:buNone/>
            </a:pPr>
            <a:r>
              <a:rPr lang="en-US" sz="1400" b="1" dirty="0">
                <a:solidFill>
                  <a:schemeClr val="accent3"/>
                </a:solidFill>
                <a:latin typeface="Courier New" pitchFamily="34" charset="0"/>
                <a:ea typeface="Courier New" pitchFamily="34" charset="-122"/>
                <a:cs typeface="Courier New" pitchFamily="34" charset="-120"/>
              </a:rPr>
              <a:t>|-- outputs/logs/</a:t>
            </a:r>
            <a:pPr algn="l" indent="0" marL="0">
              <a:lnSpc>
                <a:spcPct val="112000"/>
              </a:lnSpc>
              <a:buNone/>
            </a:pPr>
            <a:r>
              <a:rPr lang="en-US" sz="1400" dirty="0">
                <a:solidFill>
                  <a:schemeClr val="bg2"/>
                </a:solidFill>
                <a:latin typeface="Courier New" pitchFamily="34" charset="0"/>
                <a:ea typeface="Courier New" pitchFamily="34" charset="-122"/>
                <a:cs typeface="Courier New" pitchFamily="34" charset="-120"/>
              </a:rPr>
              <a:t>    application.log</a:t>
            </a:r>
            <a:endParaRPr lang="en-US" sz="1400" dirty="0"/>
          </a:p>
          <a:p>
            <a:pPr algn="l" indent="0" marL="0">
              <a:lnSpc>
                <a:spcPct val="112000"/>
              </a:lnSpc>
              <a:buNone/>
            </a:pPr>
            <a:r>
              <a:rPr lang="en-US" sz="1400" dirty="0">
                <a:solidFill>
                  <a:schemeClr val="bg1"/>
                </a:solidFill>
                <a:latin typeface="Courier New" pitchFamily="34" charset="0"/>
                <a:ea typeface="Courier New" pitchFamily="34" charset="-122"/>
                <a:cs typeface="Courier New" pitchFamily="34" charset="-120"/>
              </a:rPr>
              <a:t>`-- .env.example  requirements.txt  README.md</a:t>
            </a:r>
            <a:endParaRPr lang="en-US" sz="1400" dirty="0"/>
          </a:p>
        </p:txBody>
      </p:sp>
      <p:sp>
        <p:nvSpPr>
          <p:cNvPr id="7" name="fn0c"/>
          <p:cNvSpPr/>
          <p:nvPr/>
        </p:nvSpPr>
        <p:spPr>
          <a:xfrm>
            <a:off x="7772400" y="1691640"/>
            <a:ext cx="386791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8" name="fn0b_c"/>
          <p:cNvSpPr/>
          <p:nvPr/>
        </p:nvSpPr>
        <p:spPr>
          <a:xfrm>
            <a:off x="8001000" y="1920240"/>
            <a:ext cx="502920" cy="502920"/>
          </a:xfrm>
          <a:prstGeom prst="ellipse">
            <a:avLst/>
          </a:prstGeom>
          <a:solidFill>
            <a:schemeClr val="accent1">
              <a:alpha val="28000"/>
            </a:schemeClr>
          </a:solidFill>
          <a:ln/>
        </p:spPr>
      </p:sp>
      <p:pic>
        <p:nvPicPr>
          <p:cNvPr id="9" name="fn0b_i" descr="LuLayers">    </p:cNvPr>
          <p:cNvPicPr>
            <a:picLocks noChangeAspect="1"/>
          </p:cNvPicPr>
          <p:nvPr/>
        </p:nvPicPr>
        <p:blipFill>
          <a:blip r:embed="rId1"/>
          <a:stretch>
            <a:fillRect/>
          </a:stretch>
        </p:blipFill>
        <p:spPr>
          <a:xfrm>
            <a:off x="8126730" y="2045970"/>
            <a:ext cx="251460" cy="251460"/>
          </a:xfrm>
          <a:prstGeom prst="rect">
            <a:avLst/>
          </a:prstGeom>
        </p:spPr>
      </p:pic>
      <p:sp>
        <p:nvSpPr>
          <p:cNvPr id="10" name="fn0t"/>
          <p:cNvSpPr txBox="1"/>
          <p:nvPr/>
        </p:nvSpPr>
        <p:spPr>
          <a:xfrm>
            <a:off x="8686800" y="1874520"/>
            <a:ext cx="2834640" cy="365760"/>
          </a:xfrm>
          <a:prstGeom prst="rect">
            <a:avLst/>
          </a:prstGeom>
          <a:noFill/>
          <a:ln/>
        </p:spPr>
        <p:txBody>
          <a:bodyPr wrap="square" lIns="0" tIns="0" rIns="0" bIns="0" rtlCol="0" anchor="t"/>
          <a:lstStyle/>
          <a:p>
            <a:pPr algn="l" indent="0" marL="0">
              <a:buNone/>
            </a:pPr>
            <a:r>
              <a:rPr lang="en-US" sz="1700" b="1" dirty="0">
                <a:solidFill>
                  <a:schemeClr val="bg1"/>
                </a:solidFill>
              </a:rPr>
              <a:t>Thin entry points</a:t>
            </a:r>
            <a:endParaRPr lang="en-US" sz="1700" dirty="0"/>
          </a:p>
        </p:txBody>
      </p:sp>
      <p:sp>
        <p:nvSpPr>
          <p:cNvPr id="11" name="fn0d"/>
          <p:cNvSpPr txBox="1"/>
          <p:nvPr/>
        </p:nvSpPr>
        <p:spPr>
          <a:xfrm>
            <a:off x="8686800" y="2258568"/>
            <a:ext cx="2834640" cy="731520"/>
          </a:xfrm>
          <a:prstGeom prst="rect">
            <a:avLst/>
          </a:prstGeom>
          <a:noFill/>
          <a:ln/>
        </p:spPr>
        <p:txBody>
          <a:bodyPr wrap="square" lIns="0" tIns="0" rIns="0" bIns="0" rtlCol="0" anchor="t"/>
          <a:lstStyle/>
          <a:p>
            <a:pPr algn="l" indent="0" marL="0">
              <a:buNone/>
            </a:pPr>
            <a:r>
              <a:rPr lang="en-US" sz="1300" dirty="0">
                <a:solidFill>
                  <a:schemeClr val="bg2"/>
                </a:solidFill>
              </a:rPr>
              <a:t>main.py and gui_main.py only start the apps; logic lives in src/.</a:t>
            </a:r>
            <a:endParaRPr lang="en-US" sz="1300" dirty="0"/>
          </a:p>
        </p:txBody>
      </p:sp>
      <p:sp>
        <p:nvSpPr>
          <p:cNvPr id="12" name="fn1c"/>
          <p:cNvSpPr/>
          <p:nvPr/>
        </p:nvSpPr>
        <p:spPr>
          <a:xfrm>
            <a:off x="7772400" y="3191256"/>
            <a:ext cx="386791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13" name="fn1b_c"/>
          <p:cNvSpPr/>
          <p:nvPr/>
        </p:nvSpPr>
        <p:spPr>
          <a:xfrm>
            <a:off x="8001000" y="3419856"/>
            <a:ext cx="502920" cy="502920"/>
          </a:xfrm>
          <a:prstGeom prst="ellipse">
            <a:avLst/>
          </a:prstGeom>
          <a:solidFill>
            <a:schemeClr val="accent3">
              <a:alpha val="28000"/>
            </a:schemeClr>
          </a:solidFill>
          <a:ln/>
        </p:spPr>
      </p:sp>
      <p:pic>
        <p:nvPicPr>
          <p:cNvPr id="14" name="fn1b_i" descr="LuArchive">    </p:cNvPr>
          <p:cNvPicPr>
            <a:picLocks noChangeAspect="1"/>
          </p:cNvPicPr>
          <p:nvPr/>
        </p:nvPicPr>
        <p:blipFill>
          <a:blip r:embed="rId2"/>
          <a:stretch>
            <a:fillRect/>
          </a:stretch>
        </p:blipFill>
        <p:spPr>
          <a:xfrm>
            <a:off x="8126730" y="3545586"/>
            <a:ext cx="251460" cy="251460"/>
          </a:xfrm>
          <a:prstGeom prst="rect">
            <a:avLst/>
          </a:prstGeom>
        </p:spPr>
      </p:pic>
      <p:sp>
        <p:nvSpPr>
          <p:cNvPr id="15" name="fn1t"/>
          <p:cNvSpPr txBox="1"/>
          <p:nvPr/>
        </p:nvSpPr>
        <p:spPr>
          <a:xfrm>
            <a:off x="8686800" y="3374136"/>
            <a:ext cx="2834640" cy="365760"/>
          </a:xfrm>
          <a:prstGeom prst="rect">
            <a:avLst/>
          </a:prstGeom>
          <a:noFill/>
          <a:ln/>
        </p:spPr>
        <p:txBody>
          <a:bodyPr wrap="square" lIns="0" tIns="0" rIns="0" bIns="0" rtlCol="0" anchor="t"/>
          <a:lstStyle/>
          <a:p>
            <a:pPr algn="l" indent="0" marL="0">
              <a:buNone/>
            </a:pPr>
            <a:r>
              <a:rPr lang="en-US" sz="1700" b="1" dirty="0">
                <a:solidFill>
                  <a:schemeClr val="bg1"/>
                </a:solidFill>
              </a:rPr>
              <a:t>Nothing is lost</a:t>
            </a:r>
            <a:endParaRPr lang="en-US" sz="1700" dirty="0"/>
          </a:p>
        </p:txBody>
      </p:sp>
      <p:sp>
        <p:nvSpPr>
          <p:cNvPr id="16" name="fn1d"/>
          <p:cNvSpPr txBox="1"/>
          <p:nvPr/>
        </p:nvSpPr>
        <p:spPr>
          <a:xfrm>
            <a:off x="8686800" y="3758184"/>
            <a:ext cx="2834640" cy="731520"/>
          </a:xfrm>
          <a:prstGeom prst="rect">
            <a:avLst/>
          </a:prstGeom>
          <a:noFill/>
          <a:ln/>
        </p:spPr>
        <p:txBody>
          <a:bodyPr wrap="square" lIns="0" tIns="0" rIns="0" bIns="0" rtlCol="0" anchor="t"/>
          <a:lstStyle/>
          <a:p>
            <a:pPr algn="l" indent="0" marL="0">
              <a:buNone/>
            </a:pPr>
            <a:r>
              <a:rPr lang="en-US" sz="1300" dirty="0">
                <a:solidFill>
                  <a:schemeClr val="bg2"/>
                </a:solidFill>
              </a:rPr>
              <a:t>Every retrieval is archived as raw JSON and as a timestamped CSV.</a:t>
            </a:r>
            <a:endParaRPr lang="en-US" sz="1300" dirty="0"/>
          </a:p>
        </p:txBody>
      </p:sp>
      <p:sp>
        <p:nvSpPr>
          <p:cNvPr id="17" name="fn2c"/>
          <p:cNvSpPr/>
          <p:nvPr/>
        </p:nvSpPr>
        <p:spPr>
          <a:xfrm>
            <a:off x="7772400" y="4690872"/>
            <a:ext cx="3867912" cy="1371600"/>
          </a:xfrm>
          <a:prstGeom prst="roundRect">
            <a:avLst>
              <a:gd name="adj" fmla="val 8000"/>
            </a:avLst>
          </a:prstGeom>
          <a:solidFill>
            <a:schemeClr val="bg1">
              <a:alpha val="9000"/>
            </a:schemeClr>
          </a:solidFill>
          <a:ln w="9525">
            <a:solidFill>
              <a:schemeClr val="bg1">
                <a:alpha val="22000"/>
              </a:schemeClr>
            </a:solidFill>
            <a:prstDash val="solid"/>
          </a:ln>
        </p:spPr>
      </p:sp>
      <p:sp>
        <p:nvSpPr>
          <p:cNvPr id="18" name="fn2b_c"/>
          <p:cNvSpPr/>
          <p:nvPr/>
        </p:nvSpPr>
        <p:spPr>
          <a:xfrm>
            <a:off x="8001000" y="4919472"/>
            <a:ext cx="502920" cy="502920"/>
          </a:xfrm>
          <a:prstGeom prst="ellipse">
            <a:avLst/>
          </a:prstGeom>
          <a:solidFill>
            <a:schemeClr val="accent5">
              <a:alpha val="28000"/>
            </a:schemeClr>
          </a:solidFill>
          <a:ln/>
        </p:spPr>
      </p:sp>
      <p:pic>
        <p:nvPicPr>
          <p:cNvPr id="19" name="fn2b_i" descr="LuLock">    </p:cNvPr>
          <p:cNvPicPr>
            <a:picLocks noChangeAspect="1"/>
          </p:cNvPicPr>
          <p:nvPr/>
        </p:nvPicPr>
        <p:blipFill>
          <a:blip r:embed="rId3"/>
          <a:stretch>
            <a:fillRect/>
          </a:stretch>
        </p:blipFill>
        <p:spPr>
          <a:xfrm>
            <a:off x="8126730" y="5045202"/>
            <a:ext cx="251460" cy="251460"/>
          </a:xfrm>
          <a:prstGeom prst="rect">
            <a:avLst/>
          </a:prstGeom>
        </p:spPr>
      </p:pic>
      <p:sp>
        <p:nvSpPr>
          <p:cNvPr id="20" name="fn2t"/>
          <p:cNvSpPr txBox="1"/>
          <p:nvPr/>
        </p:nvSpPr>
        <p:spPr>
          <a:xfrm>
            <a:off x="8686800" y="4873752"/>
            <a:ext cx="2834640" cy="365760"/>
          </a:xfrm>
          <a:prstGeom prst="rect">
            <a:avLst/>
          </a:prstGeom>
          <a:noFill/>
          <a:ln/>
        </p:spPr>
        <p:txBody>
          <a:bodyPr wrap="square" lIns="0" tIns="0" rIns="0" bIns="0" rtlCol="0" anchor="t"/>
          <a:lstStyle/>
          <a:p>
            <a:pPr algn="l" indent="0" marL="0">
              <a:buNone/>
            </a:pPr>
            <a:r>
              <a:rPr lang="en-US" sz="1700" b="1" dirty="0">
                <a:solidFill>
                  <a:schemeClr val="bg1"/>
                </a:solidFill>
              </a:rPr>
              <a:t>Secrets stay local</a:t>
            </a:r>
            <a:endParaRPr lang="en-US" sz="1700" dirty="0"/>
          </a:p>
        </p:txBody>
      </p:sp>
      <p:sp>
        <p:nvSpPr>
          <p:cNvPr id="21" name="fn2d"/>
          <p:cNvSpPr txBox="1"/>
          <p:nvPr/>
        </p:nvSpPr>
        <p:spPr>
          <a:xfrm>
            <a:off x="8686800" y="5257800"/>
            <a:ext cx="2834640" cy="731520"/>
          </a:xfrm>
          <a:prstGeom prst="rect">
            <a:avLst/>
          </a:prstGeom>
          <a:noFill/>
          <a:ln/>
        </p:spPr>
        <p:txBody>
          <a:bodyPr wrap="square" lIns="0" tIns="0" rIns="0" bIns="0" rtlCol="0" anchor="t"/>
          <a:lstStyle/>
          <a:p>
            <a:pPr algn="l" indent="0" marL="0">
              <a:buNone/>
            </a:pPr>
            <a:r>
              <a:rPr lang="en-US" sz="1300" dirty="0">
                <a:solidFill>
                  <a:schemeClr val="bg2"/>
                </a:solidFill>
              </a:rPr>
              <a:t>.env is git-ignored; .env.example documents every setting.</a:t>
            </a:r>
            <a:endParaRPr lang="en-US" sz="1300" dirty="0"/>
          </a:p>
        </p:txBody>
      </p:sp>
      <p:sp>
        <p:nvSpPr>
          <p:cNvPr id="22" name="track"/>
          <p:cNvSpPr/>
          <p:nvPr/>
        </p:nvSpPr>
        <p:spPr>
          <a:xfrm>
            <a:off x="3383280" y="6510528"/>
            <a:ext cx="7132320" cy="0"/>
          </a:xfrm>
          <a:prstGeom prst="line">
            <a:avLst/>
          </a:prstGeom>
          <a:noFill/>
          <a:ln w="12700">
            <a:solidFill>
              <a:schemeClr val="bg2">
                <a:alpha val="45000"/>
              </a:schemeClr>
            </a:solidFill>
            <a:prstDash val="dash"/>
          </a:ln>
        </p:spPr>
      </p:sp>
      <p:sp>
        <p:nvSpPr>
          <p:cNvPr id="23" name="progress"/>
          <p:cNvSpPr/>
          <p:nvPr/>
        </p:nvSpPr>
        <p:spPr>
          <a:xfrm>
            <a:off x="3383280" y="6510528"/>
            <a:ext cx="2459421" cy="0"/>
          </a:xfrm>
          <a:prstGeom prst="line">
            <a:avLst/>
          </a:prstGeom>
          <a:noFill/>
          <a:ln w="28575">
            <a:solidFill>
              <a:schemeClr val="accent2"/>
            </a:solidFill>
            <a:prstDash val="solid"/>
          </a:ln>
        </p:spPr>
      </p:sp>
      <p:sp>
        <p:nvSpPr>
          <p:cNvPr id="24" name="wp0"/>
          <p:cNvSpPr/>
          <p:nvPr/>
        </p:nvSpPr>
        <p:spPr>
          <a:xfrm>
            <a:off x="3834016" y="6469380"/>
            <a:ext cx="82296" cy="82296"/>
          </a:xfrm>
          <a:prstGeom prst="ellipse">
            <a:avLst/>
          </a:prstGeom>
          <a:solidFill>
            <a:schemeClr val="accent2"/>
          </a:solidFill>
          <a:ln/>
        </p:spPr>
      </p:sp>
      <p:sp>
        <p:nvSpPr>
          <p:cNvPr id="25" name="wp1"/>
          <p:cNvSpPr/>
          <p:nvPr/>
        </p:nvSpPr>
        <p:spPr>
          <a:xfrm>
            <a:off x="4817784" y="6469380"/>
            <a:ext cx="82296" cy="82296"/>
          </a:xfrm>
          <a:prstGeom prst="ellipse">
            <a:avLst/>
          </a:prstGeom>
          <a:solidFill>
            <a:schemeClr val="accent2"/>
          </a:solidFill>
          <a:ln/>
        </p:spPr>
      </p:sp>
      <p:sp>
        <p:nvSpPr>
          <p:cNvPr id="26" name="wp2"/>
          <p:cNvSpPr/>
          <p:nvPr/>
        </p:nvSpPr>
        <p:spPr>
          <a:xfrm>
            <a:off x="7277205" y="6469380"/>
            <a:ext cx="82296" cy="82296"/>
          </a:xfrm>
          <a:prstGeom prst="ellipse">
            <a:avLst/>
          </a:prstGeom>
          <a:solidFill>
            <a:schemeClr val="bg2">
              <a:alpha val="60000"/>
            </a:schemeClr>
          </a:solidFill>
          <a:ln/>
        </p:spPr>
      </p:sp>
      <p:sp>
        <p:nvSpPr>
          <p:cNvPr id="27" name="wp3"/>
          <p:cNvSpPr/>
          <p:nvPr/>
        </p:nvSpPr>
        <p:spPr>
          <a:xfrm>
            <a:off x="8506915" y="6469380"/>
            <a:ext cx="82296" cy="82296"/>
          </a:xfrm>
          <a:prstGeom prst="ellipse">
            <a:avLst/>
          </a:prstGeom>
          <a:solidFill>
            <a:schemeClr val="bg2">
              <a:alpha val="60000"/>
            </a:schemeClr>
          </a:solidFill>
          <a:ln/>
        </p:spPr>
      </p:sp>
      <p:sp>
        <p:nvSpPr>
          <p:cNvPr id="28" name="wp4"/>
          <p:cNvSpPr/>
          <p:nvPr/>
        </p:nvSpPr>
        <p:spPr>
          <a:xfrm>
            <a:off x="9982568" y="6469380"/>
            <a:ext cx="82296" cy="82296"/>
          </a:xfrm>
          <a:prstGeom prst="ellipse">
            <a:avLst/>
          </a:prstGeom>
          <a:solidFill>
            <a:schemeClr val="bg2">
              <a:alpha val="60000"/>
            </a:schemeClr>
          </a:solidFill>
          <a:ln/>
        </p:spPr>
      </p:sp>
      <p:sp>
        <p:nvSpPr>
          <p:cNvPr id="29" name="progress_ext"/>
          <p:cNvSpPr/>
          <p:nvPr/>
        </p:nvSpPr>
        <p:spPr>
          <a:xfrm>
            <a:off x="5842701" y="6510528"/>
            <a:ext cx="245942" cy="0"/>
          </a:xfrm>
          <a:prstGeom prst="line">
            <a:avLst/>
          </a:prstGeom>
          <a:noFill/>
          <a:ln w="28575">
            <a:solidFill>
              <a:schemeClr val="accent2"/>
            </a:solidFill>
            <a:prstDash val="solid"/>
          </a:ln>
        </p:spPr>
      </p:sp>
      <p:pic>
        <p:nvPicPr>
          <p:cNvPr id="30" name="!!tracker" descr="Progress marker">    </p:cNvPr>
          <p:cNvPicPr>
            <a:picLocks noChangeAspect="1"/>
          </p:cNvPicPr>
          <p:nvPr/>
        </p:nvPicPr>
        <p:blipFill>
          <a:blip r:embed="rId4"/>
          <a:stretch>
            <a:fillRect/>
          </a:stretch>
        </p:blipFill>
        <p:spPr>
          <a:xfrm>
            <a:off x="5659821"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12</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50" fill="hold"/>
                                        <p:tgtEl>
                                          <p:spTgt spid="7"/>
                                        </p:tgtEl>
                                        <p:attrNameLst>
                                          <p:attrName>ppt_y</p:attrName>
                                        </p:attrNameLst>
                                      </p:cBhvr>
                                      <p:tavLst>
                                        <p:tav tm="0">
                                          <p:val>
                                            <p:strVal val="#ppt_y+.1"/>
                                          </p:val>
                                        </p:tav>
                                        <p:tav tm="100000">
                                          <p:val>
                                            <p:strVal val="#ppt_y"/>
                                          </p:val>
                                        </p:tav>
                                      </p:tavLst>
                                    </p:anim>
                                    <p:animEffect transition="in" filter="fade">
                                      <p:cBhvr>
                                        <p:cTn id="17" dur="550"/>
                                        <p:tgtEl>
                                          <p:spTgt spid="7"/>
                                        </p:tgtEl>
                                      </p:cBhvr>
                                    </p:animEffect>
                                  </p:childTnLst>
                                </p:cTn>
                              </p:par>
                              <p:par>
                                <p:cTn id="18" presetID="42" presetClass="entr" presetSubtype="0" fill="hold" grpId="0" nodeType="withEffect">
                                  <p:stCondLst>
                                    <p:cond delay="0"/>
                                  </p:stCondLst>
                                  <p:childTnLst>
                                    <p:set>
                                      <p:cBhvr>
                                        <p:cTn id="19" dur="1" fill="hold">
                                          <p:stCondLst>
                                            <p:cond delay="0"/>
                                          </p:stCondLst>
                                        </p:cTn>
                                        <p:tgtEl>
                                          <p:spTgt spid="8"/>
                                        </p:tgtEl>
                                        <p:attrNameLst>
                                          <p:attrName>style.visibility</p:attrName>
                                        </p:attrNameLst>
                                      </p:cBhvr>
                                      <p:to>
                                        <p:strVal val="visible"/>
                                      </p:to>
                                    </p:set>
                                    <p:anim calcmode="lin" valueType="num">
                                      <p:cBhvr additive="base">
                                        <p:cTn id="20" dur="550" fill="hold"/>
                                        <p:tgtEl>
                                          <p:spTgt spid="8"/>
                                        </p:tgtEl>
                                        <p:attrNameLst>
                                          <p:attrName>ppt_y</p:attrName>
                                        </p:attrNameLst>
                                      </p:cBhvr>
                                      <p:tavLst>
                                        <p:tav tm="0">
                                          <p:val>
                                            <p:strVal val="#ppt_y+.1"/>
                                          </p:val>
                                        </p:tav>
                                        <p:tav tm="100000">
                                          <p:val>
                                            <p:strVal val="#ppt_y"/>
                                          </p:val>
                                        </p:tav>
                                      </p:tavLst>
                                    </p:anim>
                                    <p:animEffect transition="in" filter="fade">
                                      <p:cBhvr>
                                        <p:cTn id="21" dur="550"/>
                                        <p:tgtEl>
                                          <p:spTgt spid="8"/>
                                        </p:tgtEl>
                                      </p:cBhvr>
                                    </p:animEffect>
                                  </p:childTnLst>
                                </p:cTn>
                              </p:par>
                              <p:par>
                                <p:cTn id="22" presetID="42"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 calcmode="lin" valueType="num">
                                      <p:cBhvr additive="base">
                                        <p:cTn id="24" dur="550" fill="hold"/>
                                        <p:tgtEl>
                                          <p:spTgt spid="9"/>
                                        </p:tgtEl>
                                        <p:attrNameLst>
                                          <p:attrName>ppt_y</p:attrName>
                                        </p:attrNameLst>
                                      </p:cBhvr>
                                      <p:tavLst>
                                        <p:tav tm="0">
                                          <p:val>
                                            <p:strVal val="#ppt_y+.1"/>
                                          </p:val>
                                        </p:tav>
                                        <p:tav tm="100000">
                                          <p:val>
                                            <p:strVal val="#ppt_y"/>
                                          </p:val>
                                        </p:tav>
                                      </p:tavLst>
                                    </p:anim>
                                    <p:animEffect transition="in" filter="fade">
                                      <p:cBhvr>
                                        <p:cTn id="25" dur="550"/>
                                        <p:tgtEl>
                                          <p:spTgt spid="9"/>
                                        </p:tgtEl>
                                      </p:cBhvr>
                                    </p:animEffect>
                                  </p:childTnLst>
                                </p:cTn>
                              </p:par>
                              <p:par>
                                <p:cTn id="26" presetID="42"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 calcmode="lin" valueType="num">
                                      <p:cBhvr additive="base">
                                        <p:cTn id="28" dur="550" fill="hold"/>
                                        <p:tgtEl>
                                          <p:spTgt spid="10"/>
                                        </p:tgtEl>
                                        <p:attrNameLst>
                                          <p:attrName>ppt_y</p:attrName>
                                        </p:attrNameLst>
                                      </p:cBhvr>
                                      <p:tavLst>
                                        <p:tav tm="0">
                                          <p:val>
                                            <p:strVal val="#ppt_y+.1"/>
                                          </p:val>
                                        </p:tav>
                                        <p:tav tm="100000">
                                          <p:val>
                                            <p:strVal val="#ppt_y"/>
                                          </p:val>
                                        </p:tav>
                                      </p:tavLst>
                                    </p:anim>
                                    <p:animEffect transition="in" filter="fade">
                                      <p:cBhvr>
                                        <p:cTn id="29" dur="550"/>
                                        <p:tgtEl>
                                          <p:spTgt spid="10"/>
                                        </p:tgtEl>
                                      </p:cBhvr>
                                    </p:animEffect>
                                  </p:childTnLst>
                                </p:cTn>
                              </p:par>
                              <p:par>
                                <p:cTn id="30" presetID="42" presetClass="entr" presetSubtype="0"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50" fill="hold"/>
                                        <p:tgtEl>
                                          <p:spTgt spid="11"/>
                                        </p:tgtEl>
                                        <p:attrNameLst>
                                          <p:attrName>ppt_y</p:attrName>
                                        </p:attrNameLst>
                                      </p:cBhvr>
                                      <p:tavLst>
                                        <p:tav tm="0">
                                          <p:val>
                                            <p:strVal val="#ppt_y+.1"/>
                                          </p:val>
                                        </p:tav>
                                        <p:tav tm="100000">
                                          <p:val>
                                            <p:strVal val="#ppt_y"/>
                                          </p:val>
                                        </p:tav>
                                      </p:tavLst>
                                    </p:anim>
                                    <p:animEffect transition="in" filter="fade">
                                      <p:cBhvr>
                                        <p:cTn id="33" dur="55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550" fill="hold"/>
                                        <p:tgtEl>
                                          <p:spTgt spid="12"/>
                                        </p:tgtEl>
                                        <p:attrNameLst>
                                          <p:attrName>ppt_y</p:attrName>
                                        </p:attrNameLst>
                                      </p:cBhvr>
                                      <p:tavLst>
                                        <p:tav tm="0">
                                          <p:val>
                                            <p:strVal val="#ppt_y+.1"/>
                                          </p:val>
                                        </p:tav>
                                        <p:tav tm="100000">
                                          <p:val>
                                            <p:strVal val="#ppt_y"/>
                                          </p:val>
                                        </p:tav>
                                      </p:tavLst>
                                    </p:anim>
                                    <p:animEffect transition="in" filter="fade">
                                      <p:cBhvr>
                                        <p:cTn id="39" dur="550"/>
                                        <p:tgtEl>
                                          <p:spTgt spid="12"/>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550" fill="hold"/>
                                        <p:tgtEl>
                                          <p:spTgt spid="13"/>
                                        </p:tgtEl>
                                        <p:attrNameLst>
                                          <p:attrName>ppt_y</p:attrName>
                                        </p:attrNameLst>
                                      </p:cBhvr>
                                      <p:tavLst>
                                        <p:tav tm="0">
                                          <p:val>
                                            <p:strVal val="#ppt_y+.1"/>
                                          </p:val>
                                        </p:tav>
                                        <p:tav tm="100000">
                                          <p:val>
                                            <p:strVal val="#ppt_y"/>
                                          </p:val>
                                        </p:tav>
                                      </p:tavLst>
                                    </p:anim>
                                    <p:animEffect transition="in" filter="fade">
                                      <p:cBhvr>
                                        <p:cTn id="43" dur="550"/>
                                        <p:tgtEl>
                                          <p:spTgt spid="13"/>
                                        </p:tgtEl>
                                      </p:cBhvr>
                                    </p:animEffect>
                                  </p:childTnLst>
                                </p:cTn>
                              </p:par>
                              <p:par>
                                <p:cTn id="44" presetID="42" presetClass="entr" presetSubtype="0" fill="hold" nodeType="with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50" fill="hold"/>
                                        <p:tgtEl>
                                          <p:spTgt spid="14"/>
                                        </p:tgtEl>
                                        <p:attrNameLst>
                                          <p:attrName>ppt_y</p:attrName>
                                        </p:attrNameLst>
                                      </p:cBhvr>
                                      <p:tavLst>
                                        <p:tav tm="0">
                                          <p:val>
                                            <p:strVal val="#ppt_y+.1"/>
                                          </p:val>
                                        </p:tav>
                                        <p:tav tm="100000">
                                          <p:val>
                                            <p:strVal val="#ppt_y"/>
                                          </p:val>
                                        </p:tav>
                                      </p:tavLst>
                                    </p:anim>
                                    <p:animEffect transition="in" filter="fade">
                                      <p:cBhvr>
                                        <p:cTn id="47" dur="550"/>
                                        <p:tgtEl>
                                          <p:spTgt spid="14"/>
                                        </p:tgtEl>
                                      </p:cBhvr>
                                    </p:animEffect>
                                  </p:childTnLst>
                                </p:cTn>
                              </p:par>
                              <p:par>
                                <p:cTn id="48" presetID="42" presetClass="entr" presetSubtype="0" fill="hold" grpId="0" nodeType="withEffect">
                                  <p:stCondLst>
                                    <p:cond delay="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50" fill="hold"/>
                                        <p:tgtEl>
                                          <p:spTgt spid="15"/>
                                        </p:tgtEl>
                                        <p:attrNameLst>
                                          <p:attrName>ppt_y</p:attrName>
                                        </p:attrNameLst>
                                      </p:cBhvr>
                                      <p:tavLst>
                                        <p:tav tm="0">
                                          <p:val>
                                            <p:strVal val="#ppt_y+.1"/>
                                          </p:val>
                                        </p:tav>
                                        <p:tav tm="100000">
                                          <p:val>
                                            <p:strVal val="#ppt_y"/>
                                          </p:val>
                                        </p:tav>
                                      </p:tavLst>
                                    </p:anim>
                                    <p:animEffect transition="in" filter="fade">
                                      <p:cBhvr>
                                        <p:cTn id="51" dur="550"/>
                                        <p:tgtEl>
                                          <p:spTgt spid="15"/>
                                        </p:tgtEl>
                                      </p:cBhvr>
                                    </p:animEffect>
                                  </p:childTnLst>
                                </p:cTn>
                              </p:par>
                              <p:par>
                                <p:cTn id="52" presetID="42"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50" fill="hold"/>
                                        <p:tgtEl>
                                          <p:spTgt spid="16"/>
                                        </p:tgtEl>
                                        <p:attrNameLst>
                                          <p:attrName>ppt_y</p:attrName>
                                        </p:attrNameLst>
                                      </p:cBhvr>
                                      <p:tavLst>
                                        <p:tav tm="0">
                                          <p:val>
                                            <p:strVal val="#ppt_y+.1"/>
                                          </p:val>
                                        </p:tav>
                                        <p:tav tm="100000">
                                          <p:val>
                                            <p:strVal val="#ppt_y"/>
                                          </p:val>
                                        </p:tav>
                                      </p:tavLst>
                                    </p:anim>
                                    <p:animEffect transition="in" filter="fade">
                                      <p:cBhvr>
                                        <p:cTn id="55" dur="550"/>
                                        <p:tgtEl>
                                          <p:spTgt spid="16"/>
                                        </p:tgtEl>
                                      </p:cBhvr>
                                    </p:animEffect>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7"/>
                                        </p:tgtEl>
                                        <p:attrNameLst>
                                          <p:attrName>style.visibility</p:attrName>
                                        </p:attrNameLst>
                                      </p:cBhvr>
                                      <p:to>
                                        <p:strVal val="visible"/>
                                      </p:to>
                                    </p:set>
                                    <p:anim calcmode="lin" valueType="num">
                                      <p:cBhvr additive="base">
                                        <p:cTn id="60" dur="550" fill="hold"/>
                                        <p:tgtEl>
                                          <p:spTgt spid="17"/>
                                        </p:tgtEl>
                                        <p:attrNameLst>
                                          <p:attrName>ppt_y</p:attrName>
                                        </p:attrNameLst>
                                      </p:cBhvr>
                                      <p:tavLst>
                                        <p:tav tm="0">
                                          <p:val>
                                            <p:strVal val="#ppt_y+.1"/>
                                          </p:val>
                                        </p:tav>
                                        <p:tav tm="100000">
                                          <p:val>
                                            <p:strVal val="#ppt_y"/>
                                          </p:val>
                                        </p:tav>
                                      </p:tavLst>
                                    </p:anim>
                                    <p:animEffect transition="in" filter="fade">
                                      <p:cBhvr>
                                        <p:cTn id="61" dur="550"/>
                                        <p:tgtEl>
                                          <p:spTgt spid="17"/>
                                        </p:tgtEl>
                                      </p:cBhvr>
                                    </p:animEffect>
                                  </p:childTnLst>
                                </p:cTn>
                              </p:par>
                              <p:par>
                                <p:cTn id="62" presetID="42"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 calcmode="lin" valueType="num">
                                      <p:cBhvr additive="base">
                                        <p:cTn id="64" dur="550" fill="hold"/>
                                        <p:tgtEl>
                                          <p:spTgt spid="18"/>
                                        </p:tgtEl>
                                        <p:attrNameLst>
                                          <p:attrName>ppt_y</p:attrName>
                                        </p:attrNameLst>
                                      </p:cBhvr>
                                      <p:tavLst>
                                        <p:tav tm="0">
                                          <p:val>
                                            <p:strVal val="#ppt_y+.1"/>
                                          </p:val>
                                        </p:tav>
                                        <p:tav tm="100000">
                                          <p:val>
                                            <p:strVal val="#ppt_y"/>
                                          </p:val>
                                        </p:tav>
                                      </p:tavLst>
                                    </p:anim>
                                    <p:animEffect transition="in" filter="fade">
                                      <p:cBhvr>
                                        <p:cTn id="65" dur="550"/>
                                        <p:tgtEl>
                                          <p:spTgt spid="18"/>
                                        </p:tgtEl>
                                      </p:cBhvr>
                                    </p:animEffect>
                                  </p:childTnLst>
                                </p:cTn>
                              </p:par>
                              <p:par>
                                <p:cTn id="66" presetID="42" presetClass="entr" presetSubtype="0" fill="hold" nodeType="withEffect">
                                  <p:stCondLst>
                                    <p:cond delay="0"/>
                                  </p:stCondLst>
                                  <p:childTnLst>
                                    <p:set>
                                      <p:cBhvr>
                                        <p:cTn id="67" dur="1" fill="hold">
                                          <p:stCondLst>
                                            <p:cond delay="0"/>
                                          </p:stCondLst>
                                        </p:cTn>
                                        <p:tgtEl>
                                          <p:spTgt spid="19"/>
                                        </p:tgtEl>
                                        <p:attrNameLst>
                                          <p:attrName>style.visibility</p:attrName>
                                        </p:attrNameLst>
                                      </p:cBhvr>
                                      <p:to>
                                        <p:strVal val="visible"/>
                                      </p:to>
                                    </p:set>
                                    <p:anim calcmode="lin" valueType="num">
                                      <p:cBhvr additive="base">
                                        <p:cTn id="68" dur="550" fill="hold"/>
                                        <p:tgtEl>
                                          <p:spTgt spid="19"/>
                                        </p:tgtEl>
                                        <p:attrNameLst>
                                          <p:attrName>ppt_y</p:attrName>
                                        </p:attrNameLst>
                                      </p:cBhvr>
                                      <p:tavLst>
                                        <p:tav tm="0">
                                          <p:val>
                                            <p:strVal val="#ppt_y+.1"/>
                                          </p:val>
                                        </p:tav>
                                        <p:tav tm="100000">
                                          <p:val>
                                            <p:strVal val="#ppt_y"/>
                                          </p:val>
                                        </p:tav>
                                      </p:tavLst>
                                    </p:anim>
                                    <p:animEffect transition="in" filter="fade">
                                      <p:cBhvr>
                                        <p:cTn id="69" dur="550"/>
                                        <p:tgtEl>
                                          <p:spTgt spid="19"/>
                                        </p:tgtEl>
                                      </p:cBhvr>
                                    </p:animEffect>
                                  </p:childTnLst>
                                </p:cTn>
                              </p:par>
                              <p:par>
                                <p:cTn id="70" presetID="42" presetClass="entr" presetSubtype="0" fill="hold" grpId="0" nodeType="withEffect">
                                  <p:stCondLst>
                                    <p:cond delay="0"/>
                                  </p:stCondLst>
                                  <p:childTnLst>
                                    <p:set>
                                      <p:cBhvr>
                                        <p:cTn id="71" dur="1" fill="hold">
                                          <p:stCondLst>
                                            <p:cond delay="0"/>
                                          </p:stCondLst>
                                        </p:cTn>
                                        <p:tgtEl>
                                          <p:spTgt spid="20"/>
                                        </p:tgtEl>
                                        <p:attrNameLst>
                                          <p:attrName>style.visibility</p:attrName>
                                        </p:attrNameLst>
                                      </p:cBhvr>
                                      <p:to>
                                        <p:strVal val="visible"/>
                                      </p:to>
                                    </p:set>
                                    <p:anim calcmode="lin" valueType="num">
                                      <p:cBhvr additive="base">
                                        <p:cTn id="72" dur="550" fill="hold"/>
                                        <p:tgtEl>
                                          <p:spTgt spid="20"/>
                                        </p:tgtEl>
                                        <p:attrNameLst>
                                          <p:attrName>ppt_y</p:attrName>
                                        </p:attrNameLst>
                                      </p:cBhvr>
                                      <p:tavLst>
                                        <p:tav tm="0">
                                          <p:val>
                                            <p:strVal val="#ppt_y+.1"/>
                                          </p:val>
                                        </p:tav>
                                        <p:tav tm="100000">
                                          <p:val>
                                            <p:strVal val="#ppt_y"/>
                                          </p:val>
                                        </p:tav>
                                      </p:tavLst>
                                    </p:anim>
                                    <p:animEffect transition="in" filter="fade">
                                      <p:cBhvr>
                                        <p:cTn id="73" dur="550"/>
                                        <p:tgtEl>
                                          <p:spTgt spid="20"/>
                                        </p:tgtEl>
                                      </p:cBhvr>
                                    </p:animEffect>
                                  </p:childTnLst>
                                </p:cTn>
                              </p:par>
                              <p:par>
                                <p:cTn id="74" presetID="42" presetClass="entr" presetSubtype="0" fill="hold" grpId="0" nodeType="withEffect">
                                  <p:stCondLst>
                                    <p:cond delay="0"/>
                                  </p:stCondLst>
                                  <p:childTnLst>
                                    <p:set>
                                      <p:cBhvr>
                                        <p:cTn id="75" dur="1" fill="hold">
                                          <p:stCondLst>
                                            <p:cond delay="0"/>
                                          </p:stCondLst>
                                        </p:cTn>
                                        <p:tgtEl>
                                          <p:spTgt spid="21"/>
                                        </p:tgtEl>
                                        <p:attrNameLst>
                                          <p:attrName>style.visibility</p:attrName>
                                        </p:attrNameLst>
                                      </p:cBhvr>
                                      <p:to>
                                        <p:strVal val="visible"/>
                                      </p:to>
                                    </p:set>
                                    <p:anim calcmode="lin" valueType="num">
                                      <p:cBhvr additive="base">
                                        <p:cTn id="76" dur="550" fill="hold"/>
                                        <p:tgtEl>
                                          <p:spTgt spid="21"/>
                                        </p:tgtEl>
                                        <p:attrNameLst>
                                          <p:attrName>ppt_y</p:attrName>
                                        </p:attrNameLst>
                                      </p:cBhvr>
                                      <p:tavLst>
                                        <p:tav tm="0">
                                          <p:val>
                                            <p:strVal val="#ppt_y+.1"/>
                                          </p:val>
                                        </p:tav>
                                        <p:tav tm="100000">
                                          <p:val>
                                            <p:strVal val="#ppt_y"/>
                                          </p:val>
                                        </p:tav>
                                      </p:tavLst>
                                    </p:anim>
                                    <p:animEffect transition="in" filter="fade">
                                      <p:cBhvr>
                                        <p:cTn id="77" dur="550"/>
                                        <p:tgtEl>
                                          <p:spTgt spid="21"/>
                                        </p:tgtEl>
                                      </p:cBhvr>
                                    </p:animEffect>
                                  </p:childTnLst>
                                </p:cTn>
                              </p:par>
                            </p:childTnLst>
                          </p:cTn>
                        </p:par>
                        <p:par>
                          <p:cTn id="78" fill="hold">
                            <p:stCondLst>
                              <p:cond delay="550"/>
                            </p:stCondLst>
                            <p:childTnLst>
                              <p:par>
                                <p:cTn id="79" presetID="22" presetClass="entr" presetSubtype="1" fill="hold" grpId="0" nodeType="afterEffect">
                                  <p:stCondLst>
                                    <p:cond delay="200"/>
                                  </p:stCondLst>
                                  <p:childTnLst>
                                    <p:set>
                                      <p:cBhvr>
                                        <p:cTn id="80" dur="1" fill="hold">
                                          <p:stCondLst>
                                            <p:cond delay="0"/>
                                          </p:stCondLst>
                                        </p:cTn>
                                        <p:tgtEl>
                                          <p:spTgt spid="5"/>
                                        </p:tgtEl>
                                        <p:attrNameLst>
                                          <p:attrName>style.visibility</p:attrName>
                                        </p:attrNameLst>
                                      </p:cBhvr>
                                      <p:to>
                                        <p:strVal val="visible"/>
                                      </p:to>
                                    </p:set>
                                    <p:animEffect transition="in" filter="wipe(up)">
                                      <p:cBhvr>
                                        <p:cTn id="81" dur="1200"/>
                                        <p:tgtEl>
                                          <p:spTgt spid="5"/>
                                        </p:tgtEl>
                                      </p:cBhvr>
                                    </p:animEffect>
                                  </p:childTnLst>
                                </p:cTn>
                              </p:par>
                              <p:par>
                                <p:cTn id="82" presetID="22" presetClass="entr" presetSubtype="1" fill="hold" grpId="0" nodeType="withEffect">
                                  <p:stCondLst>
                                    <p:cond delay="200"/>
                                  </p:stCondLst>
                                  <p:childTnLst>
                                    <p:set>
                                      <p:cBhvr>
                                        <p:cTn id="83" dur="1" fill="hold">
                                          <p:stCondLst>
                                            <p:cond delay="0"/>
                                          </p:stCondLst>
                                        </p:cTn>
                                        <p:tgtEl>
                                          <p:spTgt spid="6"/>
                                        </p:tgtEl>
                                        <p:attrNameLst>
                                          <p:attrName>style.visibility</p:attrName>
                                        </p:attrNameLst>
                                      </p:cBhvr>
                                      <p:to>
                                        <p:strVal val="visible"/>
                                      </p:to>
                                    </p:set>
                                    <p:animEffect transition="in" filter="wipe(up)">
                                      <p:cBhvr>
                                        <p:cTn id="84" dur="1200"/>
                                        <p:tgtEl>
                                          <p:spTgt spid="6"/>
                                        </p:tgtEl>
                                      </p:cBhvr>
                                    </p:animEffect>
                                  </p:childTnLst>
                                </p:cTn>
                              </p:par>
                              <p:par>
                                <p:cTn id="85" presetID="22" presetClass="entr" presetSubtype="8" fill="hold" grpId="0" nodeType="withEffect">
                                  <p:stCondLst>
                                    <p:cond delay="600"/>
                                  </p:stCondLst>
                                  <p:childTnLst>
                                    <p:set>
                                      <p:cBhvr>
                                        <p:cTn id="86" dur="1" fill="hold">
                                          <p:stCondLst>
                                            <p:cond delay="0"/>
                                          </p:stCondLst>
                                        </p:cTn>
                                        <p:tgtEl>
                                          <p:spTgt spid="29"/>
                                        </p:tgtEl>
                                        <p:attrNameLst>
                                          <p:attrName>style.visibility</p:attrName>
                                        </p:attrNameLst>
                                      </p:cBhvr>
                                      <p:to>
                                        <p:strVal val="visible"/>
                                      </p:to>
                                    </p:set>
                                    <p:animEffect transition="in" filter="wipe(left)">
                                      <p:cBhvr>
                                        <p:cTn id="87" dur="1100"/>
                                        <p:tgtEl>
                                          <p:spTgt spid="29"/>
                                        </p:tgtEl>
                                      </p:cBhvr>
                                    </p:animEffect>
                                  </p:childTnLst>
                                </p:cTn>
                              </p:par>
                              <p:par>
                                <p:cTn id="89" presetID="0" presetClass="path" presetSubtype="0" fill="hold" accel="30000" decel="30000" nodeType="withEffect">
                                  <p:stCondLst>
                                    <p:cond delay="600"/>
                                  </p:stCondLst>
                                  <p:childTnLst>
                                    <p:animMotion origin="layout" path="M 0 0 L 0.02017 0 E" pathEditMode="relative" rAng="0" ptsTypes="AA">
                                      <p:cBhvr>
                                        <p:cTn id="88" dur="1100" fill="hold"/>
                                        <p:tgtEl>
                                          <p:spTgt spid="30"/>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5" grpId="0" animBg="1"/>
      <p:bldP spid="6" grpId="0" animBg="1"/>
      <p:bldP spid="2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Key modules</a:t>
            </a:r>
            <a:endParaRPr lang="en-US" sz="3600" dirty="0"/>
          </a:p>
        </p:txBody>
      </p:sp>
      <p:sp>
        <p:nvSpPr>
          <p:cNvPr id="5" name="md0c"/>
          <p:cNvSpPr/>
          <p:nvPr/>
        </p:nvSpPr>
        <p:spPr>
          <a:xfrm>
            <a:off x="548640" y="1691640"/>
            <a:ext cx="3611880" cy="1325880"/>
          </a:xfrm>
          <a:prstGeom prst="roundRect">
            <a:avLst>
              <a:gd name="adj" fmla="val 8276"/>
            </a:avLst>
          </a:prstGeom>
          <a:solidFill>
            <a:schemeClr val="bg1">
              <a:alpha val="9000"/>
            </a:schemeClr>
          </a:solidFill>
          <a:ln w="9525">
            <a:solidFill>
              <a:schemeClr val="bg2">
                <a:alpha val="40000"/>
              </a:schemeClr>
            </a:solidFill>
            <a:prstDash val="solid"/>
          </a:ln>
        </p:spPr>
      </p:sp>
      <p:sp>
        <p:nvSpPr>
          <p:cNvPr id="6" name="md0n"/>
          <p:cNvSpPr txBox="1"/>
          <p:nvPr/>
        </p:nvSpPr>
        <p:spPr>
          <a:xfrm>
            <a:off x="749808" y="1847088"/>
            <a:ext cx="2194560" cy="365760"/>
          </a:xfrm>
          <a:prstGeom prst="rect">
            <a:avLst/>
          </a:prstGeom>
          <a:noFill/>
          <a:ln/>
        </p:spPr>
        <p:txBody>
          <a:bodyPr wrap="square" lIns="0" tIns="0" rIns="0" bIns="0" rtlCol="0" anchor="t"/>
          <a:lstStyle/>
          <a:p>
            <a:pPr algn="l" indent="0" marL="0">
              <a:buNone/>
            </a:pPr>
            <a:r>
              <a:rPr lang="en-US" sz="1500" b="1" dirty="0">
                <a:solidFill>
                  <a:schemeClr val="bg1"/>
                </a:solidFill>
                <a:latin typeface="Courier New" pitchFamily="34" charset="0"/>
                <a:ea typeface="Courier New" pitchFamily="34" charset="-122"/>
                <a:cs typeface="Courier New" pitchFamily="34" charset="-120"/>
              </a:rPr>
              <a:t>config.py</a:t>
            </a:r>
            <a:endParaRPr lang="en-US" sz="1500" dirty="0"/>
          </a:p>
        </p:txBody>
      </p:sp>
      <p:sp>
        <p:nvSpPr>
          <p:cNvPr id="7" name="md0l"/>
          <p:cNvSpPr txBox="1"/>
          <p:nvPr/>
        </p:nvSpPr>
        <p:spPr>
          <a:xfrm>
            <a:off x="2880360" y="186537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158 lines</a:t>
            </a:r>
            <a:endParaRPr lang="en-US" sz="1100" dirty="0"/>
          </a:p>
        </p:txBody>
      </p:sp>
      <p:sp>
        <p:nvSpPr>
          <p:cNvPr id="8" name="md0d"/>
          <p:cNvSpPr txBox="1"/>
          <p:nvPr/>
        </p:nvSpPr>
        <p:spPr>
          <a:xfrm>
            <a:off x="749808" y="228600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Paths, .env loading, masked key, settings</a:t>
            </a:r>
            <a:endParaRPr lang="en-US" sz="1400" dirty="0"/>
          </a:p>
        </p:txBody>
      </p:sp>
      <p:sp>
        <p:nvSpPr>
          <p:cNvPr id="9" name="md1c"/>
          <p:cNvSpPr/>
          <p:nvPr/>
        </p:nvSpPr>
        <p:spPr>
          <a:xfrm>
            <a:off x="4270248" y="1691640"/>
            <a:ext cx="3611880" cy="1325880"/>
          </a:xfrm>
          <a:prstGeom prst="roundRect">
            <a:avLst>
              <a:gd name="adj" fmla="val 8276"/>
            </a:avLst>
          </a:prstGeom>
          <a:solidFill>
            <a:schemeClr val="bg1">
              <a:alpha val="9000"/>
            </a:schemeClr>
          </a:solidFill>
          <a:ln w="9525">
            <a:solidFill>
              <a:schemeClr val="accent1">
                <a:alpha val="40000"/>
              </a:schemeClr>
            </a:solidFill>
            <a:prstDash val="solid"/>
          </a:ln>
        </p:spPr>
      </p:sp>
      <p:sp>
        <p:nvSpPr>
          <p:cNvPr id="10" name="md1n"/>
          <p:cNvSpPr txBox="1"/>
          <p:nvPr/>
        </p:nvSpPr>
        <p:spPr>
          <a:xfrm>
            <a:off x="4471416" y="1847088"/>
            <a:ext cx="2194560" cy="365760"/>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api_client.py</a:t>
            </a:r>
            <a:endParaRPr lang="en-US" sz="1500" dirty="0"/>
          </a:p>
        </p:txBody>
      </p:sp>
      <p:sp>
        <p:nvSpPr>
          <p:cNvPr id="11" name="md1l"/>
          <p:cNvSpPr txBox="1"/>
          <p:nvPr/>
        </p:nvSpPr>
        <p:spPr>
          <a:xfrm>
            <a:off x="6601968" y="186537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221 lines</a:t>
            </a:r>
            <a:endParaRPr lang="en-US" sz="1100" dirty="0"/>
          </a:p>
        </p:txBody>
      </p:sp>
      <p:sp>
        <p:nvSpPr>
          <p:cNvPr id="12" name="md1d"/>
          <p:cNvSpPr txBox="1"/>
          <p:nvPr/>
        </p:nvSpPr>
        <p:spPr>
          <a:xfrm>
            <a:off x="4471416" y="228600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AviationStack and Open-Meteo clients, error mapping</a:t>
            </a:r>
            <a:endParaRPr lang="en-US" sz="1400" dirty="0"/>
          </a:p>
        </p:txBody>
      </p:sp>
      <p:sp>
        <p:nvSpPr>
          <p:cNvPr id="13" name="md2c"/>
          <p:cNvSpPr/>
          <p:nvPr/>
        </p:nvSpPr>
        <p:spPr>
          <a:xfrm>
            <a:off x="7991856" y="1691640"/>
            <a:ext cx="3611880" cy="1325880"/>
          </a:xfrm>
          <a:prstGeom prst="roundRect">
            <a:avLst>
              <a:gd name="adj" fmla="val 8276"/>
            </a:avLst>
          </a:prstGeom>
          <a:solidFill>
            <a:schemeClr val="bg1">
              <a:alpha val="9000"/>
            </a:schemeClr>
          </a:solidFill>
          <a:ln w="9525">
            <a:solidFill>
              <a:schemeClr val="accent4">
                <a:alpha val="40000"/>
              </a:schemeClr>
            </a:solidFill>
            <a:prstDash val="solid"/>
          </a:ln>
        </p:spPr>
      </p:sp>
      <p:sp>
        <p:nvSpPr>
          <p:cNvPr id="14" name="md2n"/>
          <p:cNvSpPr txBox="1"/>
          <p:nvPr/>
        </p:nvSpPr>
        <p:spPr>
          <a:xfrm>
            <a:off x="8193024" y="1847088"/>
            <a:ext cx="2194560" cy="365760"/>
          </a:xfrm>
          <a:prstGeom prst="rect">
            <a:avLst/>
          </a:prstGeom>
          <a:noFill/>
          <a:ln/>
        </p:spPr>
        <p:txBody>
          <a:bodyPr wrap="square" lIns="0" tIns="0" rIns="0" bIns="0" rtlCol="0" anchor="t"/>
          <a:lstStyle/>
          <a:p>
            <a:pPr algn="l" indent="0" marL="0">
              <a:buNone/>
            </a:pPr>
            <a:r>
              <a:rPr lang="en-US" sz="1500" b="1" dirty="0">
                <a:solidFill>
                  <a:schemeClr val="accent4"/>
                </a:solidFill>
                <a:latin typeface="Courier New" pitchFamily="34" charset="0"/>
                <a:ea typeface="Courier New" pitchFamily="34" charset="-122"/>
                <a:cs typeface="Courier New" pitchFamily="34" charset="-120"/>
              </a:rPr>
              <a:t>models.py</a:t>
            </a:r>
            <a:endParaRPr lang="en-US" sz="1500" dirty="0"/>
          </a:p>
        </p:txBody>
      </p:sp>
      <p:sp>
        <p:nvSpPr>
          <p:cNvPr id="15" name="md2l"/>
          <p:cNvSpPr txBox="1"/>
          <p:nvPr/>
        </p:nvSpPr>
        <p:spPr>
          <a:xfrm>
            <a:off x="10323576" y="186537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165 lines</a:t>
            </a:r>
            <a:endParaRPr lang="en-US" sz="1100" dirty="0"/>
          </a:p>
        </p:txBody>
      </p:sp>
      <p:sp>
        <p:nvSpPr>
          <p:cNvPr id="16" name="md2d"/>
          <p:cNvSpPr txBox="1"/>
          <p:nvPr/>
        </p:nvSpPr>
        <p:spPr>
          <a:xfrm>
            <a:off x="8193024" y="228600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Pydantic models and batch validation</a:t>
            </a:r>
            <a:endParaRPr lang="en-US" sz="1400" dirty="0"/>
          </a:p>
        </p:txBody>
      </p:sp>
      <p:sp>
        <p:nvSpPr>
          <p:cNvPr id="17" name="md3c"/>
          <p:cNvSpPr/>
          <p:nvPr/>
        </p:nvSpPr>
        <p:spPr>
          <a:xfrm>
            <a:off x="548640" y="3154680"/>
            <a:ext cx="3611880" cy="1325880"/>
          </a:xfrm>
          <a:prstGeom prst="roundRect">
            <a:avLst>
              <a:gd name="adj" fmla="val 8276"/>
            </a:avLst>
          </a:prstGeom>
          <a:solidFill>
            <a:schemeClr val="bg1">
              <a:alpha val="9000"/>
            </a:schemeClr>
          </a:solidFill>
          <a:ln w="9525">
            <a:solidFill>
              <a:schemeClr val="accent2">
                <a:alpha val="40000"/>
              </a:schemeClr>
            </a:solidFill>
            <a:prstDash val="solid"/>
          </a:ln>
        </p:spPr>
      </p:sp>
      <p:sp>
        <p:nvSpPr>
          <p:cNvPr id="18" name="md3n"/>
          <p:cNvSpPr txBox="1"/>
          <p:nvPr/>
        </p:nvSpPr>
        <p:spPr>
          <a:xfrm>
            <a:off x="749808" y="3310128"/>
            <a:ext cx="2194560" cy="365760"/>
          </a:xfrm>
          <a:prstGeom prst="rect">
            <a:avLst/>
          </a:prstGeom>
          <a:noFill/>
          <a:ln/>
        </p:spPr>
        <p:txBody>
          <a:bodyPr wrap="square" lIns="0" tIns="0" rIns="0" bIns="0" rtlCol="0" anchor="t"/>
          <a:lstStyle/>
          <a:p>
            <a:pPr algn="l" indent="0" marL="0">
              <a:buNone/>
            </a:pPr>
            <a:r>
              <a:rPr lang="en-US" sz="1500" b="1" dirty="0">
                <a:solidFill>
                  <a:schemeClr val="accent2"/>
                </a:solidFill>
                <a:latin typeface="Courier New" pitchFamily="34" charset="0"/>
                <a:ea typeface="Courier New" pitchFamily="34" charset="-122"/>
                <a:cs typeface="Courier New" pitchFamily="34" charset="-120"/>
              </a:rPr>
              <a:t>data_processor.py</a:t>
            </a:r>
            <a:endParaRPr lang="en-US" sz="1500" dirty="0"/>
          </a:p>
        </p:txBody>
      </p:sp>
      <p:sp>
        <p:nvSpPr>
          <p:cNvPr id="19" name="md3l"/>
          <p:cNvSpPr txBox="1"/>
          <p:nvPr/>
        </p:nvSpPr>
        <p:spPr>
          <a:xfrm>
            <a:off x="2880360" y="332841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271 lines</a:t>
            </a:r>
            <a:endParaRPr lang="en-US" sz="1100" dirty="0"/>
          </a:p>
        </p:txBody>
      </p:sp>
      <p:sp>
        <p:nvSpPr>
          <p:cNvPr id="20" name="md3d"/>
          <p:cNvSpPr txBox="1"/>
          <p:nvPr/>
        </p:nvSpPr>
        <p:spPr>
          <a:xfrm>
            <a:off x="749808" y="374904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Flatten, derive columns, dedup, airports</a:t>
            </a:r>
            <a:endParaRPr lang="en-US" sz="1400" dirty="0"/>
          </a:p>
        </p:txBody>
      </p:sp>
      <p:sp>
        <p:nvSpPr>
          <p:cNvPr id="21" name="md4c"/>
          <p:cNvSpPr/>
          <p:nvPr/>
        </p:nvSpPr>
        <p:spPr>
          <a:xfrm>
            <a:off x="4270248" y="3154680"/>
            <a:ext cx="3611880" cy="1325880"/>
          </a:xfrm>
          <a:prstGeom prst="roundRect">
            <a:avLst>
              <a:gd name="adj" fmla="val 8276"/>
            </a:avLst>
          </a:prstGeom>
          <a:solidFill>
            <a:schemeClr val="bg1">
              <a:alpha val="9000"/>
            </a:schemeClr>
          </a:solidFill>
          <a:ln w="9525">
            <a:solidFill>
              <a:schemeClr val="accent3">
                <a:alpha val="40000"/>
              </a:schemeClr>
            </a:solidFill>
            <a:prstDash val="solid"/>
          </a:ln>
        </p:spPr>
      </p:sp>
      <p:sp>
        <p:nvSpPr>
          <p:cNvPr id="22" name="md4n"/>
          <p:cNvSpPr txBox="1"/>
          <p:nvPr/>
        </p:nvSpPr>
        <p:spPr>
          <a:xfrm>
            <a:off x="4471416" y="3310128"/>
            <a:ext cx="2194560" cy="365760"/>
          </a:xfrm>
          <a:prstGeom prst="rect">
            <a:avLst/>
          </a:prstGeom>
          <a:noFill/>
          <a:ln/>
        </p:spPr>
        <p:txBody>
          <a:bodyPr wrap="square" lIns="0" tIns="0" rIns="0" bIns="0" rtlCol="0" anchor="t"/>
          <a:lstStyle/>
          <a:p>
            <a:pPr algn="l" indent="0" marL="0">
              <a:buNone/>
            </a:pPr>
            <a:r>
              <a:rPr lang="en-US" sz="1500" b="1" dirty="0">
                <a:solidFill>
                  <a:schemeClr val="accent3"/>
                </a:solidFill>
                <a:latin typeface="Courier New" pitchFamily="34" charset="0"/>
                <a:ea typeface="Courier New" pitchFamily="34" charset="-122"/>
                <a:cs typeface="Courier New" pitchFamily="34" charset="-120"/>
              </a:rPr>
              <a:t>database.py</a:t>
            </a:r>
            <a:endParaRPr lang="en-US" sz="1500" dirty="0"/>
          </a:p>
        </p:txBody>
      </p:sp>
      <p:sp>
        <p:nvSpPr>
          <p:cNvPr id="23" name="md4l"/>
          <p:cNvSpPr txBox="1"/>
          <p:nvPr/>
        </p:nvSpPr>
        <p:spPr>
          <a:xfrm>
            <a:off x="6601968" y="332841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403 lines</a:t>
            </a:r>
            <a:endParaRPr lang="en-US" sz="1100" dirty="0"/>
          </a:p>
        </p:txBody>
      </p:sp>
      <p:sp>
        <p:nvSpPr>
          <p:cNvPr id="24" name="md4d"/>
          <p:cNvSpPr txBox="1"/>
          <p:nvPr/>
        </p:nvSpPr>
        <p:spPr>
          <a:xfrm>
            <a:off x="4471416" y="374904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Schema, upserts, queries, export, refresh log</a:t>
            </a:r>
            <a:endParaRPr lang="en-US" sz="1400" dirty="0"/>
          </a:p>
        </p:txBody>
      </p:sp>
      <p:sp>
        <p:nvSpPr>
          <p:cNvPr id="25" name="md5c"/>
          <p:cNvSpPr/>
          <p:nvPr/>
        </p:nvSpPr>
        <p:spPr>
          <a:xfrm>
            <a:off x="7991856" y="3154680"/>
            <a:ext cx="3611880" cy="1325880"/>
          </a:xfrm>
          <a:prstGeom prst="roundRect">
            <a:avLst>
              <a:gd name="adj" fmla="val 8276"/>
            </a:avLst>
          </a:prstGeom>
          <a:solidFill>
            <a:schemeClr val="bg1">
              <a:alpha val="9000"/>
            </a:schemeClr>
          </a:solidFill>
          <a:ln w="9525">
            <a:solidFill>
              <a:schemeClr val="accent6">
                <a:alpha val="40000"/>
              </a:schemeClr>
            </a:solidFill>
            <a:prstDash val="solid"/>
          </a:ln>
        </p:spPr>
      </p:sp>
      <p:sp>
        <p:nvSpPr>
          <p:cNvPr id="26" name="md5n"/>
          <p:cNvSpPr txBox="1"/>
          <p:nvPr/>
        </p:nvSpPr>
        <p:spPr>
          <a:xfrm>
            <a:off x="8193024" y="3310128"/>
            <a:ext cx="2194560" cy="365760"/>
          </a:xfrm>
          <a:prstGeom prst="rect">
            <a:avLst/>
          </a:prstGeom>
          <a:noFill/>
          <a:ln/>
        </p:spPr>
        <p:txBody>
          <a:bodyPr wrap="square" lIns="0" tIns="0" rIns="0" bIns="0" rtlCol="0" anchor="t"/>
          <a:lstStyle/>
          <a:p>
            <a:pPr algn="l" indent="0" marL="0">
              <a:buNone/>
            </a:pPr>
            <a:r>
              <a:rPr lang="en-US" sz="1500" b="1" dirty="0">
                <a:solidFill>
                  <a:schemeClr val="accent6"/>
                </a:solidFill>
                <a:latin typeface="Courier New" pitchFamily="34" charset="0"/>
                <a:ea typeface="Courier New" pitchFamily="34" charset="-122"/>
                <a:cs typeface="Courier New" pitchFamily="34" charset="-120"/>
              </a:rPr>
              <a:t>analytics.py</a:t>
            </a:r>
            <a:endParaRPr lang="en-US" sz="1500" dirty="0"/>
          </a:p>
        </p:txBody>
      </p:sp>
      <p:sp>
        <p:nvSpPr>
          <p:cNvPr id="27" name="md5l"/>
          <p:cNvSpPr txBox="1"/>
          <p:nvPr/>
        </p:nvSpPr>
        <p:spPr>
          <a:xfrm>
            <a:off x="10323576" y="332841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289 lines</a:t>
            </a:r>
            <a:endParaRPr lang="en-US" sz="1100" dirty="0"/>
          </a:p>
        </p:txBody>
      </p:sp>
      <p:sp>
        <p:nvSpPr>
          <p:cNvPr id="28" name="md5d"/>
          <p:cNvSpPr txBox="1"/>
          <p:nvPr/>
        </p:nvSpPr>
        <p:spPr>
          <a:xfrm>
            <a:off x="8193024" y="374904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Statistics, delay metrics, flight conditions</a:t>
            </a:r>
            <a:endParaRPr lang="en-US" sz="1400" dirty="0"/>
          </a:p>
        </p:txBody>
      </p:sp>
      <p:sp>
        <p:nvSpPr>
          <p:cNvPr id="29" name="md6c"/>
          <p:cNvSpPr/>
          <p:nvPr/>
        </p:nvSpPr>
        <p:spPr>
          <a:xfrm>
            <a:off x="548640" y="4617720"/>
            <a:ext cx="3611880" cy="1325880"/>
          </a:xfrm>
          <a:prstGeom prst="roundRect">
            <a:avLst>
              <a:gd name="adj" fmla="val 8276"/>
            </a:avLst>
          </a:prstGeom>
          <a:solidFill>
            <a:schemeClr val="bg1">
              <a:alpha val="9000"/>
            </a:schemeClr>
          </a:solidFill>
          <a:ln w="9525">
            <a:solidFill>
              <a:schemeClr val="accent6">
                <a:alpha val="40000"/>
              </a:schemeClr>
            </a:solidFill>
            <a:prstDash val="solid"/>
          </a:ln>
        </p:spPr>
      </p:sp>
      <p:sp>
        <p:nvSpPr>
          <p:cNvPr id="30" name="md6n"/>
          <p:cNvSpPr txBox="1"/>
          <p:nvPr/>
        </p:nvSpPr>
        <p:spPr>
          <a:xfrm>
            <a:off x="749808" y="4773168"/>
            <a:ext cx="2194560" cy="365760"/>
          </a:xfrm>
          <a:prstGeom prst="rect">
            <a:avLst/>
          </a:prstGeom>
          <a:noFill/>
          <a:ln/>
        </p:spPr>
        <p:txBody>
          <a:bodyPr wrap="square" lIns="0" tIns="0" rIns="0" bIns="0" rtlCol="0" anchor="t"/>
          <a:lstStyle/>
          <a:p>
            <a:pPr algn="l" indent="0" marL="0">
              <a:buNone/>
            </a:pPr>
            <a:r>
              <a:rPr lang="en-US" sz="1500" b="1" dirty="0">
                <a:solidFill>
                  <a:schemeClr val="accent6"/>
                </a:solidFill>
                <a:latin typeface="Courier New" pitchFamily="34" charset="0"/>
                <a:ea typeface="Courier New" pitchFamily="34" charset="-122"/>
                <a:cs typeface="Courier New" pitchFamily="34" charset="-120"/>
              </a:rPr>
              <a:t>visualizations.py</a:t>
            </a:r>
            <a:endParaRPr lang="en-US" sz="1500" dirty="0"/>
          </a:p>
        </p:txBody>
      </p:sp>
      <p:sp>
        <p:nvSpPr>
          <p:cNvPr id="31" name="md6l"/>
          <p:cNvSpPr txBox="1"/>
          <p:nvPr/>
        </p:nvSpPr>
        <p:spPr>
          <a:xfrm>
            <a:off x="2880360" y="479145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307 lines</a:t>
            </a:r>
            <a:endParaRPr lang="en-US" sz="1100" dirty="0"/>
          </a:p>
        </p:txBody>
      </p:sp>
      <p:sp>
        <p:nvSpPr>
          <p:cNvPr id="32" name="md6d"/>
          <p:cNvSpPr txBox="1"/>
          <p:nvPr/>
        </p:nvSpPr>
        <p:spPr>
          <a:xfrm>
            <a:off x="749808" y="521208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8 chart builders sharing one palette</a:t>
            </a:r>
            <a:endParaRPr lang="en-US" sz="1400" dirty="0"/>
          </a:p>
        </p:txBody>
      </p:sp>
      <p:sp>
        <p:nvSpPr>
          <p:cNvPr id="33" name="md7c"/>
          <p:cNvSpPr/>
          <p:nvPr/>
        </p:nvSpPr>
        <p:spPr>
          <a:xfrm>
            <a:off x="4270248" y="4617720"/>
            <a:ext cx="3611880" cy="1325880"/>
          </a:xfrm>
          <a:prstGeom prst="roundRect">
            <a:avLst>
              <a:gd name="adj" fmla="val 8276"/>
            </a:avLst>
          </a:prstGeom>
          <a:solidFill>
            <a:schemeClr val="bg1">
              <a:alpha val="9000"/>
            </a:schemeClr>
          </a:solidFill>
          <a:ln w="9525">
            <a:solidFill>
              <a:schemeClr val="accent1">
                <a:alpha val="40000"/>
              </a:schemeClr>
            </a:solidFill>
            <a:prstDash val="solid"/>
          </a:ln>
        </p:spPr>
      </p:sp>
      <p:sp>
        <p:nvSpPr>
          <p:cNvPr id="34" name="md7n"/>
          <p:cNvSpPr txBox="1"/>
          <p:nvPr/>
        </p:nvSpPr>
        <p:spPr>
          <a:xfrm>
            <a:off x="4471416" y="4773168"/>
            <a:ext cx="2194560" cy="365760"/>
          </a:xfrm>
          <a:prstGeom prst="rect">
            <a:avLst/>
          </a:prstGeom>
          <a:noFill/>
          <a:ln/>
        </p:spPr>
        <p:txBody>
          <a:bodyPr wrap="square" lIns="0" tIns="0" rIns="0" bIns="0" rtlCol="0" anchor="t"/>
          <a:lstStyle/>
          <a:p>
            <a:pPr algn="l" indent="0" marL="0">
              <a:buNone/>
            </a:pPr>
            <a:r>
              <a:rPr lang="en-US" sz="1500" b="1" dirty="0">
                <a:solidFill>
                  <a:schemeClr val="accent1"/>
                </a:solidFill>
                <a:latin typeface="Courier New" pitchFamily="34" charset="0"/>
                <a:ea typeface="Courier New" pitchFamily="34" charset="-122"/>
                <a:cs typeface="Courier New" pitchFamily="34" charset="-120"/>
              </a:rPr>
              <a:t>service.py</a:t>
            </a:r>
            <a:endParaRPr lang="en-US" sz="1500" dirty="0"/>
          </a:p>
        </p:txBody>
      </p:sp>
      <p:sp>
        <p:nvSpPr>
          <p:cNvPr id="35" name="md7l"/>
          <p:cNvSpPr txBox="1"/>
          <p:nvPr/>
        </p:nvSpPr>
        <p:spPr>
          <a:xfrm>
            <a:off x="6601968" y="479145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120 lines</a:t>
            </a:r>
            <a:endParaRPr lang="en-US" sz="1100" dirty="0"/>
          </a:p>
        </p:txBody>
      </p:sp>
      <p:sp>
        <p:nvSpPr>
          <p:cNvPr id="36" name="md7d"/>
          <p:cNvSpPr txBox="1"/>
          <p:nvPr/>
        </p:nvSpPr>
        <p:spPr>
          <a:xfrm>
            <a:off x="4471416" y="521208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refresh_data(): one workflow for both apps</a:t>
            </a:r>
            <a:endParaRPr lang="en-US" sz="1400" dirty="0"/>
          </a:p>
        </p:txBody>
      </p:sp>
      <p:sp>
        <p:nvSpPr>
          <p:cNvPr id="37" name="md8c"/>
          <p:cNvSpPr/>
          <p:nvPr/>
        </p:nvSpPr>
        <p:spPr>
          <a:xfrm>
            <a:off x="7991856" y="4617720"/>
            <a:ext cx="3611880" cy="1325880"/>
          </a:xfrm>
          <a:prstGeom prst="roundRect">
            <a:avLst>
              <a:gd name="adj" fmla="val 8276"/>
            </a:avLst>
          </a:prstGeom>
          <a:solidFill>
            <a:schemeClr val="bg1">
              <a:alpha val="9000"/>
            </a:schemeClr>
          </a:solidFill>
          <a:ln w="9525">
            <a:solidFill>
              <a:schemeClr val="accent5">
                <a:alpha val="40000"/>
              </a:schemeClr>
            </a:solidFill>
            <a:prstDash val="solid"/>
          </a:ln>
        </p:spPr>
      </p:sp>
      <p:sp>
        <p:nvSpPr>
          <p:cNvPr id="38" name="md8n"/>
          <p:cNvSpPr txBox="1"/>
          <p:nvPr/>
        </p:nvSpPr>
        <p:spPr>
          <a:xfrm>
            <a:off x="8193024" y="4773168"/>
            <a:ext cx="2194560" cy="365760"/>
          </a:xfrm>
          <a:prstGeom prst="rect">
            <a:avLst/>
          </a:prstGeom>
          <a:noFill/>
          <a:ln/>
        </p:spPr>
        <p:txBody>
          <a:bodyPr wrap="square" lIns="0" tIns="0" rIns="0" bIns="0" rtlCol="0" anchor="t"/>
          <a:lstStyle/>
          <a:p>
            <a:pPr algn="l" indent="0" marL="0">
              <a:buNone/>
            </a:pPr>
            <a:r>
              <a:rPr lang="en-US" sz="1500" b="1" dirty="0">
                <a:solidFill>
                  <a:schemeClr val="accent5"/>
                </a:solidFill>
                <a:latin typeface="Courier New" pitchFamily="34" charset="0"/>
                <a:ea typeface="Courier New" pitchFamily="34" charset="-122"/>
                <a:cs typeface="Courier New" pitchFamily="34" charset="-120"/>
              </a:rPr>
              <a:t>gui/ package</a:t>
            </a:r>
            <a:endParaRPr lang="en-US" sz="1500" dirty="0"/>
          </a:p>
        </p:txBody>
      </p:sp>
      <p:sp>
        <p:nvSpPr>
          <p:cNvPr id="39" name="md8l"/>
          <p:cNvSpPr txBox="1"/>
          <p:nvPr/>
        </p:nvSpPr>
        <p:spPr>
          <a:xfrm>
            <a:off x="10323576" y="4791456"/>
            <a:ext cx="1170432" cy="320040"/>
          </a:xfrm>
          <a:prstGeom prst="rect">
            <a:avLst/>
          </a:prstGeom>
          <a:noFill/>
          <a:ln/>
        </p:spPr>
        <p:txBody>
          <a:bodyPr wrap="square" lIns="0" tIns="0" rIns="0" bIns="0" rtlCol="0" anchor="t"/>
          <a:lstStyle/>
          <a:p>
            <a:pPr algn="r" indent="0" marL="0">
              <a:buNone/>
            </a:pPr>
            <a:r>
              <a:rPr lang="en-US" sz="1100" dirty="0">
                <a:solidFill>
                  <a:schemeClr val="bg2"/>
                </a:solidFill>
              </a:rPr>
              <a:t>9 files</a:t>
            </a:r>
            <a:endParaRPr lang="en-US" sz="1100" dirty="0"/>
          </a:p>
        </p:txBody>
      </p:sp>
      <p:sp>
        <p:nvSpPr>
          <p:cNvPr id="40" name="md8d"/>
          <p:cNvSpPr txBox="1"/>
          <p:nvPr/>
        </p:nvSpPr>
        <p:spPr>
          <a:xfrm>
            <a:off x="8193024" y="5212080"/>
            <a:ext cx="3200400" cy="640080"/>
          </a:xfrm>
          <a:prstGeom prst="rect">
            <a:avLst/>
          </a:prstGeom>
          <a:noFill/>
          <a:ln/>
        </p:spPr>
        <p:txBody>
          <a:bodyPr wrap="square" lIns="0" tIns="0" rIns="0" bIns="0" rtlCol="0" anchor="t"/>
          <a:lstStyle/>
          <a:p>
            <a:pPr algn="l" indent="0" marL="0">
              <a:buNone/>
            </a:pPr>
            <a:r>
              <a:rPr lang="en-US" sz="1400" dirty="0">
                <a:solidFill>
                  <a:schemeClr val="bg1"/>
                </a:solidFill>
              </a:rPr>
              <a:t>2,362 lines: window, pages, widgets, tables, workers</a:t>
            </a:r>
            <a:endParaRPr lang="en-US" sz="1400" dirty="0"/>
          </a:p>
        </p:txBody>
      </p:sp>
      <p:sp>
        <p:nvSpPr>
          <p:cNvPr id="41" name="track"/>
          <p:cNvSpPr/>
          <p:nvPr/>
        </p:nvSpPr>
        <p:spPr>
          <a:xfrm>
            <a:off x="3383280" y="6510528"/>
            <a:ext cx="7132320" cy="0"/>
          </a:xfrm>
          <a:prstGeom prst="line">
            <a:avLst/>
          </a:prstGeom>
          <a:noFill/>
          <a:ln w="12700">
            <a:solidFill>
              <a:schemeClr val="bg2">
                <a:alpha val="45000"/>
              </a:schemeClr>
            </a:solidFill>
            <a:prstDash val="dash"/>
          </a:ln>
        </p:spPr>
      </p:sp>
      <p:sp>
        <p:nvSpPr>
          <p:cNvPr id="42" name="progress"/>
          <p:cNvSpPr/>
          <p:nvPr/>
        </p:nvSpPr>
        <p:spPr>
          <a:xfrm>
            <a:off x="3383280" y="6510528"/>
            <a:ext cx="2705363" cy="0"/>
          </a:xfrm>
          <a:prstGeom prst="line">
            <a:avLst/>
          </a:prstGeom>
          <a:noFill/>
          <a:ln w="28575">
            <a:solidFill>
              <a:schemeClr val="accent2"/>
            </a:solidFill>
            <a:prstDash val="solid"/>
          </a:ln>
        </p:spPr>
      </p:sp>
      <p:sp>
        <p:nvSpPr>
          <p:cNvPr id="43" name="wp0"/>
          <p:cNvSpPr/>
          <p:nvPr/>
        </p:nvSpPr>
        <p:spPr>
          <a:xfrm>
            <a:off x="3834016" y="6469380"/>
            <a:ext cx="82296" cy="82296"/>
          </a:xfrm>
          <a:prstGeom prst="ellipse">
            <a:avLst/>
          </a:prstGeom>
          <a:solidFill>
            <a:schemeClr val="accent2"/>
          </a:solidFill>
          <a:ln/>
        </p:spPr>
      </p:sp>
      <p:sp>
        <p:nvSpPr>
          <p:cNvPr id="44" name="wp1"/>
          <p:cNvSpPr/>
          <p:nvPr/>
        </p:nvSpPr>
        <p:spPr>
          <a:xfrm>
            <a:off x="4817784" y="6469380"/>
            <a:ext cx="82296" cy="82296"/>
          </a:xfrm>
          <a:prstGeom prst="ellipse">
            <a:avLst/>
          </a:prstGeom>
          <a:solidFill>
            <a:schemeClr val="accent2"/>
          </a:solidFill>
          <a:ln/>
        </p:spPr>
      </p:sp>
      <p:sp>
        <p:nvSpPr>
          <p:cNvPr id="45" name="wp2"/>
          <p:cNvSpPr/>
          <p:nvPr/>
        </p:nvSpPr>
        <p:spPr>
          <a:xfrm>
            <a:off x="7277205" y="6469380"/>
            <a:ext cx="82296" cy="82296"/>
          </a:xfrm>
          <a:prstGeom prst="ellipse">
            <a:avLst/>
          </a:prstGeom>
          <a:solidFill>
            <a:schemeClr val="bg2">
              <a:alpha val="60000"/>
            </a:schemeClr>
          </a:solidFill>
          <a:ln/>
        </p:spPr>
      </p:sp>
      <p:sp>
        <p:nvSpPr>
          <p:cNvPr id="46" name="wp3"/>
          <p:cNvSpPr/>
          <p:nvPr/>
        </p:nvSpPr>
        <p:spPr>
          <a:xfrm>
            <a:off x="8506915" y="6469380"/>
            <a:ext cx="82296" cy="82296"/>
          </a:xfrm>
          <a:prstGeom prst="ellipse">
            <a:avLst/>
          </a:prstGeom>
          <a:solidFill>
            <a:schemeClr val="bg2">
              <a:alpha val="60000"/>
            </a:schemeClr>
          </a:solidFill>
          <a:ln/>
        </p:spPr>
      </p:sp>
      <p:sp>
        <p:nvSpPr>
          <p:cNvPr id="47" name="wp4"/>
          <p:cNvSpPr/>
          <p:nvPr/>
        </p:nvSpPr>
        <p:spPr>
          <a:xfrm>
            <a:off x="9982568" y="6469380"/>
            <a:ext cx="82296" cy="82296"/>
          </a:xfrm>
          <a:prstGeom prst="ellipse">
            <a:avLst/>
          </a:prstGeom>
          <a:solidFill>
            <a:schemeClr val="bg2">
              <a:alpha val="60000"/>
            </a:schemeClr>
          </a:solidFill>
          <a:ln/>
        </p:spPr>
      </p:sp>
      <p:sp>
        <p:nvSpPr>
          <p:cNvPr id="48" name="progress_ext"/>
          <p:cNvSpPr/>
          <p:nvPr/>
        </p:nvSpPr>
        <p:spPr>
          <a:xfrm>
            <a:off x="6088643" y="6510528"/>
            <a:ext cx="245942" cy="0"/>
          </a:xfrm>
          <a:prstGeom prst="line">
            <a:avLst/>
          </a:prstGeom>
          <a:noFill/>
          <a:ln w="28575">
            <a:solidFill>
              <a:schemeClr val="accent2"/>
            </a:solidFill>
            <a:prstDash val="solid"/>
          </a:ln>
        </p:spPr>
      </p:sp>
      <p:pic>
        <p:nvPicPr>
          <p:cNvPr id="49" name="!!tracker" descr="Progress marker">    </p:cNvPr>
          <p:cNvPicPr>
            <a:picLocks noChangeAspect="1"/>
          </p:cNvPicPr>
          <p:nvPr/>
        </p:nvPicPr>
        <p:blipFill>
          <a:blip r:embed="rId1"/>
          <a:stretch>
            <a:fillRect/>
          </a:stretch>
        </p:blipFill>
        <p:spPr>
          <a:xfrm>
            <a:off x="5905763"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13</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ppt_y</p:attrName>
                                        </p:attrNameLst>
                                      </p:cBhvr>
                                      <p:tavLst>
                                        <p:tav tm="0">
                                          <p:val>
                                            <p:strVal val="#ppt_y+.1"/>
                                          </p:val>
                                        </p:tav>
                                        <p:tav tm="100000">
                                          <p:val>
                                            <p:strVal val="#ppt_y"/>
                                          </p:val>
                                        </p:tav>
                                      </p:tavLst>
                                    </p:anim>
                                    <p:animEffect transition="in" filter="fade">
                                      <p:cBhvr>
                                        <p:cTn id="16" dur="5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ppt_y</p:attrName>
                                        </p:attrNameLst>
                                      </p:cBhvr>
                                      <p:tavLst>
                                        <p:tav tm="0">
                                          <p:val>
                                            <p:strVal val="#ppt_y+.1"/>
                                          </p:val>
                                        </p:tav>
                                        <p:tav tm="100000">
                                          <p:val>
                                            <p:strVal val="#ppt_y"/>
                                          </p:val>
                                        </p:tav>
                                      </p:tavLst>
                                    </p:anim>
                                    <p:animEffect transition="in" filter="fade">
                                      <p:cBhvr>
                                        <p:cTn id="20" dur="5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ppt_y</p:attrName>
                                        </p:attrNameLst>
                                      </p:cBhvr>
                                      <p:tavLst>
                                        <p:tav tm="0">
                                          <p:val>
                                            <p:strVal val="#ppt_y+.1"/>
                                          </p:val>
                                        </p:tav>
                                        <p:tav tm="100000">
                                          <p:val>
                                            <p:strVal val="#ppt_y"/>
                                          </p:val>
                                        </p:tav>
                                      </p:tavLst>
                                    </p:anim>
                                    <p:animEffect transition="in" filter="fade">
                                      <p:cBhvr>
                                        <p:cTn id="24" dur="500"/>
                                        <p:tgtEl>
                                          <p:spTgt spid="7"/>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00" fill="hold"/>
                                        <p:tgtEl>
                                          <p:spTgt spid="8"/>
                                        </p:tgtEl>
                                        <p:attrNameLst>
                                          <p:attrName>ppt_y</p:attrName>
                                        </p:attrNameLst>
                                      </p:cBhvr>
                                      <p:tavLst>
                                        <p:tav tm="0">
                                          <p:val>
                                            <p:strVal val="#ppt_y+.1"/>
                                          </p:val>
                                        </p:tav>
                                        <p:tav tm="100000">
                                          <p:val>
                                            <p:strVal val="#ppt_y"/>
                                          </p:val>
                                        </p:tav>
                                      </p:tavLst>
                                    </p:anim>
                                    <p:animEffect transition="in" filter="fade">
                                      <p:cBhvr>
                                        <p:cTn id="28" dur="500"/>
                                        <p:tgtEl>
                                          <p:spTgt spid="8"/>
                                        </p:tgtEl>
                                      </p:cBhvr>
                                    </p:animEffect>
                                  </p:childTnLst>
                                </p:cTn>
                              </p:par>
                              <p:par>
                                <p:cTn id="29" presetID="42" presetClass="entr" presetSubtype="0" fill="hold" grpId="0" nodeType="withEffect">
                                  <p:stCondLst>
                                    <p:cond delay="36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fill="hold"/>
                                        <p:tgtEl>
                                          <p:spTgt spid="9"/>
                                        </p:tgtEl>
                                        <p:attrNameLst>
                                          <p:attrName>ppt_y</p:attrName>
                                        </p:attrNameLst>
                                      </p:cBhvr>
                                      <p:tavLst>
                                        <p:tav tm="0">
                                          <p:val>
                                            <p:strVal val="#ppt_y+.1"/>
                                          </p:val>
                                        </p:tav>
                                        <p:tav tm="100000">
                                          <p:val>
                                            <p:strVal val="#ppt_y"/>
                                          </p:val>
                                        </p:tav>
                                      </p:tavLst>
                                    </p:anim>
                                    <p:animEffect transition="in" filter="fade">
                                      <p:cBhvr>
                                        <p:cTn id="32" dur="500"/>
                                        <p:tgtEl>
                                          <p:spTgt spid="9"/>
                                        </p:tgtEl>
                                      </p:cBhvr>
                                    </p:animEffect>
                                  </p:childTnLst>
                                </p:cTn>
                              </p:par>
                              <p:par>
                                <p:cTn id="33" presetID="42" presetClass="entr" presetSubtype="0" fill="hold" grpId="0" nodeType="withEffect">
                                  <p:stCondLst>
                                    <p:cond delay="36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fill="hold"/>
                                        <p:tgtEl>
                                          <p:spTgt spid="10"/>
                                        </p:tgtEl>
                                        <p:attrNameLst>
                                          <p:attrName>ppt_y</p:attrName>
                                        </p:attrNameLst>
                                      </p:cBhvr>
                                      <p:tavLst>
                                        <p:tav tm="0">
                                          <p:val>
                                            <p:strVal val="#ppt_y+.1"/>
                                          </p:val>
                                        </p:tav>
                                        <p:tav tm="100000">
                                          <p:val>
                                            <p:strVal val="#ppt_y"/>
                                          </p:val>
                                        </p:tav>
                                      </p:tavLst>
                                    </p:anim>
                                    <p:animEffect transition="in" filter="fade">
                                      <p:cBhvr>
                                        <p:cTn id="36" dur="500"/>
                                        <p:tgtEl>
                                          <p:spTgt spid="10"/>
                                        </p:tgtEl>
                                      </p:cBhvr>
                                    </p:animEffect>
                                  </p:childTnLst>
                                </p:cTn>
                              </p:par>
                              <p:par>
                                <p:cTn id="37" presetID="42" presetClass="entr" presetSubtype="0" fill="hold" grpId="0" nodeType="withEffect">
                                  <p:stCondLst>
                                    <p:cond delay="36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ppt_y</p:attrName>
                                        </p:attrNameLst>
                                      </p:cBhvr>
                                      <p:tavLst>
                                        <p:tav tm="0">
                                          <p:val>
                                            <p:strVal val="#ppt_y+.1"/>
                                          </p:val>
                                        </p:tav>
                                        <p:tav tm="100000">
                                          <p:val>
                                            <p:strVal val="#ppt_y"/>
                                          </p:val>
                                        </p:tav>
                                      </p:tavLst>
                                    </p:anim>
                                    <p:animEffect transition="in" filter="fade">
                                      <p:cBhvr>
                                        <p:cTn id="40" dur="500"/>
                                        <p:tgtEl>
                                          <p:spTgt spid="11"/>
                                        </p:tgtEl>
                                      </p:cBhvr>
                                    </p:animEffect>
                                  </p:childTnLst>
                                </p:cTn>
                              </p:par>
                              <p:par>
                                <p:cTn id="41" presetID="42" presetClass="entr" presetSubtype="0" fill="hold" grpId="0" nodeType="withEffect">
                                  <p:stCondLst>
                                    <p:cond delay="36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00" fill="hold"/>
                                        <p:tgtEl>
                                          <p:spTgt spid="12"/>
                                        </p:tgtEl>
                                        <p:attrNameLst>
                                          <p:attrName>ppt_y</p:attrName>
                                        </p:attrNameLst>
                                      </p:cBhvr>
                                      <p:tavLst>
                                        <p:tav tm="0">
                                          <p:val>
                                            <p:strVal val="#ppt_y+.1"/>
                                          </p:val>
                                        </p:tav>
                                        <p:tav tm="100000">
                                          <p:val>
                                            <p:strVal val="#ppt_y"/>
                                          </p:val>
                                        </p:tav>
                                      </p:tavLst>
                                    </p:anim>
                                    <p:animEffect transition="in" filter="fade">
                                      <p:cBhvr>
                                        <p:cTn id="44" dur="500"/>
                                        <p:tgtEl>
                                          <p:spTgt spid="12"/>
                                        </p:tgtEl>
                                      </p:cBhvr>
                                    </p:animEffect>
                                  </p:childTnLst>
                                </p:cTn>
                              </p:par>
                              <p:par>
                                <p:cTn id="45" presetID="42" presetClass="entr" presetSubtype="0" fill="hold" grpId="0" nodeType="withEffect">
                                  <p:stCondLst>
                                    <p:cond delay="52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00" fill="hold"/>
                                        <p:tgtEl>
                                          <p:spTgt spid="13"/>
                                        </p:tgtEl>
                                        <p:attrNameLst>
                                          <p:attrName>ppt_y</p:attrName>
                                        </p:attrNameLst>
                                      </p:cBhvr>
                                      <p:tavLst>
                                        <p:tav tm="0">
                                          <p:val>
                                            <p:strVal val="#ppt_y+.1"/>
                                          </p:val>
                                        </p:tav>
                                        <p:tav tm="100000">
                                          <p:val>
                                            <p:strVal val="#ppt_y"/>
                                          </p:val>
                                        </p:tav>
                                      </p:tavLst>
                                    </p:anim>
                                    <p:animEffect transition="in" filter="fade">
                                      <p:cBhvr>
                                        <p:cTn id="48" dur="500"/>
                                        <p:tgtEl>
                                          <p:spTgt spid="13"/>
                                        </p:tgtEl>
                                      </p:cBhvr>
                                    </p:animEffect>
                                  </p:childTnLst>
                                </p:cTn>
                              </p:par>
                              <p:par>
                                <p:cTn id="49" presetID="42" presetClass="entr" presetSubtype="0" fill="hold" grpId="0" nodeType="withEffect">
                                  <p:stCondLst>
                                    <p:cond delay="52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00" fill="hold"/>
                                        <p:tgtEl>
                                          <p:spTgt spid="14"/>
                                        </p:tgtEl>
                                        <p:attrNameLst>
                                          <p:attrName>ppt_y</p:attrName>
                                        </p:attrNameLst>
                                      </p:cBhvr>
                                      <p:tavLst>
                                        <p:tav tm="0">
                                          <p:val>
                                            <p:strVal val="#ppt_y+.1"/>
                                          </p:val>
                                        </p:tav>
                                        <p:tav tm="100000">
                                          <p:val>
                                            <p:strVal val="#ppt_y"/>
                                          </p:val>
                                        </p:tav>
                                      </p:tavLst>
                                    </p:anim>
                                    <p:animEffect transition="in" filter="fade">
                                      <p:cBhvr>
                                        <p:cTn id="52" dur="500"/>
                                        <p:tgtEl>
                                          <p:spTgt spid="14"/>
                                        </p:tgtEl>
                                      </p:cBhvr>
                                    </p:animEffect>
                                  </p:childTnLst>
                                </p:cTn>
                              </p:par>
                              <p:par>
                                <p:cTn id="53" presetID="42" presetClass="entr" presetSubtype="0" fill="hold" grpId="0" nodeType="withEffect">
                                  <p:stCondLst>
                                    <p:cond delay="52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00" fill="hold"/>
                                        <p:tgtEl>
                                          <p:spTgt spid="15"/>
                                        </p:tgtEl>
                                        <p:attrNameLst>
                                          <p:attrName>ppt_y</p:attrName>
                                        </p:attrNameLst>
                                      </p:cBhvr>
                                      <p:tavLst>
                                        <p:tav tm="0">
                                          <p:val>
                                            <p:strVal val="#ppt_y+.1"/>
                                          </p:val>
                                        </p:tav>
                                        <p:tav tm="100000">
                                          <p:val>
                                            <p:strVal val="#ppt_y"/>
                                          </p:val>
                                        </p:tav>
                                      </p:tavLst>
                                    </p:anim>
                                    <p:animEffect transition="in" filter="fade">
                                      <p:cBhvr>
                                        <p:cTn id="56" dur="500"/>
                                        <p:tgtEl>
                                          <p:spTgt spid="15"/>
                                        </p:tgtEl>
                                      </p:cBhvr>
                                    </p:animEffect>
                                  </p:childTnLst>
                                </p:cTn>
                              </p:par>
                              <p:par>
                                <p:cTn id="57" presetID="42" presetClass="entr" presetSubtype="0" fill="hold" grpId="0" nodeType="withEffect">
                                  <p:stCondLst>
                                    <p:cond delay="52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00" fill="hold"/>
                                        <p:tgtEl>
                                          <p:spTgt spid="16"/>
                                        </p:tgtEl>
                                        <p:attrNameLst>
                                          <p:attrName>ppt_y</p:attrName>
                                        </p:attrNameLst>
                                      </p:cBhvr>
                                      <p:tavLst>
                                        <p:tav tm="0">
                                          <p:val>
                                            <p:strVal val="#ppt_y+.1"/>
                                          </p:val>
                                        </p:tav>
                                        <p:tav tm="100000">
                                          <p:val>
                                            <p:strVal val="#ppt_y"/>
                                          </p:val>
                                        </p:tav>
                                      </p:tavLst>
                                    </p:anim>
                                    <p:animEffect transition="in" filter="fade">
                                      <p:cBhvr>
                                        <p:cTn id="60" dur="500"/>
                                        <p:tgtEl>
                                          <p:spTgt spid="16"/>
                                        </p:tgtEl>
                                      </p:cBhvr>
                                    </p:animEffect>
                                  </p:childTnLst>
                                </p:cTn>
                              </p:par>
                              <p:par>
                                <p:cTn id="61" presetID="42" presetClass="entr" presetSubtype="0" fill="hold" grpId="0" nodeType="withEffect">
                                  <p:stCondLst>
                                    <p:cond delay="68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00" fill="hold"/>
                                        <p:tgtEl>
                                          <p:spTgt spid="17"/>
                                        </p:tgtEl>
                                        <p:attrNameLst>
                                          <p:attrName>ppt_y</p:attrName>
                                        </p:attrNameLst>
                                      </p:cBhvr>
                                      <p:tavLst>
                                        <p:tav tm="0">
                                          <p:val>
                                            <p:strVal val="#ppt_y+.1"/>
                                          </p:val>
                                        </p:tav>
                                        <p:tav tm="100000">
                                          <p:val>
                                            <p:strVal val="#ppt_y"/>
                                          </p:val>
                                        </p:tav>
                                      </p:tavLst>
                                    </p:anim>
                                    <p:animEffect transition="in" filter="fade">
                                      <p:cBhvr>
                                        <p:cTn id="64" dur="500"/>
                                        <p:tgtEl>
                                          <p:spTgt spid="17"/>
                                        </p:tgtEl>
                                      </p:cBhvr>
                                    </p:animEffect>
                                  </p:childTnLst>
                                </p:cTn>
                              </p:par>
                              <p:par>
                                <p:cTn id="65" presetID="42" presetClass="entr" presetSubtype="0" fill="hold" grpId="0" nodeType="withEffect">
                                  <p:stCondLst>
                                    <p:cond delay="68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00" fill="hold"/>
                                        <p:tgtEl>
                                          <p:spTgt spid="18"/>
                                        </p:tgtEl>
                                        <p:attrNameLst>
                                          <p:attrName>ppt_y</p:attrName>
                                        </p:attrNameLst>
                                      </p:cBhvr>
                                      <p:tavLst>
                                        <p:tav tm="0">
                                          <p:val>
                                            <p:strVal val="#ppt_y+.1"/>
                                          </p:val>
                                        </p:tav>
                                        <p:tav tm="100000">
                                          <p:val>
                                            <p:strVal val="#ppt_y"/>
                                          </p:val>
                                        </p:tav>
                                      </p:tavLst>
                                    </p:anim>
                                    <p:animEffect transition="in" filter="fade">
                                      <p:cBhvr>
                                        <p:cTn id="68" dur="500"/>
                                        <p:tgtEl>
                                          <p:spTgt spid="18"/>
                                        </p:tgtEl>
                                      </p:cBhvr>
                                    </p:animEffect>
                                  </p:childTnLst>
                                </p:cTn>
                              </p:par>
                              <p:par>
                                <p:cTn id="69" presetID="42" presetClass="entr" presetSubtype="0" fill="hold" grpId="0" nodeType="withEffect">
                                  <p:stCondLst>
                                    <p:cond delay="68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00" fill="hold"/>
                                        <p:tgtEl>
                                          <p:spTgt spid="19"/>
                                        </p:tgtEl>
                                        <p:attrNameLst>
                                          <p:attrName>ppt_y</p:attrName>
                                        </p:attrNameLst>
                                      </p:cBhvr>
                                      <p:tavLst>
                                        <p:tav tm="0">
                                          <p:val>
                                            <p:strVal val="#ppt_y+.1"/>
                                          </p:val>
                                        </p:tav>
                                        <p:tav tm="100000">
                                          <p:val>
                                            <p:strVal val="#ppt_y"/>
                                          </p:val>
                                        </p:tav>
                                      </p:tavLst>
                                    </p:anim>
                                    <p:animEffect transition="in" filter="fade">
                                      <p:cBhvr>
                                        <p:cTn id="72" dur="500"/>
                                        <p:tgtEl>
                                          <p:spTgt spid="19"/>
                                        </p:tgtEl>
                                      </p:cBhvr>
                                    </p:animEffect>
                                  </p:childTnLst>
                                </p:cTn>
                              </p:par>
                              <p:par>
                                <p:cTn id="73" presetID="42" presetClass="entr" presetSubtype="0" fill="hold" grpId="0" nodeType="withEffect">
                                  <p:stCondLst>
                                    <p:cond delay="68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00" fill="hold"/>
                                        <p:tgtEl>
                                          <p:spTgt spid="20"/>
                                        </p:tgtEl>
                                        <p:attrNameLst>
                                          <p:attrName>ppt_y</p:attrName>
                                        </p:attrNameLst>
                                      </p:cBhvr>
                                      <p:tavLst>
                                        <p:tav tm="0">
                                          <p:val>
                                            <p:strVal val="#ppt_y+.1"/>
                                          </p:val>
                                        </p:tav>
                                        <p:tav tm="100000">
                                          <p:val>
                                            <p:strVal val="#ppt_y"/>
                                          </p:val>
                                        </p:tav>
                                      </p:tavLst>
                                    </p:anim>
                                    <p:animEffect transition="in" filter="fade">
                                      <p:cBhvr>
                                        <p:cTn id="76" dur="500"/>
                                        <p:tgtEl>
                                          <p:spTgt spid="20"/>
                                        </p:tgtEl>
                                      </p:cBhvr>
                                    </p:animEffect>
                                  </p:childTnLst>
                                </p:cTn>
                              </p:par>
                              <p:par>
                                <p:cTn id="77" presetID="42" presetClass="entr" presetSubtype="0" fill="hold" grpId="0" nodeType="withEffect">
                                  <p:stCondLst>
                                    <p:cond delay="84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00" fill="hold"/>
                                        <p:tgtEl>
                                          <p:spTgt spid="21"/>
                                        </p:tgtEl>
                                        <p:attrNameLst>
                                          <p:attrName>ppt_y</p:attrName>
                                        </p:attrNameLst>
                                      </p:cBhvr>
                                      <p:tavLst>
                                        <p:tav tm="0">
                                          <p:val>
                                            <p:strVal val="#ppt_y+.1"/>
                                          </p:val>
                                        </p:tav>
                                        <p:tav tm="100000">
                                          <p:val>
                                            <p:strVal val="#ppt_y"/>
                                          </p:val>
                                        </p:tav>
                                      </p:tavLst>
                                    </p:anim>
                                    <p:animEffect transition="in" filter="fade">
                                      <p:cBhvr>
                                        <p:cTn id="80" dur="500"/>
                                        <p:tgtEl>
                                          <p:spTgt spid="21"/>
                                        </p:tgtEl>
                                      </p:cBhvr>
                                    </p:animEffect>
                                  </p:childTnLst>
                                </p:cTn>
                              </p:par>
                              <p:par>
                                <p:cTn id="81" presetID="42" presetClass="entr" presetSubtype="0" fill="hold" grpId="0" nodeType="withEffect">
                                  <p:stCondLst>
                                    <p:cond delay="84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00" fill="hold"/>
                                        <p:tgtEl>
                                          <p:spTgt spid="22"/>
                                        </p:tgtEl>
                                        <p:attrNameLst>
                                          <p:attrName>ppt_y</p:attrName>
                                        </p:attrNameLst>
                                      </p:cBhvr>
                                      <p:tavLst>
                                        <p:tav tm="0">
                                          <p:val>
                                            <p:strVal val="#ppt_y+.1"/>
                                          </p:val>
                                        </p:tav>
                                        <p:tav tm="100000">
                                          <p:val>
                                            <p:strVal val="#ppt_y"/>
                                          </p:val>
                                        </p:tav>
                                      </p:tavLst>
                                    </p:anim>
                                    <p:animEffect transition="in" filter="fade">
                                      <p:cBhvr>
                                        <p:cTn id="84" dur="500"/>
                                        <p:tgtEl>
                                          <p:spTgt spid="22"/>
                                        </p:tgtEl>
                                      </p:cBhvr>
                                    </p:animEffect>
                                  </p:childTnLst>
                                </p:cTn>
                              </p:par>
                              <p:par>
                                <p:cTn id="85" presetID="42" presetClass="entr" presetSubtype="0" fill="hold" grpId="0" nodeType="withEffect">
                                  <p:stCondLst>
                                    <p:cond delay="84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00" fill="hold"/>
                                        <p:tgtEl>
                                          <p:spTgt spid="23"/>
                                        </p:tgtEl>
                                        <p:attrNameLst>
                                          <p:attrName>ppt_y</p:attrName>
                                        </p:attrNameLst>
                                      </p:cBhvr>
                                      <p:tavLst>
                                        <p:tav tm="0">
                                          <p:val>
                                            <p:strVal val="#ppt_y+.1"/>
                                          </p:val>
                                        </p:tav>
                                        <p:tav tm="100000">
                                          <p:val>
                                            <p:strVal val="#ppt_y"/>
                                          </p:val>
                                        </p:tav>
                                      </p:tavLst>
                                    </p:anim>
                                    <p:animEffect transition="in" filter="fade">
                                      <p:cBhvr>
                                        <p:cTn id="88" dur="500"/>
                                        <p:tgtEl>
                                          <p:spTgt spid="23"/>
                                        </p:tgtEl>
                                      </p:cBhvr>
                                    </p:animEffect>
                                  </p:childTnLst>
                                </p:cTn>
                              </p:par>
                              <p:par>
                                <p:cTn id="89" presetID="42" presetClass="entr" presetSubtype="0" fill="hold" grpId="0" nodeType="withEffect">
                                  <p:stCondLst>
                                    <p:cond delay="84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00" fill="hold"/>
                                        <p:tgtEl>
                                          <p:spTgt spid="24"/>
                                        </p:tgtEl>
                                        <p:attrNameLst>
                                          <p:attrName>ppt_y</p:attrName>
                                        </p:attrNameLst>
                                      </p:cBhvr>
                                      <p:tavLst>
                                        <p:tav tm="0">
                                          <p:val>
                                            <p:strVal val="#ppt_y+.1"/>
                                          </p:val>
                                        </p:tav>
                                        <p:tav tm="100000">
                                          <p:val>
                                            <p:strVal val="#ppt_y"/>
                                          </p:val>
                                        </p:tav>
                                      </p:tavLst>
                                    </p:anim>
                                    <p:animEffect transition="in" filter="fade">
                                      <p:cBhvr>
                                        <p:cTn id="92" dur="500"/>
                                        <p:tgtEl>
                                          <p:spTgt spid="24"/>
                                        </p:tgtEl>
                                      </p:cBhvr>
                                    </p:animEffect>
                                  </p:childTnLst>
                                </p:cTn>
                              </p:par>
                              <p:par>
                                <p:cTn id="93" presetID="42" presetClass="entr" presetSubtype="0" fill="hold" grpId="0" nodeType="withEffect">
                                  <p:stCondLst>
                                    <p:cond delay="10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00" fill="hold"/>
                                        <p:tgtEl>
                                          <p:spTgt spid="25"/>
                                        </p:tgtEl>
                                        <p:attrNameLst>
                                          <p:attrName>ppt_y</p:attrName>
                                        </p:attrNameLst>
                                      </p:cBhvr>
                                      <p:tavLst>
                                        <p:tav tm="0">
                                          <p:val>
                                            <p:strVal val="#ppt_y+.1"/>
                                          </p:val>
                                        </p:tav>
                                        <p:tav tm="100000">
                                          <p:val>
                                            <p:strVal val="#ppt_y"/>
                                          </p:val>
                                        </p:tav>
                                      </p:tavLst>
                                    </p:anim>
                                    <p:animEffect transition="in" filter="fade">
                                      <p:cBhvr>
                                        <p:cTn id="96" dur="500"/>
                                        <p:tgtEl>
                                          <p:spTgt spid="25"/>
                                        </p:tgtEl>
                                      </p:cBhvr>
                                    </p:animEffect>
                                  </p:childTnLst>
                                </p:cTn>
                              </p:par>
                              <p:par>
                                <p:cTn id="97" presetID="42" presetClass="entr" presetSubtype="0" fill="hold" grpId="0" nodeType="withEffect">
                                  <p:stCondLst>
                                    <p:cond delay="10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00" fill="hold"/>
                                        <p:tgtEl>
                                          <p:spTgt spid="26"/>
                                        </p:tgtEl>
                                        <p:attrNameLst>
                                          <p:attrName>ppt_y</p:attrName>
                                        </p:attrNameLst>
                                      </p:cBhvr>
                                      <p:tavLst>
                                        <p:tav tm="0">
                                          <p:val>
                                            <p:strVal val="#ppt_y+.1"/>
                                          </p:val>
                                        </p:tav>
                                        <p:tav tm="100000">
                                          <p:val>
                                            <p:strVal val="#ppt_y"/>
                                          </p:val>
                                        </p:tav>
                                      </p:tavLst>
                                    </p:anim>
                                    <p:animEffect transition="in" filter="fade">
                                      <p:cBhvr>
                                        <p:cTn id="100" dur="500"/>
                                        <p:tgtEl>
                                          <p:spTgt spid="26"/>
                                        </p:tgtEl>
                                      </p:cBhvr>
                                    </p:animEffect>
                                  </p:childTnLst>
                                </p:cTn>
                              </p:par>
                              <p:par>
                                <p:cTn id="101" presetID="42" presetClass="entr" presetSubtype="0" fill="hold" grpId="0" nodeType="withEffect">
                                  <p:stCondLst>
                                    <p:cond delay="10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00" fill="hold"/>
                                        <p:tgtEl>
                                          <p:spTgt spid="27"/>
                                        </p:tgtEl>
                                        <p:attrNameLst>
                                          <p:attrName>ppt_y</p:attrName>
                                        </p:attrNameLst>
                                      </p:cBhvr>
                                      <p:tavLst>
                                        <p:tav tm="0">
                                          <p:val>
                                            <p:strVal val="#ppt_y+.1"/>
                                          </p:val>
                                        </p:tav>
                                        <p:tav tm="100000">
                                          <p:val>
                                            <p:strVal val="#ppt_y"/>
                                          </p:val>
                                        </p:tav>
                                      </p:tavLst>
                                    </p:anim>
                                    <p:animEffect transition="in" filter="fade">
                                      <p:cBhvr>
                                        <p:cTn id="104" dur="500"/>
                                        <p:tgtEl>
                                          <p:spTgt spid="27"/>
                                        </p:tgtEl>
                                      </p:cBhvr>
                                    </p:animEffect>
                                  </p:childTnLst>
                                </p:cTn>
                              </p:par>
                              <p:par>
                                <p:cTn id="105" presetID="42" presetClass="entr" presetSubtype="0" fill="hold" grpId="0" nodeType="withEffect">
                                  <p:stCondLst>
                                    <p:cond delay="10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00" fill="hold"/>
                                        <p:tgtEl>
                                          <p:spTgt spid="28"/>
                                        </p:tgtEl>
                                        <p:attrNameLst>
                                          <p:attrName>ppt_y</p:attrName>
                                        </p:attrNameLst>
                                      </p:cBhvr>
                                      <p:tavLst>
                                        <p:tav tm="0">
                                          <p:val>
                                            <p:strVal val="#ppt_y+.1"/>
                                          </p:val>
                                        </p:tav>
                                        <p:tav tm="100000">
                                          <p:val>
                                            <p:strVal val="#ppt_y"/>
                                          </p:val>
                                        </p:tav>
                                      </p:tavLst>
                                    </p:anim>
                                    <p:animEffect transition="in" filter="fade">
                                      <p:cBhvr>
                                        <p:cTn id="108" dur="500"/>
                                        <p:tgtEl>
                                          <p:spTgt spid="28"/>
                                        </p:tgtEl>
                                      </p:cBhvr>
                                    </p:animEffect>
                                  </p:childTnLst>
                                </p:cTn>
                              </p:par>
                              <p:par>
                                <p:cTn id="109" presetID="42" presetClass="entr" presetSubtype="0" fill="hold" grpId="0" nodeType="withEffect">
                                  <p:stCondLst>
                                    <p:cond delay="116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00" fill="hold"/>
                                        <p:tgtEl>
                                          <p:spTgt spid="29"/>
                                        </p:tgtEl>
                                        <p:attrNameLst>
                                          <p:attrName>ppt_y</p:attrName>
                                        </p:attrNameLst>
                                      </p:cBhvr>
                                      <p:tavLst>
                                        <p:tav tm="0">
                                          <p:val>
                                            <p:strVal val="#ppt_y+.1"/>
                                          </p:val>
                                        </p:tav>
                                        <p:tav tm="100000">
                                          <p:val>
                                            <p:strVal val="#ppt_y"/>
                                          </p:val>
                                        </p:tav>
                                      </p:tavLst>
                                    </p:anim>
                                    <p:animEffect transition="in" filter="fade">
                                      <p:cBhvr>
                                        <p:cTn id="112" dur="500"/>
                                        <p:tgtEl>
                                          <p:spTgt spid="29"/>
                                        </p:tgtEl>
                                      </p:cBhvr>
                                    </p:animEffect>
                                  </p:childTnLst>
                                </p:cTn>
                              </p:par>
                              <p:par>
                                <p:cTn id="113" presetID="42" presetClass="entr" presetSubtype="0" fill="hold" grpId="0" nodeType="withEffect">
                                  <p:stCondLst>
                                    <p:cond delay="116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00" fill="hold"/>
                                        <p:tgtEl>
                                          <p:spTgt spid="30"/>
                                        </p:tgtEl>
                                        <p:attrNameLst>
                                          <p:attrName>ppt_y</p:attrName>
                                        </p:attrNameLst>
                                      </p:cBhvr>
                                      <p:tavLst>
                                        <p:tav tm="0">
                                          <p:val>
                                            <p:strVal val="#ppt_y+.1"/>
                                          </p:val>
                                        </p:tav>
                                        <p:tav tm="100000">
                                          <p:val>
                                            <p:strVal val="#ppt_y"/>
                                          </p:val>
                                        </p:tav>
                                      </p:tavLst>
                                    </p:anim>
                                    <p:animEffect transition="in" filter="fade">
                                      <p:cBhvr>
                                        <p:cTn id="116" dur="500"/>
                                        <p:tgtEl>
                                          <p:spTgt spid="30"/>
                                        </p:tgtEl>
                                      </p:cBhvr>
                                    </p:animEffect>
                                  </p:childTnLst>
                                </p:cTn>
                              </p:par>
                              <p:par>
                                <p:cTn id="117" presetID="42" presetClass="entr" presetSubtype="0" fill="hold" grpId="0" nodeType="withEffect">
                                  <p:stCondLst>
                                    <p:cond delay="116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00" fill="hold"/>
                                        <p:tgtEl>
                                          <p:spTgt spid="31"/>
                                        </p:tgtEl>
                                        <p:attrNameLst>
                                          <p:attrName>ppt_y</p:attrName>
                                        </p:attrNameLst>
                                      </p:cBhvr>
                                      <p:tavLst>
                                        <p:tav tm="0">
                                          <p:val>
                                            <p:strVal val="#ppt_y+.1"/>
                                          </p:val>
                                        </p:tav>
                                        <p:tav tm="100000">
                                          <p:val>
                                            <p:strVal val="#ppt_y"/>
                                          </p:val>
                                        </p:tav>
                                      </p:tavLst>
                                    </p:anim>
                                    <p:animEffect transition="in" filter="fade">
                                      <p:cBhvr>
                                        <p:cTn id="120" dur="500"/>
                                        <p:tgtEl>
                                          <p:spTgt spid="31"/>
                                        </p:tgtEl>
                                      </p:cBhvr>
                                    </p:animEffect>
                                  </p:childTnLst>
                                </p:cTn>
                              </p:par>
                              <p:par>
                                <p:cTn id="121" presetID="42" presetClass="entr" presetSubtype="0" fill="hold" grpId="0" nodeType="withEffect">
                                  <p:stCondLst>
                                    <p:cond delay="116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00" fill="hold"/>
                                        <p:tgtEl>
                                          <p:spTgt spid="32"/>
                                        </p:tgtEl>
                                        <p:attrNameLst>
                                          <p:attrName>ppt_y</p:attrName>
                                        </p:attrNameLst>
                                      </p:cBhvr>
                                      <p:tavLst>
                                        <p:tav tm="0">
                                          <p:val>
                                            <p:strVal val="#ppt_y+.1"/>
                                          </p:val>
                                        </p:tav>
                                        <p:tav tm="100000">
                                          <p:val>
                                            <p:strVal val="#ppt_y"/>
                                          </p:val>
                                        </p:tav>
                                      </p:tavLst>
                                    </p:anim>
                                    <p:animEffect transition="in" filter="fade">
                                      <p:cBhvr>
                                        <p:cTn id="124" dur="500"/>
                                        <p:tgtEl>
                                          <p:spTgt spid="32"/>
                                        </p:tgtEl>
                                      </p:cBhvr>
                                    </p:animEffect>
                                  </p:childTnLst>
                                </p:cTn>
                              </p:par>
                              <p:par>
                                <p:cTn id="125" presetID="42" presetClass="entr" presetSubtype="0" fill="hold" grpId="0" nodeType="withEffect">
                                  <p:stCondLst>
                                    <p:cond delay="132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00" fill="hold"/>
                                        <p:tgtEl>
                                          <p:spTgt spid="33"/>
                                        </p:tgtEl>
                                        <p:attrNameLst>
                                          <p:attrName>ppt_y</p:attrName>
                                        </p:attrNameLst>
                                      </p:cBhvr>
                                      <p:tavLst>
                                        <p:tav tm="0">
                                          <p:val>
                                            <p:strVal val="#ppt_y+.1"/>
                                          </p:val>
                                        </p:tav>
                                        <p:tav tm="100000">
                                          <p:val>
                                            <p:strVal val="#ppt_y"/>
                                          </p:val>
                                        </p:tav>
                                      </p:tavLst>
                                    </p:anim>
                                    <p:animEffect transition="in" filter="fade">
                                      <p:cBhvr>
                                        <p:cTn id="128" dur="500"/>
                                        <p:tgtEl>
                                          <p:spTgt spid="33"/>
                                        </p:tgtEl>
                                      </p:cBhvr>
                                    </p:animEffect>
                                  </p:childTnLst>
                                </p:cTn>
                              </p:par>
                              <p:par>
                                <p:cTn id="129" presetID="42" presetClass="entr" presetSubtype="0" fill="hold" grpId="0" nodeType="withEffect">
                                  <p:stCondLst>
                                    <p:cond delay="132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500" fill="hold"/>
                                        <p:tgtEl>
                                          <p:spTgt spid="34"/>
                                        </p:tgtEl>
                                        <p:attrNameLst>
                                          <p:attrName>ppt_y</p:attrName>
                                        </p:attrNameLst>
                                      </p:cBhvr>
                                      <p:tavLst>
                                        <p:tav tm="0">
                                          <p:val>
                                            <p:strVal val="#ppt_y+.1"/>
                                          </p:val>
                                        </p:tav>
                                        <p:tav tm="100000">
                                          <p:val>
                                            <p:strVal val="#ppt_y"/>
                                          </p:val>
                                        </p:tav>
                                      </p:tavLst>
                                    </p:anim>
                                    <p:animEffect transition="in" filter="fade">
                                      <p:cBhvr>
                                        <p:cTn id="132" dur="500"/>
                                        <p:tgtEl>
                                          <p:spTgt spid="34"/>
                                        </p:tgtEl>
                                      </p:cBhvr>
                                    </p:animEffect>
                                  </p:childTnLst>
                                </p:cTn>
                              </p:par>
                              <p:par>
                                <p:cTn id="133" presetID="42" presetClass="entr" presetSubtype="0" fill="hold" grpId="0" nodeType="withEffect">
                                  <p:stCondLst>
                                    <p:cond delay="1320"/>
                                  </p:stCondLst>
                                  <p:childTnLst>
                                    <p:set>
                                      <p:cBhvr>
                                        <p:cTn id="134" dur="1" fill="hold">
                                          <p:stCondLst>
                                            <p:cond delay="0"/>
                                          </p:stCondLst>
                                        </p:cTn>
                                        <p:tgtEl>
                                          <p:spTgt spid="35"/>
                                        </p:tgtEl>
                                        <p:attrNameLst>
                                          <p:attrName>style.visibility</p:attrName>
                                        </p:attrNameLst>
                                      </p:cBhvr>
                                      <p:to>
                                        <p:strVal val="visible"/>
                                      </p:to>
                                    </p:set>
                                    <p:anim calcmode="lin" valueType="num">
                                      <p:cBhvr additive="base">
                                        <p:cTn id="135" dur="500" fill="hold"/>
                                        <p:tgtEl>
                                          <p:spTgt spid="35"/>
                                        </p:tgtEl>
                                        <p:attrNameLst>
                                          <p:attrName>ppt_y</p:attrName>
                                        </p:attrNameLst>
                                      </p:cBhvr>
                                      <p:tavLst>
                                        <p:tav tm="0">
                                          <p:val>
                                            <p:strVal val="#ppt_y+.1"/>
                                          </p:val>
                                        </p:tav>
                                        <p:tav tm="100000">
                                          <p:val>
                                            <p:strVal val="#ppt_y"/>
                                          </p:val>
                                        </p:tav>
                                      </p:tavLst>
                                    </p:anim>
                                    <p:animEffect transition="in" filter="fade">
                                      <p:cBhvr>
                                        <p:cTn id="136" dur="500"/>
                                        <p:tgtEl>
                                          <p:spTgt spid="35"/>
                                        </p:tgtEl>
                                      </p:cBhvr>
                                    </p:animEffect>
                                  </p:childTnLst>
                                </p:cTn>
                              </p:par>
                              <p:par>
                                <p:cTn id="137" presetID="42" presetClass="entr" presetSubtype="0" fill="hold" grpId="0" nodeType="withEffect">
                                  <p:stCondLst>
                                    <p:cond delay="1320"/>
                                  </p:stCondLst>
                                  <p:childTnLst>
                                    <p:set>
                                      <p:cBhvr>
                                        <p:cTn id="138" dur="1" fill="hold">
                                          <p:stCondLst>
                                            <p:cond delay="0"/>
                                          </p:stCondLst>
                                        </p:cTn>
                                        <p:tgtEl>
                                          <p:spTgt spid="36"/>
                                        </p:tgtEl>
                                        <p:attrNameLst>
                                          <p:attrName>style.visibility</p:attrName>
                                        </p:attrNameLst>
                                      </p:cBhvr>
                                      <p:to>
                                        <p:strVal val="visible"/>
                                      </p:to>
                                    </p:set>
                                    <p:anim calcmode="lin" valueType="num">
                                      <p:cBhvr additive="base">
                                        <p:cTn id="139" dur="500" fill="hold"/>
                                        <p:tgtEl>
                                          <p:spTgt spid="36"/>
                                        </p:tgtEl>
                                        <p:attrNameLst>
                                          <p:attrName>ppt_y</p:attrName>
                                        </p:attrNameLst>
                                      </p:cBhvr>
                                      <p:tavLst>
                                        <p:tav tm="0">
                                          <p:val>
                                            <p:strVal val="#ppt_y+.1"/>
                                          </p:val>
                                        </p:tav>
                                        <p:tav tm="100000">
                                          <p:val>
                                            <p:strVal val="#ppt_y"/>
                                          </p:val>
                                        </p:tav>
                                      </p:tavLst>
                                    </p:anim>
                                    <p:animEffect transition="in" filter="fade">
                                      <p:cBhvr>
                                        <p:cTn id="140" dur="500"/>
                                        <p:tgtEl>
                                          <p:spTgt spid="36"/>
                                        </p:tgtEl>
                                      </p:cBhvr>
                                    </p:animEffect>
                                  </p:childTnLst>
                                </p:cTn>
                              </p:par>
                              <p:par>
                                <p:cTn id="141" presetID="42" presetClass="entr" presetSubtype="0" fill="hold" grpId="0" nodeType="withEffect">
                                  <p:stCondLst>
                                    <p:cond delay="1480"/>
                                  </p:stCondLst>
                                  <p:childTnLst>
                                    <p:set>
                                      <p:cBhvr>
                                        <p:cTn id="142" dur="1" fill="hold">
                                          <p:stCondLst>
                                            <p:cond delay="0"/>
                                          </p:stCondLst>
                                        </p:cTn>
                                        <p:tgtEl>
                                          <p:spTgt spid="37"/>
                                        </p:tgtEl>
                                        <p:attrNameLst>
                                          <p:attrName>style.visibility</p:attrName>
                                        </p:attrNameLst>
                                      </p:cBhvr>
                                      <p:to>
                                        <p:strVal val="visible"/>
                                      </p:to>
                                    </p:set>
                                    <p:anim calcmode="lin" valueType="num">
                                      <p:cBhvr additive="base">
                                        <p:cTn id="143" dur="500" fill="hold"/>
                                        <p:tgtEl>
                                          <p:spTgt spid="37"/>
                                        </p:tgtEl>
                                        <p:attrNameLst>
                                          <p:attrName>ppt_y</p:attrName>
                                        </p:attrNameLst>
                                      </p:cBhvr>
                                      <p:tavLst>
                                        <p:tav tm="0">
                                          <p:val>
                                            <p:strVal val="#ppt_y+.1"/>
                                          </p:val>
                                        </p:tav>
                                        <p:tav tm="100000">
                                          <p:val>
                                            <p:strVal val="#ppt_y"/>
                                          </p:val>
                                        </p:tav>
                                      </p:tavLst>
                                    </p:anim>
                                    <p:animEffect transition="in" filter="fade">
                                      <p:cBhvr>
                                        <p:cTn id="144" dur="500"/>
                                        <p:tgtEl>
                                          <p:spTgt spid="37"/>
                                        </p:tgtEl>
                                      </p:cBhvr>
                                    </p:animEffect>
                                  </p:childTnLst>
                                </p:cTn>
                              </p:par>
                              <p:par>
                                <p:cTn id="145" presetID="42" presetClass="entr" presetSubtype="0" fill="hold" grpId="0" nodeType="withEffect">
                                  <p:stCondLst>
                                    <p:cond delay="1480"/>
                                  </p:stCondLst>
                                  <p:childTnLst>
                                    <p:set>
                                      <p:cBhvr>
                                        <p:cTn id="146" dur="1" fill="hold">
                                          <p:stCondLst>
                                            <p:cond delay="0"/>
                                          </p:stCondLst>
                                        </p:cTn>
                                        <p:tgtEl>
                                          <p:spTgt spid="38"/>
                                        </p:tgtEl>
                                        <p:attrNameLst>
                                          <p:attrName>style.visibility</p:attrName>
                                        </p:attrNameLst>
                                      </p:cBhvr>
                                      <p:to>
                                        <p:strVal val="visible"/>
                                      </p:to>
                                    </p:set>
                                    <p:anim calcmode="lin" valueType="num">
                                      <p:cBhvr additive="base">
                                        <p:cTn id="147" dur="500" fill="hold"/>
                                        <p:tgtEl>
                                          <p:spTgt spid="38"/>
                                        </p:tgtEl>
                                        <p:attrNameLst>
                                          <p:attrName>ppt_y</p:attrName>
                                        </p:attrNameLst>
                                      </p:cBhvr>
                                      <p:tavLst>
                                        <p:tav tm="0">
                                          <p:val>
                                            <p:strVal val="#ppt_y+.1"/>
                                          </p:val>
                                        </p:tav>
                                        <p:tav tm="100000">
                                          <p:val>
                                            <p:strVal val="#ppt_y"/>
                                          </p:val>
                                        </p:tav>
                                      </p:tavLst>
                                    </p:anim>
                                    <p:animEffect transition="in" filter="fade">
                                      <p:cBhvr>
                                        <p:cTn id="148" dur="500"/>
                                        <p:tgtEl>
                                          <p:spTgt spid="38"/>
                                        </p:tgtEl>
                                      </p:cBhvr>
                                    </p:animEffect>
                                  </p:childTnLst>
                                </p:cTn>
                              </p:par>
                              <p:par>
                                <p:cTn id="149" presetID="42" presetClass="entr" presetSubtype="0" fill="hold" grpId="0" nodeType="withEffect">
                                  <p:stCondLst>
                                    <p:cond delay="1480"/>
                                  </p:stCondLst>
                                  <p:childTnLst>
                                    <p:set>
                                      <p:cBhvr>
                                        <p:cTn id="150" dur="1" fill="hold">
                                          <p:stCondLst>
                                            <p:cond delay="0"/>
                                          </p:stCondLst>
                                        </p:cTn>
                                        <p:tgtEl>
                                          <p:spTgt spid="39"/>
                                        </p:tgtEl>
                                        <p:attrNameLst>
                                          <p:attrName>style.visibility</p:attrName>
                                        </p:attrNameLst>
                                      </p:cBhvr>
                                      <p:to>
                                        <p:strVal val="visible"/>
                                      </p:to>
                                    </p:set>
                                    <p:anim calcmode="lin" valueType="num">
                                      <p:cBhvr additive="base">
                                        <p:cTn id="151" dur="500" fill="hold"/>
                                        <p:tgtEl>
                                          <p:spTgt spid="39"/>
                                        </p:tgtEl>
                                        <p:attrNameLst>
                                          <p:attrName>ppt_y</p:attrName>
                                        </p:attrNameLst>
                                      </p:cBhvr>
                                      <p:tavLst>
                                        <p:tav tm="0">
                                          <p:val>
                                            <p:strVal val="#ppt_y+.1"/>
                                          </p:val>
                                        </p:tav>
                                        <p:tav tm="100000">
                                          <p:val>
                                            <p:strVal val="#ppt_y"/>
                                          </p:val>
                                        </p:tav>
                                      </p:tavLst>
                                    </p:anim>
                                    <p:animEffect transition="in" filter="fade">
                                      <p:cBhvr>
                                        <p:cTn id="152" dur="500"/>
                                        <p:tgtEl>
                                          <p:spTgt spid="39"/>
                                        </p:tgtEl>
                                      </p:cBhvr>
                                    </p:animEffect>
                                  </p:childTnLst>
                                </p:cTn>
                              </p:par>
                              <p:par>
                                <p:cTn id="153" presetID="42" presetClass="entr" presetSubtype="0" fill="hold" grpId="0" nodeType="withEffect">
                                  <p:stCondLst>
                                    <p:cond delay="1480"/>
                                  </p:stCondLst>
                                  <p:childTnLst>
                                    <p:set>
                                      <p:cBhvr>
                                        <p:cTn id="154" dur="1" fill="hold">
                                          <p:stCondLst>
                                            <p:cond delay="0"/>
                                          </p:stCondLst>
                                        </p:cTn>
                                        <p:tgtEl>
                                          <p:spTgt spid="40"/>
                                        </p:tgtEl>
                                        <p:attrNameLst>
                                          <p:attrName>style.visibility</p:attrName>
                                        </p:attrNameLst>
                                      </p:cBhvr>
                                      <p:to>
                                        <p:strVal val="visible"/>
                                      </p:to>
                                    </p:set>
                                    <p:anim calcmode="lin" valueType="num">
                                      <p:cBhvr additive="base">
                                        <p:cTn id="155" dur="500" fill="hold"/>
                                        <p:tgtEl>
                                          <p:spTgt spid="40"/>
                                        </p:tgtEl>
                                        <p:attrNameLst>
                                          <p:attrName>ppt_y</p:attrName>
                                        </p:attrNameLst>
                                      </p:cBhvr>
                                      <p:tavLst>
                                        <p:tav tm="0">
                                          <p:val>
                                            <p:strVal val="#ppt_y+.1"/>
                                          </p:val>
                                        </p:tav>
                                        <p:tav tm="100000">
                                          <p:val>
                                            <p:strVal val="#ppt_y"/>
                                          </p:val>
                                        </p:tav>
                                      </p:tavLst>
                                    </p:anim>
                                    <p:animEffect transition="in" filter="fade">
                                      <p:cBhvr>
                                        <p:cTn id="156" dur="500"/>
                                        <p:tgtEl>
                                          <p:spTgt spid="40"/>
                                        </p:tgtEl>
                                      </p:cBhvr>
                                    </p:animEffect>
                                  </p:childTnLst>
                                </p:cTn>
                              </p:par>
                              <p:par>
                                <p:cTn id="157" presetID="22" presetClass="entr" presetSubtype="8" fill="hold" grpId="0" nodeType="withEffect">
                                  <p:stCondLst>
                                    <p:cond delay="600"/>
                                  </p:stCondLst>
                                  <p:childTnLst>
                                    <p:set>
                                      <p:cBhvr>
                                        <p:cTn id="158" dur="1" fill="hold">
                                          <p:stCondLst>
                                            <p:cond delay="0"/>
                                          </p:stCondLst>
                                        </p:cTn>
                                        <p:tgtEl>
                                          <p:spTgt spid="48"/>
                                        </p:tgtEl>
                                        <p:attrNameLst>
                                          <p:attrName>style.visibility</p:attrName>
                                        </p:attrNameLst>
                                      </p:cBhvr>
                                      <p:to>
                                        <p:strVal val="visible"/>
                                      </p:to>
                                    </p:set>
                                    <p:animEffect transition="in" filter="wipe(left)">
                                      <p:cBhvr>
                                        <p:cTn id="159" dur="1100"/>
                                        <p:tgtEl>
                                          <p:spTgt spid="48"/>
                                        </p:tgtEl>
                                      </p:cBhvr>
                                    </p:animEffect>
                                  </p:childTnLst>
                                </p:cTn>
                              </p:par>
                              <p:par>
                                <p:cTn id="161" presetID="0" presetClass="path" presetSubtype="0" fill="hold" accel="30000" decel="30000" nodeType="withEffect">
                                  <p:stCondLst>
                                    <p:cond delay="600"/>
                                  </p:stCondLst>
                                  <p:childTnLst>
                                    <p:animMotion origin="layout" path="M 0 0 L 0.02017 0 E" pathEditMode="relative" rAng="0" ptsTypes="AA">
                                      <p:cBhvr>
                                        <p:cTn id="160" dur="1100" fill="hold"/>
                                        <p:tgtEl>
                                          <p:spTgt spid="49"/>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Database design</a:t>
            </a:r>
            <a:endParaRPr lang="en-US" sz="3600" dirty="0"/>
          </a:p>
        </p:txBody>
      </p:sp>
      <p:sp>
        <p:nvSpPr>
          <p:cNvPr id="5" name="tbl1"/>
          <p:cNvSpPr/>
          <p:nvPr/>
        </p:nvSpPr>
        <p:spPr>
          <a:xfrm>
            <a:off x="548640" y="1691640"/>
            <a:ext cx="5760720" cy="4389120"/>
          </a:xfrm>
          <a:prstGeom prst="roundRect">
            <a:avLst>
              <a:gd name="adj" fmla="val 2500"/>
            </a:avLst>
          </a:prstGeom>
          <a:solidFill>
            <a:schemeClr val="bg1">
              <a:alpha val="9000"/>
            </a:schemeClr>
          </a:solidFill>
          <a:ln w="9525">
            <a:solidFill>
              <a:schemeClr val="accent1">
                <a:alpha val="60000"/>
              </a:schemeClr>
            </a:solidFill>
            <a:prstDash val="solid"/>
          </a:ln>
        </p:spPr>
      </p:sp>
      <p:sp>
        <p:nvSpPr>
          <p:cNvPr id="6" name="tbl1h"/>
          <p:cNvSpPr txBox="1"/>
          <p:nvPr/>
        </p:nvSpPr>
        <p:spPr>
          <a:xfrm>
            <a:off x="777240" y="1810512"/>
            <a:ext cx="5303520" cy="365760"/>
          </a:xfrm>
          <a:prstGeom prst="rect">
            <a:avLst/>
          </a:prstGeom>
          <a:noFill/>
          <a:ln/>
        </p:spPr>
        <p:txBody>
          <a:bodyPr wrap="square" lIns="0" tIns="0" rIns="0" bIns="0" rtlCol="0" anchor="t"/>
          <a:lstStyle/>
          <a:p>
            <a:pPr algn="l" indent="0" marL="0">
              <a:buNone/>
            </a:pPr>
            <a:r>
              <a:rPr lang="en-US" sz="2000" b="1" dirty="0">
                <a:solidFill>
                  <a:schemeClr val="accent1"/>
                </a:solidFill>
                <a:latin typeface="Courier New" pitchFamily="34" charset="0"/>
                <a:ea typeface="Courier New" pitchFamily="34" charset="-122"/>
                <a:cs typeface="Courier New" pitchFamily="34" charset="-120"/>
              </a:rPr>
              <a:t>flights</a:t>
            </a:r>
            <a:pPr algn="l" indent="0" marL="0">
              <a:buNone/>
            </a:pPr>
            <a:r>
              <a:rPr lang="en-US" sz="1400" dirty="0">
                <a:solidFill>
                  <a:schemeClr val="bg2"/>
                </a:solidFill>
              </a:rPr>
              <a:t>   42 columns · 133 rows</a:t>
            </a:r>
            <a:endParaRPr lang="en-US" sz="1400" dirty="0"/>
          </a:p>
        </p:txBody>
      </p:sp>
      <p:sp>
        <p:nvSpPr>
          <p:cNvPr id="7" name="g0"/>
          <p:cNvSpPr txBox="1"/>
          <p:nvPr/>
        </p:nvSpPr>
        <p:spPr>
          <a:xfrm>
            <a:off x="777240" y="2240280"/>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IDENTITY</a:t>
            </a:r>
            <a:endParaRPr lang="en-US" sz="1100" dirty="0"/>
          </a:p>
        </p:txBody>
      </p:sp>
      <p:sp>
        <p:nvSpPr>
          <p:cNvPr id="8" name="gt0"/>
          <p:cNvSpPr txBox="1"/>
          <p:nvPr/>
        </p:nvSpPr>
        <p:spPr>
          <a:xfrm>
            <a:off x="2240280" y="2212848"/>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flight_date, flight_status, flight_iata, flight_icao, flight_number</a:t>
            </a:r>
            <a:endParaRPr lang="en-US" sz="1250" dirty="0"/>
          </a:p>
        </p:txBody>
      </p:sp>
      <p:sp>
        <p:nvSpPr>
          <p:cNvPr id="9" name="g1"/>
          <p:cNvSpPr txBox="1"/>
          <p:nvPr/>
        </p:nvSpPr>
        <p:spPr>
          <a:xfrm>
            <a:off x="777240" y="2752344"/>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AIRLINE</a:t>
            </a:r>
            <a:endParaRPr lang="en-US" sz="1100" dirty="0"/>
          </a:p>
        </p:txBody>
      </p:sp>
      <p:sp>
        <p:nvSpPr>
          <p:cNvPr id="10" name="gt1"/>
          <p:cNvSpPr txBox="1"/>
          <p:nvPr/>
        </p:nvSpPr>
        <p:spPr>
          <a:xfrm>
            <a:off x="2240280" y="2724912"/>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airline_name, airline_iata, airline_icao</a:t>
            </a:r>
            <a:endParaRPr lang="en-US" sz="1250" dirty="0"/>
          </a:p>
        </p:txBody>
      </p:sp>
      <p:sp>
        <p:nvSpPr>
          <p:cNvPr id="11" name="g2"/>
          <p:cNvSpPr txBox="1"/>
          <p:nvPr/>
        </p:nvSpPr>
        <p:spPr>
          <a:xfrm>
            <a:off x="777240" y="3264408"/>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DEPARTURE</a:t>
            </a:r>
            <a:endParaRPr lang="en-US" sz="1100" dirty="0"/>
          </a:p>
        </p:txBody>
      </p:sp>
      <p:sp>
        <p:nvSpPr>
          <p:cNvPr id="12" name="gt2"/>
          <p:cNvSpPr txBox="1"/>
          <p:nvPr/>
        </p:nvSpPr>
        <p:spPr>
          <a:xfrm>
            <a:off x="2240280" y="3236976"/>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dep_airport, dep_iata, terminal, gate, scheduled, estimated, actual, dep_delay_min</a:t>
            </a:r>
            <a:endParaRPr lang="en-US" sz="1250" dirty="0"/>
          </a:p>
        </p:txBody>
      </p:sp>
      <p:sp>
        <p:nvSpPr>
          <p:cNvPr id="13" name="g3"/>
          <p:cNvSpPr txBox="1"/>
          <p:nvPr/>
        </p:nvSpPr>
        <p:spPr>
          <a:xfrm>
            <a:off x="777240" y="3776472"/>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ARRIVAL</a:t>
            </a:r>
            <a:endParaRPr lang="en-US" sz="1100" dirty="0"/>
          </a:p>
        </p:txBody>
      </p:sp>
      <p:sp>
        <p:nvSpPr>
          <p:cNvPr id="14" name="gt3"/>
          <p:cNvSpPr txBox="1"/>
          <p:nvPr/>
        </p:nvSpPr>
        <p:spPr>
          <a:xfrm>
            <a:off x="2240280" y="3749040"/>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arr_airport, arr_iata, terminal, gate, baggage, times, arr_delay_min</a:t>
            </a:r>
            <a:endParaRPr lang="en-US" sz="1250" dirty="0"/>
          </a:p>
        </p:txBody>
      </p:sp>
      <p:sp>
        <p:nvSpPr>
          <p:cNvPr id="15" name="g4"/>
          <p:cNvSpPr txBox="1"/>
          <p:nvPr/>
        </p:nvSpPr>
        <p:spPr>
          <a:xfrm>
            <a:off x="777240" y="4288536"/>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2"/>
                </a:solidFill>
              </a:rPr>
              <a:t>AIRCRAFT, LIVE</a:t>
            </a:r>
            <a:endParaRPr lang="en-US" sz="1100" dirty="0"/>
          </a:p>
        </p:txBody>
      </p:sp>
      <p:sp>
        <p:nvSpPr>
          <p:cNvPr id="16" name="gt4"/>
          <p:cNvSpPr txBox="1"/>
          <p:nvPr/>
        </p:nvSpPr>
        <p:spPr>
          <a:xfrm>
            <a:off x="2240280" y="4261104"/>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registration, icao24, is_codeshared, live_latitude, longitude, altitude, speed</a:t>
            </a:r>
            <a:endParaRPr lang="en-US" sz="1250" dirty="0"/>
          </a:p>
        </p:txBody>
      </p:sp>
      <p:sp>
        <p:nvSpPr>
          <p:cNvPr id="17" name="g5"/>
          <p:cNvSpPr txBox="1"/>
          <p:nvPr/>
        </p:nvSpPr>
        <p:spPr>
          <a:xfrm>
            <a:off x="777240" y="4800600"/>
            <a:ext cx="1417320" cy="457200"/>
          </a:xfrm>
          <a:prstGeom prst="rect">
            <a:avLst/>
          </a:prstGeom>
          <a:noFill/>
          <a:ln/>
        </p:spPr>
        <p:txBody>
          <a:bodyPr wrap="square" lIns="0" tIns="0" rIns="0" bIns="0" rtlCol="0" anchor="t"/>
          <a:lstStyle/>
          <a:p>
            <a:pPr algn="l" indent="0" marL="0">
              <a:buNone/>
            </a:pPr>
            <a:r>
              <a:rPr lang="en-US" sz="1100" b="1" spc="100" kern="0" dirty="0">
                <a:solidFill>
                  <a:schemeClr val="accent3"/>
                </a:solidFill>
              </a:rPr>
              <a:t>DERIVED</a:t>
            </a:r>
            <a:endParaRPr lang="en-US" sz="1100" dirty="0"/>
          </a:p>
        </p:txBody>
      </p:sp>
      <p:sp>
        <p:nvSpPr>
          <p:cNvPr id="18" name="gt5"/>
          <p:cNvSpPr txBox="1"/>
          <p:nvPr/>
        </p:nvSpPr>
        <p:spPr>
          <a:xfrm>
            <a:off x="2240280" y="4773168"/>
            <a:ext cx="3931920" cy="502920"/>
          </a:xfrm>
          <a:prstGeom prst="rect">
            <a:avLst/>
          </a:prstGeom>
          <a:noFill/>
          <a:ln/>
        </p:spPr>
        <p:txBody>
          <a:bodyPr wrap="square" lIns="0" tIns="0" rIns="0" bIns="0" rtlCol="0" anchor="t"/>
          <a:lstStyle/>
          <a:p>
            <a:pPr algn="l" indent="0" marL="0">
              <a:buNone/>
            </a:pPr>
            <a:r>
              <a:rPr lang="en-US" sz="1250" dirty="0">
                <a:solidFill>
                  <a:schemeClr val="bg1"/>
                </a:solidFill>
              </a:rPr>
              <a:t>route, is_delayed, max_delay_min, retrieved_at</a:t>
            </a:r>
            <a:endParaRPr lang="en-US" sz="1250" dirty="0"/>
          </a:p>
        </p:txBody>
      </p:sp>
      <p:sp>
        <p:nvSpPr>
          <p:cNvPr id="19" name="cons"/>
          <p:cNvSpPr txBox="1"/>
          <p:nvPr/>
        </p:nvSpPr>
        <p:spPr>
          <a:xfrm>
            <a:off x="777240" y="5394960"/>
            <a:ext cx="5394960" cy="548640"/>
          </a:xfrm>
          <a:prstGeom prst="rect">
            <a:avLst/>
          </a:prstGeom>
          <a:noFill/>
          <a:ln/>
        </p:spPr>
        <p:txBody>
          <a:bodyPr wrap="square" lIns="0" tIns="0" rIns="0" bIns="0" rtlCol="0" anchor="t"/>
          <a:lstStyle/>
          <a:p>
            <a:pPr algn="l" indent="0" marL="0">
              <a:buNone/>
            </a:pPr>
            <a:r>
              <a:rPr lang="en-US" sz="1100" dirty="0">
                <a:solidFill>
                  <a:schemeClr val="accent3"/>
                </a:solidFill>
                <a:latin typeface="Courier New" pitchFamily="34" charset="0"/>
                <a:ea typeface="Courier New" pitchFamily="34" charset="-122"/>
                <a:cs typeface="Courier New" pitchFamily="34" charset="-120"/>
              </a:rPr>
              <a:t>UNIQUE(flight_date, flight_iata, dep_iata, arr_iata)</a:t>
            </a:r>
            <a:endParaRPr lang="en-US" sz="1200" dirty="0"/>
          </a:p>
          <a:p>
            <a:pPr algn="l" indent="0" marL="0">
              <a:buNone/>
            </a:pPr>
            <a:r>
              <a:rPr lang="en-US" sz="1100" dirty="0">
                <a:solidFill>
                  <a:schemeClr val="bg2"/>
                </a:solidFill>
                <a:latin typeface="Courier New" pitchFamily="34" charset="0"/>
                <a:ea typeface="Courier New" pitchFamily="34" charset="-122"/>
                <a:cs typeface="Courier New" pitchFamily="34" charset="-120"/>
              </a:rPr>
              <a:t>ON CONFLICT REPLACE  ·  indexes: status, airline, dep, arr</a:t>
            </a:r>
            <a:endParaRPr lang="en-US" sz="1200" dirty="0"/>
          </a:p>
        </p:txBody>
      </p:sp>
      <p:sp>
        <p:nvSpPr>
          <p:cNvPr id="20" name="tbl2"/>
          <p:cNvSpPr/>
          <p:nvPr/>
        </p:nvSpPr>
        <p:spPr>
          <a:xfrm>
            <a:off x="6583680" y="1691640"/>
            <a:ext cx="5056632" cy="2103120"/>
          </a:xfrm>
          <a:prstGeom prst="roundRect">
            <a:avLst>
              <a:gd name="adj" fmla="val 5217"/>
            </a:avLst>
          </a:prstGeom>
          <a:solidFill>
            <a:schemeClr val="bg1">
              <a:alpha val="9000"/>
            </a:schemeClr>
          </a:solidFill>
          <a:ln w="9525">
            <a:solidFill>
              <a:schemeClr val="accent2">
                <a:alpha val="60000"/>
              </a:schemeClr>
            </a:solidFill>
            <a:prstDash val="solid"/>
          </a:ln>
        </p:spPr>
      </p:sp>
      <p:sp>
        <p:nvSpPr>
          <p:cNvPr id="21" name="tbl2h"/>
          <p:cNvSpPr txBox="1"/>
          <p:nvPr/>
        </p:nvSpPr>
        <p:spPr>
          <a:xfrm>
            <a:off x="6812280" y="1810512"/>
            <a:ext cx="4572000" cy="365760"/>
          </a:xfrm>
          <a:prstGeom prst="rect">
            <a:avLst/>
          </a:prstGeom>
          <a:noFill/>
          <a:ln/>
        </p:spPr>
        <p:txBody>
          <a:bodyPr wrap="square" lIns="0" tIns="0" rIns="0" bIns="0" rtlCol="0" anchor="t"/>
          <a:lstStyle/>
          <a:p>
            <a:pPr algn="l" indent="0" marL="0">
              <a:buNone/>
            </a:pPr>
            <a:r>
              <a:rPr lang="en-US" sz="2000" b="1" dirty="0">
                <a:solidFill>
                  <a:schemeClr val="accent2"/>
                </a:solidFill>
                <a:latin typeface="Courier New" pitchFamily="34" charset="0"/>
                <a:ea typeface="Courier New" pitchFamily="34" charset="-122"/>
                <a:cs typeface="Courier New" pitchFamily="34" charset="-120"/>
              </a:rPr>
              <a:t>airports</a:t>
            </a:r>
            <a:pPr algn="l" indent="0" marL="0">
              <a:buNone/>
            </a:pPr>
            <a:r>
              <a:rPr lang="en-US" sz="1400" dirty="0">
                <a:solidFill>
                  <a:schemeClr val="bg2"/>
                </a:solidFill>
              </a:rPr>
              <a:t>   76 rows</a:t>
            </a:r>
            <a:endParaRPr lang="en-US" sz="1400" dirty="0"/>
          </a:p>
        </p:txBody>
      </p:sp>
      <p:sp>
        <p:nvSpPr>
          <p:cNvPr id="22" name="tbl2c"/>
          <p:cNvSpPr txBox="1"/>
          <p:nvPr/>
        </p:nvSpPr>
        <p:spPr>
          <a:xfrm>
            <a:off x="6812280" y="2286000"/>
            <a:ext cx="4617720" cy="594360"/>
          </a:xfrm>
          <a:prstGeom prst="rect">
            <a:avLst/>
          </a:prstGeom>
          <a:noFill/>
          <a:ln/>
        </p:spPr>
        <p:txBody>
          <a:bodyPr wrap="square" lIns="0" tIns="0" rIns="0" bIns="0" rtlCol="0" anchor="t"/>
          <a:lstStyle/>
          <a:p>
            <a:pPr algn="l" indent="0" marL="0">
              <a:buNone/>
            </a:pPr>
            <a:r>
              <a:rPr lang="en-US" sz="1400" dirty="0">
                <a:solidFill>
                  <a:schemeClr val="bg1"/>
                </a:solidFill>
              </a:rPr>
              <a:t>iata (UNIQUE), icao, airport_name, timezone, departures, arrivals, sightings</a:t>
            </a:r>
            <a:endParaRPr lang="en-US" sz="1400" dirty="0"/>
          </a:p>
        </p:txBody>
      </p:sp>
      <p:sp>
        <p:nvSpPr>
          <p:cNvPr id="23" name="tbl2n"/>
          <p:cNvSpPr txBox="1"/>
          <p:nvPr/>
        </p:nvSpPr>
        <p:spPr>
          <a:xfrm>
            <a:off x="6812280" y="3017520"/>
            <a:ext cx="4617720" cy="640080"/>
          </a:xfrm>
          <a:prstGeom prst="rect">
            <a:avLst/>
          </a:prstGeom>
          <a:noFill/>
          <a:ln/>
        </p:spPr>
        <p:txBody>
          <a:bodyPr wrap="square" lIns="0" tIns="0" rIns="0" bIns="0" rtlCol="0" anchor="t"/>
          <a:lstStyle/>
          <a:p>
            <a:pPr algn="l" indent="0" marL="0">
              <a:buNone/>
            </a:pPr>
            <a:r>
              <a:rPr lang="en-US" sz="1400" i="1" dirty="0">
                <a:solidFill>
                  <a:schemeClr val="bg2"/>
                </a:solidFill>
              </a:rPr>
              <a:t>Derived from the airport blocks embedded in each flight record.</a:t>
            </a:r>
            <a:endParaRPr lang="en-US" sz="1400" dirty="0"/>
          </a:p>
        </p:txBody>
      </p:sp>
      <p:sp>
        <p:nvSpPr>
          <p:cNvPr id="24" name="tbl3"/>
          <p:cNvSpPr/>
          <p:nvPr/>
        </p:nvSpPr>
        <p:spPr>
          <a:xfrm>
            <a:off x="6583680" y="3977640"/>
            <a:ext cx="5056632" cy="2103120"/>
          </a:xfrm>
          <a:prstGeom prst="roundRect">
            <a:avLst>
              <a:gd name="adj" fmla="val 5217"/>
            </a:avLst>
          </a:prstGeom>
          <a:solidFill>
            <a:schemeClr val="bg1">
              <a:alpha val="9000"/>
            </a:schemeClr>
          </a:solidFill>
          <a:ln w="9525">
            <a:solidFill>
              <a:schemeClr val="accent3">
                <a:alpha val="60000"/>
              </a:schemeClr>
            </a:solidFill>
            <a:prstDash val="solid"/>
          </a:ln>
        </p:spPr>
      </p:sp>
      <p:sp>
        <p:nvSpPr>
          <p:cNvPr id="25" name="tbl3h"/>
          <p:cNvSpPr txBox="1"/>
          <p:nvPr/>
        </p:nvSpPr>
        <p:spPr>
          <a:xfrm>
            <a:off x="6812280" y="4096512"/>
            <a:ext cx="4572000" cy="365760"/>
          </a:xfrm>
          <a:prstGeom prst="rect">
            <a:avLst/>
          </a:prstGeom>
          <a:noFill/>
          <a:ln/>
        </p:spPr>
        <p:txBody>
          <a:bodyPr wrap="square" lIns="0" tIns="0" rIns="0" bIns="0" rtlCol="0" anchor="t"/>
          <a:lstStyle/>
          <a:p>
            <a:pPr algn="l" indent="0" marL="0">
              <a:buNone/>
            </a:pPr>
            <a:r>
              <a:rPr lang="en-US" sz="2000" b="1" dirty="0">
                <a:solidFill>
                  <a:schemeClr val="accent3"/>
                </a:solidFill>
                <a:latin typeface="Courier New" pitchFamily="34" charset="0"/>
                <a:ea typeface="Courier New" pitchFamily="34" charset="-122"/>
                <a:cs typeface="Courier New" pitchFamily="34" charset="-120"/>
              </a:rPr>
              <a:t>refresh_log</a:t>
            </a:r>
            <a:pPr algn="l" indent="0" marL="0">
              <a:buNone/>
            </a:pPr>
            <a:r>
              <a:rPr lang="en-US" sz="1400" dirty="0">
                <a:solidFill>
                  <a:schemeClr val="bg2"/>
                </a:solidFill>
              </a:rPr>
              <a:t>   4 rows</a:t>
            </a:r>
            <a:endParaRPr lang="en-US" sz="1400" dirty="0"/>
          </a:p>
        </p:txBody>
      </p:sp>
      <p:sp>
        <p:nvSpPr>
          <p:cNvPr id="26" name="tbl3c"/>
          <p:cNvSpPr txBox="1"/>
          <p:nvPr/>
        </p:nvSpPr>
        <p:spPr>
          <a:xfrm>
            <a:off x="6812280" y="4572000"/>
            <a:ext cx="4617720" cy="594360"/>
          </a:xfrm>
          <a:prstGeom prst="rect">
            <a:avLst/>
          </a:prstGeom>
          <a:noFill/>
          <a:ln/>
        </p:spPr>
        <p:txBody>
          <a:bodyPr wrap="square" lIns="0" tIns="0" rIns="0" bIns="0" rtlCol="0" anchor="t"/>
          <a:lstStyle/>
          <a:p>
            <a:pPr algn="l" indent="0" marL="0">
              <a:buNone/>
            </a:pPr>
            <a:r>
              <a:rPr lang="en-US" sz="1400" dirty="0">
                <a:solidFill>
                  <a:schemeClr val="bg1"/>
                </a:solidFill>
              </a:rPr>
              <a:t>refreshed_at, source, records_fetched, records_valid, records_stored, status, message</a:t>
            </a:r>
            <a:endParaRPr lang="en-US" sz="1400" dirty="0"/>
          </a:p>
        </p:txBody>
      </p:sp>
      <p:sp>
        <p:nvSpPr>
          <p:cNvPr id="27" name="tbl3n"/>
          <p:cNvSpPr txBox="1"/>
          <p:nvPr/>
        </p:nvSpPr>
        <p:spPr>
          <a:xfrm>
            <a:off x="6812280" y="5303520"/>
            <a:ext cx="4617720" cy="640080"/>
          </a:xfrm>
          <a:prstGeom prst="rect">
            <a:avLst/>
          </a:prstGeom>
          <a:noFill/>
          <a:ln/>
        </p:spPr>
        <p:txBody>
          <a:bodyPr wrap="square" lIns="0" tIns="0" rIns="0" bIns="0" rtlCol="0" anchor="t"/>
          <a:lstStyle/>
          <a:p>
            <a:pPr algn="l" indent="0" marL="0">
              <a:buNone/>
            </a:pPr>
            <a:r>
              <a:rPr lang="en-US" sz="1400" i="1" dirty="0">
                <a:solidFill>
                  <a:schemeClr val="bg2"/>
                </a:solidFill>
              </a:rPr>
              <a:t>One audit row per retrieval attempt, including failures.</a:t>
            </a:r>
            <a:endParaRPr lang="en-US" sz="1400" dirty="0"/>
          </a:p>
        </p:txBody>
      </p:sp>
      <p:sp>
        <p:nvSpPr>
          <p:cNvPr id="28" name="track"/>
          <p:cNvSpPr/>
          <p:nvPr/>
        </p:nvSpPr>
        <p:spPr>
          <a:xfrm>
            <a:off x="3383280" y="6510528"/>
            <a:ext cx="7132320" cy="0"/>
          </a:xfrm>
          <a:prstGeom prst="line">
            <a:avLst/>
          </a:prstGeom>
          <a:noFill/>
          <a:ln w="12700">
            <a:solidFill>
              <a:schemeClr val="bg2">
                <a:alpha val="45000"/>
              </a:schemeClr>
            </a:solidFill>
            <a:prstDash val="dash"/>
          </a:ln>
        </p:spPr>
      </p:sp>
      <p:sp>
        <p:nvSpPr>
          <p:cNvPr id="29" name="progress"/>
          <p:cNvSpPr/>
          <p:nvPr/>
        </p:nvSpPr>
        <p:spPr>
          <a:xfrm>
            <a:off x="3383280" y="6510528"/>
            <a:ext cx="2951305" cy="0"/>
          </a:xfrm>
          <a:prstGeom prst="line">
            <a:avLst/>
          </a:prstGeom>
          <a:noFill/>
          <a:ln w="28575">
            <a:solidFill>
              <a:schemeClr val="accent2"/>
            </a:solidFill>
            <a:prstDash val="solid"/>
          </a:ln>
        </p:spPr>
      </p:sp>
      <p:sp>
        <p:nvSpPr>
          <p:cNvPr id="30" name="wp0"/>
          <p:cNvSpPr/>
          <p:nvPr/>
        </p:nvSpPr>
        <p:spPr>
          <a:xfrm>
            <a:off x="3834016" y="6469380"/>
            <a:ext cx="82296" cy="82296"/>
          </a:xfrm>
          <a:prstGeom prst="ellipse">
            <a:avLst/>
          </a:prstGeom>
          <a:solidFill>
            <a:schemeClr val="accent2"/>
          </a:solidFill>
          <a:ln/>
        </p:spPr>
      </p:sp>
      <p:sp>
        <p:nvSpPr>
          <p:cNvPr id="31" name="wp1"/>
          <p:cNvSpPr/>
          <p:nvPr/>
        </p:nvSpPr>
        <p:spPr>
          <a:xfrm>
            <a:off x="4817784" y="6469380"/>
            <a:ext cx="82296" cy="82296"/>
          </a:xfrm>
          <a:prstGeom prst="ellipse">
            <a:avLst/>
          </a:prstGeom>
          <a:solidFill>
            <a:schemeClr val="accent2"/>
          </a:solidFill>
          <a:ln/>
        </p:spPr>
      </p:sp>
      <p:sp>
        <p:nvSpPr>
          <p:cNvPr id="32" name="wp2"/>
          <p:cNvSpPr/>
          <p:nvPr/>
        </p:nvSpPr>
        <p:spPr>
          <a:xfrm>
            <a:off x="7277205" y="6469380"/>
            <a:ext cx="82296" cy="82296"/>
          </a:xfrm>
          <a:prstGeom prst="ellipse">
            <a:avLst/>
          </a:prstGeom>
          <a:solidFill>
            <a:schemeClr val="bg2">
              <a:alpha val="60000"/>
            </a:schemeClr>
          </a:solidFill>
          <a:ln/>
        </p:spPr>
      </p:sp>
      <p:sp>
        <p:nvSpPr>
          <p:cNvPr id="33" name="wp3"/>
          <p:cNvSpPr/>
          <p:nvPr/>
        </p:nvSpPr>
        <p:spPr>
          <a:xfrm>
            <a:off x="8506915" y="6469380"/>
            <a:ext cx="82296" cy="82296"/>
          </a:xfrm>
          <a:prstGeom prst="ellipse">
            <a:avLst/>
          </a:prstGeom>
          <a:solidFill>
            <a:schemeClr val="bg2">
              <a:alpha val="60000"/>
            </a:schemeClr>
          </a:solidFill>
          <a:ln/>
        </p:spPr>
      </p:sp>
      <p:sp>
        <p:nvSpPr>
          <p:cNvPr id="34" name="wp4"/>
          <p:cNvSpPr/>
          <p:nvPr/>
        </p:nvSpPr>
        <p:spPr>
          <a:xfrm>
            <a:off x="9982568" y="6469380"/>
            <a:ext cx="82296" cy="82296"/>
          </a:xfrm>
          <a:prstGeom prst="ellipse">
            <a:avLst/>
          </a:prstGeom>
          <a:solidFill>
            <a:schemeClr val="bg2">
              <a:alpha val="60000"/>
            </a:schemeClr>
          </a:solidFill>
          <a:ln/>
        </p:spPr>
      </p:sp>
      <p:sp>
        <p:nvSpPr>
          <p:cNvPr id="35" name="progress_ext"/>
          <p:cNvSpPr/>
          <p:nvPr/>
        </p:nvSpPr>
        <p:spPr>
          <a:xfrm>
            <a:off x="6334585" y="6510528"/>
            <a:ext cx="245942" cy="0"/>
          </a:xfrm>
          <a:prstGeom prst="line">
            <a:avLst/>
          </a:prstGeom>
          <a:noFill/>
          <a:ln w="28575">
            <a:solidFill>
              <a:schemeClr val="accent2"/>
            </a:solidFill>
            <a:prstDash val="solid"/>
          </a:ln>
        </p:spPr>
      </p:sp>
      <p:pic>
        <p:nvPicPr>
          <p:cNvPr id="36" name="!!tracker" descr="Progress marker">    </p:cNvPr>
          <p:cNvPicPr>
            <a:picLocks noChangeAspect="1"/>
          </p:cNvPicPr>
          <p:nvPr/>
        </p:nvPicPr>
        <p:blipFill>
          <a:blip r:embed="rId1"/>
          <a:stretch>
            <a:fillRect/>
          </a:stretch>
        </p:blipFill>
        <p:spPr>
          <a:xfrm>
            <a:off x="6151705"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10"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700"/>
                                        <p:tgtEl>
                                          <p:spTgt spid="5"/>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700"/>
                                        <p:tgtEl>
                                          <p:spTgt spid="6"/>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700"/>
                                        <p:tgtEl>
                                          <p:spTgt spid="7"/>
                                        </p:tgtEl>
                                      </p:cBhvr>
                                    </p:animEffect>
                                  </p:childTnLst>
                                </p:cTn>
                              </p:par>
                              <p:par>
                                <p:cTn id="22" presetID="10" presetClass="entr" presetSubtype="0"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700"/>
                                        <p:tgtEl>
                                          <p:spTgt spid="8"/>
                                        </p:tgtEl>
                                      </p:cBhvr>
                                    </p:animEffect>
                                  </p:childTnLst>
                                </p:cTn>
                              </p:par>
                              <p:par>
                                <p:cTn id="25" presetID="10" presetClass="entr" presetSubtype="0" fill="hold" grpId="0"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700"/>
                                        <p:tgtEl>
                                          <p:spTgt spid="9"/>
                                        </p:tgtEl>
                                      </p:cBhvr>
                                    </p:animEffect>
                                  </p:childTnLst>
                                </p:cTn>
                              </p:par>
                              <p:par>
                                <p:cTn id="28" presetID="10" presetClass="entr" presetSubtype="0" fill="hold" grpId="0" nodeType="withEffect">
                                  <p:stCondLst>
                                    <p:cond delay="20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700"/>
                                        <p:tgtEl>
                                          <p:spTgt spid="10"/>
                                        </p:tgtEl>
                                      </p:cBhvr>
                                    </p:animEffect>
                                  </p:childTnLst>
                                </p:cTn>
                              </p:par>
                              <p:par>
                                <p:cTn id="31" presetID="10" presetClass="entr" presetSubtype="0" fill="hold" grpId="0" nodeType="withEffect">
                                  <p:stCondLst>
                                    <p:cond delay="20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700"/>
                                        <p:tgtEl>
                                          <p:spTgt spid="11"/>
                                        </p:tgtEl>
                                      </p:cBhvr>
                                    </p:animEffect>
                                  </p:childTnLst>
                                </p:cTn>
                              </p:par>
                              <p:par>
                                <p:cTn id="34" presetID="10" presetClass="entr" presetSubtype="0" fill="hold" grpId="0" nodeType="withEffect">
                                  <p:stCondLst>
                                    <p:cond delay="20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700"/>
                                        <p:tgtEl>
                                          <p:spTgt spid="12"/>
                                        </p:tgtEl>
                                      </p:cBhvr>
                                    </p:animEffect>
                                  </p:childTnLst>
                                </p:cTn>
                              </p:par>
                              <p:par>
                                <p:cTn id="37" presetID="10" presetClass="entr" presetSubtype="0" fill="hold" grpId="0" nodeType="withEffect">
                                  <p:stCondLst>
                                    <p:cond delay="20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700"/>
                                        <p:tgtEl>
                                          <p:spTgt spid="13"/>
                                        </p:tgtEl>
                                      </p:cBhvr>
                                    </p:animEffect>
                                  </p:childTnLst>
                                </p:cTn>
                              </p:par>
                              <p:par>
                                <p:cTn id="40" presetID="10" presetClass="entr" presetSubtype="0" fill="hold" grpId="0" nodeType="withEffect">
                                  <p:stCondLst>
                                    <p:cond delay="200"/>
                                  </p:stCondLst>
                                  <p:childTnLst>
                                    <p:set>
                                      <p:cBhvr>
                                        <p:cTn id="41" dur="1" fill="hold">
                                          <p:stCondLst>
                                            <p:cond delay="0"/>
                                          </p:stCondLst>
                                        </p:cTn>
                                        <p:tgtEl>
                                          <p:spTgt spid="14"/>
                                        </p:tgtEl>
                                        <p:attrNameLst>
                                          <p:attrName>style.visibility</p:attrName>
                                        </p:attrNameLst>
                                      </p:cBhvr>
                                      <p:to>
                                        <p:strVal val="visible"/>
                                      </p:to>
                                    </p:set>
                                    <p:animEffect transition="in" filter="fade">
                                      <p:cBhvr>
                                        <p:cTn id="42" dur="700"/>
                                        <p:tgtEl>
                                          <p:spTgt spid="14"/>
                                        </p:tgtEl>
                                      </p:cBhvr>
                                    </p:animEffect>
                                  </p:childTnLst>
                                </p:cTn>
                              </p:par>
                              <p:par>
                                <p:cTn id="43" presetID="10" presetClass="entr" presetSubtype="0" fill="hold" grpId="0" nodeType="withEffect">
                                  <p:stCondLst>
                                    <p:cond delay="200"/>
                                  </p:stCondLst>
                                  <p:childTnLst>
                                    <p:set>
                                      <p:cBhvr>
                                        <p:cTn id="44" dur="1" fill="hold">
                                          <p:stCondLst>
                                            <p:cond delay="0"/>
                                          </p:stCondLst>
                                        </p:cTn>
                                        <p:tgtEl>
                                          <p:spTgt spid="15"/>
                                        </p:tgtEl>
                                        <p:attrNameLst>
                                          <p:attrName>style.visibility</p:attrName>
                                        </p:attrNameLst>
                                      </p:cBhvr>
                                      <p:to>
                                        <p:strVal val="visible"/>
                                      </p:to>
                                    </p:set>
                                    <p:animEffect transition="in" filter="fade">
                                      <p:cBhvr>
                                        <p:cTn id="45" dur="700"/>
                                        <p:tgtEl>
                                          <p:spTgt spid="15"/>
                                        </p:tgtEl>
                                      </p:cBhvr>
                                    </p:animEffect>
                                  </p:childTnLst>
                                </p:cTn>
                              </p:par>
                              <p:par>
                                <p:cTn id="46" presetID="10" presetClass="entr" presetSubtype="0" fill="hold" grpId="0" nodeType="withEffect">
                                  <p:stCondLst>
                                    <p:cond delay="200"/>
                                  </p:stCondLst>
                                  <p:childTnLst>
                                    <p:set>
                                      <p:cBhvr>
                                        <p:cTn id="47" dur="1" fill="hold">
                                          <p:stCondLst>
                                            <p:cond delay="0"/>
                                          </p:stCondLst>
                                        </p:cTn>
                                        <p:tgtEl>
                                          <p:spTgt spid="16"/>
                                        </p:tgtEl>
                                        <p:attrNameLst>
                                          <p:attrName>style.visibility</p:attrName>
                                        </p:attrNameLst>
                                      </p:cBhvr>
                                      <p:to>
                                        <p:strVal val="visible"/>
                                      </p:to>
                                    </p:set>
                                    <p:animEffect transition="in" filter="fade">
                                      <p:cBhvr>
                                        <p:cTn id="48" dur="700"/>
                                        <p:tgtEl>
                                          <p:spTgt spid="16"/>
                                        </p:tgtEl>
                                      </p:cBhvr>
                                    </p:animEffect>
                                  </p:childTnLst>
                                </p:cTn>
                              </p:par>
                              <p:par>
                                <p:cTn id="49" presetID="10" presetClass="entr" presetSubtype="0" fill="hold" grpId="0" nodeType="withEffect">
                                  <p:stCondLst>
                                    <p:cond delay="200"/>
                                  </p:stCondLst>
                                  <p:childTnLst>
                                    <p:set>
                                      <p:cBhvr>
                                        <p:cTn id="50" dur="1" fill="hold">
                                          <p:stCondLst>
                                            <p:cond delay="0"/>
                                          </p:stCondLst>
                                        </p:cTn>
                                        <p:tgtEl>
                                          <p:spTgt spid="17"/>
                                        </p:tgtEl>
                                        <p:attrNameLst>
                                          <p:attrName>style.visibility</p:attrName>
                                        </p:attrNameLst>
                                      </p:cBhvr>
                                      <p:to>
                                        <p:strVal val="visible"/>
                                      </p:to>
                                    </p:set>
                                    <p:animEffect transition="in" filter="fade">
                                      <p:cBhvr>
                                        <p:cTn id="51" dur="700"/>
                                        <p:tgtEl>
                                          <p:spTgt spid="17"/>
                                        </p:tgtEl>
                                      </p:cBhvr>
                                    </p:animEffect>
                                  </p:childTnLst>
                                </p:cTn>
                              </p:par>
                              <p:par>
                                <p:cTn id="52" presetID="10" presetClass="entr" presetSubtype="0" fill="hold" grpId="0" nodeType="withEffect">
                                  <p:stCondLst>
                                    <p:cond delay="20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700"/>
                                        <p:tgtEl>
                                          <p:spTgt spid="18"/>
                                        </p:tgtEl>
                                      </p:cBhvr>
                                    </p:animEffect>
                                  </p:childTnLst>
                                </p:cTn>
                              </p:par>
                              <p:par>
                                <p:cTn id="55" presetID="10" presetClass="entr" presetSubtype="0" fill="hold" grpId="0" nodeType="withEffect">
                                  <p:stCondLst>
                                    <p:cond delay="200"/>
                                  </p:stCondLst>
                                  <p:childTnLst>
                                    <p:set>
                                      <p:cBhvr>
                                        <p:cTn id="56" dur="1" fill="hold">
                                          <p:stCondLst>
                                            <p:cond delay="0"/>
                                          </p:stCondLst>
                                        </p:cTn>
                                        <p:tgtEl>
                                          <p:spTgt spid="19"/>
                                        </p:tgtEl>
                                        <p:attrNameLst>
                                          <p:attrName>style.visibility</p:attrName>
                                        </p:attrNameLst>
                                      </p:cBhvr>
                                      <p:to>
                                        <p:strVal val="visible"/>
                                      </p:to>
                                    </p:set>
                                    <p:animEffect transition="in" filter="fade">
                                      <p:cBhvr>
                                        <p:cTn id="57" dur="700"/>
                                        <p:tgtEl>
                                          <p:spTgt spid="19"/>
                                        </p:tgtEl>
                                      </p:cBhvr>
                                    </p:animEffect>
                                  </p:childTnLst>
                                </p:cTn>
                              </p:par>
                            </p:childTnLst>
                          </p:cTn>
                        </p:par>
                      </p:childTnLst>
                    </p:cTn>
                  </p:par>
                  <p:par>
                    <p:cTn id="58" fill="hold">
                      <p:stCondLst>
                        <p:cond delay="indefinite"/>
                      </p:stCondLst>
                      <p:childTnLst>
                        <p:par>
                          <p:cTn id="59" fill="hold">
                            <p:stCondLst>
                              <p:cond delay="0"/>
                            </p:stCondLst>
                            <p:childTnLst>
                              <p:par>
                                <p:cTn id="60" presetID="53" presetClass="entr" presetSubtype="16" fill="hold" grpId="0" nodeType="clickEffect">
                                  <p:stCondLst>
                                    <p:cond delay="0"/>
                                  </p:stCondLst>
                                  <p:childTnLst>
                                    <p:set>
                                      <p:cBhvr>
                                        <p:cTn id="61" dur="1" fill="hold">
                                          <p:stCondLst>
                                            <p:cond delay="0"/>
                                          </p:stCondLst>
                                        </p:cTn>
                                        <p:tgtEl>
                                          <p:spTgt spid="20"/>
                                        </p:tgtEl>
                                        <p:attrNameLst>
                                          <p:attrName>style.visibility</p:attrName>
                                        </p:attrNameLst>
                                      </p:cBhvr>
                                      <p:to>
                                        <p:strVal val="visible"/>
                                      </p:to>
                                    </p:set>
                                    <p:anim calcmode="lin" valueType="num">
                                      <p:cBhvr additive="base">
                                        <p:cTn id="62" dur="600" fill="hold"/>
                                        <p:tgtEl>
                                          <p:spTgt spid="20"/>
                                        </p:tgtEl>
                                        <p:attrNameLst>
                                          <p:attrName>ppt_w</p:attrName>
                                        </p:attrNameLst>
                                      </p:cBhvr>
                                      <p:tavLst>
                                        <p:tav tm="0">
                                          <p:val>
                                            <p:fltVal val="0"/>
                                          </p:val>
                                        </p:tav>
                                        <p:tav tm="100000">
                                          <p:val>
                                            <p:strVal val="#ppt_w"/>
                                          </p:val>
                                        </p:tav>
                                      </p:tavLst>
                                    </p:anim>
                                    <p:anim calcmode="lin" valueType="num">
                                      <p:cBhvr additive="base">
                                        <p:cTn id="63" dur="600" fill="hold"/>
                                        <p:tgtEl>
                                          <p:spTgt spid="20"/>
                                        </p:tgtEl>
                                        <p:attrNameLst>
                                          <p:attrName>ppt_h</p:attrName>
                                        </p:attrNameLst>
                                      </p:cBhvr>
                                      <p:tavLst>
                                        <p:tav tm="0">
                                          <p:val>
                                            <p:fltVal val="0"/>
                                          </p:val>
                                        </p:tav>
                                        <p:tav tm="100000">
                                          <p:val>
                                            <p:strVal val="#ppt_h"/>
                                          </p:val>
                                        </p:tav>
                                      </p:tavLst>
                                    </p:anim>
                                    <p:animEffect transition="in" filter="fade">
                                      <p:cBhvr>
                                        <p:cTn id="64" dur="600"/>
                                        <p:tgtEl>
                                          <p:spTgt spid="20"/>
                                        </p:tgtEl>
                                      </p:cBhvr>
                                    </p:animEffect>
                                  </p:childTnLst>
                                </p:cTn>
                              </p:par>
                              <p:par>
                                <p:cTn id="65" presetID="53" presetClass="entr" presetSubtype="16" fill="hold" grpId="0" nodeType="withEffect">
                                  <p:stCondLst>
                                    <p:cond delay="0"/>
                                  </p:stCondLst>
                                  <p:childTnLst>
                                    <p:set>
                                      <p:cBhvr>
                                        <p:cTn id="66" dur="1" fill="hold">
                                          <p:stCondLst>
                                            <p:cond delay="0"/>
                                          </p:stCondLst>
                                        </p:cTn>
                                        <p:tgtEl>
                                          <p:spTgt spid="21"/>
                                        </p:tgtEl>
                                        <p:attrNameLst>
                                          <p:attrName>style.visibility</p:attrName>
                                        </p:attrNameLst>
                                      </p:cBhvr>
                                      <p:to>
                                        <p:strVal val="visible"/>
                                      </p:to>
                                    </p:set>
                                    <p:anim calcmode="lin" valueType="num">
                                      <p:cBhvr additive="base">
                                        <p:cTn id="67" dur="600" fill="hold"/>
                                        <p:tgtEl>
                                          <p:spTgt spid="21"/>
                                        </p:tgtEl>
                                        <p:attrNameLst>
                                          <p:attrName>ppt_w</p:attrName>
                                        </p:attrNameLst>
                                      </p:cBhvr>
                                      <p:tavLst>
                                        <p:tav tm="0">
                                          <p:val>
                                            <p:fltVal val="0"/>
                                          </p:val>
                                        </p:tav>
                                        <p:tav tm="100000">
                                          <p:val>
                                            <p:strVal val="#ppt_w"/>
                                          </p:val>
                                        </p:tav>
                                      </p:tavLst>
                                    </p:anim>
                                    <p:anim calcmode="lin" valueType="num">
                                      <p:cBhvr additive="base">
                                        <p:cTn id="68" dur="600" fill="hold"/>
                                        <p:tgtEl>
                                          <p:spTgt spid="21"/>
                                        </p:tgtEl>
                                        <p:attrNameLst>
                                          <p:attrName>ppt_h</p:attrName>
                                        </p:attrNameLst>
                                      </p:cBhvr>
                                      <p:tavLst>
                                        <p:tav tm="0">
                                          <p:val>
                                            <p:fltVal val="0"/>
                                          </p:val>
                                        </p:tav>
                                        <p:tav tm="100000">
                                          <p:val>
                                            <p:strVal val="#ppt_h"/>
                                          </p:val>
                                        </p:tav>
                                      </p:tavLst>
                                    </p:anim>
                                    <p:animEffect transition="in" filter="fade">
                                      <p:cBhvr>
                                        <p:cTn id="69" dur="600"/>
                                        <p:tgtEl>
                                          <p:spTgt spid="21"/>
                                        </p:tgtEl>
                                      </p:cBhvr>
                                    </p:animEffect>
                                  </p:childTnLst>
                                </p:cTn>
                              </p:par>
                              <p:par>
                                <p:cTn id="70" presetID="53" presetClass="entr" presetSubtype="16" fill="hold" grpId="0" nodeType="withEffect">
                                  <p:stCondLst>
                                    <p:cond delay="0"/>
                                  </p:stCondLst>
                                  <p:childTnLst>
                                    <p:set>
                                      <p:cBhvr>
                                        <p:cTn id="71" dur="1" fill="hold">
                                          <p:stCondLst>
                                            <p:cond delay="0"/>
                                          </p:stCondLst>
                                        </p:cTn>
                                        <p:tgtEl>
                                          <p:spTgt spid="22"/>
                                        </p:tgtEl>
                                        <p:attrNameLst>
                                          <p:attrName>style.visibility</p:attrName>
                                        </p:attrNameLst>
                                      </p:cBhvr>
                                      <p:to>
                                        <p:strVal val="visible"/>
                                      </p:to>
                                    </p:set>
                                    <p:anim calcmode="lin" valueType="num">
                                      <p:cBhvr additive="base">
                                        <p:cTn id="72" dur="600" fill="hold"/>
                                        <p:tgtEl>
                                          <p:spTgt spid="22"/>
                                        </p:tgtEl>
                                        <p:attrNameLst>
                                          <p:attrName>ppt_w</p:attrName>
                                        </p:attrNameLst>
                                      </p:cBhvr>
                                      <p:tavLst>
                                        <p:tav tm="0">
                                          <p:val>
                                            <p:fltVal val="0"/>
                                          </p:val>
                                        </p:tav>
                                        <p:tav tm="100000">
                                          <p:val>
                                            <p:strVal val="#ppt_w"/>
                                          </p:val>
                                        </p:tav>
                                      </p:tavLst>
                                    </p:anim>
                                    <p:anim calcmode="lin" valueType="num">
                                      <p:cBhvr additive="base">
                                        <p:cTn id="73" dur="600" fill="hold"/>
                                        <p:tgtEl>
                                          <p:spTgt spid="22"/>
                                        </p:tgtEl>
                                        <p:attrNameLst>
                                          <p:attrName>ppt_h</p:attrName>
                                        </p:attrNameLst>
                                      </p:cBhvr>
                                      <p:tavLst>
                                        <p:tav tm="0">
                                          <p:val>
                                            <p:fltVal val="0"/>
                                          </p:val>
                                        </p:tav>
                                        <p:tav tm="100000">
                                          <p:val>
                                            <p:strVal val="#ppt_h"/>
                                          </p:val>
                                        </p:tav>
                                      </p:tavLst>
                                    </p:anim>
                                    <p:animEffect transition="in" filter="fade">
                                      <p:cBhvr>
                                        <p:cTn id="74" dur="600"/>
                                        <p:tgtEl>
                                          <p:spTgt spid="22"/>
                                        </p:tgtEl>
                                      </p:cBhvr>
                                    </p:animEffect>
                                  </p:childTnLst>
                                </p:cTn>
                              </p:par>
                              <p:par>
                                <p:cTn id="75" presetID="53" presetClass="entr" presetSubtype="16" fill="hold" grpId="0" nodeType="withEffect">
                                  <p:stCondLst>
                                    <p:cond delay="0"/>
                                  </p:stCondLst>
                                  <p:childTnLst>
                                    <p:set>
                                      <p:cBhvr>
                                        <p:cTn id="76" dur="1" fill="hold">
                                          <p:stCondLst>
                                            <p:cond delay="0"/>
                                          </p:stCondLst>
                                        </p:cTn>
                                        <p:tgtEl>
                                          <p:spTgt spid="23"/>
                                        </p:tgtEl>
                                        <p:attrNameLst>
                                          <p:attrName>style.visibility</p:attrName>
                                        </p:attrNameLst>
                                      </p:cBhvr>
                                      <p:to>
                                        <p:strVal val="visible"/>
                                      </p:to>
                                    </p:set>
                                    <p:anim calcmode="lin" valueType="num">
                                      <p:cBhvr additive="base">
                                        <p:cTn id="77" dur="600" fill="hold"/>
                                        <p:tgtEl>
                                          <p:spTgt spid="23"/>
                                        </p:tgtEl>
                                        <p:attrNameLst>
                                          <p:attrName>ppt_w</p:attrName>
                                        </p:attrNameLst>
                                      </p:cBhvr>
                                      <p:tavLst>
                                        <p:tav tm="0">
                                          <p:val>
                                            <p:fltVal val="0"/>
                                          </p:val>
                                        </p:tav>
                                        <p:tav tm="100000">
                                          <p:val>
                                            <p:strVal val="#ppt_w"/>
                                          </p:val>
                                        </p:tav>
                                      </p:tavLst>
                                    </p:anim>
                                    <p:anim calcmode="lin" valueType="num">
                                      <p:cBhvr additive="base">
                                        <p:cTn id="78" dur="600" fill="hold"/>
                                        <p:tgtEl>
                                          <p:spTgt spid="23"/>
                                        </p:tgtEl>
                                        <p:attrNameLst>
                                          <p:attrName>ppt_h</p:attrName>
                                        </p:attrNameLst>
                                      </p:cBhvr>
                                      <p:tavLst>
                                        <p:tav tm="0">
                                          <p:val>
                                            <p:fltVal val="0"/>
                                          </p:val>
                                        </p:tav>
                                        <p:tav tm="100000">
                                          <p:val>
                                            <p:strVal val="#ppt_h"/>
                                          </p:val>
                                        </p:tav>
                                      </p:tavLst>
                                    </p:anim>
                                    <p:animEffect transition="in" filter="fade">
                                      <p:cBhvr>
                                        <p:cTn id="79" dur="600"/>
                                        <p:tgtEl>
                                          <p:spTgt spid="23"/>
                                        </p:tgtEl>
                                      </p:cBhvr>
                                    </p:animEffect>
                                  </p:childTnLst>
                                </p:cTn>
                              </p:par>
                            </p:childTnLst>
                          </p:cTn>
                        </p:par>
                      </p:childTnLst>
                    </p:cTn>
                  </p:par>
                  <p:par>
                    <p:cTn id="80" fill="hold">
                      <p:stCondLst>
                        <p:cond delay="indefinite"/>
                      </p:stCondLst>
                      <p:childTnLst>
                        <p:par>
                          <p:cTn id="81" fill="hold">
                            <p:stCondLst>
                              <p:cond delay="0"/>
                            </p:stCondLst>
                            <p:childTnLst>
                              <p:par>
                                <p:cTn id="82" presetID="53" presetClass="entr" presetSubtype="16" fill="hold" grpId="0" nodeType="clickEffect">
                                  <p:stCondLst>
                                    <p:cond delay="0"/>
                                  </p:stCondLst>
                                  <p:childTnLst>
                                    <p:set>
                                      <p:cBhvr>
                                        <p:cTn id="83" dur="1" fill="hold">
                                          <p:stCondLst>
                                            <p:cond delay="0"/>
                                          </p:stCondLst>
                                        </p:cTn>
                                        <p:tgtEl>
                                          <p:spTgt spid="24"/>
                                        </p:tgtEl>
                                        <p:attrNameLst>
                                          <p:attrName>style.visibility</p:attrName>
                                        </p:attrNameLst>
                                      </p:cBhvr>
                                      <p:to>
                                        <p:strVal val="visible"/>
                                      </p:to>
                                    </p:set>
                                    <p:anim calcmode="lin" valueType="num">
                                      <p:cBhvr additive="base">
                                        <p:cTn id="84" dur="600" fill="hold"/>
                                        <p:tgtEl>
                                          <p:spTgt spid="24"/>
                                        </p:tgtEl>
                                        <p:attrNameLst>
                                          <p:attrName>ppt_w</p:attrName>
                                        </p:attrNameLst>
                                      </p:cBhvr>
                                      <p:tavLst>
                                        <p:tav tm="0">
                                          <p:val>
                                            <p:fltVal val="0"/>
                                          </p:val>
                                        </p:tav>
                                        <p:tav tm="100000">
                                          <p:val>
                                            <p:strVal val="#ppt_w"/>
                                          </p:val>
                                        </p:tav>
                                      </p:tavLst>
                                    </p:anim>
                                    <p:anim calcmode="lin" valueType="num">
                                      <p:cBhvr additive="base">
                                        <p:cTn id="85" dur="600" fill="hold"/>
                                        <p:tgtEl>
                                          <p:spTgt spid="24"/>
                                        </p:tgtEl>
                                        <p:attrNameLst>
                                          <p:attrName>ppt_h</p:attrName>
                                        </p:attrNameLst>
                                      </p:cBhvr>
                                      <p:tavLst>
                                        <p:tav tm="0">
                                          <p:val>
                                            <p:fltVal val="0"/>
                                          </p:val>
                                        </p:tav>
                                        <p:tav tm="100000">
                                          <p:val>
                                            <p:strVal val="#ppt_h"/>
                                          </p:val>
                                        </p:tav>
                                      </p:tavLst>
                                    </p:anim>
                                    <p:animEffect transition="in" filter="fade">
                                      <p:cBhvr>
                                        <p:cTn id="86" dur="600"/>
                                        <p:tgtEl>
                                          <p:spTgt spid="24"/>
                                        </p:tgtEl>
                                      </p:cBhvr>
                                    </p:animEffect>
                                  </p:childTnLst>
                                </p:cTn>
                              </p:par>
                              <p:par>
                                <p:cTn id="87" presetID="53" presetClass="entr" presetSubtype="16" fill="hold" grpId="0" nodeType="withEffect">
                                  <p:stCondLst>
                                    <p:cond delay="0"/>
                                  </p:stCondLst>
                                  <p:childTnLst>
                                    <p:set>
                                      <p:cBhvr>
                                        <p:cTn id="88" dur="1" fill="hold">
                                          <p:stCondLst>
                                            <p:cond delay="0"/>
                                          </p:stCondLst>
                                        </p:cTn>
                                        <p:tgtEl>
                                          <p:spTgt spid="25"/>
                                        </p:tgtEl>
                                        <p:attrNameLst>
                                          <p:attrName>style.visibility</p:attrName>
                                        </p:attrNameLst>
                                      </p:cBhvr>
                                      <p:to>
                                        <p:strVal val="visible"/>
                                      </p:to>
                                    </p:set>
                                    <p:anim calcmode="lin" valueType="num">
                                      <p:cBhvr additive="base">
                                        <p:cTn id="89" dur="600" fill="hold"/>
                                        <p:tgtEl>
                                          <p:spTgt spid="25"/>
                                        </p:tgtEl>
                                        <p:attrNameLst>
                                          <p:attrName>ppt_w</p:attrName>
                                        </p:attrNameLst>
                                      </p:cBhvr>
                                      <p:tavLst>
                                        <p:tav tm="0">
                                          <p:val>
                                            <p:fltVal val="0"/>
                                          </p:val>
                                        </p:tav>
                                        <p:tav tm="100000">
                                          <p:val>
                                            <p:strVal val="#ppt_w"/>
                                          </p:val>
                                        </p:tav>
                                      </p:tavLst>
                                    </p:anim>
                                    <p:anim calcmode="lin" valueType="num">
                                      <p:cBhvr additive="base">
                                        <p:cTn id="90" dur="600" fill="hold"/>
                                        <p:tgtEl>
                                          <p:spTgt spid="25"/>
                                        </p:tgtEl>
                                        <p:attrNameLst>
                                          <p:attrName>ppt_h</p:attrName>
                                        </p:attrNameLst>
                                      </p:cBhvr>
                                      <p:tavLst>
                                        <p:tav tm="0">
                                          <p:val>
                                            <p:fltVal val="0"/>
                                          </p:val>
                                        </p:tav>
                                        <p:tav tm="100000">
                                          <p:val>
                                            <p:strVal val="#ppt_h"/>
                                          </p:val>
                                        </p:tav>
                                      </p:tavLst>
                                    </p:anim>
                                    <p:animEffect transition="in" filter="fade">
                                      <p:cBhvr>
                                        <p:cTn id="91" dur="600"/>
                                        <p:tgtEl>
                                          <p:spTgt spid="25"/>
                                        </p:tgtEl>
                                      </p:cBhvr>
                                    </p:animEffect>
                                  </p:childTnLst>
                                </p:cTn>
                              </p:par>
                              <p:par>
                                <p:cTn id="92" presetID="53" presetClass="entr" presetSubtype="16" fill="hold" grpId="0" nodeType="withEffect">
                                  <p:stCondLst>
                                    <p:cond delay="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600" fill="hold"/>
                                        <p:tgtEl>
                                          <p:spTgt spid="26"/>
                                        </p:tgtEl>
                                        <p:attrNameLst>
                                          <p:attrName>ppt_w</p:attrName>
                                        </p:attrNameLst>
                                      </p:cBhvr>
                                      <p:tavLst>
                                        <p:tav tm="0">
                                          <p:val>
                                            <p:fltVal val="0"/>
                                          </p:val>
                                        </p:tav>
                                        <p:tav tm="100000">
                                          <p:val>
                                            <p:strVal val="#ppt_w"/>
                                          </p:val>
                                        </p:tav>
                                      </p:tavLst>
                                    </p:anim>
                                    <p:anim calcmode="lin" valueType="num">
                                      <p:cBhvr additive="base">
                                        <p:cTn id="95" dur="600" fill="hold"/>
                                        <p:tgtEl>
                                          <p:spTgt spid="26"/>
                                        </p:tgtEl>
                                        <p:attrNameLst>
                                          <p:attrName>ppt_h</p:attrName>
                                        </p:attrNameLst>
                                      </p:cBhvr>
                                      <p:tavLst>
                                        <p:tav tm="0">
                                          <p:val>
                                            <p:fltVal val="0"/>
                                          </p:val>
                                        </p:tav>
                                        <p:tav tm="100000">
                                          <p:val>
                                            <p:strVal val="#ppt_h"/>
                                          </p:val>
                                        </p:tav>
                                      </p:tavLst>
                                    </p:anim>
                                    <p:animEffect transition="in" filter="fade">
                                      <p:cBhvr>
                                        <p:cTn id="96" dur="600"/>
                                        <p:tgtEl>
                                          <p:spTgt spid="26"/>
                                        </p:tgtEl>
                                      </p:cBhvr>
                                    </p:animEffect>
                                  </p:childTnLst>
                                </p:cTn>
                              </p:par>
                              <p:par>
                                <p:cTn id="97" presetID="53" presetClass="entr" presetSubtype="16" fill="hold" grpId="0" nodeType="withEffect">
                                  <p:stCondLst>
                                    <p:cond delay="0"/>
                                  </p:stCondLst>
                                  <p:childTnLst>
                                    <p:set>
                                      <p:cBhvr>
                                        <p:cTn id="98" dur="1" fill="hold">
                                          <p:stCondLst>
                                            <p:cond delay="0"/>
                                          </p:stCondLst>
                                        </p:cTn>
                                        <p:tgtEl>
                                          <p:spTgt spid="27"/>
                                        </p:tgtEl>
                                        <p:attrNameLst>
                                          <p:attrName>style.visibility</p:attrName>
                                        </p:attrNameLst>
                                      </p:cBhvr>
                                      <p:to>
                                        <p:strVal val="visible"/>
                                      </p:to>
                                    </p:set>
                                    <p:anim calcmode="lin" valueType="num">
                                      <p:cBhvr additive="base">
                                        <p:cTn id="99" dur="600" fill="hold"/>
                                        <p:tgtEl>
                                          <p:spTgt spid="27"/>
                                        </p:tgtEl>
                                        <p:attrNameLst>
                                          <p:attrName>ppt_w</p:attrName>
                                        </p:attrNameLst>
                                      </p:cBhvr>
                                      <p:tavLst>
                                        <p:tav tm="0">
                                          <p:val>
                                            <p:fltVal val="0"/>
                                          </p:val>
                                        </p:tav>
                                        <p:tav tm="100000">
                                          <p:val>
                                            <p:strVal val="#ppt_w"/>
                                          </p:val>
                                        </p:tav>
                                      </p:tavLst>
                                    </p:anim>
                                    <p:anim calcmode="lin" valueType="num">
                                      <p:cBhvr additive="base">
                                        <p:cTn id="100" dur="600" fill="hold"/>
                                        <p:tgtEl>
                                          <p:spTgt spid="27"/>
                                        </p:tgtEl>
                                        <p:attrNameLst>
                                          <p:attrName>ppt_h</p:attrName>
                                        </p:attrNameLst>
                                      </p:cBhvr>
                                      <p:tavLst>
                                        <p:tav tm="0">
                                          <p:val>
                                            <p:fltVal val="0"/>
                                          </p:val>
                                        </p:tav>
                                        <p:tav tm="100000">
                                          <p:val>
                                            <p:strVal val="#ppt_h"/>
                                          </p:val>
                                        </p:tav>
                                      </p:tavLst>
                                    </p:anim>
                                    <p:animEffect transition="in" filter="fade">
                                      <p:cBhvr>
                                        <p:cTn id="101" dur="600"/>
                                        <p:tgtEl>
                                          <p:spTgt spid="27"/>
                                        </p:tgtEl>
                                      </p:cBhvr>
                                    </p:animEffect>
                                  </p:childTnLst>
                                </p:cTn>
                              </p:par>
                              <p:par>
                                <p:cTn id="102" presetID="22" presetClass="entr" presetSubtype="8" fill="hold" grpId="0" nodeType="withEffect">
                                  <p:stCondLst>
                                    <p:cond delay="600"/>
                                  </p:stCondLst>
                                  <p:childTnLst>
                                    <p:set>
                                      <p:cBhvr>
                                        <p:cTn id="103" dur="1" fill="hold">
                                          <p:stCondLst>
                                            <p:cond delay="0"/>
                                          </p:stCondLst>
                                        </p:cTn>
                                        <p:tgtEl>
                                          <p:spTgt spid="35"/>
                                        </p:tgtEl>
                                        <p:attrNameLst>
                                          <p:attrName>style.visibility</p:attrName>
                                        </p:attrNameLst>
                                      </p:cBhvr>
                                      <p:to>
                                        <p:strVal val="visible"/>
                                      </p:to>
                                    </p:set>
                                    <p:animEffect transition="in" filter="wipe(left)">
                                      <p:cBhvr>
                                        <p:cTn id="104" dur="1100"/>
                                        <p:tgtEl>
                                          <p:spTgt spid="35"/>
                                        </p:tgtEl>
                                      </p:cBhvr>
                                    </p:animEffect>
                                  </p:childTnLst>
                                </p:cTn>
                              </p:par>
                              <p:par>
                                <p:cTn id="106" presetID="0" presetClass="path" presetSubtype="0" fill="hold" accel="30000" decel="30000" nodeType="withEffect">
                                  <p:stCondLst>
                                    <p:cond delay="600"/>
                                  </p:stCondLst>
                                  <p:childTnLst>
                                    <p:animMotion origin="layout" path="M 0 0 L 0.02017 0 E" pathEditMode="relative" rAng="0" ptsTypes="AA">
                                      <p:cBhvr>
                                        <p:cTn id="105" dur="1100" fill="hold"/>
                                        <p:tgtEl>
                                          <p:spTgt spid="36"/>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3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API integration and resilience</a:t>
            </a:r>
            <a:endParaRPr lang="en-US" sz="3600" dirty="0"/>
          </a:p>
        </p:txBody>
      </p:sp>
      <p:sp>
        <p:nvSpPr>
          <p:cNvPr id="5" name="ap1"/>
          <p:cNvSpPr/>
          <p:nvPr/>
        </p:nvSpPr>
        <p:spPr>
          <a:xfrm>
            <a:off x="548640" y="1691640"/>
            <a:ext cx="3593592" cy="4389120"/>
          </a:xfrm>
          <a:prstGeom prst="roundRect">
            <a:avLst>
              <a:gd name="adj" fmla="val 3053"/>
            </a:avLst>
          </a:prstGeom>
          <a:solidFill>
            <a:schemeClr val="bg1">
              <a:alpha val="9000"/>
            </a:schemeClr>
          </a:solidFill>
          <a:ln w="9525">
            <a:solidFill>
              <a:schemeClr val="bg1">
                <a:alpha val="22000"/>
              </a:schemeClr>
            </a:solidFill>
            <a:prstDash val="solid"/>
          </a:ln>
        </p:spPr>
      </p:sp>
      <p:sp>
        <p:nvSpPr>
          <p:cNvPr id="6" name="ap1h"/>
          <p:cNvSpPr txBox="1"/>
          <p:nvPr/>
        </p:nvSpPr>
        <p:spPr>
          <a:xfrm>
            <a:off x="777240" y="1828800"/>
            <a:ext cx="310896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REQUEST</a:t>
            </a:r>
            <a:endParaRPr lang="en-US" sz="1200" dirty="0"/>
          </a:p>
        </p:txBody>
      </p:sp>
      <p:sp>
        <p:nvSpPr>
          <p:cNvPr id="7" name="ap1m"/>
          <p:cNvSpPr txBox="1"/>
          <p:nvPr/>
        </p:nvSpPr>
        <p:spPr>
          <a:xfrm>
            <a:off x="777240" y="2194560"/>
            <a:ext cx="3200400" cy="365760"/>
          </a:xfrm>
          <a:prstGeom prst="rect">
            <a:avLst/>
          </a:prstGeom>
          <a:noFill/>
          <a:ln/>
        </p:spPr>
        <p:txBody>
          <a:bodyPr wrap="square" lIns="0" tIns="0" rIns="0" bIns="0" rtlCol="0" anchor="t"/>
          <a:lstStyle/>
          <a:p>
            <a:pPr algn="l" indent="0" marL="0">
              <a:buNone/>
            </a:pPr>
            <a:r>
              <a:rPr lang="en-US" sz="1800" b="1" dirty="0">
                <a:solidFill>
                  <a:schemeClr val="bg1"/>
                </a:solidFill>
                <a:latin typeface="Courier New" pitchFamily="34" charset="0"/>
                <a:ea typeface="Courier New" pitchFamily="34" charset="-122"/>
                <a:cs typeface="Courier New" pitchFamily="34" charset="-120"/>
              </a:rPr>
              <a:t>GET /v1/flights</a:t>
            </a:r>
            <a:endParaRPr lang="en-US" sz="1800" dirty="0"/>
          </a:p>
        </p:txBody>
      </p:sp>
      <p:sp>
        <p:nvSpPr>
          <p:cNvPr id="8" name="ap1t"/>
          <p:cNvSpPr txBox="1"/>
          <p:nvPr/>
        </p:nvSpPr>
        <p:spPr>
          <a:xfrm>
            <a:off x="777240" y="2743200"/>
            <a:ext cx="3200400" cy="3108960"/>
          </a:xfrm>
          <a:prstGeom prst="rect">
            <a:avLst/>
          </a:prstGeom>
          <a:noFill/>
          <a:ln/>
        </p:spPr>
        <p:txBody>
          <a:bodyPr wrap="square" lIns="0" tIns="0" rIns="0" bIns="0" rtlCol="0" anchor="t"/>
          <a:lstStyle/>
          <a:p>
            <a:pPr algn="l" marL="342900" indent="-342900">
              <a:spcAft>
                <a:spcPts val="600"/>
              </a:spcAft>
              <a:buSzPct val="100000"/>
              <a:buChar char="•"/>
            </a:pPr>
            <a:r>
              <a:rPr lang="en-US" sz="1400" dirty="0">
                <a:solidFill>
                  <a:schemeClr val="bg1"/>
                </a:solidFill>
              </a:rPr>
              <a:t>access_key from .env, masked in the GUI</a:t>
            </a:r>
            <a:endParaRPr lang="en-US" sz="1400" dirty="0"/>
          </a:p>
          <a:p>
            <a:pPr algn="l" marL="342900" indent="-342900">
              <a:spcAft>
                <a:spcPts val="600"/>
              </a:spcAft>
              <a:buSzPct val="100000"/>
              <a:buChar char="•"/>
            </a:pPr>
            <a:r>
              <a:rPr lang="en-US" sz="1400" dirty="0">
                <a:solidFill>
                  <a:schemeClr val="bg1"/>
                </a:solidFill>
              </a:rPr>
              <a:t>limit: 100 by default</a:t>
            </a:r>
            <a:endParaRPr lang="en-US" sz="1400" dirty="0"/>
          </a:p>
          <a:p>
            <a:pPr algn="l" marL="342900" indent="-342900">
              <a:spcAft>
                <a:spcPts val="600"/>
              </a:spcAft>
              <a:buSzPct val="100000"/>
              <a:buChar char="•"/>
            </a:pPr>
            <a:r>
              <a:rPr lang="en-US" sz="1400" dirty="0">
                <a:solidFill>
                  <a:schemeClr val="bg1"/>
                </a:solidFill>
              </a:rPr>
              <a:t>Filters: status, dep/arr IATA, airline, flight number</a:t>
            </a:r>
            <a:endParaRPr lang="en-US" sz="1400" dirty="0"/>
          </a:p>
          <a:p>
            <a:pPr algn="l" marL="342900" indent="-342900">
              <a:spcAft>
                <a:spcPts val="600"/>
              </a:spcAft>
              <a:buSzPct val="100000"/>
              <a:buChar char="•"/>
            </a:pPr>
            <a:r>
              <a:rPr lang="en-US" sz="1400" dirty="0">
                <a:solidFill>
                  <a:schemeClr val="bg1"/>
                </a:solidFill>
              </a:rPr>
              <a:t>Base URL configurable; free plan is HTTP-only</a:t>
            </a:r>
            <a:endParaRPr lang="en-US" sz="1400" dirty="0"/>
          </a:p>
          <a:p>
            <a:pPr algn="l" marL="342900" indent="-342900">
              <a:spcAft>
                <a:spcPts val="600"/>
              </a:spcAft>
              <a:buSzPct val="100000"/>
              <a:buChar char="•"/>
            </a:pPr>
            <a:r>
              <a:rPr lang="en-US" sz="1400" dirty="0">
                <a:solidFill>
                  <a:schemeClr val="bg1"/>
                </a:solidFill>
              </a:rPr>
              <a:t>20 s timeout</a:t>
            </a:r>
            <a:endParaRPr lang="en-US" sz="1400" dirty="0"/>
          </a:p>
        </p:txBody>
      </p:sp>
      <p:sp>
        <p:nvSpPr>
          <p:cNvPr id="9" name="ap2"/>
          <p:cNvSpPr/>
          <p:nvPr/>
        </p:nvSpPr>
        <p:spPr>
          <a:xfrm>
            <a:off x="4297680" y="1691640"/>
            <a:ext cx="3593592" cy="4389120"/>
          </a:xfrm>
          <a:prstGeom prst="roundRect">
            <a:avLst>
              <a:gd name="adj" fmla="val 3053"/>
            </a:avLst>
          </a:prstGeom>
          <a:solidFill>
            <a:schemeClr val="bg1">
              <a:alpha val="9000"/>
            </a:schemeClr>
          </a:solidFill>
          <a:ln w="9525">
            <a:solidFill>
              <a:schemeClr val="bg1">
                <a:alpha val="22000"/>
              </a:schemeClr>
            </a:solidFill>
            <a:prstDash val="solid"/>
          </a:ln>
        </p:spPr>
      </p:sp>
      <p:sp>
        <p:nvSpPr>
          <p:cNvPr id="10" name="ap2h"/>
          <p:cNvSpPr txBox="1"/>
          <p:nvPr/>
        </p:nvSpPr>
        <p:spPr>
          <a:xfrm>
            <a:off x="4526280" y="1828800"/>
            <a:ext cx="3108960" cy="274320"/>
          </a:xfrm>
          <a:prstGeom prst="rect">
            <a:avLst/>
          </a:prstGeom>
          <a:noFill/>
          <a:ln/>
        </p:spPr>
        <p:txBody>
          <a:bodyPr wrap="square" lIns="0" tIns="0" rIns="0" bIns="0" rtlCol="0" anchor="t"/>
          <a:lstStyle/>
          <a:p>
            <a:pPr algn="l" indent="0" marL="0">
              <a:buNone/>
            </a:pPr>
            <a:r>
              <a:rPr lang="en-US" sz="1200" b="1" spc="300" kern="0" dirty="0">
                <a:solidFill>
                  <a:schemeClr val="accent3"/>
                </a:solidFill>
              </a:rPr>
              <a:t>WHEN THINGS FAIL</a:t>
            </a:r>
            <a:endParaRPr lang="en-US" sz="1200" dirty="0"/>
          </a:p>
        </p:txBody>
      </p:sp>
      <p:sp>
        <p:nvSpPr>
          <p:cNvPr id="11" name="ap2t"/>
          <p:cNvSpPr txBox="1"/>
          <p:nvPr/>
        </p:nvSpPr>
        <p:spPr>
          <a:xfrm>
            <a:off x="4526280" y="2240280"/>
            <a:ext cx="3200400" cy="3657600"/>
          </a:xfrm>
          <a:prstGeom prst="rect">
            <a:avLst/>
          </a:prstGeom>
          <a:noFill/>
          <a:ln/>
        </p:spPr>
        <p:txBody>
          <a:bodyPr wrap="square" lIns="0" tIns="0" rIns="0" bIns="0" rtlCol="0" anchor="t"/>
          <a:lstStyle/>
          <a:p>
            <a:pPr algn="l" indent="0" marL="0">
              <a:spcAft>
                <a:spcPts val="800"/>
              </a:spcAft>
              <a:buNone/>
            </a:pPr>
            <a:r>
              <a:rPr lang="en-US" sz="1400" b="1" dirty="0">
                <a:solidFill>
                  <a:schemeClr val="bg1"/>
                </a:solidFill>
              </a:rPr>
              <a:t>HTTP 403: </a:t>
            </a:r>
            <a:pPr algn="l" indent="0" marL="0">
              <a:spcAft>
                <a:spcPts val="800"/>
              </a:spcAft>
              <a:buNone/>
            </a:pPr>
            <a:r>
              <a:rPr lang="en-US" sz="1400" dirty="0">
                <a:solidFill>
                  <a:schemeClr val="bg1"/>
                </a:solidFill>
              </a:rPr>
              <a:t>provider reason shown to the user</a:t>
            </a:r>
            <a:endParaRPr lang="en-US" sz="1400" dirty="0"/>
          </a:p>
          <a:p>
            <a:pPr algn="l" indent="0" marL="0">
              <a:spcAft>
                <a:spcPts val="800"/>
              </a:spcAft>
              <a:buNone/>
            </a:pPr>
            <a:r>
              <a:rPr lang="en-US" sz="1400" b="1" dirty="0">
                <a:solidFill>
                  <a:schemeClr val="bg1"/>
                </a:solidFill>
              </a:rPr>
              <a:t>Quota used up: </a:t>
            </a:r>
            <a:pPr algn="l" indent="0" marL="0">
              <a:spcAft>
                <a:spcPts val="800"/>
              </a:spcAft>
              <a:buNone/>
            </a:pPr>
            <a:r>
              <a:rPr lang="en-US" sz="1400" dirty="0">
                <a:solidFill>
                  <a:schemeClr val="bg1"/>
                </a:solidFill>
              </a:rPr>
              <a:t>RateLimitError, stored data stays usable</a:t>
            </a:r>
            <a:endParaRPr lang="en-US" sz="1400" dirty="0"/>
          </a:p>
          <a:p>
            <a:pPr algn="l" indent="0" marL="0">
              <a:spcAft>
                <a:spcPts val="800"/>
              </a:spcAft>
              <a:buNone/>
            </a:pPr>
            <a:r>
              <a:rPr lang="en-US" sz="1400" b="1" dirty="0">
                <a:solidFill>
                  <a:schemeClr val="bg1"/>
                </a:solidFill>
              </a:rPr>
              <a:t>Bad key: </a:t>
            </a:r>
            <a:pPr algn="l" indent="0" marL="0">
              <a:spcAft>
                <a:spcPts val="800"/>
              </a:spcAft>
              <a:buNone/>
            </a:pPr>
            <a:r>
              <a:rPr lang="en-US" sz="1400" dirty="0">
                <a:solidFill>
                  <a:schemeClr val="bg1"/>
                </a:solidFill>
              </a:rPr>
              <a:t>AuthenticationError</a:t>
            </a:r>
            <a:endParaRPr lang="en-US" sz="1400" dirty="0"/>
          </a:p>
          <a:p>
            <a:pPr algn="l" indent="0" marL="0">
              <a:spcAft>
                <a:spcPts val="800"/>
              </a:spcAft>
              <a:buNone/>
            </a:pPr>
            <a:r>
              <a:rPr lang="en-US" sz="1400" b="1" dirty="0">
                <a:solidFill>
                  <a:schemeClr val="bg1"/>
                </a:solidFill>
              </a:rPr>
              <a:t>Restricted endpoint: </a:t>
            </a:r>
            <a:pPr algn="l" indent="0" marL="0">
              <a:spcAft>
                <a:spcPts val="800"/>
              </a:spcAft>
              <a:buNone/>
            </a:pPr>
            <a:r>
              <a:rPr lang="en-US" sz="1400" dirty="0">
                <a:solidFill>
                  <a:schemeClr val="bg1"/>
                </a:solidFill>
              </a:rPr>
              <a:t>handled gracefully</a:t>
            </a:r>
            <a:endParaRPr lang="en-US" sz="1400" dirty="0"/>
          </a:p>
          <a:p>
            <a:pPr algn="l" indent="0" marL="0">
              <a:spcAft>
                <a:spcPts val="800"/>
              </a:spcAft>
              <a:buNone/>
            </a:pPr>
            <a:r>
              <a:rPr lang="en-US" sz="1400" b="1" dirty="0">
                <a:solidFill>
                  <a:schemeClr val="bg1"/>
                </a:solidFill>
              </a:rPr>
              <a:t>Network down: </a:t>
            </a:r>
            <a:pPr algn="l" indent="0" marL="0">
              <a:spcAft>
                <a:spcPts val="800"/>
              </a:spcAft>
              <a:buNone/>
            </a:pPr>
            <a:r>
              <a:rPr lang="en-US" sz="1400" dirty="0">
                <a:solidFill>
                  <a:schemeClr val="bg1"/>
                </a:solidFill>
              </a:rPr>
              <a:t>readable message, no crash</a:t>
            </a:r>
            <a:endParaRPr lang="en-US" sz="1400" dirty="0"/>
          </a:p>
        </p:txBody>
      </p:sp>
      <p:sp>
        <p:nvSpPr>
          <p:cNvPr id="12" name="ap3"/>
          <p:cNvSpPr/>
          <p:nvPr/>
        </p:nvSpPr>
        <p:spPr>
          <a:xfrm>
            <a:off x="8046720" y="1691640"/>
            <a:ext cx="3593592" cy="4389120"/>
          </a:xfrm>
          <a:prstGeom prst="roundRect">
            <a:avLst>
              <a:gd name="adj" fmla="val 3053"/>
            </a:avLst>
          </a:prstGeom>
          <a:solidFill>
            <a:schemeClr val="bg1">
              <a:alpha val="9000"/>
            </a:schemeClr>
          </a:solidFill>
          <a:ln w="9525">
            <a:solidFill>
              <a:schemeClr val="bg1">
                <a:alpha val="22000"/>
              </a:schemeClr>
            </a:solidFill>
            <a:prstDash val="solid"/>
          </a:ln>
        </p:spPr>
      </p:sp>
      <p:sp>
        <p:nvSpPr>
          <p:cNvPr id="13" name="ap3h"/>
          <p:cNvSpPr txBox="1"/>
          <p:nvPr/>
        </p:nvSpPr>
        <p:spPr>
          <a:xfrm>
            <a:off x="8275320" y="1828800"/>
            <a:ext cx="3200400" cy="274320"/>
          </a:xfrm>
          <a:prstGeom prst="rect">
            <a:avLst/>
          </a:prstGeom>
          <a:noFill/>
          <a:ln/>
        </p:spPr>
        <p:txBody>
          <a:bodyPr wrap="square" lIns="0" tIns="0" rIns="0" bIns="0" rtlCol="0" anchor="t"/>
          <a:lstStyle/>
          <a:p>
            <a:pPr algn="l" indent="0" marL="0">
              <a:buNone/>
            </a:pPr>
            <a:r>
              <a:rPr lang="en-US" sz="1200" b="1" spc="300" kern="0" dirty="0">
                <a:solidFill>
                  <a:schemeClr val="accent4"/>
                </a:solidFill>
              </a:rPr>
              <a:t>OPEN-METEO  (OPTIONAL)</a:t>
            </a:r>
            <a:endParaRPr lang="en-US" sz="1200" dirty="0"/>
          </a:p>
        </p:txBody>
      </p:sp>
      <p:sp>
        <p:nvSpPr>
          <p:cNvPr id="14" name="ap3t"/>
          <p:cNvSpPr txBox="1"/>
          <p:nvPr/>
        </p:nvSpPr>
        <p:spPr>
          <a:xfrm>
            <a:off x="8275320" y="2240280"/>
            <a:ext cx="3200400" cy="1097280"/>
          </a:xfrm>
          <a:prstGeom prst="rect">
            <a:avLst/>
          </a:prstGeom>
          <a:noFill/>
          <a:ln/>
        </p:spPr>
        <p:txBody>
          <a:bodyPr wrap="square" lIns="0" tIns="0" rIns="0" bIns="0" rtlCol="0" anchor="t"/>
          <a:lstStyle/>
          <a:p>
            <a:pPr algn="l" indent="0" marL="0">
              <a:buNone/>
            </a:pPr>
            <a:r>
              <a:rPr lang="en-US" sz="1400" dirty="0">
                <a:solidFill>
                  <a:schemeClr val="bg1"/>
                </a:solidFill>
              </a:rPr>
              <a:t>Free, no key. Shows current weather for a location you set in Settings.</a:t>
            </a:r>
            <a:endParaRPr lang="en-US" sz="1400" dirty="0"/>
          </a:p>
        </p:txBody>
      </p:sp>
      <p:sp>
        <p:nvSpPr>
          <p:cNvPr id="15" name="ap3g"/>
          <p:cNvSpPr txBox="1"/>
          <p:nvPr/>
        </p:nvSpPr>
        <p:spPr>
          <a:xfrm>
            <a:off x="8275320" y="3566160"/>
            <a:ext cx="3136392" cy="2194560"/>
          </a:xfrm>
          <a:prstGeom prst="roundRect">
            <a:avLst>
              <a:gd name="adj" fmla="val 5000"/>
            </a:avLst>
          </a:prstGeom>
          <a:solidFill>
            <a:schemeClr val="accent4">
              <a:alpha val="15000"/>
            </a:schemeClr>
          </a:solidFill>
          <a:ln w="9525">
            <a:solidFill>
              <a:schemeClr val="accent4">
                <a:alpha val="50000"/>
              </a:schemeClr>
            </a:solidFill>
          </a:ln>
        </p:spPr>
        <p:txBody>
          <a:bodyPr wrap="square" lIns="127000" tIns="152400" rIns="152400" bIns="127000" rtlCol="0" anchor="ctr"/>
          <a:lstStyle/>
          <a:p>
            <a:pPr algn="l" indent="0" marL="0">
              <a:buNone/>
            </a:pPr>
            <a:r>
              <a:rPr lang="en-US" sz="1500" b="1" dirty="0">
                <a:solidFill>
                  <a:schemeClr val="accent4"/>
                </a:solidFill>
              </a:rPr>
              <a:t>Guard rail</a:t>
            </a:r>
            <a:endParaRPr lang="en-US" sz="1500" dirty="0"/>
          </a:p>
          <a:p>
            <a:pPr algn="l" indent="0" marL="0">
              <a:buNone/>
            </a:pPr>
            <a:r>
              <a:rPr lang="en-US" sz="1500" dirty="0">
                <a:solidFill>
                  <a:schemeClr val="bg1"/>
                </a:solidFill>
              </a:rPr>
              <a:t>Delays are labelled weather-related only if the flight API confirms it. Weather is context, never a guess.</a:t>
            </a:r>
            <a:endParaRPr lang="en-US" sz="1500" dirty="0"/>
          </a:p>
        </p:txBody>
      </p:sp>
      <p:sp>
        <p:nvSpPr>
          <p:cNvPr id="16" name="track"/>
          <p:cNvSpPr/>
          <p:nvPr/>
        </p:nvSpPr>
        <p:spPr>
          <a:xfrm>
            <a:off x="3383280" y="6510528"/>
            <a:ext cx="7132320" cy="0"/>
          </a:xfrm>
          <a:prstGeom prst="line">
            <a:avLst/>
          </a:prstGeom>
          <a:noFill/>
          <a:ln w="12700">
            <a:solidFill>
              <a:schemeClr val="bg2">
                <a:alpha val="45000"/>
              </a:schemeClr>
            </a:solidFill>
            <a:prstDash val="dash"/>
          </a:ln>
        </p:spPr>
      </p:sp>
      <p:sp>
        <p:nvSpPr>
          <p:cNvPr id="17" name="progress"/>
          <p:cNvSpPr/>
          <p:nvPr/>
        </p:nvSpPr>
        <p:spPr>
          <a:xfrm>
            <a:off x="3383280" y="6510528"/>
            <a:ext cx="3197247" cy="0"/>
          </a:xfrm>
          <a:prstGeom prst="line">
            <a:avLst/>
          </a:prstGeom>
          <a:noFill/>
          <a:ln w="28575">
            <a:solidFill>
              <a:schemeClr val="accent2"/>
            </a:solidFill>
            <a:prstDash val="solid"/>
          </a:ln>
        </p:spPr>
      </p:sp>
      <p:sp>
        <p:nvSpPr>
          <p:cNvPr id="18" name="wp0"/>
          <p:cNvSpPr/>
          <p:nvPr/>
        </p:nvSpPr>
        <p:spPr>
          <a:xfrm>
            <a:off x="3834016" y="6469380"/>
            <a:ext cx="82296" cy="82296"/>
          </a:xfrm>
          <a:prstGeom prst="ellipse">
            <a:avLst/>
          </a:prstGeom>
          <a:solidFill>
            <a:schemeClr val="accent2"/>
          </a:solidFill>
          <a:ln/>
        </p:spPr>
      </p:sp>
      <p:sp>
        <p:nvSpPr>
          <p:cNvPr id="19" name="wp1"/>
          <p:cNvSpPr/>
          <p:nvPr/>
        </p:nvSpPr>
        <p:spPr>
          <a:xfrm>
            <a:off x="4817784" y="6469380"/>
            <a:ext cx="82296" cy="82296"/>
          </a:xfrm>
          <a:prstGeom prst="ellipse">
            <a:avLst/>
          </a:prstGeom>
          <a:solidFill>
            <a:schemeClr val="accent2"/>
          </a:solidFill>
          <a:ln/>
        </p:spPr>
      </p:sp>
      <p:sp>
        <p:nvSpPr>
          <p:cNvPr id="20" name="wp2"/>
          <p:cNvSpPr/>
          <p:nvPr/>
        </p:nvSpPr>
        <p:spPr>
          <a:xfrm>
            <a:off x="7277205" y="6469380"/>
            <a:ext cx="82296" cy="82296"/>
          </a:xfrm>
          <a:prstGeom prst="ellipse">
            <a:avLst/>
          </a:prstGeom>
          <a:solidFill>
            <a:schemeClr val="bg2">
              <a:alpha val="60000"/>
            </a:schemeClr>
          </a:solidFill>
          <a:ln/>
        </p:spPr>
      </p:sp>
      <p:sp>
        <p:nvSpPr>
          <p:cNvPr id="21" name="wp3"/>
          <p:cNvSpPr/>
          <p:nvPr/>
        </p:nvSpPr>
        <p:spPr>
          <a:xfrm>
            <a:off x="8506915" y="6469380"/>
            <a:ext cx="82296" cy="82296"/>
          </a:xfrm>
          <a:prstGeom prst="ellipse">
            <a:avLst/>
          </a:prstGeom>
          <a:solidFill>
            <a:schemeClr val="bg2">
              <a:alpha val="60000"/>
            </a:schemeClr>
          </a:solidFill>
          <a:ln/>
        </p:spPr>
      </p:sp>
      <p:sp>
        <p:nvSpPr>
          <p:cNvPr id="22" name="wp4"/>
          <p:cNvSpPr/>
          <p:nvPr/>
        </p:nvSpPr>
        <p:spPr>
          <a:xfrm>
            <a:off x="9982568" y="6469380"/>
            <a:ext cx="82296" cy="82296"/>
          </a:xfrm>
          <a:prstGeom prst="ellipse">
            <a:avLst/>
          </a:prstGeom>
          <a:solidFill>
            <a:schemeClr val="bg2">
              <a:alpha val="60000"/>
            </a:schemeClr>
          </a:solidFill>
          <a:ln/>
        </p:spPr>
      </p:sp>
      <p:sp>
        <p:nvSpPr>
          <p:cNvPr id="23" name="progress_ext"/>
          <p:cNvSpPr/>
          <p:nvPr/>
        </p:nvSpPr>
        <p:spPr>
          <a:xfrm>
            <a:off x="6580527" y="6510528"/>
            <a:ext cx="245942" cy="0"/>
          </a:xfrm>
          <a:prstGeom prst="line">
            <a:avLst/>
          </a:prstGeom>
          <a:noFill/>
          <a:ln w="28575">
            <a:solidFill>
              <a:schemeClr val="accent2"/>
            </a:solidFill>
            <a:prstDash val="solid"/>
          </a:ln>
        </p:spPr>
      </p:sp>
      <p:pic>
        <p:nvPicPr>
          <p:cNvPr id="24" name="!!tracker" descr="Progress marker">    </p:cNvPr>
          <p:cNvPicPr>
            <a:picLocks noChangeAspect="1"/>
          </p:cNvPicPr>
          <p:nvPr/>
        </p:nvPicPr>
        <p:blipFill>
          <a:blip r:embed="rId1"/>
          <a:stretch>
            <a:fillRect/>
          </a:stretch>
        </p:blipFill>
        <p:spPr>
          <a:xfrm>
            <a:off x="639764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15</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ppt_y</p:attrName>
                                        </p:attrNameLst>
                                      </p:cBhvr>
                                      <p:tavLst>
                                        <p:tav tm="0">
                                          <p:val>
                                            <p:strVal val="#ppt_y+.1"/>
                                          </p:val>
                                        </p:tav>
                                        <p:tav tm="100000">
                                          <p:val>
                                            <p:strVal val="#ppt_y"/>
                                          </p:val>
                                        </p:tav>
                                      </p:tavLst>
                                    </p:anim>
                                    <p:animEffect transition="in" filter="fade">
                                      <p:cBhvr>
                                        <p:cTn id="16" dur="6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ppt_y</p:attrName>
                                        </p:attrNameLst>
                                      </p:cBhvr>
                                      <p:tavLst>
                                        <p:tav tm="0">
                                          <p:val>
                                            <p:strVal val="#ppt_y+.1"/>
                                          </p:val>
                                        </p:tav>
                                        <p:tav tm="100000">
                                          <p:val>
                                            <p:strVal val="#ppt_y"/>
                                          </p:val>
                                        </p:tav>
                                      </p:tavLst>
                                    </p:anim>
                                    <p:animEffect transition="in" filter="fade">
                                      <p:cBhvr>
                                        <p:cTn id="20" dur="6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600" fill="hold"/>
                                        <p:tgtEl>
                                          <p:spTgt spid="8"/>
                                        </p:tgtEl>
                                        <p:attrNameLst>
                                          <p:attrName>ppt_y</p:attrName>
                                        </p:attrNameLst>
                                      </p:cBhvr>
                                      <p:tavLst>
                                        <p:tav tm="0">
                                          <p:val>
                                            <p:strVal val="#ppt_y+.1"/>
                                          </p:val>
                                        </p:tav>
                                        <p:tav tm="100000">
                                          <p:val>
                                            <p:strVal val="#ppt_y"/>
                                          </p:val>
                                        </p:tav>
                                      </p:tavLst>
                                    </p:anim>
                                    <p:animEffect transition="in" filter="fade">
                                      <p:cBhvr>
                                        <p:cTn id="28" dur="6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200"/>
                                  </p:stCondLst>
                                  <p:childTnLst>
                                    <p:set>
                                      <p:cBhvr>
                                        <p:cTn id="32" dur="1" fill="hold">
                                          <p:stCondLst>
                                            <p:cond delay="0"/>
                                          </p:stCondLst>
                                        </p:cTn>
                                        <p:tgtEl>
                                          <p:spTgt spid="9"/>
                                        </p:tgtEl>
                                        <p:attrNameLst>
                                          <p:attrName>style.visibility</p:attrName>
                                        </p:attrNameLst>
                                      </p:cBhvr>
                                      <p:to>
                                        <p:strVal val="visible"/>
                                      </p:to>
                                    </p:set>
                                    <p:anim calcmode="lin" valueType="num">
                                      <p:cBhvr additive="base">
                                        <p:cTn id="33" dur="600" fill="hold"/>
                                        <p:tgtEl>
                                          <p:spTgt spid="9"/>
                                        </p:tgtEl>
                                        <p:attrNameLst>
                                          <p:attrName>ppt_y</p:attrName>
                                        </p:attrNameLst>
                                      </p:cBhvr>
                                      <p:tavLst>
                                        <p:tav tm="0">
                                          <p:val>
                                            <p:strVal val="#ppt_y+.1"/>
                                          </p:val>
                                        </p:tav>
                                        <p:tav tm="100000">
                                          <p:val>
                                            <p:strVal val="#ppt_y"/>
                                          </p:val>
                                        </p:tav>
                                      </p:tavLst>
                                    </p:anim>
                                    <p:animEffect transition="in" filter="fade">
                                      <p:cBhvr>
                                        <p:cTn id="34" dur="600"/>
                                        <p:tgtEl>
                                          <p:spTgt spid="9"/>
                                        </p:tgtEl>
                                      </p:cBhvr>
                                    </p:animEffect>
                                  </p:childTnLst>
                                </p:cTn>
                              </p:par>
                              <p:par>
                                <p:cTn id="35" presetID="42" presetClass="entr" presetSubtype="0" fill="hold" grpId="0" nodeType="withEffect">
                                  <p:stCondLst>
                                    <p:cond delay="20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600" fill="hold"/>
                                        <p:tgtEl>
                                          <p:spTgt spid="10"/>
                                        </p:tgtEl>
                                        <p:attrNameLst>
                                          <p:attrName>ppt_y</p:attrName>
                                        </p:attrNameLst>
                                      </p:cBhvr>
                                      <p:tavLst>
                                        <p:tav tm="0">
                                          <p:val>
                                            <p:strVal val="#ppt_y+.1"/>
                                          </p:val>
                                        </p:tav>
                                        <p:tav tm="100000">
                                          <p:val>
                                            <p:strVal val="#ppt_y"/>
                                          </p:val>
                                        </p:tav>
                                      </p:tavLst>
                                    </p:anim>
                                    <p:animEffect transition="in" filter="fade">
                                      <p:cBhvr>
                                        <p:cTn id="38" dur="600"/>
                                        <p:tgtEl>
                                          <p:spTgt spid="10"/>
                                        </p:tgtEl>
                                      </p:cBhvr>
                                    </p:animEffect>
                                  </p:childTnLst>
                                </p:cTn>
                              </p:par>
                              <p:par>
                                <p:cTn id="39" presetID="42" presetClass="entr" presetSubtype="0" fill="hold" grpId="0" nodeType="withEffect">
                                  <p:stCondLst>
                                    <p:cond delay="20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600" fill="hold"/>
                                        <p:tgtEl>
                                          <p:spTgt spid="11"/>
                                        </p:tgtEl>
                                        <p:attrNameLst>
                                          <p:attrName>ppt_y</p:attrName>
                                        </p:attrNameLst>
                                      </p:cBhvr>
                                      <p:tavLst>
                                        <p:tav tm="0">
                                          <p:val>
                                            <p:strVal val="#ppt_y+.1"/>
                                          </p:val>
                                        </p:tav>
                                        <p:tav tm="100000">
                                          <p:val>
                                            <p:strVal val="#ppt_y"/>
                                          </p:val>
                                        </p:tav>
                                      </p:tavLst>
                                    </p:anim>
                                    <p:animEffect transition="in" filter="fade">
                                      <p:cBhvr>
                                        <p:cTn id="42" dur="6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200"/>
                                  </p:stCondLst>
                                  <p:childTnLst>
                                    <p:set>
                                      <p:cBhvr>
                                        <p:cTn id="46" dur="1" fill="hold">
                                          <p:stCondLst>
                                            <p:cond delay="0"/>
                                          </p:stCondLst>
                                        </p:cTn>
                                        <p:tgtEl>
                                          <p:spTgt spid="12"/>
                                        </p:tgtEl>
                                        <p:attrNameLst>
                                          <p:attrName>style.visibility</p:attrName>
                                        </p:attrNameLst>
                                      </p:cBhvr>
                                      <p:to>
                                        <p:strVal val="visible"/>
                                      </p:to>
                                    </p:set>
                                    <p:anim calcmode="lin" valueType="num">
                                      <p:cBhvr additive="base">
                                        <p:cTn id="47" dur="600" fill="hold"/>
                                        <p:tgtEl>
                                          <p:spTgt spid="12"/>
                                        </p:tgtEl>
                                        <p:attrNameLst>
                                          <p:attrName>ppt_y</p:attrName>
                                        </p:attrNameLst>
                                      </p:cBhvr>
                                      <p:tavLst>
                                        <p:tav tm="0">
                                          <p:val>
                                            <p:strVal val="#ppt_y+.1"/>
                                          </p:val>
                                        </p:tav>
                                        <p:tav tm="100000">
                                          <p:val>
                                            <p:strVal val="#ppt_y"/>
                                          </p:val>
                                        </p:tav>
                                      </p:tavLst>
                                    </p:anim>
                                    <p:animEffect transition="in" filter="fade">
                                      <p:cBhvr>
                                        <p:cTn id="48" dur="600"/>
                                        <p:tgtEl>
                                          <p:spTgt spid="12"/>
                                        </p:tgtEl>
                                      </p:cBhvr>
                                    </p:animEffect>
                                  </p:childTnLst>
                                </p:cTn>
                              </p:par>
                              <p:par>
                                <p:cTn id="49" presetID="42" presetClass="entr" presetSubtype="0" fill="hold" grpId="0" nodeType="withEffect">
                                  <p:stCondLst>
                                    <p:cond delay="20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600" fill="hold"/>
                                        <p:tgtEl>
                                          <p:spTgt spid="13"/>
                                        </p:tgtEl>
                                        <p:attrNameLst>
                                          <p:attrName>ppt_y</p:attrName>
                                        </p:attrNameLst>
                                      </p:cBhvr>
                                      <p:tavLst>
                                        <p:tav tm="0">
                                          <p:val>
                                            <p:strVal val="#ppt_y+.1"/>
                                          </p:val>
                                        </p:tav>
                                        <p:tav tm="100000">
                                          <p:val>
                                            <p:strVal val="#ppt_y"/>
                                          </p:val>
                                        </p:tav>
                                      </p:tavLst>
                                    </p:anim>
                                    <p:animEffect transition="in" filter="fade">
                                      <p:cBhvr>
                                        <p:cTn id="52" dur="600"/>
                                        <p:tgtEl>
                                          <p:spTgt spid="13"/>
                                        </p:tgtEl>
                                      </p:cBhvr>
                                    </p:animEffect>
                                  </p:childTnLst>
                                </p:cTn>
                              </p:par>
                              <p:par>
                                <p:cTn id="53" presetID="42" presetClass="entr" presetSubtype="0" fill="hold" grpId="0" nodeType="withEffect">
                                  <p:stCondLst>
                                    <p:cond delay="20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600" fill="hold"/>
                                        <p:tgtEl>
                                          <p:spTgt spid="14"/>
                                        </p:tgtEl>
                                        <p:attrNameLst>
                                          <p:attrName>ppt_y</p:attrName>
                                        </p:attrNameLst>
                                      </p:cBhvr>
                                      <p:tavLst>
                                        <p:tav tm="0">
                                          <p:val>
                                            <p:strVal val="#ppt_y+.1"/>
                                          </p:val>
                                        </p:tav>
                                        <p:tav tm="100000">
                                          <p:val>
                                            <p:strVal val="#ppt_y"/>
                                          </p:val>
                                        </p:tav>
                                      </p:tavLst>
                                    </p:anim>
                                    <p:animEffect transition="in" filter="fade">
                                      <p:cBhvr>
                                        <p:cTn id="56" dur="600"/>
                                        <p:tgtEl>
                                          <p:spTgt spid="14"/>
                                        </p:tgtEl>
                                      </p:cBhvr>
                                    </p:animEffect>
                                  </p:childTnLst>
                                </p:cTn>
                              </p:par>
                              <p:par>
                                <p:cTn id="57" presetID="42" presetClass="entr" presetSubtype="0" fill="hold" grpId="0" nodeType="withEffect">
                                  <p:stCondLst>
                                    <p:cond delay="200"/>
                                  </p:stCondLst>
                                  <p:childTnLst>
                                    <p:set>
                                      <p:cBhvr>
                                        <p:cTn id="58" dur="1" fill="hold">
                                          <p:stCondLst>
                                            <p:cond delay="0"/>
                                          </p:stCondLst>
                                        </p:cTn>
                                        <p:tgtEl>
                                          <p:spTgt spid="15"/>
                                        </p:tgtEl>
                                        <p:attrNameLst>
                                          <p:attrName>style.visibility</p:attrName>
                                        </p:attrNameLst>
                                      </p:cBhvr>
                                      <p:to>
                                        <p:strVal val="visible"/>
                                      </p:to>
                                    </p:set>
                                    <p:anim calcmode="lin" valueType="num">
                                      <p:cBhvr additive="base">
                                        <p:cTn id="59" dur="600" fill="hold"/>
                                        <p:tgtEl>
                                          <p:spTgt spid="15"/>
                                        </p:tgtEl>
                                        <p:attrNameLst>
                                          <p:attrName>ppt_y</p:attrName>
                                        </p:attrNameLst>
                                      </p:cBhvr>
                                      <p:tavLst>
                                        <p:tav tm="0">
                                          <p:val>
                                            <p:strVal val="#ppt_y+.1"/>
                                          </p:val>
                                        </p:tav>
                                        <p:tav tm="100000">
                                          <p:val>
                                            <p:strVal val="#ppt_y"/>
                                          </p:val>
                                        </p:tav>
                                      </p:tavLst>
                                    </p:anim>
                                    <p:animEffect transition="in" filter="fade">
                                      <p:cBhvr>
                                        <p:cTn id="60" dur="600"/>
                                        <p:tgtEl>
                                          <p:spTgt spid="15"/>
                                        </p:tgtEl>
                                      </p:cBhvr>
                                    </p:animEffect>
                                  </p:childTnLst>
                                </p:cTn>
                              </p:par>
                              <p:par>
                                <p:cTn id="61" presetID="22" presetClass="entr" presetSubtype="8" fill="hold" grpId="0" nodeType="withEffect">
                                  <p:stCondLst>
                                    <p:cond delay="600"/>
                                  </p:stCondLst>
                                  <p:childTnLst>
                                    <p:set>
                                      <p:cBhvr>
                                        <p:cTn id="62" dur="1" fill="hold">
                                          <p:stCondLst>
                                            <p:cond delay="0"/>
                                          </p:stCondLst>
                                        </p:cTn>
                                        <p:tgtEl>
                                          <p:spTgt spid="23"/>
                                        </p:tgtEl>
                                        <p:attrNameLst>
                                          <p:attrName>style.visibility</p:attrName>
                                        </p:attrNameLst>
                                      </p:cBhvr>
                                      <p:to>
                                        <p:strVal val="visible"/>
                                      </p:to>
                                    </p:set>
                                    <p:animEffect transition="in" filter="wipe(left)">
                                      <p:cBhvr>
                                        <p:cTn id="63" dur="1100"/>
                                        <p:tgtEl>
                                          <p:spTgt spid="23"/>
                                        </p:tgtEl>
                                      </p:cBhvr>
                                    </p:animEffect>
                                  </p:childTnLst>
                                </p:cTn>
                              </p:par>
                              <p:par>
                                <p:cTn id="65" presetID="0" presetClass="path" presetSubtype="0" fill="hold" accel="30000" decel="30000" nodeType="withEffect">
                                  <p:stCondLst>
                                    <p:cond delay="600"/>
                                  </p:stCondLst>
                                  <p:childTnLst>
                                    <p:animMotion origin="layout" path="M 0 0 L 0.02017 0 E" pathEditMode="relative" rAng="0" ptsTypes="AA">
                                      <p:cBhvr>
                                        <p:cTn id="64" dur="1100" fill="hold"/>
                                        <p:tgtEl>
                                          <p:spTgt spid="24"/>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2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02  ·  SOLUTION AND DESIGN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Validation and processing</a:t>
            </a:r>
            <a:endParaRPr lang="en-US" sz="3600" dirty="0"/>
          </a:p>
        </p:txBody>
      </p:sp>
      <p:sp>
        <p:nvSpPr>
          <p:cNvPr id="5" name="vl1"/>
          <p:cNvSpPr/>
          <p:nvPr/>
        </p:nvSpPr>
        <p:spPr>
          <a:xfrm>
            <a:off x="548640" y="1691640"/>
            <a:ext cx="5257800" cy="3566160"/>
          </a:xfrm>
          <a:prstGeom prst="roundRect">
            <a:avLst>
              <a:gd name="adj" fmla="val 3077"/>
            </a:avLst>
          </a:prstGeom>
          <a:solidFill>
            <a:schemeClr val="bg1">
              <a:alpha val="9000"/>
            </a:schemeClr>
          </a:solidFill>
          <a:ln w="9525">
            <a:solidFill>
              <a:schemeClr val="accent4">
                <a:alpha val="60000"/>
              </a:schemeClr>
            </a:solidFill>
            <a:prstDash val="solid"/>
          </a:ln>
        </p:spPr>
      </p:sp>
      <p:sp>
        <p:nvSpPr>
          <p:cNvPr id="6" name="vl1h"/>
          <p:cNvSpPr txBox="1"/>
          <p:nvPr/>
        </p:nvSpPr>
        <p:spPr>
          <a:xfrm>
            <a:off x="777240" y="1828800"/>
            <a:ext cx="4572000" cy="274320"/>
          </a:xfrm>
          <a:prstGeom prst="rect">
            <a:avLst/>
          </a:prstGeom>
          <a:noFill/>
          <a:ln/>
        </p:spPr>
        <p:txBody>
          <a:bodyPr wrap="square" lIns="0" tIns="0" rIns="0" bIns="0" rtlCol="0" anchor="t"/>
          <a:lstStyle/>
          <a:p>
            <a:pPr algn="l" indent="0" marL="0">
              <a:buNone/>
            </a:pPr>
            <a:r>
              <a:rPr lang="en-US" sz="1200" b="1" spc="300" kern="0" dirty="0">
                <a:solidFill>
                  <a:schemeClr val="accent4"/>
                </a:solidFill>
              </a:rPr>
              <a:t>PYDANTIC GATE</a:t>
            </a:r>
            <a:endParaRPr lang="en-US" sz="1200" dirty="0"/>
          </a:p>
        </p:txBody>
      </p:sp>
      <p:sp>
        <p:nvSpPr>
          <p:cNvPr id="7" name="vl1t"/>
          <p:cNvSpPr txBox="1"/>
          <p:nvPr/>
        </p:nvSpPr>
        <p:spPr>
          <a:xfrm>
            <a:off x="777240" y="2240280"/>
            <a:ext cx="4846320" cy="2926080"/>
          </a:xfrm>
          <a:prstGeom prst="rect">
            <a:avLst/>
          </a:prstGeom>
          <a:noFill/>
          <a:ln/>
        </p:spPr>
        <p:txBody>
          <a:bodyPr wrap="square" lIns="0" tIns="0" rIns="0" bIns="0" rtlCol="0" anchor="t"/>
          <a:lstStyle/>
          <a:p>
            <a:pPr algn="l" marL="342900" indent="-342900">
              <a:spcAft>
                <a:spcPts val="700"/>
              </a:spcAft>
              <a:buSzPct val="100000"/>
              <a:buChar char="•"/>
            </a:pPr>
            <a:r>
              <a:rPr lang="en-US" sz="1600" dirty="0">
                <a:solidFill>
                  <a:schemeClr val="bg1"/>
                </a:solidFill>
              </a:rPr>
              <a:t>Status is one of six known values</a:t>
            </a:r>
            <a:endParaRPr lang="en-US" sz="1600" dirty="0"/>
          </a:p>
          <a:p>
            <a:pPr algn="l" marL="342900" indent="-342900">
              <a:spcAft>
                <a:spcPts val="700"/>
              </a:spcAft>
              <a:buSzPct val="100000"/>
              <a:buChar char="•"/>
            </a:pPr>
            <a:r>
              <a:rPr lang="en-US" sz="1600" dirty="0">
                <a:solidFill>
                  <a:schemeClr val="bg1"/>
                </a:solidFill>
              </a:rPr>
              <a:t>Dates are ISO formatted</a:t>
            </a:r>
            <a:endParaRPr lang="en-US" sz="1600" dirty="0"/>
          </a:p>
          <a:p>
            <a:pPr algn="l" marL="342900" indent="-342900">
              <a:spcAft>
                <a:spcPts val="700"/>
              </a:spcAft>
              <a:buSzPct val="100000"/>
              <a:buChar char="•"/>
            </a:pPr>
            <a:r>
              <a:rPr lang="en-US" sz="1600" dirty="0">
                <a:solidFill>
                  <a:schemeClr val="bg1"/>
                </a:solidFill>
              </a:rPr>
              <a:t>Delays are never negative</a:t>
            </a:r>
            <a:endParaRPr lang="en-US" sz="1600" dirty="0"/>
          </a:p>
          <a:p>
            <a:pPr algn="l" marL="342900" indent="-342900">
              <a:spcAft>
                <a:spcPts val="700"/>
              </a:spcAft>
              <a:buSzPct val="100000"/>
              <a:buChar char="•"/>
            </a:pPr>
            <a:r>
              <a:rPr lang="en-US" sz="1600" dirty="0">
                <a:solidFill>
                  <a:schemeClr val="bg1"/>
                </a:solidFill>
              </a:rPr>
              <a:t>Latitude −90..90, longitude −180..180</a:t>
            </a:r>
            <a:endParaRPr lang="en-US" sz="1600" dirty="0"/>
          </a:p>
          <a:p>
            <a:pPr algn="l" marL="342900" indent="-342900">
              <a:spcAft>
                <a:spcPts val="700"/>
              </a:spcAft>
              <a:buSzPct val="100000"/>
              <a:buChar char="•"/>
            </a:pPr>
            <a:r>
              <a:rPr lang="en-US" sz="1600" dirty="0">
                <a:solidFill>
                  <a:schemeClr val="bg1"/>
                </a:solidFill>
              </a:rPr>
              <a:t>IATA codes are normalised to upper case</a:t>
            </a:r>
            <a:endParaRPr lang="en-US" sz="1600" dirty="0"/>
          </a:p>
          <a:p>
            <a:pPr algn="l" marL="342900" indent="-342900">
              <a:spcAft>
                <a:spcPts val="700"/>
              </a:spcAft>
              <a:buSzPct val="100000"/>
              <a:buChar char="•"/>
            </a:pPr>
            <a:r>
              <a:rPr lang="en-US" sz="1600" dirty="0">
                <a:solidFill>
                  <a:schemeClr val="bg1"/>
                </a:solidFill>
              </a:rPr>
              <a:t>Null nested blocks are allowed</a:t>
            </a:r>
            <a:endParaRPr lang="en-US" sz="1600" dirty="0"/>
          </a:p>
        </p:txBody>
      </p:sp>
      <p:sp>
        <p:nvSpPr>
          <p:cNvPr id="8" name="vlarrow"/>
          <p:cNvSpPr/>
          <p:nvPr/>
        </p:nvSpPr>
        <p:spPr>
          <a:xfrm>
            <a:off x="5897880" y="3474720"/>
            <a:ext cx="457200" cy="0"/>
          </a:xfrm>
          <a:prstGeom prst="line">
            <a:avLst/>
          </a:prstGeom>
          <a:noFill/>
          <a:ln w="25400">
            <a:solidFill>
              <a:schemeClr val="bg1"/>
            </a:solidFill>
            <a:prstDash val="solid"/>
            <a:tailEnd type="triangle"/>
          </a:ln>
        </p:spPr>
      </p:sp>
      <p:sp>
        <p:nvSpPr>
          <p:cNvPr id="9" name="vl2"/>
          <p:cNvSpPr/>
          <p:nvPr/>
        </p:nvSpPr>
        <p:spPr>
          <a:xfrm>
            <a:off x="6446520" y="1691640"/>
            <a:ext cx="5193792" cy="3566160"/>
          </a:xfrm>
          <a:prstGeom prst="roundRect">
            <a:avLst>
              <a:gd name="adj" fmla="val 3077"/>
            </a:avLst>
          </a:prstGeom>
          <a:solidFill>
            <a:schemeClr val="bg1">
              <a:alpha val="9000"/>
            </a:schemeClr>
          </a:solidFill>
          <a:ln w="9525">
            <a:solidFill>
              <a:schemeClr val="accent2">
                <a:alpha val="60000"/>
              </a:schemeClr>
            </a:solidFill>
            <a:prstDash val="solid"/>
          </a:ln>
        </p:spPr>
      </p:sp>
      <p:sp>
        <p:nvSpPr>
          <p:cNvPr id="10" name="vl2h"/>
          <p:cNvSpPr txBox="1"/>
          <p:nvPr/>
        </p:nvSpPr>
        <p:spPr>
          <a:xfrm>
            <a:off x="6675120" y="1828800"/>
            <a:ext cx="45720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PANDAS TRANSFORM</a:t>
            </a:r>
            <a:endParaRPr lang="en-US" sz="1200" dirty="0"/>
          </a:p>
        </p:txBody>
      </p:sp>
      <p:sp>
        <p:nvSpPr>
          <p:cNvPr id="11" name="vl2t"/>
          <p:cNvSpPr txBox="1"/>
          <p:nvPr/>
        </p:nvSpPr>
        <p:spPr>
          <a:xfrm>
            <a:off x="6675120" y="2240280"/>
            <a:ext cx="4754880" cy="2926080"/>
          </a:xfrm>
          <a:prstGeom prst="rect">
            <a:avLst/>
          </a:prstGeom>
          <a:noFill/>
          <a:ln/>
        </p:spPr>
        <p:txBody>
          <a:bodyPr wrap="square" lIns="0" tIns="0" rIns="0" bIns="0" rtlCol="0" anchor="t"/>
          <a:lstStyle/>
          <a:p>
            <a:pPr algn="l" marL="342900" indent="-342900">
              <a:spcAft>
                <a:spcPts val="700"/>
              </a:spcAft>
              <a:buSzPct val="100000"/>
              <a:buFont typeface="+mj-lt"/>
              <a:buAutoNum type="arabicPeriod" startAt="1"/>
            </a:pPr>
            <a:r>
              <a:rPr lang="en-US" sz="1600" dirty="0">
                <a:solidFill>
                  <a:schemeClr val="bg1"/>
                </a:solidFill>
              </a:rPr>
              <a:t>Flatten nested blocks into columns</a:t>
            </a:r>
            <a:endParaRPr lang="en-US" sz="1600" dirty="0"/>
          </a:p>
          <a:p>
            <a:pPr algn="l" marL="342900" indent="-342900">
              <a:spcAft>
                <a:spcPts val="700"/>
              </a:spcAft>
              <a:buSzPct val="100000"/>
              <a:buFont typeface="+mj-lt"/>
              <a:buAutoNum type="arabicPeriod" startAt="1"/>
            </a:pPr>
            <a:r>
              <a:rPr lang="en-US" sz="1600" dirty="0">
                <a:solidFill>
                  <a:schemeClr val="bg1"/>
                </a:solidFill>
              </a:rPr>
              <a:t>Parse timestamps to UTC</a:t>
            </a:r>
            <a:endParaRPr lang="en-US" sz="1600" dirty="0"/>
          </a:p>
          <a:p>
            <a:pPr algn="l" marL="342900" indent="-342900">
              <a:spcAft>
                <a:spcPts val="700"/>
              </a:spcAft>
              <a:buSzPct val="100000"/>
              <a:buFont typeface="+mj-lt"/>
              <a:buAutoNum type="arabicPeriod" startAt="1"/>
            </a:pPr>
            <a:r>
              <a:rPr lang="en-US" sz="1600" dirty="0">
                <a:solidFill>
                  <a:schemeClr val="bg1"/>
                </a:solidFill>
              </a:rPr>
              <a:t>Derive route, is_delayed, max_delay_min</a:t>
            </a:r>
            <a:endParaRPr lang="en-US" sz="1600" dirty="0"/>
          </a:p>
          <a:p>
            <a:pPr algn="l" marL="342900" indent="-342900">
              <a:spcAft>
                <a:spcPts val="700"/>
              </a:spcAft>
              <a:buSzPct val="100000"/>
              <a:buFont typeface="+mj-lt"/>
              <a:buAutoNum type="arabicPeriod" startAt="1"/>
            </a:pPr>
            <a:r>
              <a:rPr lang="en-US" sz="1600" dirty="0">
                <a:solidFill>
                  <a:schemeClr val="bg1"/>
                </a:solidFill>
              </a:rPr>
              <a:t>Drop rows with no airport codes</a:t>
            </a:r>
            <a:endParaRPr lang="en-US" sz="1600" dirty="0"/>
          </a:p>
          <a:p>
            <a:pPr algn="l" marL="342900" indent="-342900">
              <a:spcAft>
                <a:spcPts val="700"/>
              </a:spcAft>
              <a:buSzPct val="100000"/>
              <a:buFont typeface="+mj-lt"/>
              <a:buAutoNum type="arabicPeriod" startAt="1"/>
            </a:pPr>
            <a:r>
              <a:rPr lang="en-US" sz="1600" dirty="0">
                <a:solidFill>
                  <a:schemeClr val="bg1"/>
                </a:solidFill>
              </a:rPr>
              <a:t>De-duplicate on the natural key</a:t>
            </a:r>
            <a:endParaRPr lang="en-US" sz="1600" dirty="0"/>
          </a:p>
          <a:p>
            <a:pPr algn="l" marL="342900" indent="-342900">
              <a:spcAft>
                <a:spcPts val="700"/>
              </a:spcAft>
              <a:buSzPct val="100000"/>
              <a:buFont typeface="+mj-lt"/>
              <a:buAutoNum type="arabicPeriod" startAt="1"/>
            </a:pPr>
            <a:r>
              <a:rPr lang="en-US" sz="1600" dirty="0">
                <a:solidFill>
                  <a:schemeClr val="bg1"/>
                </a:solidFill>
              </a:rPr>
              <a:t>Derive the airports table</a:t>
            </a:r>
            <a:endParaRPr lang="en-US" sz="1600" dirty="0"/>
          </a:p>
        </p:txBody>
      </p:sp>
      <p:sp>
        <p:nvSpPr>
          <p:cNvPr id="12" name="vlres"/>
          <p:cNvSpPr txBox="1"/>
          <p:nvPr/>
        </p:nvSpPr>
        <p:spPr>
          <a:xfrm>
            <a:off x="548640" y="5440680"/>
            <a:ext cx="11091672" cy="640080"/>
          </a:xfrm>
          <a:prstGeom prst="roundRect">
            <a:avLst>
              <a:gd name="adj" fmla="val 17143"/>
            </a:avLst>
          </a:prstGeom>
          <a:solidFill>
            <a:schemeClr val="accent6">
              <a:alpha val="12000"/>
            </a:schemeClr>
          </a:solidFill>
          <a:ln w="9525">
            <a:solidFill>
              <a:schemeClr val="accent6">
                <a:alpha val="50000"/>
              </a:schemeClr>
            </a:solidFill>
          </a:ln>
        </p:spPr>
        <p:txBody>
          <a:bodyPr wrap="square" lIns="127000" tIns="152400" rIns="152400" bIns="127000" rtlCol="0" anchor="ctr"/>
          <a:lstStyle/>
          <a:p>
            <a:pPr algn="l" indent="0" marL="0">
              <a:buNone/>
            </a:pPr>
            <a:r>
              <a:rPr lang="en-US" sz="1600" b="1" dirty="0">
                <a:solidFill>
                  <a:schemeClr val="accent6"/>
                </a:solidFill>
              </a:rPr>
              <a:t>Real runs: </a:t>
            </a:r>
            <a:pPr algn="l" indent="0" marL="0">
              <a:buNone/>
            </a:pPr>
            <a:r>
              <a:rPr lang="en-US" sz="1600" dirty="0">
                <a:solidFill>
                  <a:schemeClr val="bg1"/>
                </a:solidFill>
              </a:rPr>
              <a:t>135 records fetched, 135 passed validation. Bad rows would be reported, never silently fixed.</a:t>
            </a:r>
            <a:endParaRPr lang="en-US" sz="1600" dirty="0"/>
          </a:p>
        </p:txBody>
      </p:sp>
      <p:sp>
        <p:nvSpPr>
          <p:cNvPr id="13" name="track"/>
          <p:cNvSpPr/>
          <p:nvPr/>
        </p:nvSpPr>
        <p:spPr>
          <a:xfrm>
            <a:off x="3383280" y="6510528"/>
            <a:ext cx="7132320" cy="0"/>
          </a:xfrm>
          <a:prstGeom prst="line">
            <a:avLst/>
          </a:prstGeom>
          <a:noFill/>
          <a:ln w="12700">
            <a:solidFill>
              <a:schemeClr val="bg2">
                <a:alpha val="45000"/>
              </a:schemeClr>
            </a:solidFill>
            <a:prstDash val="dash"/>
          </a:ln>
        </p:spPr>
      </p:sp>
      <p:sp>
        <p:nvSpPr>
          <p:cNvPr id="14" name="progress"/>
          <p:cNvSpPr/>
          <p:nvPr/>
        </p:nvSpPr>
        <p:spPr>
          <a:xfrm>
            <a:off x="3383280" y="6510528"/>
            <a:ext cx="3443189" cy="0"/>
          </a:xfrm>
          <a:prstGeom prst="line">
            <a:avLst/>
          </a:prstGeom>
          <a:noFill/>
          <a:ln w="28575">
            <a:solidFill>
              <a:schemeClr val="accent2"/>
            </a:solidFill>
            <a:prstDash val="solid"/>
          </a:ln>
        </p:spPr>
      </p:sp>
      <p:sp>
        <p:nvSpPr>
          <p:cNvPr id="15" name="wp0"/>
          <p:cNvSpPr/>
          <p:nvPr/>
        </p:nvSpPr>
        <p:spPr>
          <a:xfrm>
            <a:off x="3834016" y="6469380"/>
            <a:ext cx="82296" cy="82296"/>
          </a:xfrm>
          <a:prstGeom prst="ellipse">
            <a:avLst/>
          </a:prstGeom>
          <a:solidFill>
            <a:schemeClr val="accent2"/>
          </a:solidFill>
          <a:ln/>
        </p:spPr>
      </p:sp>
      <p:sp>
        <p:nvSpPr>
          <p:cNvPr id="16" name="wp1"/>
          <p:cNvSpPr/>
          <p:nvPr/>
        </p:nvSpPr>
        <p:spPr>
          <a:xfrm>
            <a:off x="4817784" y="6469380"/>
            <a:ext cx="82296" cy="82296"/>
          </a:xfrm>
          <a:prstGeom prst="ellipse">
            <a:avLst/>
          </a:prstGeom>
          <a:solidFill>
            <a:schemeClr val="accent2"/>
          </a:solidFill>
          <a:ln/>
        </p:spPr>
      </p:sp>
      <p:sp>
        <p:nvSpPr>
          <p:cNvPr id="17" name="wp2"/>
          <p:cNvSpPr/>
          <p:nvPr/>
        </p:nvSpPr>
        <p:spPr>
          <a:xfrm>
            <a:off x="7277205" y="6469380"/>
            <a:ext cx="82296" cy="82296"/>
          </a:xfrm>
          <a:prstGeom prst="ellipse">
            <a:avLst/>
          </a:prstGeom>
          <a:solidFill>
            <a:schemeClr val="bg2">
              <a:alpha val="60000"/>
            </a:schemeClr>
          </a:solidFill>
          <a:ln/>
        </p:spPr>
      </p:sp>
      <p:sp>
        <p:nvSpPr>
          <p:cNvPr id="18" name="wp3"/>
          <p:cNvSpPr/>
          <p:nvPr/>
        </p:nvSpPr>
        <p:spPr>
          <a:xfrm>
            <a:off x="8506915" y="6469380"/>
            <a:ext cx="82296" cy="82296"/>
          </a:xfrm>
          <a:prstGeom prst="ellipse">
            <a:avLst/>
          </a:prstGeom>
          <a:solidFill>
            <a:schemeClr val="bg2">
              <a:alpha val="60000"/>
            </a:schemeClr>
          </a:solidFill>
          <a:ln/>
        </p:spPr>
      </p:sp>
      <p:sp>
        <p:nvSpPr>
          <p:cNvPr id="19" name="wp4"/>
          <p:cNvSpPr/>
          <p:nvPr/>
        </p:nvSpPr>
        <p:spPr>
          <a:xfrm>
            <a:off x="9982568" y="6469380"/>
            <a:ext cx="82296" cy="82296"/>
          </a:xfrm>
          <a:prstGeom prst="ellipse">
            <a:avLst/>
          </a:prstGeom>
          <a:solidFill>
            <a:schemeClr val="bg2">
              <a:alpha val="60000"/>
            </a:schemeClr>
          </a:solidFill>
          <a:ln/>
        </p:spPr>
      </p:sp>
      <p:sp>
        <p:nvSpPr>
          <p:cNvPr id="20" name="progress_ext"/>
          <p:cNvSpPr/>
          <p:nvPr/>
        </p:nvSpPr>
        <p:spPr>
          <a:xfrm>
            <a:off x="6826469" y="6510528"/>
            <a:ext cx="245942" cy="0"/>
          </a:xfrm>
          <a:prstGeom prst="line">
            <a:avLst/>
          </a:prstGeom>
          <a:noFill/>
          <a:ln w="28575">
            <a:solidFill>
              <a:schemeClr val="accent2"/>
            </a:solidFill>
            <a:prstDash val="solid"/>
          </a:ln>
        </p:spPr>
      </p:sp>
      <p:pic>
        <p:nvPicPr>
          <p:cNvPr id="21" name="!!tracker" descr="Progress marker">    </p:cNvPr>
          <p:cNvPicPr>
            <a:picLocks noChangeAspect="1"/>
          </p:cNvPicPr>
          <p:nvPr/>
        </p:nvPicPr>
        <p:blipFill>
          <a:blip r:embed="rId1"/>
          <a:stretch>
            <a:fillRect/>
          </a:stretch>
        </p:blipFill>
        <p:spPr>
          <a:xfrm>
            <a:off x="664358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16</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600" fill="hold"/>
                                        <p:tgtEl>
                                          <p:spTgt spid="5"/>
                                        </p:tgtEl>
                                        <p:attrNameLst>
                                          <p:attrName>ppt_y</p:attrName>
                                        </p:attrNameLst>
                                      </p:cBhvr>
                                      <p:tavLst>
                                        <p:tav tm="0">
                                          <p:val>
                                            <p:strVal val="#ppt_y+.1"/>
                                          </p:val>
                                        </p:tav>
                                        <p:tav tm="100000">
                                          <p:val>
                                            <p:strVal val="#ppt_y"/>
                                          </p:val>
                                        </p:tav>
                                      </p:tavLst>
                                    </p:anim>
                                    <p:animEffect transition="in" filter="fade">
                                      <p:cBhvr>
                                        <p:cTn id="16" dur="6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600" fill="hold"/>
                                        <p:tgtEl>
                                          <p:spTgt spid="6"/>
                                        </p:tgtEl>
                                        <p:attrNameLst>
                                          <p:attrName>ppt_y</p:attrName>
                                        </p:attrNameLst>
                                      </p:cBhvr>
                                      <p:tavLst>
                                        <p:tav tm="0">
                                          <p:val>
                                            <p:strVal val="#ppt_y+.1"/>
                                          </p:val>
                                        </p:tav>
                                        <p:tav tm="100000">
                                          <p:val>
                                            <p:strVal val="#ppt_y"/>
                                          </p:val>
                                        </p:tav>
                                      </p:tavLst>
                                    </p:anim>
                                    <p:animEffect transition="in" filter="fade">
                                      <p:cBhvr>
                                        <p:cTn id="20" dur="6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wipe(left)">
                                      <p:cBhvr>
                                        <p:cTn id="29" dur="500"/>
                                        <p:tgtEl>
                                          <p:spTgt spid="8"/>
                                        </p:tgtEl>
                                      </p:cBhvr>
                                    </p:animEffect>
                                  </p:childTnLst>
                                </p:cTn>
                              </p:par>
                              <p:par>
                                <p:cTn id="30" presetID="42" presetClass="entr" presetSubtype="0" fill="hold" grpId="0" nodeType="withEffect">
                                  <p:stCondLst>
                                    <p:cond delay="300"/>
                                  </p:stCondLst>
                                  <p:childTnLst>
                                    <p:set>
                                      <p:cBhvr>
                                        <p:cTn id="31" dur="1" fill="hold">
                                          <p:stCondLst>
                                            <p:cond delay="0"/>
                                          </p:stCondLst>
                                        </p:cTn>
                                        <p:tgtEl>
                                          <p:spTgt spid="9"/>
                                        </p:tgtEl>
                                        <p:attrNameLst>
                                          <p:attrName>style.visibility</p:attrName>
                                        </p:attrNameLst>
                                      </p:cBhvr>
                                      <p:to>
                                        <p:strVal val="visible"/>
                                      </p:to>
                                    </p:set>
                                    <p:anim calcmode="lin" valueType="num">
                                      <p:cBhvr additive="base">
                                        <p:cTn id="32" dur="600" fill="hold"/>
                                        <p:tgtEl>
                                          <p:spTgt spid="9"/>
                                        </p:tgtEl>
                                        <p:attrNameLst>
                                          <p:attrName>ppt_y</p:attrName>
                                        </p:attrNameLst>
                                      </p:cBhvr>
                                      <p:tavLst>
                                        <p:tav tm="0">
                                          <p:val>
                                            <p:strVal val="#ppt_y+.1"/>
                                          </p:val>
                                        </p:tav>
                                        <p:tav tm="100000">
                                          <p:val>
                                            <p:strVal val="#ppt_y"/>
                                          </p:val>
                                        </p:tav>
                                      </p:tavLst>
                                    </p:anim>
                                    <p:animEffect transition="in" filter="fade">
                                      <p:cBhvr>
                                        <p:cTn id="33" dur="600"/>
                                        <p:tgtEl>
                                          <p:spTgt spid="9"/>
                                        </p:tgtEl>
                                      </p:cBhvr>
                                    </p:animEffect>
                                  </p:childTnLst>
                                </p:cTn>
                              </p:par>
                              <p:par>
                                <p:cTn id="34" presetID="42" presetClass="entr" presetSubtype="0" fill="hold" grpId="0" nodeType="withEffect">
                                  <p:stCondLst>
                                    <p:cond delay="3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600" fill="hold"/>
                                        <p:tgtEl>
                                          <p:spTgt spid="10"/>
                                        </p:tgtEl>
                                        <p:attrNameLst>
                                          <p:attrName>ppt_y</p:attrName>
                                        </p:attrNameLst>
                                      </p:cBhvr>
                                      <p:tavLst>
                                        <p:tav tm="0">
                                          <p:val>
                                            <p:strVal val="#ppt_y+.1"/>
                                          </p:val>
                                        </p:tav>
                                        <p:tav tm="100000">
                                          <p:val>
                                            <p:strVal val="#ppt_y"/>
                                          </p:val>
                                        </p:tav>
                                      </p:tavLst>
                                    </p:anim>
                                    <p:animEffect transition="in" filter="fade">
                                      <p:cBhvr>
                                        <p:cTn id="37" dur="600"/>
                                        <p:tgtEl>
                                          <p:spTgt spid="10"/>
                                        </p:tgtEl>
                                      </p:cBhvr>
                                    </p:animEffect>
                                  </p:childTnLst>
                                </p:cTn>
                              </p:par>
                              <p:par>
                                <p:cTn id="38" presetID="42" presetClass="entr" presetSubtype="0" fill="hold" grpId="0" nodeType="withEffect">
                                  <p:stCondLst>
                                    <p:cond delay="30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600" fill="hold"/>
                                        <p:tgtEl>
                                          <p:spTgt spid="11"/>
                                        </p:tgtEl>
                                        <p:attrNameLst>
                                          <p:attrName>ppt_y</p:attrName>
                                        </p:attrNameLst>
                                      </p:cBhvr>
                                      <p:tavLst>
                                        <p:tav tm="0">
                                          <p:val>
                                            <p:strVal val="#ppt_y+.1"/>
                                          </p:val>
                                        </p:tav>
                                        <p:tav tm="100000">
                                          <p:val>
                                            <p:strVal val="#ppt_y"/>
                                          </p:val>
                                        </p:tav>
                                      </p:tavLst>
                                    </p:anim>
                                    <p:animEffect transition="in" filter="fade">
                                      <p:cBhvr>
                                        <p:cTn id="41" dur="600"/>
                                        <p:tgtEl>
                                          <p:spTgt spid="11"/>
                                        </p:tgtEl>
                                      </p:cBhvr>
                                    </p:animEffect>
                                  </p:childTnLst>
                                </p:cTn>
                              </p:par>
                            </p:childTnLst>
                          </p:cTn>
                        </p:par>
                      </p:childTnLst>
                    </p:cTn>
                  </p:par>
                  <p:par>
                    <p:cTn id="42" fill="hold">
                      <p:stCondLst>
                        <p:cond delay="indefinite"/>
                      </p:stCondLst>
                      <p:childTnLst>
                        <p:par>
                          <p:cTn id="43" fill="hold">
                            <p:stCondLst>
                              <p:cond delay="0"/>
                            </p:stCondLst>
                            <p:childTnLst>
                              <p:par>
                                <p:cTn id="44" presetID="10" presetClass="entr" presetSubtype="0" fill="hold" grpId="0" nodeType="click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700"/>
                                        <p:tgtEl>
                                          <p:spTgt spid="12"/>
                                        </p:tgtEl>
                                      </p:cBhvr>
                                    </p:animEffect>
                                  </p:childTnLst>
                                </p:cTn>
                              </p:par>
                              <p:par>
                                <p:cTn id="47" presetID="22" presetClass="entr" presetSubtype="8" fill="hold" grpId="0" nodeType="withEffect">
                                  <p:stCondLst>
                                    <p:cond delay="60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1100"/>
                                        <p:tgtEl>
                                          <p:spTgt spid="20"/>
                                        </p:tgtEl>
                                      </p:cBhvr>
                                    </p:animEffect>
                                  </p:childTnLst>
                                </p:cTn>
                              </p:par>
                              <p:par>
                                <p:cTn id="51" presetID="0" presetClass="path" presetSubtype="0" fill="hold" accel="30000" decel="30000" nodeType="withEffect">
                                  <p:stCondLst>
                                    <p:cond delay="600"/>
                                  </p:stCondLst>
                                  <p:childTnLst>
                                    <p:animMotion origin="layout" path="M 0 0 L 0.02017 0 E" pathEditMode="relative" rAng="0" ptsTypes="AA">
                                      <p:cBhvr>
                                        <p:cTn id="50" dur="1100" fill="hold"/>
                                        <p:tgtEl>
                                          <p:spTgt spid="21"/>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2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3" name="trail1" descr="Dashed flight route">    </p:cNvPr>
          <p:cNvPicPr>
            <a:picLocks noChangeAspect="1"/>
          </p:cNvPicPr>
          <p:nvPr/>
        </p:nvPicPr>
        <p:blipFill>
          <a:blip r:embed="rId1"/>
          <a:stretch>
            <a:fillRect/>
          </a:stretch>
        </p:blipFill>
        <p:spPr>
          <a:xfrm>
            <a:off x="0" y="2782648"/>
            <a:ext cx="12191695" cy="1556823"/>
          </a:xfrm>
          <a:prstGeom prst="rect">
            <a:avLst/>
          </a:prstGeom>
        </p:spPr>
      </p:pic>
      <p:pic>
        <p:nvPicPr>
          <p:cNvPr id="4" name="!!plane" descr="Airplane">    </p:cNvPr>
          <p:cNvPicPr>
            <a:picLocks noChangeAspect="1"/>
          </p:cNvPicPr>
          <p:nvPr/>
        </p:nvPicPr>
        <p:blipFill>
          <a:blip r:embed="rId2"/>
          <a:stretch>
            <a:fillRect/>
          </a:stretch>
        </p:blipFill>
        <p:spPr>
          <a:xfrm rot="2401816">
            <a:off x="-2560320" y="1178433"/>
            <a:ext cx="1463040" cy="1300734"/>
          </a:xfrm>
          <a:prstGeom prst="rect">
            <a:avLst/>
          </a:prstGeom>
        </p:spPr>
      </p:pic>
      <p:sp>
        <p:nvSpPr>
          <p:cNvPr id="5" name="kicker"/>
          <p:cNvSpPr txBox="1"/>
          <p:nvPr/>
        </p:nvSpPr>
        <p:spPr>
          <a:xfrm>
            <a:off x="868680" y="2148840"/>
            <a:ext cx="3657600" cy="365760"/>
          </a:xfrm>
          <a:prstGeom prst="rect">
            <a:avLst/>
          </a:prstGeom>
          <a:noFill/>
          <a:ln/>
        </p:spPr>
        <p:txBody>
          <a:bodyPr wrap="square" lIns="0" tIns="0" rIns="0" bIns="0" rtlCol="0" anchor="t"/>
          <a:lstStyle/>
          <a:p>
            <a:pPr algn="l" indent="0" marL="0">
              <a:buNone/>
            </a:pPr>
            <a:r>
              <a:rPr lang="en-US" sz="1800" b="1" spc="600" kern="0" dirty="0">
                <a:solidFill>
                  <a:schemeClr val="accent3"/>
                </a:solidFill>
              </a:rPr>
              <a:t>PART 03</a:t>
            </a:r>
            <a:endParaRPr lang="en-US" sz="1800" dirty="0"/>
          </a:p>
        </p:txBody>
      </p:sp>
      <p:sp>
        <p:nvSpPr>
          <p:cNvPr id="6" name="hero"/>
          <p:cNvSpPr txBox="1"/>
          <p:nvPr/>
        </p:nvSpPr>
        <p:spPr>
          <a:xfrm>
            <a:off x="822960" y="2514600"/>
            <a:ext cx="10058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mj-lt" pitchFamily="34" charset="0"/>
                <a:ea typeface="+mj-lt" pitchFamily="34" charset="-122"/>
                <a:cs typeface="+mj-lt" pitchFamily="34" charset="-120"/>
              </a:rPr>
              <a:t>The application</a:t>
            </a:r>
            <a:endParaRPr lang="en-US" sz="6600" dirty="0"/>
          </a:p>
        </p:txBody>
      </p:sp>
      <p:sp>
        <p:nvSpPr>
          <p:cNvPr id="7" name="sub"/>
          <p:cNvSpPr txBox="1"/>
          <p:nvPr/>
        </p:nvSpPr>
        <p:spPr>
          <a:xfrm>
            <a:off x="868680" y="3749040"/>
            <a:ext cx="8229600" cy="548640"/>
          </a:xfrm>
          <a:prstGeom prst="rect">
            <a:avLst/>
          </a:prstGeom>
          <a:noFill/>
          <a:ln/>
        </p:spPr>
        <p:txBody>
          <a:bodyPr wrap="square" lIns="0" tIns="0" rIns="0" bIns="0" rtlCol="0" anchor="t"/>
          <a:lstStyle/>
          <a:p>
            <a:pPr algn="l" indent="0" marL="0">
              <a:buNone/>
            </a:pPr>
            <a:r>
              <a:rPr lang="en-US" sz="2400" dirty="0">
                <a:solidFill>
                  <a:schemeClr val="bg1"/>
                </a:solidFill>
              </a:rPr>
              <a:t>One shared core, two front-ends</a:t>
            </a:r>
            <a:endParaRPr lang="en-US" sz="2400" dirty="0"/>
          </a:p>
        </p:txBody>
      </p:sp>
      <p:pic>
        <p:nvPicPr>
          <p:cNvPr id="8" name="cloud2" descr="Cloud">    </p:cNvPr>
          <p:cNvPicPr>
            <a:picLocks noChangeAspect="1"/>
          </p:cNvPicPr>
          <p:nvPr/>
        </p:nvPicPr>
        <p:blipFill>
          <a:blip r:embed="rId3"/>
          <a:stretch>
            <a:fillRect/>
          </a:stretch>
        </p:blipFill>
        <p:spPr>
          <a:xfrm>
            <a:off x="6400800" y="3291840"/>
            <a:ext cx="5120640" cy="2150669"/>
          </a:xfrm>
          <a:prstGeom prst="rect">
            <a:avLst/>
          </a:prstGeom>
        </p:spPr>
      </p:pic>
      <p:pic>
        <p:nvPicPr>
          <p:cNvPr id="9" name="cloud3" descr="Cloud">    </p:cNvPr>
          <p:cNvPicPr>
            <a:picLocks noChangeAspect="1"/>
          </p:cNvPicPr>
          <p:nvPr/>
        </p:nvPicPr>
        <p:blipFill>
          <a:blip r:embed="rId4"/>
          <a:stretch>
            <a:fillRect/>
          </a:stretch>
        </p:blipFill>
        <p:spPr>
          <a:xfrm>
            <a:off x="-731520" y="5394960"/>
            <a:ext cx="5303520" cy="2227478"/>
          </a:xfrm>
          <a:prstGeom prst="rect">
            <a:avLst/>
          </a:prstGeom>
        </p:spPr>
      </p:pic>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accel="25000" decel="15000" nodeType="withEffect">
                                  <p:stCondLst>
                                    <p:cond delay="1313"/>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4607"/>
                                        <p:tgtEl>
                                          <p:spTgt spid="3"/>
                                        </p:tgtEl>
                                      </p:cBhvr>
                                    </p:animEffect>
                                  </p:childTnLst>
                                </p:cTn>
                              </p:par>
                              <p:par>
                                <p:cTn id="9" presetID="0" presetClass="path" presetSubtype="0" fill="hold" accel="25000" decel="15000" nodeType="withEffect">
                                  <p:stCondLst>
                                    <p:cond delay="500"/>
                                  </p:stCondLst>
                                  <p:childTnLst>
                                    <p:animMotion origin="layout" path="M 0 0 C 0.37501 0.56 0.82502 -0.08 1.33503 0.50667 E" pathEditMode="relative" rAng="0" ptsTypes="AAAA">
                                      <p:cBhvr>
                                        <p:cTn id="8" dur="5200" fill="hold"/>
                                        <p:tgtEl>
                                          <p:spTgt spid="4"/>
                                        </p:tgtEl>
                                        <p:attrNameLst>
                                          <p:attrName>ppt_x</p:attrName>
                                          <p:attrName>ppt_y</p:attrName>
                                        </p:attrNameLst>
                                      </p:cBhvr>
                                      <p:rCtr x="0.66752" y="0.25333"/>
                                    </p:animMotion>
                                  </p:childTnLst>
                                </p:cTn>
                              </p:par>
                              <p:par>
                                <p:cTn id="11" presetID="8" presetClass="emph" presetSubtype="0" fill="hold" nodeType="withEffect">
                                  <p:stCondLst>
                                    <p:cond delay="500"/>
                                  </p:stCondLst>
                                  <p:childTnLst>
                                    <p:animRot by="-1336800">
                                      <p:cBhvr>
                                        <p:cTn id="10" dur="867" fill="hold"/>
                                        <p:tgtEl>
                                          <p:spTgt spid="4"/>
                                        </p:tgtEl>
                                        <p:attrNameLst>
                                          <p:attrName>r</p:attrName>
                                        </p:attrNameLst>
                                      </p:cBhvr>
                                    </p:animRot>
                                  </p:childTnLst>
                                </p:cTn>
                              </p:par>
                              <p:par>
                                <p:cTn id="13" presetID="8" presetClass="emph" presetSubtype="0" fill="hold" nodeType="withEffect">
                                  <p:stCondLst>
                                    <p:cond delay="1367"/>
                                  </p:stCondLst>
                                  <p:childTnLst>
                                    <p:animRot by="-930000">
                                      <p:cBhvr>
                                        <p:cTn id="12" dur="867" fill="hold"/>
                                        <p:tgtEl>
                                          <p:spTgt spid="4"/>
                                        </p:tgtEl>
                                        <p:attrNameLst>
                                          <p:attrName>r</p:attrName>
                                        </p:attrNameLst>
                                      </p:cBhvr>
                                    </p:animRot>
                                  </p:childTnLst>
                                </p:cTn>
                              </p:par>
                              <p:par>
                                <p:cTn id="15" presetID="8" presetClass="emph" presetSubtype="0" fill="hold" nodeType="withEffect">
                                  <p:stCondLst>
                                    <p:cond delay="2233"/>
                                  </p:stCondLst>
                                  <p:childTnLst>
                                    <p:animRot by="-279600">
                                      <p:cBhvr>
                                        <p:cTn id="14" dur="867" fill="hold"/>
                                        <p:tgtEl>
                                          <p:spTgt spid="4"/>
                                        </p:tgtEl>
                                        <p:attrNameLst>
                                          <p:attrName>r</p:attrName>
                                        </p:attrNameLst>
                                      </p:cBhvr>
                                    </p:animRot>
                                  </p:childTnLst>
                                </p:cTn>
                              </p:par>
                              <p:par>
                                <p:cTn id="17" presetID="8" presetClass="emph" presetSubtype="0" fill="hold" nodeType="withEffect">
                                  <p:stCondLst>
                                    <p:cond delay="3100"/>
                                  </p:stCondLst>
                                  <p:childTnLst>
                                    <p:animRot by="303000">
                                      <p:cBhvr>
                                        <p:cTn id="16" dur="867" fill="hold"/>
                                        <p:tgtEl>
                                          <p:spTgt spid="4"/>
                                        </p:tgtEl>
                                        <p:attrNameLst>
                                          <p:attrName>r</p:attrName>
                                        </p:attrNameLst>
                                      </p:cBhvr>
                                    </p:animRot>
                                  </p:childTnLst>
                                </p:cTn>
                              </p:par>
                              <p:par>
                                <p:cTn id="19" presetID="8" presetClass="emph" presetSubtype="0" fill="hold" nodeType="withEffect">
                                  <p:stCondLst>
                                    <p:cond delay="3967"/>
                                  </p:stCondLst>
                                  <p:childTnLst>
                                    <p:animRot by="784800">
                                      <p:cBhvr>
                                        <p:cTn id="18" dur="867" fill="hold"/>
                                        <p:tgtEl>
                                          <p:spTgt spid="4"/>
                                        </p:tgtEl>
                                        <p:attrNameLst>
                                          <p:attrName>r</p:attrName>
                                        </p:attrNameLst>
                                      </p:cBhvr>
                                    </p:animRot>
                                  </p:childTnLst>
                                </p:cTn>
                              </p:par>
                              <p:par>
                                <p:cTn id="21" presetID="8" presetClass="emph" presetSubtype="0" fill="hold" nodeType="withEffect">
                                  <p:stCondLst>
                                    <p:cond delay="4833"/>
                                  </p:stCondLst>
                                  <p:childTnLst>
                                    <p:animRot by="1030200">
                                      <p:cBhvr>
                                        <p:cTn id="20" dur="867" fill="hold"/>
                                        <p:tgtEl>
                                          <p:spTgt spid="4"/>
                                        </p:tgtEl>
                                        <p:attrNameLst>
                                          <p:attrName>r</p:attrName>
                                        </p:attrNameLst>
                                      </p:cBhvr>
                                    </p:animRot>
                                  </p:childTnLst>
                                </p:cTn>
                              </p:par>
                              <p:par>
                                <p:cTn id="23" presetID="6" presetClass="emph" presetSubtype="0" fill="hold" accel="25000" decel="15000" nodeType="withEffect">
                                  <p:stCondLst>
                                    <p:cond delay="500"/>
                                  </p:stCondLst>
                                  <p:childTnLst>
                                    <p:animScale>
                                      <p:cBhvr>
                                        <p:cTn id="22" dur="5200" fill="hold"/>
                                        <p:tgtEl>
                                          <p:spTgt spid="4"/>
                                        </p:tgtEl>
                                      </p:cBhvr>
                                      <p:by x="120000" y="120000"/>
                                    </p:animScale>
                                  </p:childTnLst>
                                </p:cTn>
                              </p:par>
                              <p:par>
                                <p:cTn id="25" presetID="0" presetClass="path" presetSubtype="0" fill="hold" nodeType="withEffect">
                                  <p:stCondLst>
                                    <p:cond delay="0"/>
                                  </p:stCondLst>
                                  <p:childTnLst>
                                    <p:animMotion origin="layout" path="M 0 0 L -0.06 0 E" pathEditMode="relative" rAng="0" ptsTypes="AA">
                                      <p:cBhvr>
                                        <p:cTn id="24" dur="12000" fill="hold"/>
                                        <p:tgtEl>
                                          <p:spTgt spid="8"/>
                                        </p:tgtEl>
                                        <p:attrNameLst>
                                          <p:attrName>ppt_x</p:attrName>
                                          <p:attrName>ppt_y</p:attrName>
                                        </p:attrNameLst>
                                      </p:cBhvr>
                                      <p:rCtr x="-0.03" y="0"/>
                                    </p:animMotion>
                                  </p:childTnLst>
                                </p:cTn>
                              </p:par>
                              <p:par>
                                <p:cTn id="27" presetID="0" presetClass="path" presetSubtype="0" fill="hold" nodeType="withEffect">
                                  <p:stCondLst>
                                    <p:cond delay="0"/>
                                  </p:stCondLst>
                                  <p:childTnLst>
                                    <p:animMotion origin="layout" path="M 0 0 L 0.0675 0 E" pathEditMode="relative" rAng="0" ptsTypes="AA">
                                      <p:cBhvr>
                                        <p:cTn id="26" dur="12000" fill="hold"/>
                                        <p:tgtEl>
                                          <p:spTgt spid="9"/>
                                        </p:tgtEl>
                                        <p:attrNameLst>
                                          <p:attrName>ppt_x</p:attrName>
                                          <p:attrName>ppt_y</p:attrName>
                                        </p:attrNameLst>
                                      </p:cBhvr>
                                      <p:rCtr x="0.03375" y="0"/>
                                    </p:animMotion>
                                  </p:childTnLst>
                                </p:cTn>
                              </p:par>
                              <p:par>
                                <p:cTn id="28" presetID="10" presetClass="entr" presetSubtype="0" fill="hold" grpId="0" nodeType="withEffect">
                                  <p:stCondLst>
                                    <p:cond delay="2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700"/>
                                        <p:tgtEl>
                                          <p:spTgt spid="5"/>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1100"/>
                                        <p:tgtEl>
                                          <p:spTgt spid="6"/>
                                        </p:tgtEl>
                                      </p:cBhvr>
                                    </p:animEffect>
                                  </p:childTnLst>
                                </p:cTn>
                              </p:par>
                              <p:par>
                                <p:cTn id="34" presetID="42" presetClass="entr" presetSubtype="0" fill="hold" grpId="0" nodeType="withEffect">
                                  <p:stCondLst>
                                    <p:cond delay="140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800" fill="hold"/>
                                        <p:tgtEl>
                                          <p:spTgt spid="7"/>
                                        </p:tgtEl>
                                        <p:attrNameLst>
                                          <p:attrName>ppt_y</p:attrName>
                                        </p:attrNameLst>
                                      </p:cBhvr>
                                      <p:tavLst>
                                        <p:tav tm="0">
                                          <p:val>
                                            <p:strVal val="#ppt_y+.1"/>
                                          </p:val>
                                        </p:tav>
                                        <p:tav tm="100000">
                                          <p:val>
                                            <p:strVal val="#ppt_y"/>
                                          </p:val>
                                        </p:tav>
                                      </p:tavLst>
                                    </p:anim>
                                    <p:animEffect transition="in" filter="fade">
                                      <p:cBhvr>
                                        <p:cTn id="3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The SkyLens desktop dashboard</a:t>
            </a:r>
            <a:endParaRPr lang="en-US" sz="3600" dirty="0"/>
          </a:p>
        </p:txBody>
      </p:sp>
      <p:sp>
        <p:nvSpPr>
          <p:cNvPr id="5" name="shotframe"/>
          <p:cNvSpPr/>
          <p:nvPr/>
        </p:nvSpPr>
        <p:spPr>
          <a:xfrm>
            <a:off x="475488" y="1572768"/>
            <a:ext cx="7461504" cy="4663440"/>
          </a:xfrm>
          <a:prstGeom prst="roundRect">
            <a:avLst>
              <a:gd name="adj" fmla="val 2353"/>
            </a:avLst>
          </a:prstGeom>
          <a:solidFill>
            <a:schemeClr val="bg1">
              <a:alpha val="15000"/>
            </a:schemeClr>
          </a:solidFill>
          <a:ln w="9525">
            <a:solidFill>
              <a:schemeClr val="accent1">
                <a:alpha val="60000"/>
              </a:schemeClr>
            </a:solidFill>
            <a:prstDash val="solid"/>
          </a:ln>
        </p:spPr>
      </p:sp>
      <p:pic>
        <p:nvPicPr>
          <p:cNvPr id="6" name="!!shot_overview" descr="SkyLens Overview page">    </p:cNvPr>
          <p:cNvPicPr>
            <a:picLocks noChangeAspect="1"/>
          </p:cNvPicPr>
          <p:nvPr/>
        </p:nvPicPr>
        <p:blipFill>
          <a:blip r:embed="rId1"/>
          <a:stretch>
            <a:fillRect/>
          </a:stretch>
        </p:blipFill>
        <p:spPr>
          <a:xfrm>
            <a:off x="548640" y="1645920"/>
            <a:ext cx="7315200" cy="4518212"/>
          </a:xfrm>
          <a:prstGeom prst="rect">
            <a:avLst/>
          </a:prstGeom>
        </p:spPr>
      </p:pic>
      <p:sp>
        <p:nvSpPr>
          <p:cNvPr id="7" name="co0pin"/>
          <p:cNvSpPr/>
          <p:nvPr/>
        </p:nvSpPr>
        <p:spPr>
          <a:xfrm>
            <a:off x="2786768" y="2049870"/>
            <a:ext cx="310896" cy="310896"/>
          </a:xfrm>
          <a:prstGeom prst="ellipse">
            <a:avLst/>
          </a:prstGeom>
          <a:solidFill>
            <a:schemeClr val="accent3"/>
          </a:solidFill>
          <a:ln/>
        </p:spPr>
      </p:sp>
      <p:sp>
        <p:nvSpPr>
          <p:cNvPr id="8" name="co0pn"/>
          <p:cNvSpPr txBox="1"/>
          <p:nvPr/>
        </p:nvSpPr>
        <p:spPr>
          <a:xfrm>
            <a:off x="2786768" y="2049870"/>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1</a:t>
            </a:r>
            <a:endParaRPr lang="en-US" sz="1300" dirty="0"/>
          </a:p>
        </p:txBody>
      </p:sp>
      <p:sp>
        <p:nvSpPr>
          <p:cNvPr id="9" name="co0c"/>
          <p:cNvSpPr/>
          <p:nvPr/>
        </p:nvSpPr>
        <p:spPr>
          <a:xfrm>
            <a:off x="8183880" y="164592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10" name="co0dot"/>
          <p:cNvSpPr/>
          <p:nvPr/>
        </p:nvSpPr>
        <p:spPr>
          <a:xfrm>
            <a:off x="8302752" y="1956816"/>
            <a:ext cx="347472" cy="347472"/>
          </a:xfrm>
          <a:prstGeom prst="ellipse">
            <a:avLst/>
          </a:prstGeom>
          <a:solidFill>
            <a:schemeClr val="accent3"/>
          </a:solidFill>
          <a:ln/>
        </p:spPr>
      </p:sp>
      <p:sp>
        <p:nvSpPr>
          <p:cNvPr id="11" name="co0dn"/>
          <p:cNvSpPr txBox="1"/>
          <p:nvPr/>
        </p:nvSpPr>
        <p:spPr>
          <a:xfrm>
            <a:off x="8302752" y="195681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12" name="co0t"/>
          <p:cNvSpPr txBox="1"/>
          <p:nvPr/>
        </p:nvSpPr>
        <p:spPr>
          <a:xfrm>
            <a:off x="8778240" y="171907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KPI cards</a:t>
            </a:r>
            <a:endParaRPr lang="en-US" sz="1300" dirty="0"/>
          </a:p>
          <a:p>
            <a:pPr algn="l" indent="0" marL="0">
              <a:buNone/>
            </a:pPr>
            <a:r>
              <a:rPr lang="en-US" sz="1300" dirty="0">
                <a:solidFill>
                  <a:schemeClr val="bg2"/>
                </a:solidFill>
              </a:rPr>
              <a:t>Flights, scheduled, delayed, airports and average delay</a:t>
            </a:r>
            <a:endParaRPr lang="en-US" sz="1300" dirty="0"/>
          </a:p>
        </p:txBody>
      </p:sp>
      <p:sp>
        <p:nvSpPr>
          <p:cNvPr id="13" name="co1pin"/>
          <p:cNvSpPr/>
          <p:nvPr/>
        </p:nvSpPr>
        <p:spPr>
          <a:xfrm>
            <a:off x="2598510" y="2899724"/>
            <a:ext cx="310896" cy="310896"/>
          </a:xfrm>
          <a:prstGeom prst="ellipse">
            <a:avLst/>
          </a:prstGeom>
          <a:solidFill>
            <a:schemeClr val="accent2"/>
          </a:solidFill>
          <a:ln/>
        </p:spPr>
      </p:sp>
      <p:sp>
        <p:nvSpPr>
          <p:cNvPr id="14" name="co1pn"/>
          <p:cNvSpPr txBox="1"/>
          <p:nvPr/>
        </p:nvSpPr>
        <p:spPr>
          <a:xfrm>
            <a:off x="2598510" y="2899724"/>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2</a:t>
            </a:r>
            <a:endParaRPr lang="en-US" sz="1300" dirty="0"/>
          </a:p>
        </p:txBody>
      </p:sp>
      <p:sp>
        <p:nvSpPr>
          <p:cNvPr id="15" name="co1c"/>
          <p:cNvSpPr/>
          <p:nvPr/>
        </p:nvSpPr>
        <p:spPr>
          <a:xfrm>
            <a:off x="8183880" y="274320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16" name="co1dot"/>
          <p:cNvSpPr/>
          <p:nvPr/>
        </p:nvSpPr>
        <p:spPr>
          <a:xfrm>
            <a:off x="8302752" y="3054096"/>
            <a:ext cx="347472" cy="347472"/>
          </a:xfrm>
          <a:prstGeom prst="ellipse">
            <a:avLst/>
          </a:prstGeom>
          <a:solidFill>
            <a:schemeClr val="accent2"/>
          </a:solidFill>
          <a:ln/>
        </p:spPr>
      </p:sp>
      <p:sp>
        <p:nvSpPr>
          <p:cNvPr id="17" name="co1dn"/>
          <p:cNvSpPr txBox="1"/>
          <p:nvPr/>
        </p:nvSpPr>
        <p:spPr>
          <a:xfrm>
            <a:off x="8302752" y="305409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8" name="co1t"/>
          <p:cNvSpPr txBox="1"/>
          <p:nvPr/>
        </p:nvSpPr>
        <p:spPr>
          <a:xfrm>
            <a:off x="8778240" y="281635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Status mix</a:t>
            </a:r>
            <a:endParaRPr lang="en-US" sz="1300" dirty="0"/>
          </a:p>
          <a:p>
            <a:pPr algn="l" indent="0" marL="0">
              <a:buNone/>
            </a:pPr>
            <a:r>
              <a:rPr lang="en-US" sz="1300" dirty="0">
                <a:solidFill>
                  <a:schemeClr val="bg2"/>
                </a:solidFill>
              </a:rPr>
              <a:t>Donut of flight statuses with Save PNG</a:t>
            </a:r>
            <a:endParaRPr lang="en-US" sz="1300" dirty="0"/>
          </a:p>
        </p:txBody>
      </p:sp>
      <p:sp>
        <p:nvSpPr>
          <p:cNvPr id="19" name="co2pin"/>
          <p:cNvSpPr/>
          <p:nvPr/>
        </p:nvSpPr>
        <p:spPr>
          <a:xfrm>
            <a:off x="7385663" y="2663056"/>
            <a:ext cx="310896" cy="310896"/>
          </a:xfrm>
          <a:prstGeom prst="ellipse">
            <a:avLst/>
          </a:prstGeom>
          <a:solidFill>
            <a:schemeClr val="accent4"/>
          </a:solidFill>
          <a:ln/>
        </p:spPr>
      </p:sp>
      <p:sp>
        <p:nvSpPr>
          <p:cNvPr id="20" name="co2pn"/>
          <p:cNvSpPr txBox="1"/>
          <p:nvPr/>
        </p:nvSpPr>
        <p:spPr>
          <a:xfrm>
            <a:off x="7385663" y="2663056"/>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3</a:t>
            </a:r>
            <a:endParaRPr lang="en-US" sz="1300" dirty="0"/>
          </a:p>
        </p:txBody>
      </p:sp>
      <p:sp>
        <p:nvSpPr>
          <p:cNvPr id="21" name="co2c"/>
          <p:cNvSpPr/>
          <p:nvPr/>
        </p:nvSpPr>
        <p:spPr>
          <a:xfrm>
            <a:off x="8183880" y="384048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22" name="co2dot"/>
          <p:cNvSpPr/>
          <p:nvPr/>
        </p:nvSpPr>
        <p:spPr>
          <a:xfrm>
            <a:off x="8302752" y="4151376"/>
            <a:ext cx="347472" cy="347472"/>
          </a:xfrm>
          <a:prstGeom prst="ellipse">
            <a:avLst/>
          </a:prstGeom>
          <a:solidFill>
            <a:schemeClr val="accent4"/>
          </a:solidFill>
          <a:ln/>
        </p:spPr>
      </p:sp>
      <p:sp>
        <p:nvSpPr>
          <p:cNvPr id="23" name="co2dn"/>
          <p:cNvSpPr txBox="1"/>
          <p:nvPr/>
        </p:nvSpPr>
        <p:spPr>
          <a:xfrm>
            <a:off x="8302752" y="415137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24" name="co2t"/>
          <p:cNvSpPr txBox="1"/>
          <p:nvPr/>
        </p:nvSpPr>
        <p:spPr>
          <a:xfrm>
            <a:off x="8778240" y="391363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Quick actions</a:t>
            </a:r>
            <a:endParaRPr lang="en-US" sz="1300" dirty="0"/>
          </a:p>
          <a:p>
            <a:pPr algn="l" indent="0" marL="0">
              <a:buNone/>
            </a:pPr>
            <a:r>
              <a:rPr lang="en-US" sz="1300" dirty="0">
                <a:solidFill>
                  <a:schemeClr val="bg2"/>
                </a:solidFill>
              </a:rPr>
              <a:t>One click to explorer, analytics, delays, data</a:t>
            </a:r>
            <a:endParaRPr lang="en-US" sz="1300" dirty="0"/>
          </a:p>
        </p:txBody>
      </p:sp>
      <p:sp>
        <p:nvSpPr>
          <p:cNvPr id="25" name="co3pin"/>
          <p:cNvSpPr/>
          <p:nvPr/>
        </p:nvSpPr>
        <p:spPr>
          <a:xfrm>
            <a:off x="2006839" y="5906486"/>
            <a:ext cx="310896" cy="310896"/>
          </a:xfrm>
          <a:prstGeom prst="ellipse">
            <a:avLst/>
          </a:prstGeom>
          <a:solidFill>
            <a:schemeClr val="accent6"/>
          </a:solidFill>
          <a:ln/>
        </p:spPr>
      </p:sp>
      <p:sp>
        <p:nvSpPr>
          <p:cNvPr id="26" name="co3pn"/>
          <p:cNvSpPr txBox="1"/>
          <p:nvPr/>
        </p:nvSpPr>
        <p:spPr>
          <a:xfrm>
            <a:off x="2006839" y="5906486"/>
            <a:ext cx="310896" cy="310896"/>
          </a:xfrm>
          <a:prstGeom prst="rect">
            <a:avLst/>
          </a:prstGeom>
          <a:noFill/>
          <a:ln/>
        </p:spPr>
        <p:txBody>
          <a:bodyPr wrap="square" lIns="0" tIns="0" rIns="0" bIns="0" rtlCol="0" anchor="ctr"/>
          <a:lstStyle/>
          <a:p>
            <a:pPr algn="ctr" indent="0" marL="0">
              <a:buNone/>
            </a:pPr>
            <a:r>
              <a:rPr lang="en-US" sz="1300" b="1" dirty="0">
                <a:solidFill>
                  <a:schemeClr val="tx1"/>
                </a:solidFill>
              </a:rPr>
              <a:t>4</a:t>
            </a:r>
            <a:endParaRPr lang="en-US" sz="1300" dirty="0"/>
          </a:p>
        </p:txBody>
      </p:sp>
      <p:sp>
        <p:nvSpPr>
          <p:cNvPr id="27" name="co3c"/>
          <p:cNvSpPr/>
          <p:nvPr/>
        </p:nvSpPr>
        <p:spPr>
          <a:xfrm>
            <a:off x="8183880" y="4937760"/>
            <a:ext cx="3456432" cy="978408"/>
          </a:xfrm>
          <a:prstGeom prst="roundRect">
            <a:avLst>
              <a:gd name="adj" fmla="val 11215"/>
            </a:avLst>
          </a:prstGeom>
          <a:solidFill>
            <a:schemeClr val="bg1">
              <a:alpha val="9000"/>
            </a:schemeClr>
          </a:solidFill>
          <a:ln w="9525">
            <a:solidFill>
              <a:schemeClr val="bg1">
                <a:alpha val="22000"/>
              </a:schemeClr>
            </a:solidFill>
            <a:prstDash val="solid"/>
          </a:ln>
        </p:spPr>
      </p:sp>
      <p:sp>
        <p:nvSpPr>
          <p:cNvPr id="28" name="co3dot"/>
          <p:cNvSpPr/>
          <p:nvPr/>
        </p:nvSpPr>
        <p:spPr>
          <a:xfrm>
            <a:off x="8302752" y="5248656"/>
            <a:ext cx="347472" cy="347472"/>
          </a:xfrm>
          <a:prstGeom prst="ellipse">
            <a:avLst/>
          </a:prstGeom>
          <a:solidFill>
            <a:schemeClr val="accent6"/>
          </a:solidFill>
          <a:ln/>
        </p:spPr>
      </p:sp>
      <p:sp>
        <p:nvSpPr>
          <p:cNvPr id="29" name="co3dn"/>
          <p:cNvSpPr txBox="1"/>
          <p:nvPr/>
        </p:nvSpPr>
        <p:spPr>
          <a:xfrm>
            <a:off x="8302752" y="5248656"/>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30" name="co3t"/>
          <p:cNvSpPr txBox="1"/>
          <p:nvPr/>
        </p:nvSpPr>
        <p:spPr>
          <a:xfrm>
            <a:off x="8778240" y="5010912"/>
            <a:ext cx="2743200" cy="841248"/>
          </a:xfrm>
          <a:prstGeom prst="rect">
            <a:avLst/>
          </a:prstGeom>
          <a:noFill/>
          <a:ln/>
        </p:spPr>
        <p:txBody>
          <a:bodyPr wrap="square" lIns="0" tIns="0" rIns="0" bIns="0" rtlCol="0" anchor="ctr"/>
          <a:lstStyle/>
          <a:p>
            <a:pPr algn="l" indent="0" marL="0">
              <a:buNone/>
            </a:pPr>
            <a:r>
              <a:rPr lang="en-US" sz="1600" b="1" dirty="0">
                <a:solidFill>
                  <a:schemeClr val="bg1"/>
                </a:solidFill>
              </a:rPr>
              <a:t>Conditions bar</a:t>
            </a:r>
            <a:endParaRPr lang="en-US" sz="1300" dirty="0"/>
          </a:p>
          <a:p>
            <a:pPr algn="l" indent="0" marL="0">
              <a:buNone/>
            </a:pPr>
            <a:r>
              <a:rPr lang="en-US" sz="1300" dirty="0">
                <a:solidFill>
                  <a:schemeClr val="bg2"/>
                </a:solidFill>
              </a:rPr>
              <a:t>On Time 124 · Delayed 9 · Cancelled 0</a:t>
            </a:r>
            <a:endParaRPr lang="en-US" sz="1300" dirty="0"/>
          </a:p>
        </p:txBody>
      </p:sp>
      <p:sp>
        <p:nvSpPr>
          <p:cNvPr id="31" name="track"/>
          <p:cNvSpPr/>
          <p:nvPr/>
        </p:nvSpPr>
        <p:spPr>
          <a:xfrm>
            <a:off x="3383280" y="6510528"/>
            <a:ext cx="7132320" cy="0"/>
          </a:xfrm>
          <a:prstGeom prst="line">
            <a:avLst/>
          </a:prstGeom>
          <a:noFill/>
          <a:ln w="12700">
            <a:solidFill>
              <a:schemeClr val="bg2">
                <a:alpha val="45000"/>
              </a:schemeClr>
            </a:solidFill>
            <a:prstDash val="dash"/>
          </a:ln>
        </p:spPr>
      </p:sp>
      <p:sp>
        <p:nvSpPr>
          <p:cNvPr id="32" name="progress"/>
          <p:cNvSpPr/>
          <p:nvPr/>
        </p:nvSpPr>
        <p:spPr>
          <a:xfrm>
            <a:off x="3383280" y="6510528"/>
            <a:ext cx="4181015" cy="0"/>
          </a:xfrm>
          <a:prstGeom prst="line">
            <a:avLst/>
          </a:prstGeom>
          <a:noFill/>
          <a:ln w="28575">
            <a:solidFill>
              <a:schemeClr val="accent2"/>
            </a:solidFill>
            <a:prstDash val="solid"/>
          </a:ln>
        </p:spPr>
      </p:sp>
      <p:sp>
        <p:nvSpPr>
          <p:cNvPr id="33" name="wp0"/>
          <p:cNvSpPr/>
          <p:nvPr/>
        </p:nvSpPr>
        <p:spPr>
          <a:xfrm>
            <a:off x="3834016" y="6469380"/>
            <a:ext cx="82296" cy="82296"/>
          </a:xfrm>
          <a:prstGeom prst="ellipse">
            <a:avLst/>
          </a:prstGeom>
          <a:solidFill>
            <a:schemeClr val="accent2"/>
          </a:solidFill>
          <a:ln/>
        </p:spPr>
      </p:sp>
      <p:sp>
        <p:nvSpPr>
          <p:cNvPr id="34" name="wp1"/>
          <p:cNvSpPr/>
          <p:nvPr/>
        </p:nvSpPr>
        <p:spPr>
          <a:xfrm>
            <a:off x="4817784" y="6469380"/>
            <a:ext cx="82296" cy="82296"/>
          </a:xfrm>
          <a:prstGeom prst="ellipse">
            <a:avLst/>
          </a:prstGeom>
          <a:solidFill>
            <a:schemeClr val="accent2"/>
          </a:solidFill>
          <a:ln/>
        </p:spPr>
      </p:sp>
      <p:sp>
        <p:nvSpPr>
          <p:cNvPr id="35" name="wp2"/>
          <p:cNvSpPr/>
          <p:nvPr/>
        </p:nvSpPr>
        <p:spPr>
          <a:xfrm>
            <a:off x="7277205" y="6469380"/>
            <a:ext cx="82296" cy="82296"/>
          </a:xfrm>
          <a:prstGeom prst="ellipse">
            <a:avLst/>
          </a:prstGeom>
          <a:solidFill>
            <a:schemeClr val="accent2"/>
          </a:solidFill>
          <a:ln/>
        </p:spPr>
      </p:sp>
      <p:sp>
        <p:nvSpPr>
          <p:cNvPr id="36" name="wp3"/>
          <p:cNvSpPr/>
          <p:nvPr/>
        </p:nvSpPr>
        <p:spPr>
          <a:xfrm>
            <a:off x="8506915" y="6469380"/>
            <a:ext cx="82296" cy="82296"/>
          </a:xfrm>
          <a:prstGeom prst="ellipse">
            <a:avLst/>
          </a:prstGeom>
          <a:solidFill>
            <a:schemeClr val="bg2">
              <a:alpha val="60000"/>
            </a:schemeClr>
          </a:solidFill>
          <a:ln/>
        </p:spPr>
      </p:sp>
      <p:sp>
        <p:nvSpPr>
          <p:cNvPr id="37" name="wp4"/>
          <p:cNvSpPr/>
          <p:nvPr/>
        </p:nvSpPr>
        <p:spPr>
          <a:xfrm>
            <a:off x="9982568" y="6469380"/>
            <a:ext cx="82296" cy="82296"/>
          </a:xfrm>
          <a:prstGeom prst="ellipse">
            <a:avLst/>
          </a:prstGeom>
          <a:solidFill>
            <a:schemeClr val="bg2">
              <a:alpha val="60000"/>
            </a:schemeClr>
          </a:solidFill>
          <a:ln/>
        </p:spPr>
      </p:sp>
      <p:pic>
        <p:nvPicPr>
          <p:cNvPr id="38" name="!!tracker" descr="Progress marker">    </p:cNvPr>
          <p:cNvPicPr>
            <a:picLocks noChangeAspect="1"/>
          </p:cNvPicPr>
          <p:nvPr/>
        </p:nvPicPr>
        <p:blipFill>
          <a:blip r:embed="rId2"/>
          <a:stretch>
            <a:fillRect/>
          </a:stretch>
        </p:blipFill>
        <p:spPr>
          <a:xfrm>
            <a:off x="7381415"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53" presetClass="entr" presetSubtype="16" fill="hold" grpId="0" nodeType="clickEffect">
                                  <p:stCondLst>
                                    <p:cond delay="0"/>
                                  </p:stCondLst>
                                  <p:childTnLst>
                                    <p:set>
                                      <p:cBhvr>
                                        <p:cTn id="15" dur="1" fill="hold">
                                          <p:stCondLst>
                                            <p:cond delay="0"/>
                                          </p:stCondLst>
                                        </p:cTn>
                                        <p:tgtEl>
                                          <p:spTgt spid="7"/>
                                        </p:tgtEl>
                                        <p:attrNameLst>
                                          <p:attrName>style.visibility</p:attrName>
                                        </p:attrNameLst>
                                      </p:cBhvr>
                                      <p:to>
                                        <p:strVal val="visible"/>
                                      </p:to>
                                    </p:set>
                                    <p:anim calcmode="lin" valueType="num">
                                      <p:cBhvr additive="base">
                                        <p:cTn id="16" dur="500" fill="hold"/>
                                        <p:tgtEl>
                                          <p:spTgt spid="7"/>
                                        </p:tgtEl>
                                        <p:attrNameLst>
                                          <p:attrName>ppt_w</p:attrName>
                                        </p:attrNameLst>
                                      </p:cBhvr>
                                      <p:tavLst>
                                        <p:tav tm="0">
                                          <p:val>
                                            <p:fltVal val="0"/>
                                          </p:val>
                                        </p:tav>
                                        <p:tav tm="100000">
                                          <p:val>
                                            <p:strVal val="#ppt_w"/>
                                          </p:val>
                                        </p:tav>
                                      </p:tavLst>
                                    </p:anim>
                                    <p:anim calcmode="lin" valueType="num">
                                      <p:cBhvr additive="base">
                                        <p:cTn id="17" dur="500" fill="hold"/>
                                        <p:tgtEl>
                                          <p:spTgt spid="7"/>
                                        </p:tgtEl>
                                        <p:attrNameLst>
                                          <p:attrName>ppt_h</p:attrName>
                                        </p:attrNameLst>
                                      </p:cBhvr>
                                      <p:tavLst>
                                        <p:tav tm="0">
                                          <p:val>
                                            <p:fltVal val="0"/>
                                          </p:val>
                                        </p:tav>
                                        <p:tav tm="100000">
                                          <p:val>
                                            <p:strVal val="#ppt_h"/>
                                          </p:val>
                                        </p:tav>
                                      </p:tavLst>
                                    </p:anim>
                                    <p:animEffect transition="in" filter="fade">
                                      <p:cBhvr>
                                        <p:cTn id="18" dur="500"/>
                                        <p:tgtEl>
                                          <p:spTgt spid="7"/>
                                        </p:tgtEl>
                                      </p:cBhvr>
                                    </p:animEffect>
                                  </p:childTnLst>
                                </p:cTn>
                              </p:par>
                              <p:par>
                                <p:cTn id="19" presetID="53" presetClass="entr" presetSubtype="16" fill="hold" grpId="0" nodeType="withEffect">
                                  <p:stCondLst>
                                    <p:cond delay="0"/>
                                  </p:stCondLst>
                                  <p:childTnLst>
                                    <p:set>
                                      <p:cBhvr>
                                        <p:cTn id="20" dur="1" fill="hold">
                                          <p:stCondLst>
                                            <p:cond delay="0"/>
                                          </p:stCondLst>
                                        </p:cTn>
                                        <p:tgtEl>
                                          <p:spTgt spid="8"/>
                                        </p:tgtEl>
                                        <p:attrNameLst>
                                          <p:attrName>style.visibility</p:attrName>
                                        </p:attrNameLst>
                                      </p:cBhvr>
                                      <p:to>
                                        <p:strVal val="visible"/>
                                      </p:to>
                                    </p:set>
                                    <p:anim calcmode="lin" valueType="num">
                                      <p:cBhvr additive="base">
                                        <p:cTn id="21" dur="500" fill="hold"/>
                                        <p:tgtEl>
                                          <p:spTgt spid="8"/>
                                        </p:tgtEl>
                                        <p:attrNameLst>
                                          <p:attrName>ppt_w</p:attrName>
                                        </p:attrNameLst>
                                      </p:cBhvr>
                                      <p:tavLst>
                                        <p:tav tm="0">
                                          <p:val>
                                            <p:fltVal val="0"/>
                                          </p:val>
                                        </p:tav>
                                        <p:tav tm="100000">
                                          <p:val>
                                            <p:strVal val="#ppt_w"/>
                                          </p:val>
                                        </p:tav>
                                      </p:tavLst>
                                    </p:anim>
                                    <p:anim calcmode="lin" valueType="num">
                                      <p:cBhvr additive="base">
                                        <p:cTn id="22" dur="500" fill="hold"/>
                                        <p:tgtEl>
                                          <p:spTgt spid="8"/>
                                        </p:tgtEl>
                                        <p:attrNameLst>
                                          <p:attrName>ppt_h</p:attrName>
                                        </p:attrNameLst>
                                      </p:cBhvr>
                                      <p:tavLst>
                                        <p:tav tm="0">
                                          <p:val>
                                            <p:fltVal val="0"/>
                                          </p:val>
                                        </p:tav>
                                        <p:tav tm="100000">
                                          <p:val>
                                            <p:strVal val="#ppt_h"/>
                                          </p:val>
                                        </p:tav>
                                      </p:tavLst>
                                    </p:anim>
                                    <p:animEffect transition="in" filter="fade">
                                      <p:cBhvr>
                                        <p:cTn id="23" dur="500"/>
                                        <p:tgtEl>
                                          <p:spTgt spid="8"/>
                                        </p:tgtEl>
                                      </p:cBhvr>
                                    </p:animEffect>
                                  </p:childTnLst>
                                </p:cTn>
                              </p:par>
                              <p:par>
                                <p:cTn id="24" presetID="53" presetClass="entr" presetSubtype="16"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500" fill="hold"/>
                                        <p:tgtEl>
                                          <p:spTgt spid="9"/>
                                        </p:tgtEl>
                                        <p:attrNameLst>
                                          <p:attrName>ppt_w</p:attrName>
                                        </p:attrNameLst>
                                      </p:cBhvr>
                                      <p:tavLst>
                                        <p:tav tm="0">
                                          <p:val>
                                            <p:fltVal val="0"/>
                                          </p:val>
                                        </p:tav>
                                        <p:tav tm="100000">
                                          <p:val>
                                            <p:strVal val="#ppt_w"/>
                                          </p:val>
                                        </p:tav>
                                      </p:tavLst>
                                    </p:anim>
                                    <p:anim calcmode="lin" valueType="num">
                                      <p:cBhvr additive="base">
                                        <p:cTn id="27" dur="500" fill="hold"/>
                                        <p:tgtEl>
                                          <p:spTgt spid="9"/>
                                        </p:tgtEl>
                                        <p:attrNameLst>
                                          <p:attrName>ppt_h</p:attrName>
                                        </p:attrNameLst>
                                      </p:cBhvr>
                                      <p:tavLst>
                                        <p:tav tm="0">
                                          <p:val>
                                            <p:fltVal val="0"/>
                                          </p:val>
                                        </p:tav>
                                        <p:tav tm="100000">
                                          <p:val>
                                            <p:strVal val="#ppt_h"/>
                                          </p:val>
                                        </p:tav>
                                      </p:tavLst>
                                    </p:anim>
                                    <p:animEffect transition="in" filter="fade">
                                      <p:cBhvr>
                                        <p:cTn id="28" dur="500"/>
                                        <p:tgtEl>
                                          <p:spTgt spid="9"/>
                                        </p:tgtEl>
                                      </p:cBhvr>
                                    </p:animEffect>
                                  </p:childTnLst>
                                </p:cTn>
                              </p:par>
                              <p:par>
                                <p:cTn id="29" presetID="53" presetClass="entr" presetSubtype="16"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ppt_w</p:attrName>
                                        </p:attrNameLst>
                                      </p:cBhvr>
                                      <p:tavLst>
                                        <p:tav tm="0">
                                          <p:val>
                                            <p:fltVal val="0"/>
                                          </p:val>
                                        </p:tav>
                                        <p:tav tm="100000">
                                          <p:val>
                                            <p:strVal val="#ppt_w"/>
                                          </p:val>
                                        </p:tav>
                                      </p:tavLst>
                                    </p:anim>
                                    <p:anim calcmode="lin" valueType="num">
                                      <p:cBhvr additive="base">
                                        <p:cTn id="32" dur="500" fill="hold"/>
                                        <p:tgtEl>
                                          <p:spTgt spid="10"/>
                                        </p:tgtEl>
                                        <p:attrNameLst>
                                          <p:attrName>ppt_h</p:attrName>
                                        </p:attrNameLst>
                                      </p:cBhvr>
                                      <p:tavLst>
                                        <p:tav tm="0">
                                          <p:val>
                                            <p:fltVal val="0"/>
                                          </p:val>
                                        </p:tav>
                                        <p:tav tm="100000">
                                          <p:val>
                                            <p:strVal val="#ppt_h"/>
                                          </p:val>
                                        </p:tav>
                                      </p:tavLst>
                                    </p:anim>
                                    <p:animEffect transition="in" filter="fade">
                                      <p:cBhvr>
                                        <p:cTn id="33" dur="500"/>
                                        <p:tgtEl>
                                          <p:spTgt spid="10"/>
                                        </p:tgtEl>
                                      </p:cBhvr>
                                    </p:animEffect>
                                  </p:childTnLst>
                                </p:cTn>
                              </p:par>
                              <p:par>
                                <p:cTn id="34" presetID="53" presetClass="entr" presetSubtype="16" fill="hold" grpId="0" nodeType="with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ppt_w</p:attrName>
                                        </p:attrNameLst>
                                      </p:cBhvr>
                                      <p:tavLst>
                                        <p:tav tm="0">
                                          <p:val>
                                            <p:fltVal val="0"/>
                                          </p:val>
                                        </p:tav>
                                        <p:tav tm="100000">
                                          <p:val>
                                            <p:strVal val="#ppt_w"/>
                                          </p:val>
                                        </p:tav>
                                      </p:tavLst>
                                    </p:anim>
                                    <p:anim calcmode="lin" valueType="num">
                                      <p:cBhvr additive="base">
                                        <p:cTn id="37" dur="500" fill="hold"/>
                                        <p:tgtEl>
                                          <p:spTgt spid="11"/>
                                        </p:tgtEl>
                                        <p:attrNameLst>
                                          <p:attrName>ppt_h</p:attrName>
                                        </p:attrNameLst>
                                      </p:cBhvr>
                                      <p:tavLst>
                                        <p:tav tm="0">
                                          <p:val>
                                            <p:fltVal val="0"/>
                                          </p:val>
                                        </p:tav>
                                        <p:tav tm="100000">
                                          <p:val>
                                            <p:strVal val="#ppt_h"/>
                                          </p:val>
                                        </p:tav>
                                      </p:tavLst>
                                    </p:anim>
                                    <p:animEffect transition="in" filter="fade">
                                      <p:cBhvr>
                                        <p:cTn id="38" dur="500"/>
                                        <p:tgtEl>
                                          <p:spTgt spid="11"/>
                                        </p:tgtEl>
                                      </p:cBhvr>
                                    </p:animEffect>
                                  </p:childTnLst>
                                </p:cTn>
                              </p:par>
                              <p:par>
                                <p:cTn id="39" presetID="53" presetClass="entr" presetSubtype="16" fill="hold" grpId="0" nodeType="withEffect">
                                  <p:stCondLst>
                                    <p:cond delay="0"/>
                                  </p:stCondLst>
                                  <p:childTnLst>
                                    <p:set>
                                      <p:cBhvr>
                                        <p:cTn id="40" dur="1" fill="hold">
                                          <p:stCondLst>
                                            <p:cond delay="0"/>
                                          </p:stCondLst>
                                        </p:cTn>
                                        <p:tgtEl>
                                          <p:spTgt spid="12"/>
                                        </p:tgtEl>
                                        <p:attrNameLst>
                                          <p:attrName>style.visibility</p:attrName>
                                        </p:attrNameLst>
                                      </p:cBhvr>
                                      <p:to>
                                        <p:strVal val="visible"/>
                                      </p:to>
                                    </p:set>
                                    <p:anim calcmode="lin" valueType="num">
                                      <p:cBhvr additive="base">
                                        <p:cTn id="41" dur="500" fill="hold"/>
                                        <p:tgtEl>
                                          <p:spTgt spid="12"/>
                                        </p:tgtEl>
                                        <p:attrNameLst>
                                          <p:attrName>ppt_w</p:attrName>
                                        </p:attrNameLst>
                                      </p:cBhvr>
                                      <p:tavLst>
                                        <p:tav tm="0">
                                          <p:val>
                                            <p:fltVal val="0"/>
                                          </p:val>
                                        </p:tav>
                                        <p:tav tm="100000">
                                          <p:val>
                                            <p:strVal val="#ppt_w"/>
                                          </p:val>
                                        </p:tav>
                                      </p:tavLst>
                                    </p:anim>
                                    <p:anim calcmode="lin" valueType="num">
                                      <p:cBhvr additive="base">
                                        <p:cTn id="42" dur="500" fill="hold"/>
                                        <p:tgtEl>
                                          <p:spTgt spid="12"/>
                                        </p:tgtEl>
                                        <p:attrNameLst>
                                          <p:attrName>ppt_h</p:attrName>
                                        </p:attrNameLst>
                                      </p:cBhvr>
                                      <p:tavLst>
                                        <p:tav tm="0">
                                          <p:val>
                                            <p:fltVal val="0"/>
                                          </p:val>
                                        </p:tav>
                                        <p:tav tm="100000">
                                          <p:val>
                                            <p:strVal val="#ppt_h"/>
                                          </p:val>
                                        </p:tav>
                                      </p:tavLst>
                                    </p:anim>
                                    <p:animEffect transition="in" filter="fade">
                                      <p:cBhvr>
                                        <p:cTn id="43" dur="500"/>
                                        <p:tgtEl>
                                          <p:spTgt spid="12"/>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 calcmode="lin" valueType="num">
                                      <p:cBhvr additive="base">
                                        <p:cTn id="48" dur="500" fill="hold"/>
                                        <p:tgtEl>
                                          <p:spTgt spid="13"/>
                                        </p:tgtEl>
                                        <p:attrNameLst>
                                          <p:attrName>ppt_w</p:attrName>
                                        </p:attrNameLst>
                                      </p:cBhvr>
                                      <p:tavLst>
                                        <p:tav tm="0">
                                          <p:val>
                                            <p:fltVal val="0"/>
                                          </p:val>
                                        </p:tav>
                                        <p:tav tm="100000">
                                          <p:val>
                                            <p:strVal val="#ppt_w"/>
                                          </p:val>
                                        </p:tav>
                                      </p:tavLst>
                                    </p:anim>
                                    <p:anim calcmode="lin" valueType="num">
                                      <p:cBhvr additive="base">
                                        <p:cTn id="49" dur="500" fill="hold"/>
                                        <p:tgtEl>
                                          <p:spTgt spid="13"/>
                                        </p:tgtEl>
                                        <p:attrNameLst>
                                          <p:attrName>ppt_h</p:attrName>
                                        </p:attrNameLst>
                                      </p:cBhvr>
                                      <p:tavLst>
                                        <p:tav tm="0">
                                          <p:val>
                                            <p:fltVal val="0"/>
                                          </p:val>
                                        </p:tav>
                                        <p:tav tm="100000">
                                          <p:val>
                                            <p:strVal val="#ppt_h"/>
                                          </p:val>
                                        </p:tav>
                                      </p:tavLst>
                                    </p:anim>
                                    <p:animEffect transition="in" filter="fade">
                                      <p:cBhvr>
                                        <p:cTn id="50" dur="500"/>
                                        <p:tgtEl>
                                          <p:spTgt spid="13"/>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 calcmode="lin" valueType="num">
                                      <p:cBhvr additive="base">
                                        <p:cTn id="53" dur="500" fill="hold"/>
                                        <p:tgtEl>
                                          <p:spTgt spid="14"/>
                                        </p:tgtEl>
                                        <p:attrNameLst>
                                          <p:attrName>ppt_w</p:attrName>
                                        </p:attrNameLst>
                                      </p:cBhvr>
                                      <p:tavLst>
                                        <p:tav tm="0">
                                          <p:val>
                                            <p:fltVal val="0"/>
                                          </p:val>
                                        </p:tav>
                                        <p:tav tm="100000">
                                          <p:val>
                                            <p:strVal val="#ppt_w"/>
                                          </p:val>
                                        </p:tav>
                                      </p:tavLst>
                                    </p:anim>
                                    <p:anim calcmode="lin" valueType="num">
                                      <p:cBhvr additive="base">
                                        <p:cTn id="54" dur="500" fill="hold"/>
                                        <p:tgtEl>
                                          <p:spTgt spid="14"/>
                                        </p:tgtEl>
                                        <p:attrNameLst>
                                          <p:attrName>ppt_h</p:attrName>
                                        </p:attrNameLst>
                                      </p:cBhvr>
                                      <p:tavLst>
                                        <p:tav tm="0">
                                          <p:val>
                                            <p:fltVal val="0"/>
                                          </p:val>
                                        </p:tav>
                                        <p:tav tm="100000">
                                          <p:val>
                                            <p:strVal val="#ppt_h"/>
                                          </p:val>
                                        </p:tav>
                                      </p:tavLst>
                                    </p:anim>
                                    <p:animEffect transition="in" filter="fade">
                                      <p:cBhvr>
                                        <p:cTn id="55" dur="500"/>
                                        <p:tgtEl>
                                          <p:spTgt spid="14"/>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15"/>
                                        </p:tgtEl>
                                        <p:attrNameLst>
                                          <p:attrName>style.visibility</p:attrName>
                                        </p:attrNameLst>
                                      </p:cBhvr>
                                      <p:to>
                                        <p:strVal val="visible"/>
                                      </p:to>
                                    </p:set>
                                    <p:anim calcmode="lin" valueType="num">
                                      <p:cBhvr additive="base">
                                        <p:cTn id="58" dur="500" fill="hold"/>
                                        <p:tgtEl>
                                          <p:spTgt spid="15"/>
                                        </p:tgtEl>
                                        <p:attrNameLst>
                                          <p:attrName>ppt_w</p:attrName>
                                        </p:attrNameLst>
                                      </p:cBhvr>
                                      <p:tavLst>
                                        <p:tav tm="0">
                                          <p:val>
                                            <p:fltVal val="0"/>
                                          </p:val>
                                        </p:tav>
                                        <p:tav tm="100000">
                                          <p:val>
                                            <p:strVal val="#ppt_w"/>
                                          </p:val>
                                        </p:tav>
                                      </p:tavLst>
                                    </p:anim>
                                    <p:anim calcmode="lin" valueType="num">
                                      <p:cBhvr additive="base">
                                        <p:cTn id="59" dur="500" fill="hold"/>
                                        <p:tgtEl>
                                          <p:spTgt spid="15"/>
                                        </p:tgtEl>
                                        <p:attrNameLst>
                                          <p:attrName>ppt_h</p:attrName>
                                        </p:attrNameLst>
                                      </p:cBhvr>
                                      <p:tavLst>
                                        <p:tav tm="0">
                                          <p:val>
                                            <p:fltVal val="0"/>
                                          </p:val>
                                        </p:tav>
                                        <p:tav tm="100000">
                                          <p:val>
                                            <p:strVal val="#ppt_h"/>
                                          </p:val>
                                        </p:tav>
                                      </p:tavLst>
                                    </p:anim>
                                    <p:animEffect transition="in" filter="fade">
                                      <p:cBhvr>
                                        <p:cTn id="60" dur="500"/>
                                        <p:tgtEl>
                                          <p:spTgt spid="15"/>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6"/>
                                        </p:tgtEl>
                                        <p:attrNameLst>
                                          <p:attrName>style.visibility</p:attrName>
                                        </p:attrNameLst>
                                      </p:cBhvr>
                                      <p:to>
                                        <p:strVal val="visible"/>
                                      </p:to>
                                    </p:set>
                                    <p:anim calcmode="lin" valueType="num">
                                      <p:cBhvr additive="base">
                                        <p:cTn id="63" dur="500" fill="hold"/>
                                        <p:tgtEl>
                                          <p:spTgt spid="16"/>
                                        </p:tgtEl>
                                        <p:attrNameLst>
                                          <p:attrName>ppt_w</p:attrName>
                                        </p:attrNameLst>
                                      </p:cBhvr>
                                      <p:tavLst>
                                        <p:tav tm="0">
                                          <p:val>
                                            <p:fltVal val="0"/>
                                          </p:val>
                                        </p:tav>
                                        <p:tav tm="100000">
                                          <p:val>
                                            <p:strVal val="#ppt_w"/>
                                          </p:val>
                                        </p:tav>
                                      </p:tavLst>
                                    </p:anim>
                                    <p:anim calcmode="lin" valueType="num">
                                      <p:cBhvr additive="base">
                                        <p:cTn id="64" dur="500" fill="hold"/>
                                        <p:tgtEl>
                                          <p:spTgt spid="16"/>
                                        </p:tgtEl>
                                        <p:attrNameLst>
                                          <p:attrName>ppt_h</p:attrName>
                                        </p:attrNameLst>
                                      </p:cBhvr>
                                      <p:tavLst>
                                        <p:tav tm="0">
                                          <p:val>
                                            <p:fltVal val="0"/>
                                          </p:val>
                                        </p:tav>
                                        <p:tav tm="100000">
                                          <p:val>
                                            <p:strVal val="#ppt_h"/>
                                          </p:val>
                                        </p:tav>
                                      </p:tavLst>
                                    </p:anim>
                                    <p:animEffect transition="in" filter="fade">
                                      <p:cBhvr>
                                        <p:cTn id="65" dur="500"/>
                                        <p:tgtEl>
                                          <p:spTgt spid="16"/>
                                        </p:tgtEl>
                                      </p:cBhvr>
                                    </p:animEffect>
                                  </p:childTnLst>
                                </p:cTn>
                              </p:par>
                              <p:par>
                                <p:cTn id="66" presetID="53" presetClass="entr" presetSubtype="16" fill="hold" grpId="0" nodeType="withEffect">
                                  <p:stCondLst>
                                    <p:cond delay="0"/>
                                  </p:stCondLst>
                                  <p:childTnLst>
                                    <p:set>
                                      <p:cBhvr>
                                        <p:cTn id="67" dur="1" fill="hold">
                                          <p:stCondLst>
                                            <p:cond delay="0"/>
                                          </p:stCondLst>
                                        </p:cTn>
                                        <p:tgtEl>
                                          <p:spTgt spid="17"/>
                                        </p:tgtEl>
                                        <p:attrNameLst>
                                          <p:attrName>style.visibility</p:attrName>
                                        </p:attrNameLst>
                                      </p:cBhvr>
                                      <p:to>
                                        <p:strVal val="visible"/>
                                      </p:to>
                                    </p:set>
                                    <p:anim calcmode="lin" valueType="num">
                                      <p:cBhvr additive="base">
                                        <p:cTn id="68" dur="500" fill="hold"/>
                                        <p:tgtEl>
                                          <p:spTgt spid="17"/>
                                        </p:tgtEl>
                                        <p:attrNameLst>
                                          <p:attrName>ppt_w</p:attrName>
                                        </p:attrNameLst>
                                      </p:cBhvr>
                                      <p:tavLst>
                                        <p:tav tm="0">
                                          <p:val>
                                            <p:fltVal val="0"/>
                                          </p:val>
                                        </p:tav>
                                        <p:tav tm="100000">
                                          <p:val>
                                            <p:strVal val="#ppt_w"/>
                                          </p:val>
                                        </p:tav>
                                      </p:tavLst>
                                    </p:anim>
                                    <p:anim calcmode="lin" valueType="num">
                                      <p:cBhvr additive="base">
                                        <p:cTn id="69" dur="500" fill="hold"/>
                                        <p:tgtEl>
                                          <p:spTgt spid="17"/>
                                        </p:tgtEl>
                                        <p:attrNameLst>
                                          <p:attrName>ppt_h</p:attrName>
                                        </p:attrNameLst>
                                      </p:cBhvr>
                                      <p:tavLst>
                                        <p:tav tm="0">
                                          <p:val>
                                            <p:fltVal val="0"/>
                                          </p:val>
                                        </p:tav>
                                        <p:tav tm="100000">
                                          <p:val>
                                            <p:strVal val="#ppt_h"/>
                                          </p:val>
                                        </p:tav>
                                      </p:tavLst>
                                    </p:anim>
                                    <p:animEffect transition="in" filter="fade">
                                      <p:cBhvr>
                                        <p:cTn id="70" dur="500"/>
                                        <p:tgtEl>
                                          <p:spTgt spid="17"/>
                                        </p:tgtEl>
                                      </p:cBhvr>
                                    </p:animEffect>
                                  </p:childTnLst>
                                </p:cTn>
                              </p:par>
                              <p:par>
                                <p:cTn id="71" presetID="53" presetClass="entr" presetSubtype="16" fill="hold" grpId="0" nodeType="withEffect">
                                  <p:stCondLst>
                                    <p:cond delay="0"/>
                                  </p:stCondLst>
                                  <p:childTnLst>
                                    <p:set>
                                      <p:cBhvr>
                                        <p:cTn id="72" dur="1" fill="hold">
                                          <p:stCondLst>
                                            <p:cond delay="0"/>
                                          </p:stCondLst>
                                        </p:cTn>
                                        <p:tgtEl>
                                          <p:spTgt spid="18"/>
                                        </p:tgtEl>
                                        <p:attrNameLst>
                                          <p:attrName>style.visibility</p:attrName>
                                        </p:attrNameLst>
                                      </p:cBhvr>
                                      <p:to>
                                        <p:strVal val="visible"/>
                                      </p:to>
                                    </p:set>
                                    <p:anim calcmode="lin" valueType="num">
                                      <p:cBhvr additive="base">
                                        <p:cTn id="73" dur="500" fill="hold"/>
                                        <p:tgtEl>
                                          <p:spTgt spid="18"/>
                                        </p:tgtEl>
                                        <p:attrNameLst>
                                          <p:attrName>ppt_w</p:attrName>
                                        </p:attrNameLst>
                                      </p:cBhvr>
                                      <p:tavLst>
                                        <p:tav tm="0">
                                          <p:val>
                                            <p:fltVal val="0"/>
                                          </p:val>
                                        </p:tav>
                                        <p:tav tm="100000">
                                          <p:val>
                                            <p:strVal val="#ppt_w"/>
                                          </p:val>
                                        </p:tav>
                                      </p:tavLst>
                                    </p:anim>
                                    <p:anim calcmode="lin" valueType="num">
                                      <p:cBhvr additive="base">
                                        <p:cTn id="74" dur="500" fill="hold"/>
                                        <p:tgtEl>
                                          <p:spTgt spid="18"/>
                                        </p:tgtEl>
                                        <p:attrNameLst>
                                          <p:attrName>ppt_h</p:attrName>
                                        </p:attrNameLst>
                                      </p:cBhvr>
                                      <p:tavLst>
                                        <p:tav tm="0">
                                          <p:val>
                                            <p:fltVal val="0"/>
                                          </p:val>
                                        </p:tav>
                                        <p:tav tm="100000">
                                          <p:val>
                                            <p:strVal val="#ppt_h"/>
                                          </p:val>
                                        </p:tav>
                                      </p:tavLst>
                                    </p:anim>
                                    <p:animEffect transition="in" filter="fade">
                                      <p:cBhvr>
                                        <p:cTn id="75" dur="500"/>
                                        <p:tgtEl>
                                          <p:spTgt spid="18"/>
                                        </p:tgtEl>
                                      </p:cBhvr>
                                    </p:animEffect>
                                  </p:childTnLst>
                                </p:cTn>
                              </p:par>
                            </p:childTnLst>
                          </p:cTn>
                        </p:par>
                      </p:childTnLst>
                    </p:cTn>
                  </p:par>
                  <p:par>
                    <p:cTn id="76" fill="hold">
                      <p:stCondLst>
                        <p:cond delay="indefinite"/>
                      </p:stCondLst>
                      <p:childTnLst>
                        <p:par>
                          <p:cTn id="77" fill="hold">
                            <p:stCondLst>
                              <p:cond delay="0"/>
                            </p:stCondLst>
                            <p:childTnLst>
                              <p:par>
                                <p:cTn id="78" presetID="53" presetClass="entr" presetSubtype="16" fill="hold" grpId="0" nodeType="clickEffect">
                                  <p:stCondLst>
                                    <p:cond delay="0"/>
                                  </p:stCondLst>
                                  <p:childTnLst>
                                    <p:set>
                                      <p:cBhvr>
                                        <p:cTn id="79" dur="1" fill="hold">
                                          <p:stCondLst>
                                            <p:cond delay="0"/>
                                          </p:stCondLst>
                                        </p:cTn>
                                        <p:tgtEl>
                                          <p:spTgt spid="19"/>
                                        </p:tgtEl>
                                        <p:attrNameLst>
                                          <p:attrName>style.visibility</p:attrName>
                                        </p:attrNameLst>
                                      </p:cBhvr>
                                      <p:to>
                                        <p:strVal val="visible"/>
                                      </p:to>
                                    </p:set>
                                    <p:anim calcmode="lin" valueType="num">
                                      <p:cBhvr additive="base">
                                        <p:cTn id="80" dur="500" fill="hold"/>
                                        <p:tgtEl>
                                          <p:spTgt spid="19"/>
                                        </p:tgtEl>
                                        <p:attrNameLst>
                                          <p:attrName>ppt_w</p:attrName>
                                        </p:attrNameLst>
                                      </p:cBhvr>
                                      <p:tavLst>
                                        <p:tav tm="0">
                                          <p:val>
                                            <p:fltVal val="0"/>
                                          </p:val>
                                        </p:tav>
                                        <p:tav tm="100000">
                                          <p:val>
                                            <p:strVal val="#ppt_w"/>
                                          </p:val>
                                        </p:tav>
                                      </p:tavLst>
                                    </p:anim>
                                    <p:anim calcmode="lin" valueType="num">
                                      <p:cBhvr additive="base">
                                        <p:cTn id="81" dur="500" fill="hold"/>
                                        <p:tgtEl>
                                          <p:spTgt spid="19"/>
                                        </p:tgtEl>
                                        <p:attrNameLst>
                                          <p:attrName>ppt_h</p:attrName>
                                        </p:attrNameLst>
                                      </p:cBhvr>
                                      <p:tavLst>
                                        <p:tav tm="0">
                                          <p:val>
                                            <p:fltVal val="0"/>
                                          </p:val>
                                        </p:tav>
                                        <p:tav tm="100000">
                                          <p:val>
                                            <p:strVal val="#ppt_h"/>
                                          </p:val>
                                        </p:tav>
                                      </p:tavLst>
                                    </p:anim>
                                    <p:animEffect transition="in" filter="fade">
                                      <p:cBhvr>
                                        <p:cTn id="82" dur="500"/>
                                        <p:tgtEl>
                                          <p:spTgt spid="19"/>
                                        </p:tgtEl>
                                      </p:cBhvr>
                                    </p:animEffect>
                                  </p:childTnLst>
                                </p:cTn>
                              </p:par>
                              <p:par>
                                <p:cTn id="83" presetID="53" presetClass="entr" presetSubtype="16" fill="hold" grpId="0" nodeType="withEffect">
                                  <p:stCondLst>
                                    <p:cond delay="0"/>
                                  </p:stCondLst>
                                  <p:childTnLst>
                                    <p:set>
                                      <p:cBhvr>
                                        <p:cTn id="84" dur="1" fill="hold">
                                          <p:stCondLst>
                                            <p:cond delay="0"/>
                                          </p:stCondLst>
                                        </p:cTn>
                                        <p:tgtEl>
                                          <p:spTgt spid="20"/>
                                        </p:tgtEl>
                                        <p:attrNameLst>
                                          <p:attrName>style.visibility</p:attrName>
                                        </p:attrNameLst>
                                      </p:cBhvr>
                                      <p:to>
                                        <p:strVal val="visible"/>
                                      </p:to>
                                    </p:set>
                                    <p:anim calcmode="lin" valueType="num">
                                      <p:cBhvr additive="base">
                                        <p:cTn id="85" dur="500" fill="hold"/>
                                        <p:tgtEl>
                                          <p:spTgt spid="20"/>
                                        </p:tgtEl>
                                        <p:attrNameLst>
                                          <p:attrName>ppt_w</p:attrName>
                                        </p:attrNameLst>
                                      </p:cBhvr>
                                      <p:tavLst>
                                        <p:tav tm="0">
                                          <p:val>
                                            <p:fltVal val="0"/>
                                          </p:val>
                                        </p:tav>
                                        <p:tav tm="100000">
                                          <p:val>
                                            <p:strVal val="#ppt_w"/>
                                          </p:val>
                                        </p:tav>
                                      </p:tavLst>
                                    </p:anim>
                                    <p:anim calcmode="lin" valueType="num">
                                      <p:cBhvr additive="base">
                                        <p:cTn id="86" dur="500" fill="hold"/>
                                        <p:tgtEl>
                                          <p:spTgt spid="20"/>
                                        </p:tgtEl>
                                        <p:attrNameLst>
                                          <p:attrName>ppt_h</p:attrName>
                                        </p:attrNameLst>
                                      </p:cBhvr>
                                      <p:tavLst>
                                        <p:tav tm="0">
                                          <p:val>
                                            <p:fltVal val="0"/>
                                          </p:val>
                                        </p:tav>
                                        <p:tav tm="100000">
                                          <p:val>
                                            <p:strVal val="#ppt_h"/>
                                          </p:val>
                                        </p:tav>
                                      </p:tavLst>
                                    </p:anim>
                                    <p:animEffect transition="in" filter="fade">
                                      <p:cBhvr>
                                        <p:cTn id="87" dur="500"/>
                                        <p:tgtEl>
                                          <p:spTgt spid="20"/>
                                        </p:tgtEl>
                                      </p:cBhvr>
                                    </p:animEffect>
                                  </p:childTnLst>
                                </p:cTn>
                              </p:par>
                              <p:par>
                                <p:cTn id="88" presetID="53" presetClass="entr" presetSubtype="16" fill="hold" grpId="0" nodeType="withEffect">
                                  <p:stCondLst>
                                    <p:cond delay="0"/>
                                  </p:stCondLst>
                                  <p:childTnLst>
                                    <p:set>
                                      <p:cBhvr>
                                        <p:cTn id="89" dur="1" fill="hold">
                                          <p:stCondLst>
                                            <p:cond delay="0"/>
                                          </p:stCondLst>
                                        </p:cTn>
                                        <p:tgtEl>
                                          <p:spTgt spid="21"/>
                                        </p:tgtEl>
                                        <p:attrNameLst>
                                          <p:attrName>style.visibility</p:attrName>
                                        </p:attrNameLst>
                                      </p:cBhvr>
                                      <p:to>
                                        <p:strVal val="visible"/>
                                      </p:to>
                                    </p:set>
                                    <p:anim calcmode="lin" valueType="num">
                                      <p:cBhvr additive="base">
                                        <p:cTn id="90" dur="500" fill="hold"/>
                                        <p:tgtEl>
                                          <p:spTgt spid="21"/>
                                        </p:tgtEl>
                                        <p:attrNameLst>
                                          <p:attrName>ppt_w</p:attrName>
                                        </p:attrNameLst>
                                      </p:cBhvr>
                                      <p:tavLst>
                                        <p:tav tm="0">
                                          <p:val>
                                            <p:fltVal val="0"/>
                                          </p:val>
                                        </p:tav>
                                        <p:tav tm="100000">
                                          <p:val>
                                            <p:strVal val="#ppt_w"/>
                                          </p:val>
                                        </p:tav>
                                      </p:tavLst>
                                    </p:anim>
                                    <p:anim calcmode="lin" valueType="num">
                                      <p:cBhvr additive="base">
                                        <p:cTn id="91" dur="500" fill="hold"/>
                                        <p:tgtEl>
                                          <p:spTgt spid="21"/>
                                        </p:tgtEl>
                                        <p:attrNameLst>
                                          <p:attrName>ppt_h</p:attrName>
                                        </p:attrNameLst>
                                      </p:cBhvr>
                                      <p:tavLst>
                                        <p:tav tm="0">
                                          <p:val>
                                            <p:fltVal val="0"/>
                                          </p:val>
                                        </p:tav>
                                        <p:tav tm="100000">
                                          <p:val>
                                            <p:strVal val="#ppt_h"/>
                                          </p:val>
                                        </p:tav>
                                      </p:tavLst>
                                    </p:anim>
                                    <p:animEffect transition="in" filter="fade">
                                      <p:cBhvr>
                                        <p:cTn id="92" dur="500"/>
                                        <p:tgtEl>
                                          <p:spTgt spid="21"/>
                                        </p:tgtEl>
                                      </p:cBhvr>
                                    </p:animEffect>
                                  </p:childTnLst>
                                </p:cTn>
                              </p:par>
                              <p:par>
                                <p:cTn id="93" presetID="53" presetClass="entr" presetSubtype="16" fill="hold" grpId="0" nodeType="withEffect">
                                  <p:stCondLst>
                                    <p:cond delay="0"/>
                                  </p:stCondLst>
                                  <p:childTnLst>
                                    <p:set>
                                      <p:cBhvr>
                                        <p:cTn id="94" dur="1" fill="hold">
                                          <p:stCondLst>
                                            <p:cond delay="0"/>
                                          </p:stCondLst>
                                        </p:cTn>
                                        <p:tgtEl>
                                          <p:spTgt spid="22"/>
                                        </p:tgtEl>
                                        <p:attrNameLst>
                                          <p:attrName>style.visibility</p:attrName>
                                        </p:attrNameLst>
                                      </p:cBhvr>
                                      <p:to>
                                        <p:strVal val="visible"/>
                                      </p:to>
                                    </p:set>
                                    <p:anim calcmode="lin" valueType="num">
                                      <p:cBhvr additive="base">
                                        <p:cTn id="95" dur="500" fill="hold"/>
                                        <p:tgtEl>
                                          <p:spTgt spid="22"/>
                                        </p:tgtEl>
                                        <p:attrNameLst>
                                          <p:attrName>ppt_w</p:attrName>
                                        </p:attrNameLst>
                                      </p:cBhvr>
                                      <p:tavLst>
                                        <p:tav tm="0">
                                          <p:val>
                                            <p:fltVal val="0"/>
                                          </p:val>
                                        </p:tav>
                                        <p:tav tm="100000">
                                          <p:val>
                                            <p:strVal val="#ppt_w"/>
                                          </p:val>
                                        </p:tav>
                                      </p:tavLst>
                                    </p:anim>
                                    <p:anim calcmode="lin" valueType="num">
                                      <p:cBhvr additive="base">
                                        <p:cTn id="96" dur="500" fill="hold"/>
                                        <p:tgtEl>
                                          <p:spTgt spid="22"/>
                                        </p:tgtEl>
                                        <p:attrNameLst>
                                          <p:attrName>ppt_h</p:attrName>
                                        </p:attrNameLst>
                                      </p:cBhvr>
                                      <p:tavLst>
                                        <p:tav tm="0">
                                          <p:val>
                                            <p:fltVal val="0"/>
                                          </p:val>
                                        </p:tav>
                                        <p:tav tm="100000">
                                          <p:val>
                                            <p:strVal val="#ppt_h"/>
                                          </p:val>
                                        </p:tav>
                                      </p:tavLst>
                                    </p:anim>
                                    <p:animEffect transition="in" filter="fade">
                                      <p:cBhvr>
                                        <p:cTn id="97" dur="500"/>
                                        <p:tgtEl>
                                          <p:spTgt spid="22"/>
                                        </p:tgtEl>
                                      </p:cBhvr>
                                    </p:animEffect>
                                  </p:childTnLst>
                                </p:cTn>
                              </p:par>
                              <p:par>
                                <p:cTn id="98" presetID="53" presetClass="entr" presetSubtype="16" fill="hold" grpId="0" nodeType="withEffect">
                                  <p:stCondLst>
                                    <p:cond delay="0"/>
                                  </p:stCondLst>
                                  <p:childTnLst>
                                    <p:set>
                                      <p:cBhvr>
                                        <p:cTn id="99" dur="1" fill="hold">
                                          <p:stCondLst>
                                            <p:cond delay="0"/>
                                          </p:stCondLst>
                                        </p:cTn>
                                        <p:tgtEl>
                                          <p:spTgt spid="23"/>
                                        </p:tgtEl>
                                        <p:attrNameLst>
                                          <p:attrName>style.visibility</p:attrName>
                                        </p:attrNameLst>
                                      </p:cBhvr>
                                      <p:to>
                                        <p:strVal val="visible"/>
                                      </p:to>
                                    </p:set>
                                    <p:anim calcmode="lin" valueType="num">
                                      <p:cBhvr additive="base">
                                        <p:cTn id="100" dur="500" fill="hold"/>
                                        <p:tgtEl>
                                          <p:spTgt spid="23"/>
                                        </p:tgtEl>
                                        <p:attrNameLst>
                                          <p:attrName>ppt_w</p:attrName>
                                        </p:attrNameLst>
                                      </p:cBhvr>
                                      <p:tavLst>
                                        <p:tav tm="0">
                                          <p:val>
                                            <p:fltVal val="0"/>
                                          </p:val>
                                        </p:tav>
                                        <p:tav tm="100000">
                                          <p:val>
                                            <p:strVal val="#ppt_w"/>
                                          </p:val>
                                        </p:tav>
                                      </p:tavLst>
                                    </p:anim>
                                    <p:anim calcmode="lin" valueType="num">
                                      <p:cBhvr additive="base">
                                        <p:cTn id="101" dur="500" fill="hold"/>
                                        <p:tgtEl>
                                          <p:spTgt spid="23"/>
                                        </p:tgtEl>
                                        <p:attrNameLst>
                                          <p:attrName>ppt_h</p:attrName>
                                        </p:attrNameLst>
                                      </p:cBhvr>
                                      <p:tavLst>
                                        <p:tav tm="0">
                                          <p:val>
                                            <p:fltVal val="0"/>
                                          </p:val>
                                        </p:tav>
                                        <p:tav tm="100000">
                                          <p:val>
                                            <p:strVal val="#ppt_h"/>
                                          </p:val>
                                        </p:tav>
                                      </p:tavLst>
                                    </p:anim>
                                    <p:animEffect transition="in" filter="fade">
                                      <p:cBhvr>
                                        <p:cTn id="102" dur="500"/>
                                        <p:tgtEl>
                                          <p:spTgt spid="23"/>
                                        </p:tgtEl>
                                      </p:cBhvr>
                                    </p:animEffect>
                                  </p:childTnLst>
                                </p:cTn>
                              </p:par>
                              <p:par>
                                <p:cTn id="103" presetID="53" presetClass="entr" presetSubtype="16" fill="hold" grpId="0" nodeType="withEffect">
                                  <p:stCondLst>
                                    <p:cond delay="0"/>
                                  </p:stCondLst>
                                  <p:childTnLst>
                                    <p:set>
                                      <p:cBhvr>
                                        <p:cTn id="104" dur="1" fill="hold">
                                          <p:stCondLst>
                                            <p:cond delay="0"/>
                                          </p:stCondLst>
                                        </p:cTn>
                                        <p:tgtEl>
                                          <p:spTgt spid="24"/>
                                        </p:tgtEl>
                                        <p:attrNameLst>
                                          <p:attrName>style.visibility</p:attrName>
                                        </p:attrNameLst>
                                      </p:cBhvr>
                                      <p:to>
                                        <p:strVal val="visible"/>
                                      </p:to>
                                    </p:set>
                                    <p:anim calcmode="lin" valueType="num">
                                      <p:cBhvr additive="base">
                                        <p:cTn id="105" dur="500" fill="hold"/>
                                        <p:tgtEl>
                                          <p:spTgt spid="24"/>
                                        </p:tgtEl>
                                        <p:attrNameLst>
                                          <p:attrName>ppt_w</p:attrName>
                                        </p:attrNameLst>
                                      </p:cBhvr>
                                      <p:tavLst>
                                        <p:tav tm="0">
                                          <p:val>
                                            <p:fltVal val="0"/>
                                          </p:val>
                                        </p:tav>
                                        <p:tav tm="100000">
                                          <p:val>
                                            <p:strVal val="#ppt_w"/>
                                          </p:val>
                                        </p:tav>
                                      </p:tavLst>
                                    </p:anim>
                                    <p:anim calcmode="lin" valueType="num">
                                      <p:cBhvr additive="base">
                                        <p:cTn id="106" dur="500" fill="hold"/>
                                        <p:tgtEl>
                                          <p:spTgt spid="24"/>
                                        </p:tgtEl>
                                        <p:attrNameLst>
                                          <p:attrName>ppt_h</p:attrName>
                                        </p:attrNameLst>
                                      </p:cBhvr>
                                      <p:tavLst>
                                        <p:tav tm="0">
                                          <p:val>
                                            <p:fltVal val="0"/>
                                          </p:val>
                                        </p:tav>
                                        <p:tav tm="100000">
                                          <p:val>
                                            <p:strVal val="#ppt_h"/>
                                          </p:val>
                                        </p:tav>
                                      </p:tavLst>
                                    </p:anim>
                                    <p:animEffect transition="in" filter="fade">
                                      <p:cBhvr>
                                        <p:cTn id="107" dur="500"/>
                                        <p:tgtEl>
                                          <p:spTgt spid="24"/>
                                        </p:tgtEl>
                                      </p:cBhvr>
                                    </p:animEffect>
                                  </p:childTnLst>
                                </p:cTn>
                              </p:par>
                            </p:childTnLst>
                          </p:cTn>
                        </p:par>
                      </p:childTnLst>
                    </p:cTn>
                  </p:par>
                  <p:par>
                    <p:cTn id="108" fill="hold">
                      <p:stCondLst>
                        <p:cond delay="indefinite"/>
                      </p:stCondLst>
                      <p:childTnLst>
                        <p:par>
                          <p:cTn id="109" fill="hold">
                            <p:stCondLst>
                              <p:cond delay="0"/>
                            </p:stCondLst>
                            <p:childTnLst>
                              <p:par>
                                <p:cTn id="110" presetID="53" presetClass="entr" presetSubtype="16" fill="hold" grpId="0" nodeType="clickEffect">
                                  <p:stCondLst>
                                    <p:cond delay="0"/>
                                  </p:stCondLst>
                                  <p:childTnLst>
                                    <p:set>
                                      <p:cBhvr>
                                        <p:cTn id="111" dur="1" fill="hold">
                                          <p:stCondLst>
                                            <p:cond delay="0"/>
                                          </p:stCondLst>
                                        </p:cTn>
                                        <p:tgtEl>
                                          <p:spTgt spid="25"/>
                                        </p:tgtEl>
                                        <p:attrNameLst>
                                          <p:attrName>style.visibility</p:attrName>
                                        </p:attrNameLst>
                                      </p:cBhvr>
                                      <p:to>
                                        <p:strVal val="visible"/>
                                      </p:to>
                                    </p:set>
                                    <p:anim calcmode="lin" valueType="num">
                                      <p:cBhvr additive="base">
                                        <p:cTn id="112" dur="500" fill="hold"/>
                                        <p:tgtEl>
                                          <p:spTgt spid="25"/>
                                        </p:tgtEl>
                                        <p:attrNameLst>
                                          <p:attrName>ppt_w</p:attrName>
                                        </p:attrNameLst>
                                      </p:cBhvr>
                                      <p:tavLst>
                                        <p:tav tm="0">
                                          <p:val>
                                            <p:fltVal val="0"/>
                                          </p:val>
                                        </p:tav>
                                        <p:tav tm="100000">
                                          <p:val>
                                            <p:strVal val="#ppt_w"/>
                                          </p:val>
                                        </p:tav>
                                      </p:tavLst>
                                    </p:anim>
                                    <p:anim calcmode="lin" valueType="num">
                                      <p:cBhvr additive="base">
                                        <p:cTn id="113" dur="500" fill="hold"/>
                                        <p:tgtEl>
                                          <p:spTgt spid="25"/>
                                        </p:tgtEl>
                                        <p:attrNameLst>
                                          <p:attrName>ppt_h</p:attrName>
                                        </p:attrNameLst>
                                      </p:cBhvr>
                                      <p:tavLst>
                                        <p:tav tm="0">
                                          <p:val>
                                            <p:fltVal val="0"/>
                                          </p:val>
                                        </p:tav>
                                        <p:tav tm="100000">
                                          <p:val>
                                            <p:strVal val="#ppt_h"/>
                                          </p:val>
                                        </p:tav>
                                      </p:tavLst>
                                    </p:anim>
                                    <p:animEffect transition="in" filter="fade">
                                      <p:cBhvr>
                                        <p:cTn id="114" dur="500"/>
                                        <p:tgtEl>
                                          <p:spTgt spid="25"/>
                                        </p:tgtEl>
                                      </p:cBhvr>
                                    </p:animEffect>
                                  </p:childTnLst>
                                </p:cTn>
                              </p:par>
                              <p:par>
                                <p:cTn id="115" presetID="53" presetClass="entr" presetSubtype="16" fill="hold" grpId="0" nodeType="withEffect">
                                  <p:stCondLst>
                                    <p:cond delay="0"/>
                                  </p:stCondLst>
                                  <p:childTnLst>
                                    <p:set>
                                      <p:cBhvr>
                                        <p:cTn id="116" dur="1" fill="hold">
                                          <p:stCondLst>
                                            <p:cond delay="0"/>
                                          </p:stCondLst>
                                        </p:cTn>
                                        <p:tgtEl>
                                          <p:spTgt spid="26"/>
                                        </p:tgtEl>
                                        <p:attrNameLst>
                                          <p:attrName>style.visibility</p:attrName>
                                        </p:attrNameLst>
                                      </p:cBhvr>
                                      <p:to>
                                        <p:strVal val="visible"/>
                                      </p:to>
                                    </p:set>
                                    <p:anim calcmode="lin" valueType="num">
                                      <p:cBhvr additive="base">
                                        <p:cTn id="117" dur="500" fill="hold"/>
                                        <p:tgtEl>
                                          <p:spTgt spid="26"/>
                                        </p:tgtEl>
                                        <p:attrNameLst>
                                          <p:attrName>ppt_w</p:attrName>
                                        </p:attrNameLst>
                                      </p:cBhvr>
                                      <p:tavLst>
                                        <p:tav tm="0">
                                          <p:val>
                                            <p:fltVal val="0"/>
                                          </p:val>
                                        </p:tav>
                                        <p:tav tm="100000">
                                          <p:val>
                                            <p:strVal val="#ppt_w"/>
                                          </p:val>
                                        </p:tav>
                                      </p:tavLst>
                                    </p:anim>
                                    <p:anim calcmode="lin" valueType="num">
                                      <p:cBhvr additive="base">
                                        <p:cTn id="118" dur="500" fill="hold"/>
                                        <p:tgtEl>
                                          <p:spTgt spid="26"/>
                                        </p:tgtEl>
                                        <p:attrNameLst>
                                          <p:attrName>ppt_h</p:attrName>
                                        </p:attrNameLst>
                                      </p:cBhvr>
                                      <p:tavLst>
                                        <p:tav tm="0">
                                          <p:val>
                                            <p:fltVal val="0"/>
                                          </p:val>
                                        </p:tav>
                                        <p:tav tm="100000">
                                          <p:val>
                                            <p:strVal val="#ppt_h"/>
                                          </p:val>
                                        </p:tav>
                                      </p:tavLst>
                                    </p:anim>
                                    <p:animEffect transition="in" filter="fade">
                                      <p:cBhvr>
                                        <p:cTn id="119" dur="500"/>
                                        <p:tgtEl>
                                          <p:spTgt spid="26"/>
                                        </p:tgtEl>
                                      </p:cBhvr>
                                    </p:animEffect>
                                  </p:childTnLst>
                                </p:cTn>
                              </p:par>
                              <p:par>
                                <p:cTn id="120" presetID="53" presetClass="entr" presetSubtype="16" fill="hold" grpId="0" nodeType="withEffect">
                                  <p:stCondLst>
                                    <p:cond delay="0"/>
                                  </p:stCondLst>
                                  <p:childTnLst>
                                    <p:set>
                                      <p:cBhvr>
                                        <p:cTn id="121" dur="1" fill="hold">
                                          <p:stCondLst>
                                            <p:cond delay="0"/>
                                          </p:stCondLst>
                                        </p:cTn>
                                        <p:tgtEl>
                                          <p:spTgt spid="27"/>
                                        </p:tgtEl>
                                        <p:attrNameLst>
                                          <p:attrName>style.visibility</p:attrName>
                                        </p:attrNameLst>
                                      </p:cBhvr>
                                      <p:to>
                                        <p:strVal val="visible"/>
                                      </p:to>
                                    </p:set>
                                    <p:anim calcmode="lin" valueType="num">
                                      <p:cBhvr additive="base">
                                        <p:cTn id="122" dur="500" fill="hold"/>
                                        <p:tgtEl>
                                          <p:spTgt spid="27"/>
                                        </p:tgtEl>
                                        <p:attrNameLst>
                                          <p:attrName>ppt_w</p:attrName>
                                        </p:attrNameLst>
                                      </p:cBhvr>
                                      <p:tavLst>
                                        <p:tav tm="0">
                                          <p:val>
                                            <p:fltVal val="0"/>
                                          </p:val>
                                        </p:tav>
                                        <p:tav tm="100000">
                                          <p:val>
                                            <p:strVal val="#ppt_w"/>
                                          </p:val>
                                        </p:tav>
                                      </p:tavLst>
                                    </p:anim>
                                    <p:anim calcmode="lin" valueType="num">
                                      <p:cBhvr additive="base">
                                        <p:cTn id="123" dur="500" fill="hold"/>
                                        <p:tgtEl>
                                          <p:spTgt spid="27"/>
                                        </p:tgtEl>
                                        <p:attrNameLst>
                                          <p:attrName>ppt_h</p:attrName>
                                        </p:attrNameLst>
                                      </p:cBhvr>
                                      <p:tavLst>
                                        <p:tav tm="0">
                                          <p:val>
                                            <p:fltVal val="0"/>
                                          </p:val>
                                        </p:tav>
                                        <p:tav tm="100000">
                                          <p:val>
                                            <p:strVal val="#ppt_h"/>
                                          </p:val>
                                        </p:tav>
                                      </p:tavLst>
                                    </p:anim>
                                    <p:animEffect transition="in" filter="fade">
                                      <p:cBhvr>
                                        <p:cTn id="124" dur="500"/>
                                        <p:tgtEl>
                                          <p:spTgt spid="27"/>
                                        </p:tgtEl>
                                      </p:cBhvr>
                                    </p:animEffect>
                                  </p:childTnLst>
                                </p:cTn>
                              </p:par>
                              <p:par>
                                <p:cTn id="125" presetID="53" presetClass="entr" presetSubtype="16" fill="hold" grpId="0" nodeType="withEffect">
                                  <p:stCondLst>
                                    <p:cond delay="0"/>
                                  </p:stCondLst>
                                  <p:childTnLst>
                                    <p:set>
                                      <p:cBhvr>
                                        <p:cTn id="126" dur="1" fill="hold">
                                          <p:stCondLst>
                                            <p:cond delay="0"/>
                                          </p:stCondLst>
                                        </p:cTn>
                                        <p:tgtEl>
                                          <p:spTgt spid="28"/>
                                        </p:tgtEl>
                                        <p:attrNameLst>
                                          <p:attrName>style.visibility</p:attrName>
                                        </p:attrNameLst>
                                      </p:cBhvr>
                                      <p:to>
                                        <p:strVal val="visible"/>
                                      </p:to>
                                    </p:set>
                                    <p:anim calcmode="lin" valueType="num">
                                      <p:cBhvr additive="base">
                                        <p:cTn id="127" dur="500" fill="hold"/>
                                        <p:tgtEl>
                                          <p:spTgt spid="28"/>
                                        </p:tgtEl>
                                        <p:attrNameLst>
                                          <p:attrName>ppt_w</p:attrName>
                                        </p:attrNameLst>
                                      </p:cBhvr>
                                      <p:tavLst>
                                        <p:tav tm="0">
                                          <p:val>
                                            <p:fltVal val="0"/>
                                          </p:val>
                                        </p:tav>
                                        <p:tav tm="100000">
                                          <p:val>
                                            <p:strVal val="#ppt_w"/>
                                          </p:val>
                                        </p:tav>
                                      </p:tavLst>
                                    </p:anim>
                                    <p:anim calcmode="lin" valueType="num">
                                      <p:cBhvr additive="base">
                                        <p:cTn id="128" dur="500" fill="hold"/>
                                        <p:tgtEl>
                                          <p:spTgt spid="28"/>
                                        </p:tgtEl>
                                        <p:attrNameLst>
                                          <p:attrName>ppt_h</p:attrName>
                                        </p:attrNameLst>
                                      </p:cBhvr>
                                      <p:tavLst>
                                        <p:tav tm="0">
                                          <p:val>
                                            <p:fltVal val="0"/>
                                          </p:val>
                                        </p:tav>
                                        <p:tav tm="100000">
                                          <p:val>
                                            <p:strVal val="#ppt_h"/>
                                          </p:val>
                                        </p:tav>
                                      </p:tavLst>
                                    </p:anim>
                                    <p:animEffect transition="in" filter="fade">
                                      <p:cBhvr>
                                        <p:cTn id="129" dur="500"/>
                                        <p:tgtEl>
                                          <p:spTgt spid="28"/>
                                        </p:tgtEl>
                                      </p:cBhvr>
                                    </p:animEffect>
                                  </p:childTnLst>
                                </p:cTn>
                              </p:par>
                              <p:par>
                                <p:cTn id="130" presetID="53" presetClass="entr" presetSubtype="16" fill="hold" grpId="0" nodeType="withEffect">
                                  <p:stCondLst>
                                    <p:cond delay="0"/>
                                  </p:stCondLst>
                                  <p:childTnLst>
                                    <p:set>
                                      <p:cBhvr>
                                        <p:cTn id="131" dur="1" fill="hold">
                                          <p:stCondLst>
                                            <p:cond delay="0"/>
                                          </p:stCondLst>
                                        </p:cTn>
                                        <p:tgtEl>
                                          <p:spTgt spid="29"/>
                                        </p:tgtEl>
                                        <p:attrNameLst>
                                          <p:attrName>style.visibility</p:attrName>
                                        </p:attrNameLst>
                                      </p:cBhvr>
                                      <p:to>
                                        <p:strVal val="visible"/>
                                      </p:to>
                                    </p:set>
                                    <p:anim calcmode="lin" valueType="num">
                                      <p:cBhvr additive="base">
                                        <p:cTn id="132" dur="500" fill="hold"/>
                                        <p:tgtEl>
                                          <p:spTgt spid="29"/>
                                        </p:tgtEl>
                                        <p:attrNameLst>
                                          <p:attrName>ppt_w</p:attrName>
                                        </p:attrNameLst>
                                      </p:cBhvr>
                                      <p:tavLst>
                                        <p:tav tm="0">
                                          <p:val>
                                            <p:fltVal val="0"/>
                                          </p:val>
                                        </p:tav>
                                        <p:tav tm="100000">
                                          <p:val>
                                            <p:strVal val="#ppt_w"/>
                                          </p:val>
                                        </p:tav>
                                      </p:tavLst>
                                    </p:anim>
                                    <p:anim calcmode="lin" valueType="num">
                                      <p:cBhvr additive="base">
                                        <p:cTn id="133" dur="500" fill="hold"/>
                                        <p:tgtEl>
                                          <p:spTgt spid="29"/>
                                        </p:tgtEl>
                                        <p:attrNameLst>
                                          <p:attrName>ppt_h</p:attrName>
                                        </p:attrNameLst>
                                      </p:cBhvr>
                                      <p:tavLst>
                                        <p:tav tm="0">
                                          <p:val>
                                            <p:fltVal val="0"/>
                                          </p:val>
                                        </p:tav>
                                        <p:tav tm="100000">
                                          <p:val>
                                            <p:strVal val="#ppt_h"/>
                                          </p:val>
                                        </p:tav>
                                      </p:tavLst>
                                    </p:anim>
                                    <p:animEffect transition="in" filter="fade">
                                      <p:cBhvr>
                                        <p:cTn id="134" dur="500"/>
                                        <p:tgtEl>
                                          <p:spTgt spid="29"/>
                                        </p:tgtEl>
                                      </p:cBhvr>
                                    </p:animEffect>
                                  </p:childTnLst>
                                </p:cTn>
                              </p:par>
                              <p:par>
                                <p:cTn id="135" presetID="53" presetClass="entr" presetSubtype="16" fill="hold" grpId="0" nodeType="withEffect">
                                  <p:stCondLst>
                                    <p:cond delay="0"/>
                                  </p:stCondLst>
                                  <p:childTnLst>
                                    <p:set>
                                      <p:cBhvr>
                                        <p:cTn id="136" dur="1" fill="hold">
                                          <p:stCondLst>
                                            <p:cond delay="0"/>
                                          </p:stCondLst>
                                        </p:cTn>
                                        <p:tgtEl>
                                          <p:spTgt spid="30"/>
                                        </p:tgtEl>
                                        <p:attrNameLst>
                                          <p:attrName>style.visibility</p:attrName>
                                        </p:attrNameLst>
                                      </p:cBhvr>
                                      <p:to>
                                        <p:strVal val="visible"/>
                                      </p:to>
                                    </p:set>
                                    <p:anim calcmode="lin" valueType="num">
                                      <p:cBhvr additive="base">
                                        <p:cTn id="137" dur="500" fill="hold"/>
                                        <p:tgtEl>
                                          <p:spTgt spid="30"/>
                                        </p:tgtEl>
                                        <p:attrNameLst>
                                          <p:attrName>ppt_w</p:attrName>
                                        </p:attrNameLst>
                                      </p:cBhvr>
                                      <p:tavLst>
                                        <p:tav tm="0">
                                          <p:val>
                                            <p:fltVal val="0"/>
                                          </p:val>
                                        </p:tav>
                                        <p:tav tm="100000">
                                          <p:val>
                                            <p:strVal val="#ppt_w"/>
                                          </p:val>
                                        </p:tav>
                                      </p:tavLst>
                                    </p:anim>
                                    <p:anim calcmode="lin" valueType="num">
                                      <p:cBhvr additive="base">
                                        <p:cTn id="138" dur="500" fill="hold"/>
                                        <p:tgtEl>
                                          <p:spTgt spid="30"/>
                                        </p:tgtEl>
                                        <p:attrNameLst>
                                          <p:attrName>ppt_h</p:attrName>
                                        </p:attrNameLst>
                                      </p:cBhvr>
                                      <p:tavLst>
                                        <p:tav tm="0">
                                          <p:val>
                                            <p:fltVal val="0"/>
                                          </p:val>
                                        </p:tav>
                                        <p:tav tm="100000">
                                          <p:val>
                                            <p:strVal val="#ppt_h"/>
                                          </p:val>
                                        </p:tav>
                                      </p:tavLst>
                                    </p:anim>
                                    <p:animEffect transition="in" filter="fade">
                                      <p:cBhvr>
                                        <p:cTn id="139" dur="500"/>
                                        <p:tgtEl>
                                          <p:spTgt spid="30"/>
                                        </p:tgtEl>
                                      </p:cBhvr>
                                    </p:animEffect>
                                  </p:childTnLst>
                                </p:cTn>
                              </p:par>
                            </p:childTnLst>
                          </p:cTn>
                        </p:par>
                        <p:par>
                          <p:cTn id="140" fill="hold">
                            <p:stCondLst>
                              <p:cond delay="500"/>
                            </p:stCondLst>
                            <p:childTnLst>
                              <p:par>
                                <p:cTn id="141" presetID="10" presetClass="entr" presetSubtype="0" fill="hold" grpId="0" nodeType="afterEffect">
                                  <p:stCondLst>
                                    <p:cond delay="200"/>
                                  </p:stCondLst>
                                  <p:childTnLst>
                                    <p:set>
                                      <p:cBhvr>
                                        <p:cTn id="142" dur="1" fill="hold">
                                          <p:stCondLst>
                                            <p:cond delay="0"/>
                                          </p:stCondLst>
                                        </p:cTn>
                                        <p:tgtEl>
                                          <p:spTgt spid="5"/>
                                        </p:tgtEl>
                                        <p:attrNameLst>
                                          <p:attrName>style.visibility</p:attrName>
                                        </p:attrNameLst>
                                      </p:cBhvr>
                                      <p:to>
                                        <p:strVal val="visible"/>
                                      </p:to>
                                    </p:set>
                                    <p:animEffect transition="in" filter="fade">
                                      <p:cBhvr>
                                        <p:cTn id="143" dur="800"/>
                                        <p:tgtEl>
                                          <p:spTgt spid="5"/>
                                        </p:tgtEl>
                                      </p:cBhvr>
                                    </p:animEffect>
                                  </p:childTnLst>
                                </p:cTn>
                              </p:par>
                              <p:par>
                                <p:cTn id="144" presetID="10" presetClass="entr" presetSubtype="0" fill="hold" nodeType="withEffect">
                                  <p:stCondLst>
                                    <p:cond delay="200"/>
                                  </p:stCondLst>
                                  <p:childTnLst>
                                    <p:set>
                                      <p:cBhvr>
                                        <p:cTn id="145" dur="1" fill="hold">
                                          <p:stCondLst>
                                            <p:cond delay="0"/>
                                          </p:stCondLst>
                                        </p:cTn>
                                        <p:tgtEl>
                                          <p:spTgt spid="6"/>
                                        </p:tgtEl>
                                        <p:attrNameLst>
                                          <p:attrName>style.visibility</p:attrName>
                                        </p:attrNameLst>
                                      </p:cBhvr>
                                      <p:to>
                                        <p:strVal val="visible"/>
                                      </p:to>
                                    </p:set>
                                    <p:animEffect transition="in" filter="fade">
                                      <p:cBhvr>
                                        <p:cTn id="146" dur="8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Nine pages, one consistent design</a:t>
            </a:r>
            <a:endParaRPr lang="en-US" sz="3600" dirty="0"/>
          </a:p>
        </p:txBody>
      </p:sp>
      <p:pic>
        <p:nvPicPr>
          <p:cNvPr id="5" name="!!shot_overview" descr="Overview page">    </p:cNvPr>
          <p:cNvPicPr>
            <a:picLocks noChangeAspect="1"/>
          </p:cNvPicPr>
          <p:nvPr/>
        </p:nvPicPr>
        <p:blipFill>
          <a:blip r:embed="rId1"/>
          <a:stretch>
            <a:fillRect/>
          </a:stretch>
        </p:blipFill>
        <p:spPr>
          <a:xfrm>
            <a:off x="548640" y="1600200"/>
            <a:ext cx="3474720" cy="2146151"/>
          </a:xfrm>
          <a:prstGeom prst="rect">
            <a:avLst/>
          </a:prstGeom>
        </p:spPr>
      </p:pic>
      <p:sp>
        <p:nvSpPr>
          <p:cNvPr id="6" name="tl0cap"/>
          <p:cNvSpPr txBox="1"/>
          <p:nvPr/>
        </p:nvSpPr>
        <p:spPr>
          <a:xfrm>
            <a:off x="640080" y="336230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Overview</a:t>
            </a:r>
            <a:endParaRPr lang="en-US" sz="1200" dirty="0"/>
          </a:p>
        </p:txBody>
      </p:sp>
      <p:pic>
        <p:nvPicPr>
          <p:cNvPr id="7" name="tl1" descr="Flight Analytics page">    </p:cNvPr>
          <p:cNvPicPr>
            <a:picLocks noChangeAspect="1"/>
          </p:cNvPicPr>
          <p:nvPr/>
        </p:nvPicPr>
        <p:blipFill>
          <a:blip r:embed="rId2"/>
          <a:stretch>
            <a:fillRect/>
          </a:stretch>
        </p:blipFill>
        <p:spPr>
          <a:xfrm>
            <a:off x="4361688" y="1600200"/>
            <a:ext cx="3474720" cy="2146151"/>
          </a:xfrm>
          <a:prstGeom prst="rect">
            <a:avLst/>
          </a:prstGeom>
        </p:spPr>
      </p:pic>
      <p:sp>
        <p:nvSpPr>
          <p:cNvPr id="8" name="tl1cap"/>
          <p:cNvSpPr txBox="1"/>
          <p:nvPr/>
        </p:nvSpPr>
        <p:spPr>
          <a:xfrm>
            <a:off x="4453128" y="336230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Flight Analytics</a:t>
            </a:r>
            <a:endParaRPr lang="en-US" sz="1200" dirty="0"/>
          </a:p>
        </p:txBody>
      </p:sp>
      <p:pic>
        <p:nvPicPr>
          <p:cNvPr id="9" name="tl2" descr="Airport Analytics page">    </p:cNvPr>
          <p:cNvPicPr>
            <a:picLocks noChangeAspect="1"/>
          </p:cNvPicPr>
          <p:nvPr/>
        </p:nvPicPr>
        <p:blipFill>
          <a:blip r:embed="rId3"/>
          <a:stretch>
            <a:fillRect/>
          </a:stretch>
        </p:blipFill>
        <p:spPr>
          <a:xfrm>
            <a:off x="8174736" y="1600200"/>
            <a:ext cx="3474720" cy="2146151"/>
          </a:xfrm>
          <a:prstGeom prst="rect">
            <a:avLst/>
          </a:prstGeom>
        </p:spPr>
      </p:pic>
      <p:sp>
        <p:nvSpPr>
          <p:cNvPr id="10" name="tl2cap"/>
          <p:cNvSpPr txBox="1"/>
          <p:nvPr/>
        </p:nvSpPr>
        <p:spPr>
          <a:xfrm>
            <a:off x="8266176" y="336230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Airport Analytics</a:t>
            </a:r>
            <a:endParaRPr lang="en-US" sz="1200" dirty="0"/>
          </a:p>
        </p:txBody>
      </p:sp>
      <p:pic>
        <p:nvPicPr>
          <p:cNvPr id="11" name="tl3" descr="Flight Explorer page">    </p:cNvPr>
          <p:cNvPicPr>
            <a:picLocks noChangeAspect="1"/>
          </p:cNvPicPr>
          <p:nvPr/>
        </p:nvPicPr>
        <p:blipFill>
          <a:blip r:embed="rId4"/>
          <a:stretch>
            <a:fillRect/>
          </a:stretch>
        </p:blipFill>
        <p:spPr>
          <a:xfrm>
            <a:off x="548640" y="3977640"/>
            <a:ext cx="3474720" cy="2146151"/>
          </a:xfrm>
          <a:prstGeom prst="rect">
            <a:avLst/>
          </a:prstGeom>
        </p:spPr>
      </p:pic>
      <p:sp>
        <p:nvSpPr>
          <p:cNvPr id="12" name="tl3cap"/>
          <p:cNvSpPr txBox="1"/>
          <p:nvPr/>
        </p:nvSpPr>
        <p:spPr>
          <a:xfrm>
            <a:off x="640080" y="573974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Flight Explorer</a:t>
            </a:r>
            <a:endParaRPr lang="en-US" sz="1200" dirty="0"/>
          </a:p>
        </p:txBody>
      </p:sp>
      <p:pic>
        <p:nvPicPr>
          <p:cNvPr id="13" name="tl4" descr="Delay Analysis page">    </p:cNvPr>
          <p:cNvPicPr>
            <a:picLocks noChangeAspect="1"/>
          </p:cNvPicPr>
          <p:nvPr/>
        </p:nvPicPr>
        <p:blipFill>
          <a:blip r:embed="rId5"/>
          <a:stretch>
            <a:fillRect/>
          </a:stretch>
        </p:blipFill>
        <p:spPr>
          <a:xfrm>
            <a:off x="4361688" y="3977640"/>
            <a:ext cx="3474720" cy="2146151"/>
          </a:xfrm>
          <a:prstGeom prst="rect">
            <a:avLst/>
          </a:prstGeom>
        </p:spPr>
      </p:pic>
      <p:sp>
        <p:nvSpPr>
          <p:cNvPr id="14" name="tl4cap"/>
          <p:cNvSpPr txBox="1"/>
          <p:nvPr/>
        </p:nvSpPr>
        <p:spPr>
          <a:xfrm>
            <a:off x="4453128" y="5739743"/>
            <a:ext cx="1920240" cy="292608"/>
          </a:xfrm>
          <a:prstGeom prst="roundRect">
            <a:avLst>
              <a:gd name="adj" fmla="val 25000"/>
            </a:avLst>
          </a:prstGeom>
          <a:solidFill>
            <a:schemeClr val="tx1">
              <a:alpha val="88000"/>
            </a:schemeClr>
          </a:solidFill>
          <a:ln/>
        </p:spPr>
        <p:txBody>
          <a:bodyPr wrap="square" lIns="25400" tIns="101600" rIns="101600" bIns="25400" rtlCol="0" anchor="ctr"/>
          <a:lstStyle/>
          <a:p>
            <a:pPr algn="l" indent="0" marL="0">
              <a:buNone/>
            </a:pPr>
            <a:r>
              <a:rPr lang="en-US" sz="1200" b="1" dirty="0">
                <a:solidFill>
                  <a:schemeClr val="bg1"/>
                </a:solidFill>
              </a:rPr>
              <a:t>Delay Analysis</a:t>
            </a:r>
            <a:endParaRPr lang="en-US" sz="1200" dirty="0"/>
          </a:p>
        </p:txBody>
      </p:sp>
      <p:sp>
        <p:nvSpPr>
          <p:cNvPr id="15" name="tlist"/>
          <p:cNvSpPr txBox="1"/>
          <p:nvPr/>
        </p:nvSpPr>
        <p:spPr>
          <a:xfrm>
            <a:off x="8165592" y="3977640"/>
            <a:ext cx="3474720" cy="2146151"/>
          </a:xfrm>
          <a:prstGeom prst="roundRect">
            <a:avLst>
              <a:gd name="adj" fmla="val 5113"/>
            </a:avLst>
          </a:prstGeom>
          <a:solidFill>
            <a:schemeClr val="bg1">
              <a:alpha val="9000"/>
            </a:schemeClr>
          </a:solidFill>
          <a:ln w="9525">
            <a:solidFill>
              <a:schemeClr val="bg1">
                <a:alpha val="22000"/>
              </a:schemeClr>
            </a:solidFill>
          </a:ln>
        </p:spPr>
        <p:txBody>
          <a:bodyPr wrap="square" lIns="127000" tIns="177800" rIns="177800" bIns="127000" rtlCol="0" anchor="ctr"/>
          <a:lstStyle/>
          <a:p>
            <a:pPr algn="l" indent="0" marL="0">
              <a:buNone/>
            </a:pPr>
            <a:r>
              <a:rPr lang="en-US" sz="1200" b="1" dirty="0">
                <a:solidFill>
                  <a:schemeClr val="accent2"/>
                </a:solidFill>
              </a:rPr>
              <a:t>ALL NINE PAGES</a:t>
            </a:r>
            <a:endParaRPr lang="en-US" sz="1400" dirty="0"/>
          </a:p>
          <a:p>
            <a:pPr algn="l" indent="0" marL="0">
              <a:buNone/>
            </a:pPr>
            <a:r>
              <a:rPr lang="en-US" sz="1400" dirty="0">
                <a:solidFill>
                  <a:schemeClr val="bg1"/>
                </a:solidFill>
              </a:rPr>
              <a:t>Overview · Flight Analytics · Airport Analytics · Flight Explorer · Delay Analysis · Weather Insights · Data Management · Settings · About</a:t>
            </a:r>
            <a:endParaRPr lang="en-US" sz="1400" dirty="0"/>
          </a:p>
        </p:txBody>
      </p:sp>
      <p:sp>
        <p:nvSpPr>
          <p:cNvPr id="16" name="track"/>
          <p:cNvSpPr/>
          <p:nvPr/>
        </p:nvSpPr>
        <p:spPr>
          <a:xfrm>
            <a:off x="3383280" y="6510528"/>
            <a:ext cx="7132320" cy="0"/>
          </a:xfrm>
          <a:prstGeom prst="line">
            <a:avLst/>
          </a:prstGeom>
          <a:noFill/>
          <a:ln w="12700">
            <a:solidFill>
              <a:schemeClr val="bg2">
                <a:alpha val="45000"/>
              </a:schemeClr>
            </a:solidFill>
            <a:prstDash val="dash"/>
          </a:ln>
        </p:spPr>
      </p:sp>
      <p:sp>
        <p:nvSpPr>
          <p:cNvPr id="17" name="progress"/>
          <p:cNvSpPr/>
          <p:nvPr/>
        </p:nvSpPr>
        <p:spPr>
          <a:xfrm>
            <a:off x="3383280" y="6510528"/>
            <a:ext cx="4426957" cy="0"/>
          </a:xfrm>
          <a:prstGeom prst="line">
            <a:avLst/>
          </a:prstGeom>
          <a:noFill/>
          <a:ln w="28575">
            <a:solidFill>
              <a:schemeClr val="accent2"/>
            </a:solidFill>
            <a:prstDash val="solid"/>
          </a:ln>
        </p:spPr>
      </p:sp>
      <p:sp>
        <p:nvSpPr>
          <p:cNvPr id="18" name="wp0"/>
          <p:cNvSpPr/>
          <p:nvPr/>
        </p:nvSpPr>
        <p:spPr>
          <a:xfrm>
            <a:off x="3834016" y="6469380"/>
            <a:ext cx="82296" cy="82296"/>
          </a:xfrm>
          <a:prstGeom prst="ellipse">
            <a:avLst/>
          </a:prstGeom>
          <a:solidFill>
            <a:schemeClr val="accent2"/>
          </a:solidFill>
          <a:ln/>
        </p:spPr>
      </p:sp>
      <p:sp>
        <p:nvSpPr>
          <p:cNvPr id="19" name="wp1"/>
          <p:cNvSpPr/>
          <p:nvPr/>
        </p:nvSpPr>
        <p:spPr>
          <a:xfrm>
            <a:off x="4817784" y="6469380"/>
            <a:ext cx="82296" cy="82296"/>
          </a:xfrm>
          <a:prstGeom prst="ellipse">
            <a:avLst/>
          </a:prstGeom>
          <a:solidFill>
            <a:schemeClr val="accent2"/>
          </a:solidFill>
          <a:ln/>
        </p:spPr>
      </p:sp>
      <p:sp>
        <p:nvSpPr>
          <p:cNvPr id="20" name="wp2"/>
          <p:cNvSpPr/>
          <p:nvPr/>
        </p:nvSpPr>
        <p:spPr>
          <a:xfrm>
            <a:off x="7277205" y="6469380"/>
            <a:ext cx="82296" cy="82296"/>
          </a:xfrm>
          <a:prstGeom prst="ellipse">
            <a:avLst/>
          </a:prstGeom>
          <a:solidFill>
            <a:schemeClr val="accent2"/>
          </a:solidFill>
          <a:ln/>
        </p:spPr>
      </p:sp>
      <p:sp>
        <p:nvSpPr>
          <p:cNvPr id="21" name="wp3"/>
          <p:cNvSpPr/>
          <p:nvPr/>
        </p:nvSpPr>
        <p:spPr>
          <a:xfrm>
            <a:off x="8506915" y="6469380"/>
            <a:ext cx="82296" cy="82296"/>
          </a:xfrm>
          <a:prstGeom prst="ellipse">
            <a:avLst/>
          </a:prstGeom>
          <a:solidFill>
            <a:schemeClr val="bg2">
              <a:alpha val="60000"/>
            </a:schemeClr>
          </a:solidFill>
          <a:ln/>
        </p:spPr>
      </p:sp>
      <p:sp>
        <p:nvSpPr>
          <p:cNvPr id="22" name="wp4"/>
          <p:cNvSpPr/>
          <p:nvPr/>
        </p:nvSpPr>
        <p:spPr>
          <a:xfrm>
            <a:off x="9982568" y="6469380"/>
            <a:ext cx="82296" cy="82296"/>
          </a:xfrm>
          <a:prstGeom prst="ellipse">
            <a:avLst/>
          </a:prstGeom>
          <a:solidFill>
            <a:schemeClr val="bg2">
              <a:alpha val="60000"/>
            </a:schemeClr>
          </a:solidFill>
          <a:ln/>
        </p:spPr>
      </p:sp>
      <p:pic>
        <p:nvPicPr>
          <p:cNvPr id="23" name="!!tracker" descr="Progress marker">    </p:cNvPr>
          <p:cNvPicPr>
            <a:picLocks noChangeAspect="1"/>
          </p:cNvPicPr>
          <p:nvPr/>
        </p:nvPicPr>
        <p:blipFill>
          <a:blip r:embed="rId6"/>
          <a:stretch>
            <a:fillRect/>
          </a:stretch>
        </p:blipFill>
        <p:spPr>
          <a:xfrm>
            <a:off x="762735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19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6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53" presetClass="entr" presetSubtype="16" fill="hold" grpId="0" nodeType="afterEffect">
                                  <p:stCondLst>
                                    <p:cond delay="300"/>
                                  </p:stCondLst>
                                  <p:childTnLst>
                                    <p:set>
                                      <p:cBhvr>
                                        <p:cTn id="14" dur="1" fill="hold">
                                          <p:stCondLst>
                                            <p:cond delay="0"/>
                                          </p:stCondLst>
                                        </p:cTn>
                                        <p:tgtEl>
                                          <p:spTgt spid="6"/>
                                        </p:tgtEl>
                                        <p:attrNameLst>
                                          <p:attrName>style.visibility</p:attrName>
                                        </p:attrNameLst>
                                      </p:cBhvr>
                                      <p:to>
                                        <p:strVal val="visible"/>
                                      </p:to>
                                    </p:set>
                                    <p:anim calcmode="lin" valueType="num">
                                      <p:cBhvr additive="base">
                                        <p:cTn id="15" dur="600" fill="hold"/>
                                        <p:tgtEl>
                                          <p:spTgt spid="6"/>
                                        </p:tgtEl>
                                        <p:attrNameLst>
                                          <p:attrName>ppt_w</p:attrName>
                                        </p:attrNameLst>
                                      </p:cBhvr>
                                      <p:tavLst>
                                        <p:tav tm="0">
                                          <p:val>
                                            <p:fltVal val="0"/>
                                          </p:val>
                                        </p:tav>
                                        <p:tav tm="100000">
                                          <p:val>
                                            <p:strVal val="#ppt_w"/>
                                          </p:val>
                                        </p:tav>
                                      </p:tavLst>
                                    </p:anim>
                                    <p:anim calcmode="lin" valueType="num">
                                      <p:cBhvr additive="base">
                                        <p:cTn id="16" dur="600" fill="hold"/>
                                        <p:tgtEl>
                                          <p:spTgt spid="6"/>
                                        </p:tgtEl>
                                        <p:attrNameLst>
                                          <p:attrName>ppt_h</p:attrName>
                                        </p:attrNameLst>
                                      </p:cBhvr>
                                      <p:tavLst>
                                        <p:tav tm="0">
                                          <p:val>
                                            <p:fltVal val="0"/>
                                          </p:val>
                                        </p:tav>
                                        <p:tav tm="100000">
                                          <p:val>
                                            <p:strVal val="#ppt_h"/>
                                          </p:val>
                                        </p:tav>
                                      </p:tavLst>
                                    </p:anim>
                                    <p:animEffect transition="in" filter="fade">
                                      <p:cBhvr>
                                        <p:cTn id="17" dur="600"/>
                                        <p:tgtEl>
                                          <p:spTgt spid="6"/>
                                        </p:tgtEl>
                                      </p:cBhvr>
                                    </p:animEffect>
                                  </p:childTnLst>
                                </p:cTn>
                              </p:par>
                              <p:par>
                                <p:cTn id="18" presetID="53" presetClass="entr" presetSubtype="16" fill="hold" nodeType="withEffect">
                                  <p:stCondLst>
                                    <p:cond delay="600"/>
                                  </p:stCondLst>
                                  <p:childTnLst>
                                    <p:set>
                                      <p:cBhvr>
                                        <p:cTn id="19" dur="1" fill="hold">
                                          <p:stCondLst>
                                            <p:cond delay="0"/>
                                          </p:stCondLst>
                                        </p:cTn>
                                        <p:tgtEl>
                                          <p:spTgt spid="7"/>
                                        </p:tgtEl>
                                        <p:attrNameLst>
                                          <p:attrName>style.visibility</p:attrName>
                                        </p:attrNameLst>
                                      </p:cBhvr>
                                      <p:to>
                                        <p:strVal val="visible"/>
                                      </p:to>
                                    </p:set>
                                    <p:anim calcmode="lin" valueType="num">
                                      <p:cBhvr additive="base">
                                        <p:cTn id="20" dur="600" fill="hold"/>
                                        <p:tgtEl>
                                          <p:spTgt spid="7"/>
                                        </p:tgtEl>
                                        <p:attrNameLst>
                                          <p:attrName>ppt_w</p:attrName>
                                        </p:attrNameLst>
                                      </p:cBhvr>
                                      <p:tavLst>
                                        <p:tav tm="0">
                                          <p:val>
                                            <p:fltVal val="0"/>
                                          </p:val>
                                        </p:tav>
                                        <p:tav tm="100000">
                                          <p:val>
                                            <p:strVal val="#ppt_w"/>
                                          </p:val>
                                        </p:tav>
                                      </p:tavLst>
                                    </p:anim>
                                    <p:anim calcmode="lin" valueType="num">
                                      <p:cBhvr additive="base">
                                        <p:cTn id="21" dur="600" fill="hold"/>
                                        <p:tgtEl>
                                          <p:spTgt spid="7"/>
                                        </p:tgtEl>
                                        <p:attrNameLst>
                                          <p:attrName>ppt_h</p:attrName>
                                        </p:attrNameLst>
                                      </p:cBhvr>
                                      <p:tavLst>
                                        <p:tav tm="0">
                                          <p:val>
                                            <p:fltVal val="0"/>
                                          </p:val>
                                        </p:tav>
                                        <p:tav tm="100000">
                                          <p:val>
                                            <p:strVal val="#ppt_h"/>
                                          </p:val>
                                        </p:tav>
                                      </p:tavLst>
                                    </p:anim>
                                    <p:animEffect transition="in" filter="fade">
                                      <p:cBhvr>
                                        <p:cTn id="22" dur="600"/>
                                        <p:tgtEl>
                                          <p:spTgt spid="7"/>
                                        </p:tgtEl>
                                      </p:cBhvr>
                                    </p:animEffect>
                                  </p:childTnLst>
                                </p:cTn>
                              </p:par>
                              <p:par>
                                <p:cTn id="23" presetID="53" presetClass="entr" presetSubtype="16" fill="hold" grpId="0" nodeType="withEffect">
                                  <p:stCondLst>
                                    <p:cond delay="60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600" fill="hold"/>
                                        <p:tgtEl>
                                          <p:spTgt spid="8"/>
                                        </p:tgtEl>
                                        <p:attrNameLst>
                                          <p:attrName>ppt_w</p:attrName>
                                        </p:attrNameLst>
                                      </p:cBhvr>
                                      <p:tavLst>
                                        <p:tav tm="0">
                                          <p:val>
                                            <p:fltVal val="0"/>
                                          </p:val>
                                        </p:tav>
                                        <p:tav tm="100000">
                                          <p:val>
                                            <p:strVal val="#ppt_w"/>
                                          </p:val>
                                        </p:tav>
                                      </p:tavLst>
                                    </p:anim>
                                    <p:anim calcmode="lin" valueType="num">
                                      <p:cBhvr additive="base">
                                        <p:cTn id="26" dur="600" fill="hold"/>
                                        <p:tgtEl>
                                          <p:spTgt spid="8"/>
                                        </p:tgtEl>
                                        <p:attrNameLst>
                                          <p:attrName>ppt_h</p:attrName>
                                        </p:attrNameLst>
                                      </p:cBhvr>
                                      <p:tavLst>
                                        <p:tav tm="0">
                                          <p:val>
                                            <p:fltVal val="0"/>
                                          </p:val>
                                        </p:tav>
                                        <p:tav tm="100000">
                                          <p:val>
                                            <p:strVal val="#ppt_h"/>
                                          </p:val>
                                        </p:tav>
                                      </p:tavLst>
                                    </p:anim>
                                    <p:animEffect transition="in" filter="fade">
                                      <p:cBhvr>
                                        <p:cTn id="27" dur="600"/>
                                        <p:tgtEl>
                                          <p:spTgt spid="8"/>
                                        </p:tgtEl>
                                      </p:cBhvr>
                                    </p:animEffect>
                                  </p:childTnLst>
                                </p:cTn>
                              </p:par>
                              <p:par>
                                <p:cTn id="28" presetID="53" presetClass="entr" presetSubtype="16" fill="hold" nodeType="withEffect">
                                  <p:stCondLst>
                                    <p:cond delay="90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600" fill="hold"/>
                                        <p:tgtEl>
                                          <p:spTgt spid="9"/>
                                        </p:tgtEl>
                                        <p:attrNameLst>
                                          <p:attrName>ppt_w</p:attrName>
                                        </p:attrNameLst>
                                      </p:cBhvr>
                                      <p:tavLst>
                                        <p:tav tm="0">
                                          <p:val>
                                            <p:fltVal val="0"/>
                                          </p:val>
                                        </p:tav>
                                        <p:tav tm="100000">
                                          <p:val>
                                            <p:strVal val="#ppt_w"/>
                                          </p:val>
                                        </p:tav>
                                      </p:tavLst>
                                    </p:anim>
                                    <p:anim calcmode="lin" valueType="num">
                                      <p:cBhvr additive="base">
                                        <p:cTn id="31" dur="600" fill="hold"/>
                                        <p:tgtEl>
                                          <p:spTgt spid="9"/>
                                        </p:tgtEl>
                                        <p:attrNameLst>
                                          <p:attrName>ppt_h</p:attrName>
                                        </p:attrNameLst>
                                      </p:cBhvr>
                                      <p:tavLst>
                                        <p:tav tm="0">
                                          <p:val>
                                            <p:fltVal val="0"/>
                                          </p:val>
                                        </p:tav>
                                        <p:tav tm="100000">
                                          <p:val>
                                            <p:strVal val="#ppt_h"/>
                                          </p:val>
                                        </p:tav>
                                      </p:tavLst>
                                    </p:anim>
                                    <p:animEffect transition="in" filter="fade">
                                      <p:cBhvr>
                                        <p:cTn id="32" dur="600"/>
                                        <p:tgtEl>
                                          <p:spTgt spid="9"/>
                                        </p:tgtEl>
                                      </p:cBhvr>
                                    </p:animEffect>
                                  </p:childTnLst>
                                </p:cTn>
                              </p:par>
                              <p:par>
                                <p:cTn id="33" presetID="53" presetClass="entr" presetSubtype="16" fill="hold" grpId="0" nodeType="withEffect">
                                  <p:stCondLst>
                                    <p:cond delay="9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600" fill="hold"/>
                                        <p:tgtEl>
                                          <p:spTgt spid="10"/>
                                        </p:tgtEl>
                                        <p:attrNameLst>
                                          <p:attrName>ppt_w</p:attrName>
                                        </p:attrNameLst>
                                      </p:cBhvr>
                                      <p:tavLst>
                                        <p:tav tm="0">
                                          <p:val>
                                            <p:fltVal val="0"/>
                                          </p:val>
                                        </p:tav>
                                        <p:tav tm="100000">
                                          <p:val>
                                            <p:strVal val="#ppt_w"/>
                                          </p:val>
                                        </p:tav>
                                      </p:tavLst>
                                    </p:anim>
                                    <p:anim calcmode="lin" valueType="num">
                                      <p:cBhvr additive="base">
                                        <p:cTn id="36" dur="600" fill="hold"/>
                                        <p:tgtEl>
                                          <p:spTgt spid="10"/>
                                        </p:tgtEl>
                                        <p:attrNameLst>
                                          <p:attrName>ppt_h</p:attrName>
                                        </p:attrNameLst>
                                      </p:cBhvr>
                                      <p:tavLst>
                                        <p:tav tm="0">
                                          <p:val>
                                            <p:fltVal val="0"/>
                                          </p:val>
                                        </p:tav>
                                        <p:tav tm="100000">
                                          <p:val>
                                            <p:strVal val="#ppt_h"/>
                                          </p:val>
                                        </p:tav>
                                      </p:tavLst>
                                    </p:anim>
                                    <p:animEffect transition="in" filter="fade">
                                      <p:cBhvr>
                                        <p:cTn id="37" dur="600"/>
                                        <p:tgtEl>
                                          <p:spTgt spid="10"/>
                                        </p:tgtEl>
                                      </p:cBhvr>
                                    </p:animEffect>
                                  </p:childTnLst>
                                </p:cTn>
                              </p:par>
                              <p:par>
                                <p:cTn id="38" presetID="53" presetClass="entr" presetSubtype="16" fill="hold" nodeType="withEffect">
                                  <p:stCondLst>
                                    <p:cond delay="120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600" fill="hold"/>
                                        <p:tgtEl>
                                          <p:spTgt spid="11"/>
                                        </p:tgtEl>
                                        <p:attrNameLst>
                                          <p:attrName>ppt_w</p:attrName>
                                        </p:attrNameLst>
                                      </p:cBhvr>
                                      <p:tavLst>
                                        <p:tav tm="0">
                                          <p:val>
                                            <p:fltVal val="0"/>
                                          </p:val>
                                        </p:tav>
                                        <p:tav tm="100000">
                                          <p:val>
                                            <p:strVal val="#ppt_w"/>
                                          </p:val>
                                        </p:tav>
                                      </p:tavLst>
                                    </p:anim>
                                    <p:anim calcmode="lin" valueType="num">
                                      <p:cBhvr additive="base">
                                        <p:cTn id="41" dur="600" fill="hold"/>
                                        <p:tgtEl>
                                          <p:spTgt spid="11"/>
                                        </p:tgtEl>
                                        <p:attrNameLst>
                                          <p:attrName>ppt_h</p:attrName>
                                        </p:attrNameLst>
                                      </p:cBhvr>
                                      <p:tavLst>
                                        <p:tav tm="0">
                                          <p:val>
                                            <p:fltVal val="0"/>
                                          </p:val>
                                        </p:tav>
                                        <p:tav tm="100000">
                                          <p:val>
                                            <p:strVal val="#ppt_h"/>
                                          </p:val>
                                        </p:tav>
                                      </p:tavLst>
                                    </p:anim>
                                    <p:animEffect transition="in" filter="fade">
                                      <p:cBhvr>
                                        <p:cTn id="42" dur="600"/>
                                        <p:tgtEl>
                                          <p:spTgt spid="11"/>
                                        </p:tgtEl>
                                      </p:cBhvr>
                                    </p:animEffect>
                                  </p:childTnLst>
                                </p:cTn>
                              </p:par>
                              <p:par>
                                <p:cTn id="43" presetID="53" presetClass="entr" presetSubtype="16" fill="hold" grpId="0" nodeType="withEffect">
                                  <p:stCondLst>
                                    <p:cond delay="120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600" fill="hold"/>
                                        <p:tgtEl>
                                          <p:spTgt spid="12"/>
                                        </p:tgtEl>
                                        <p:attrNameLst>
                                          <p:attrName>ppt_w</p:attrName>
                                        </p:attrNameLst>
                                      </p:cBhvr>
                                      <p:tavLst>
                                        <p:tav tm="0">
                                          <p:val>
                                            <p:fltVal val="0"/>
                                          </p:val>
                                        </p:tav>
                                        <p:tav tm="100000">
                                          <p:val>
                                            <p:strVal val="#ppt_w"/>
                                          </p:val>
                                        </p:tav>
                                      </p:tavLst>
                                    </p:anim>
                                    <p:anim calcmode="lin" valueType="num">
                                      <p:cBhvr additive="base">
                                        <p:cTn id="46" dur="600" fill="hold"/>
                                        <p:tgtEl>
                                          <p:spTgt spid="12"/>
                                        </p:tgtEl>
                                        <p:attrNameLst>
                                          <p:attrName>ppt_h</p:attrName>
                                        </p:attrNameLst>
                                      </p:cBhvr>
                                      <p:tavLst>
                                        <p:tav tm="0">
                                          <p:val>
                                            <p:fltVal val="0"/>
                                          </p:val>
                                        </p:tav>
                                        <p:tav tm="100000">
                                          <p:val>
                                            <p:strVal val="#ppt_h"/>
                                          </p:val>
                                        </p:tav>
                                      </p:tavLst>
                                    </p:anim>
                                    <p:animEffect transition="in" filter="fade">
                                      <p:cBhvr>
                                        <p:cTn id="47" dur="600"/>
                                        <p:tgtEl>
                                          <p:spTgt spid="12"/>
                                        </p:tgtEl>
                                      </p:cBhvr>
                                    </p:animEffect>
                                  </p:childTnLst>
                                </p:cTn>
                              </p:par>
                              <p:par>
                                <p:cTn id="48" presetID="53" presetClass="entr" presetSubtype="16" fill="hold" nodeType="withEffect">
                                  <p:stCondLst>
                                    <p:cond delay="1500"/>
                                  </p:stCondLst>
                                  <p:childTnLst>
                                    <p:set>
                                      <p:cBhvr>
                                        <p:cTn id="49" dur="1" fill="hold">
                                          <p:stCondLst>
                                            <p:cond delay="0"/>
                                          </p:stCondLst>
                                        </p:cTn>
                                        <p:tgtEl>
                                          <p:spTgt spid="13"/>
                                        </p:tgtEl>
                                        <p:attrNameLst>
                                          <p:attrName>style.visibility</p:attrName>
                                        </p:attrNameLst>
                                      </p:cBhvr>
                                      <p:to>
                                        <p:strVal val="visible"/>
                                      </p:to>
                                    </p:set>
                                    <p:anim calcmode="lin" valueType="num">
                                      <p:cBhvr additive="base">
                                        <p:cTn id="50" dur="600" fill="hold"/>
                                        <p:tgtEl>
                                          <p:spTgt spid="13"/>
                                        </p:tgtEl>
                                        <p:attrNameLst>
                                          <p:attrName>ppt_w</p:attrName>
                                        </p:attrNameLst>
                                      </p:cBhvr>
                                      <p:tavLst>
                                        <p:tav tm="0">
                                          <p:val>
                                            <p:fltVal val="0"/>
                                          </p:val>
                                        </p:tav>
                                        <p:tav tm="100000">
                                          <p:val>
                                            <p:strVal val="#ppt_w"/>
                                          </p:val>
                                        </p:tav>
                                      </p:tavLst>
                                    </p:anim>
                                    <p:anim calcmode="lin" valueType="num">
                                      <p:cBhvr additive="base">
                                        <p:cTn id="51" dur="600" fill="hold"/>
                                        <p:tgtEl>
                                          <p:spTgt spid="13"/>
                                        </p:tgtEl>
                                        <p:attrNameLst>
                                          <p:attrName>ppt_h</p:attrName>
                                        </p:attrNameLst>
                                      </p:cBhvr>
                                      <p:tavLst>
                                        <p:tav tm="0">
                                          <p:val>
                                            <p:fltVal val="0"/>
                                          </p:val>
                                        </p:tav>
                                        <p:tav tm="100000">
                                          <p:val>
                                            <p:strVal val="#ppt_h"/>
                                          </p:val>
                                        </p:tav>
                                      </p:tavLst>
                                    </p:anim>
                                    <p:animEffect transition="in" filter="fade">
                                      <p:cBhvr>
                                        <p:cTn id="52" dur="600"/>
                                        <p:tgtEl>
                                          <p:spTgt spid="13"/>
                                        </p:tgtEl>
                                      </p:cBhvr>
                                    </p:animEffect>
                                  </p:childTnLst>
                                </p:cTn>
                              </p:par>
                              <p:par>
                                <p:cTn id="53" presetID="53" presetClass="entr" presetSubtype="16" fill="hold" grpId="0" nodeType="withEffect">
                                  <p:stCondLst>
                                    <p:cond delay="1500"/>
                                  </p:stCondLst>
                                  <p:childTnLst>
                                    <p:set>
                                      <p:cBhvr>
                                        <p:cTn id="54" dur="1" fill="hold">
                                          <p:stCondLst>
                                            <p:cond delay="0"/>
                                          </p:stCondLst>
                                        </p:cTn>
                                        <p:tgtEl>
                                          <p:spTgt spid="14"/>
                                        </p:tgtEl>
                                        <p:attrNameLst>
                                          <p:attrName>style.visibility</p:attrName>
                                        </p:attrNameLst>
                                      </p:cBhvr>
                                      <p:to>
                                        <p:strVal val="visible"/>
                                      </p:to>
                                    </p:set>
                                    <p:anim calcmode="lin" valueType="num">
                                      <p:cBhvr additive="base">
                                        <p:cTn id="55" dur="600" fill="hold"/>
                                        <p:tgtEl>
                                          <p:spTgt spid="14"/>
                                        </p:tgtEl>
                                        <p:attrNameLst>
                                          <p:attrName>ppt_w</p:attrName>
                                        </p:attrNameLst>
                                      </p:cBhvr>
                                      <p:tavLst>
                                        <p:tav tm="0">
                                          <p:val>
                                            <p:fltVal val="0"/>
                                          </p:val>
                                        </p:tav>
                                        <p:tav tm="100000">
                                          <p:val>
                                            <p:strVal val="#ppt_w"/>
                                          </p:val>
                                        </p:tav>
                                      </p:tavLst>
                                    </p:anim>
                                    <p:anim calcmode="lin" valueType="num">
                                      <p:cBhvr additive="base">
                                        <p:cTn id="56" dur="600" fill="hold"/>
                                        <p:tgtEl>
                                          <p:spTgt spid="14"/>
                                        </p:tgtEl>
                                        <p:attrNameLst>
                                          <p:attrName>ppt_h</p:attrName>
                                        </p:attrNameLst>
                                      </p:cBhvr>
                                      <p:tavLst>
                                        <p:tav tm="0">
                                          <p:val>
                                            <p:fltVal val="0"/>
                                          </p:val>
                                        </p:tav>
                                        <p:tav tm="100000">
                                          <p:val>
                                            <p:strVal val="#ppt_h"/>
                                          </p:val>
                                        </p:tav>
                                      </p:tavLst>
                                    </p:anim>
                                    <p:animEffect transition="in" filter="fade">
                                      <p:cBhvr>
                                        <p:cTn id="57" dur="600"/>
                                        <p:tgtEl>
                                          <p:spTgt spid="14"/>
                                        </p:tgtEl>
                                      </p:cBhvr>
                                    </p:animEffect>
                                  </p:childTnLst>
                                </p:cTn>
                              </p:par>
                              <p:par>
                                <p:cTn id="58" presetID="10" presetClass="entr" presetSubtype="0" fill="hold" grpId="0" nodeType="withEffect">
                                  <p:stCondLst>
                                    <p:cond delay="2000"/>
                                  </p:stCondLst>
                                  <p:childTnLst>
                                    <p:set>
                                      <p:cBhvr>
                                        <p:cTn id="59" dur="1" fill="hold">
                                          <p:stCondLst>
                                            <p:cond delay="0"/>
                                          </p:stCondLst>
                                        </p:cTn>
                                        <p:tgtEl>
                                          <p:spTgt spid="15"/>
                                        </p:tgtEl>
                                        <p:attrNameLst>
                                          <p:attrName>style.visibility</p:attrName>
                                        </p:attrNameLst>
                                      </p:cBhvr>
                                      <p:to>
                                        <p:strVal val="visible"/>
                                      </p:to>
                                    </p:set>
                                    <p:animEffect transition="in" filter="fade">
                                      <p:cBhvr>
                                        <p:cTn id="60" dur="6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8" grpId="0" animBg="1"/>
      <p:bldP spid="10" grpId="0" animBg="1"/>
      <p:bldP spid="12"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Two front-ends, one core</a:t>
            </a:r>
            <a:endParaRPr lang="en-US" sz="3600" dirty="0"/>
          </a:p>
        </p:txBody>
      </p:sp>
      <p:sp>
        <p:nvSpPr>
          <p:cNvPr id="5" name="term"/>
          <p:cNvSpPr/>
          <p:nvPr/>
        </p:nvSpPr>
        <p:spPr>
          <a:xfrm>
            <a:off x="548640" y="1691640"/>
            <a:ext cx="4937760" cy="3840480"/>
          </a:xfrm>
          <a:prstGeom prst="roundRect">
            <a:avLst>
              <a:gd name="adj" fmla="val 2857"/>
            </a:avLst>
          </a:prstGeom>
          <a:solidFill>
            <a:schemeClr val="tx1">
              <a:alpha val="92000"/>
            </a:schemeClr>
          </a:solidFill>
          <a:ln w="9525">
            <a:solidFill>
              <a:schemeClr val="accent2">
                <a:alpha val="50000"/>
              </a:schemeClr>
            </a:solidFill>
            <a:prstDash val="solid"/>
          </a:ln>
        </p:spPr>
      </p:sp>
      <p:sp>
        <p:nvSpPr>
          <p:cNvPr id="6" name="td1"/>
          <p:cNvSpPr/>
          <p:nvPr/>
        </p:nvSpPr>
        <p:spPr>
          <a:xfrm>
            <a:off x="758952" y="1856232"/>
            <a:ext cx="128016" cy="128016"/>
          </a:xfrm>
          <a:prstGeom prst="ellipse">
            <a:avLst/>
          </a:prstGeom>
          <a:solidFill>
            <a:schemeClr val="accent5"/>
          </a:solidFill>
          <a:ln/>
        </p:spPr>
      </p:sp>
      <p:sp>
        <p:nvSpPr>
          <p:cNvPr id="7" name="td2"/>
          <p:cNvSpPr/>
          <p:nvPr/>
        </p:nvSpPr>
        <p:spPr>
          <a:xfrm>
            <a:off x="987552" y="1856232"/>
            <a:ext cx="128016" cy="128016"/>
          </a:xfrm>
          <a:prstGeom prst="ellipse">
            <a:avLst/>
          </a:prstGeom>
          <a:solidFill>
            <a:schemeClr val="accent3"/>
          </a:solidFill>
          <a:ln/>
        </p:spPr>
      </p:sp>
      <p:sp>
        <p:nvSpPr>
          <p:cNvPr id="8" name="td3"/>
          <p:cNvSpPr/>
          <p:nvPr/>
        </p:nvSpPr>
        <p:spPr>
          <a:xfrm>
            <a:off x="1216152" y="1856232"/>
            <a:ext cx="128016" cy="128016"/>
          </a:xfrm>
          <a:prstGeom prst="ellipse">
            <a:avLst/>
          </a:prstGeom>
          <a:solidFill>
            <a:schemeClr val="accent6"/>
          </a:solidFill>
          <a:ln/>
        </p:spPr>
      </p:sp>
      <p:sp>
        <p:nvSpPr>
          <p:cNvPr id="9" name="termtext"/>
          <p:cNvSpPr txBox="1"/>
          <p:nvPr/>
        </p:nvSpPr>
        <p:spPr>
          <a:xfrm>
            <a:off x="822960" y="2194560"/>
            <a:ext cx="4480560" cy="3291840"/>
          </a:xfrm>
          <a:prstGeom prst="rect">
            <a:avLst/>
          </a:prstGeom>
          <a:noFill/>
          <a:ln/>
        </p:spPr>
        <p:txBody>
          <a:bodyPr wrap="square" lIns="0" tIns="0" rIns="0" bIns="0" rtlCol="0" anchor="t"/>
          <a:lstStyle/>
          <a:p>
            <a:pPr algn="l" indent="0" marL="0">
              <a:lnSpc>
                <a:spcPct val="115000"/>
              </a:lnSpc>
              <a:buNone/>
            </a:pPr>
            <a:r>
              <a:rPr lang="en-US" sz="1300" b="1" dirty="0">
                <a:solidFill>
                  <a:schemeClr val="accent2"/>
                </a:solidFill>
                <a:latin typeface="Courier New" pitchFamily="34" charset="0"/>
                <a:ea typeface="Courier New" pitchFamily="34" charset="-122"/>
                <a:cs typeface="Courier New" pitchFamily="34" charset="-120"/>
              </a:rPr>
              <a:t>MAIN MENU</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1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Application overview</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2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Retrieve / refresh aviation data</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3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View flight records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4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View airport records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5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Search and filter records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6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Flight and airport statistics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7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Exploratory data analysis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8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Generate visualizations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9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Database information</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10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Export records or analysis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11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Configuration / status</a:t>
            </a:r>
            <a:endParaRPr lang="en-US" sz="1300" dirty="0"/>
          </a:p>
          <a:p>
            <a:pPr algn="l" indent="0" marL="0">
              <a:lnSpc>
                <a:spcPct val="115000"/>
              </a:lnSpc>
              <a:buNone/>
            </a:pPr>
            <a:r>
              <a:rPr lang="en-US" sz="1300" dirty="0">
                <a:solidFill>
                  <a:schemeClr val="accent3"/>
                </a:solidFill>
                <a:latin typeface="Courier New" pitchFamily="34" charset="0"/>
                <a:ea typeface="Courier New" pitchFamily="34" charset="-122"/>
                <a:cs typeface="Courier New" pitchFamily="34" charset="-120"/>
              </a:rPr>
              <a:t> 0  </a:t>
            </a:r>
            <a:pPr algn="l" indent="0" marL="0">
              <a:lnSpc>
                <a:spcPct val="115000"/>
              </a:lnSpc>
              <a:buNone/>
            </a:pPr>
            <a:r>
              <a:rPr lang="en-US" sz="1300" dirty="0">
                <a:solidFill>
                  <a:schemeClr val="bg1"/>
                </a:solidFill>
                <a:latin typeface="Courier New" pitchFamily="34" charset="0"/>
                <a:ea typeface="Courier New" pitchFamily="34" charset="-122"/>
                <a:cs typeface="Courier New" pitchFamily="34" charset="-120"/>
              </a:rPr>
              <a:t>Exit</a:t>
            </a:r>
            <a:endParaRPr lang="en-US" sz="1300" dirty="0"/>
          </a:p>
        </p:txBody>
      </p:sp>
      <p:sp>
        <p:nvSpPr>
          <p:cNvPr id="10" name="termcap"/>
          <p:cNvSpPr txBox="1"/>
          <p:nvPr/>
        </p:nvSpPr>
        <p:spPr>
          <a:xfrm>
            <a:off x="548640" y="5623560"/>
            <a:ext cx="4937760" cy="274320"/>
          </a:xfrm>
          <a:prstGeom prst="rect">
            <a:avLst/>
          </a:prstGeom>
          <a:noFill/>
          <a:ln/>
        </p:spPr>
        <p:txBody>
          <a:bodyPr wrap="square" lIns="0" tIns="0" rIns="0" bIns="0" rtlCol="0" anchor="t"/>
          <a:lstStyle/>
          <a:p>
            <a:pPr algn="l" indent="0" marL="0">
              <a:buNone/>
            </a:pPr>
            <a:r>
              <a:rPr lang="en-US" sz="1200" b="1" spc="100" kern="0" dirty="0">
                <a:solidFill>
                  <a:schemeClr val="accent2"/>
                </a:solidFill>
              </a:rPr>
              <a:t>TERMINAL APP  ·  python main_task/main.py</a:t>
            </a:r>
            <a:endParaRPr lang="en-US" sz="1200" dirty="0"/>
          </a:p>
        </p:txBody>
      </p:sp>
      <p:sp>
        <p:nvSpPr>
          <p:cNvPr id="11" name="dmframe"/>
          <p:cNvSpPr/>
          <p:nvPr/>
        </p:nvSpPr>
        <p:spPr>
          <a:xfrm>
            <a:off x="5623560" y="1636776"/>
            <a:ext cx="6089904" cy="3780775"/>
          </a:xfrm>
          <a:prstGeom prst="roundRect">
            <a:avLst>
              <a:gd name="adj" fmla="val 2902"/>
            </a:avLst>
          </a:prstGeom>
          <a:solidFill>
            <a:schemeClr val="bg1">
              <a:alpha val="15000"/>
            </a:schemeClr>
          </a:solidFill>
          <a:ln w="9525">
            <a:solidFill>
              <a:schemeClr val="accent1">
                <a:alpha val="60000"/>
              </a:schemeClr>
            </a:solidFill>
            <a:prstDash val="solid"/>
          </a:ln>
        </p:spPr>
      </p:sp>
      <p:pic>
        <p:nvPicPr>
          <p:cNvPr id="12" name="dmshot" descr="Data Management page">    </p:cNvPr>
          <p:cNvPicPr>
            <a:picLocks noChangeAspect="1"/>
          </p:cNvPicPr>
          <p:nvPr/>
        </p:nvPicPr>
        <p:blipFill>
          <a:blip r:embed="rId1"/>
          <a:stretch>
            <a:fillRect/>
          </a:stretch>
        </p:blipFill>
        <p:spPr>
          <a:xfrm>
            <a:off x="5696712" y="1691640"/>
            <a:ext cx="5943600" cy="3671047"/>
          </a:xfrm>
          <a:prstGeom prst="rect">
            <a:avLst/>
          </a:prstGeom>
        </p:spPr>
      </p:pic>
      <p:sp>
        <p:nvSpPr>
          <p:cNvPr id="13" name="dmcap"/>
          <p:cNvSpPr txBox="1"/>
          <p:nvPr/>
        </p:nvSpPr>
        <p:spPr>
          <a:xfrm>
            <a:off x="5696712" y="5623560"/>
            <a:ext cx="5943600" cy="274320"/>
          </a:xfrm>
          <a:prstGeom prst="rect">
            <a:avLst/>
          </a:prstGeom>
          <a:noFill/>
          <a:ln/>
        </p:spPr>
        <p:txBody>
          <a:bodyPr wrap="square" lIns="0" tIns="0" rIns="0" bIns="0" rtlCol="0" anchor="t"/>
          <a:lstStyle/>
          <a:p>
            <a:pPr algn="l" indent="0" marL="0">
              <a:buNone/>
            </a:pPr>
            <a:r>
              <a:rPr lang="en-US" sz="1200" b="1" spc="100" kern="0" dirty="0">
                <a:solidFill>
                  <a:schemeClr val="accent1"/>
                </a:solidFill>
              </a:rPr>
              <a:t>DESKTOP GUI  ·  Data Management page</a:t>
            </a:r>
            <a:endParaRPr lang="en-US" sz="1200" dirty="0"/>
          </a:p>
        </p:txBody>
      </p:sp>
      <p:sp>
        <p:nvSpPr>
          <p:cNvPr id="14" name="chip0"/>
          <p:cNvSpPr txBox="1"/>
          <p:nvPr/>
        </p:nvSpPr>
        <p:spPr>
          <a:xfrm>
            <a:off x="54864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Validated input</a:t>
            </a:r>
            <a:endParaRPr lang="en-US" sz="1300" dirty="0"/>
          </a:p>
        </p:txBody>
      </p:sp>
      <p:sp>
        <p:nvSpPr>
          <p:cNvPr id="15" name="chip1"/>
          <p:cNvSpPr txBox="1"/>
          <p:nvPr/>
        </p:nvSpPr>
        <p:spPr>
          <a:xfrm>
            <a:off x="278892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Readable errors</a:t>
            </a:r>
            <a:endParaRPr lang="en-US" sz="1300" dirty="0"/>
          </a:p>
        </p:txBody>
      </p:sp>
      <p:sp>
        <p:nvSpPr>
          <p:cNvPr id="16" name="chip2"/>
          <p:cNvSpPr txBox="1"/>
          <p:nvPr/>
        </p:nvSpPr>
        <p:spPr>
          <a:xfrm>
            <a:off x="502920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Background threads</a:t>
            </a:r>
            <a:endParaRPr lang="en-US" sz="1300" dirty="0"/>
          </a:p>
        </p:txBody>
      </p:sp>
      <p:sp>
        <p:nvSpPr>
          <p:cNvPr id="17" name="chip3"/>
          <p:cNvSpPr txBox="1"/>
          <p:nvPr/>
        </p:nvSpPr>
        <p:spPr>
          <a:xfrm>
            <a:off x="726948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Masked API key</a:t>
            </a:r>
            <a:endParaRPr lang="en-US" sz="1300" dirty="0"/>
          </a:p>
        </p:txBody>
      </p:sp>
      <p:sp>
        <p:nvSpPr>
          <p:cNvPr id="18" name="chip4"/>
          <p:cNvSpPr txBox="1"/>
          <p:nvPr/>
        </p:nvSpPr>
        <p:spPr>
          <a:xfrm>
            <a:off x="9509760" y="5943600"/>
            <a:ext cx="2103120" cy="347472"/>
          </a:xfrm>
          <a:prstGeom prst="roundRect">
            <a:avLst>
              <a:gd name="adj" fmla="val 50000"/>
            </a:avLst>
          </a:prstGeom>
          <a:solidFill>
            <a:schemeClr val="bg1">
              <a:alpha val="9000"/>
            </a:schemeClr>
          </a:solidFill>
          <a:ln w="9525">
            <a:solidFill>
              <a:schemeClr val="bg1">
                <a:alpha val="22000"/>
              </a:schemeClr>
            </a:solidFill>
          </a:ln>
        </p:spPr>
        <p:txBody>
          <a:bodyPr wrap="square" lIns="25400" tIns="101600" rIns="101600" bIns="25400" rtlCol="0" anchor="ctr"/>
          <a:lstStyle/>
          <a:p>
            <a:pPr algn="ctr" indent="0" marL="0">
              <a:buNone/>
            </a:pPr>
            <a:r>
              <a:rPr lang="en-US" sz="1300" dirty="0">
                <a:solidFill>
                  <a:schemeClr val="bg1"/>
                </a:solidFill>
              </a:rPr>
              <a:t>CSV and JSON export</a:t>
            </a:r>
            <a:endParaRPr lang="en-US" sz="1300" dirty="0"/>
          </a:p>
        </p:txBody>
      </p:sp>
      <p:sp>
        <p:nvSpPr>
          <p:cNvPr id="19" name="track"/>
          <p:cNvSpPr/>
          <p:nvPr/>
        </p:nvSpPr>
        <p:spPr>
          <a:xfrm>
            <a:off x="3383280" y="6510528"/>
            <a:ext cx="7132320" cy="0"/>
          </a:xfrm>
          <a:prstGeom prst="line">
            <a:avLst/>
          </a:prstGeom>
          <a:noFill/>
          <a:ln w="12700">
            <a:solidFill>
              <a:schemeClr val="bg2">
                <a:alpha val="45000"/>
              </a:schemeClr>
            </a:solidFill>
            <a:prstDash val="dash"/>
          </a:ln>
        </p:spPr>
      </p:sp>
      <p:sp>
        <p:nvSpPr>
          <p:cNvPr id="20" name="progress"/>
          <p:cNvSpPr/>
          <p:nvPr/>
        </p:nvSpPr>
        <p:spPr>
          <a:xfrm>
            <a:off x="3383280" y="6510528"/>
            <a:ext cx="4426957" cy="0"/>
          </a:xfrm>
          <a:prstGeom prst="line">
            <a:avLst/>
          </a:prstGeom>
          <a:noFill/>
          <a:ln w="28575">
            <a:solidFill>
              <a:schemeClr val="accent2"/>
            </a:solidFill>
            <a:prstDash val="solid"/>
          </a:ln>
        </p:spPr>
      </p:sp>
      <p:sp>
        <p:nvSpPr>
          <p:cNvPr id="21" name="wp0"/>
          <p:cNvSpPr/>
          <p:nvPr/>
        </p:nvSpPr>
        <p:spPr>
          <a:xfrm>
            <a:off x="3834016" y="6469380"/>
            <a:ext cx="82296" cy="82296"/>
          </a:xfrm>
          <a:prstGeom prst="ellipse">
            <a:avLst/>
          </a:prstGeom>
          <a:solidFill>
            <a:schemeClr val="accent2"/>
          </a:solidFill>
          <a:ln/>
        </p:spPr>
      </p:sp>
      <p:sp>
        <p:nvSpPr>
          <p:cNvPr id="22" name="wp1"/>
          <p:cNvSpPr/>
          <p:nvPr/>
        </p:nvSpPr>
        <p:spPr>
          <a:xfrm>
            <a:off x="4817784" y="6469380"/>
            <a:ext cx="82296" cy="82296"/>
          </a:xfrm>
          <a:prstGeom prst="ellipse">
            <a:avLst/>
          </a:prstGeom>
          <a:solidFill>
            <a:schemeClr val="accent2"/>
          </a:solidFill>
          <a:ln/>
        </p:spPr>
      </p:sp>
      <p:sp>
        <p:nvSpPr>
          <p:cNvPr id="23" name="wp2"/>
          <p:cNvSpPr/>
          <p:nvPr/>
        </p:nvSpPr>
        <p:spPr>
          <a:xfrm>
            <a:off x="7277205" y="6469380"/>
            <a:ext cx="82296" cy="82296"/>
          </a:xfrm>
          <a:prstGeom prst="ellipse">
            <a:avLst/>
          </a:prstGeom>
          <a:solidFill>
            <a:schemeClr val="accent2"/>
          </a:solidFill>
          <a:ln/>
        </p:spPr>
      </p:sp>
      <p:sp>
        <p:nvSpPr>
          <p:cNvPr id="24" name="wp3"/>
          <p:cNvSpPr/>
          <p:nvPr/>
        </p:nvSpPr>
        <p:spPr>
          <a:xfrm>
            <a:off x="8506915" y="6469380"/>
            <a:ext cx="82296" cy="82296"/>
          </a:xfrm>
          <a:prstGeom prst="ellipse">
            <a:avLst/>
          </a:prstGeom>
          <a:solidFill>
            <a:schemeClr val="bg2">
              <a:alpha val="60000"/>
            </a:schemeClr>
          </a:solidFill>
          <a:ln/>
        </p:spPr>
      </p:sp>
      <p:sp>
        <p:nvSpPr>
          <p:cNvPr id="25" name="wp4"/>
          <p:cNvSpPr/>
          <p:nvPr/>
        </p:nvSpPr>
        <p:spPr>
          <a:xfrm>
            <a:off x="9982568" y="6469380"/>
            <a:ext cx="82296" cy="82296"/>
          </a:xfrm>
          <a:prstGeom prst="ellipse">
            <a:avLst/>
          </a:prstGeom>
          <a:solidFill>
            <a:schemeClr val="bg2">
              <a:alpha val="60000"/>
            </a:schemeClr>
          </a:solidFill>
          <a:ln/>
        </p:spPr>
      </p:sp>
      <p:sp>
        <p:nvSpPr>
          <p:cNvPr id="26" name="progress_ext"/>
          <p:cNvSpPr/>
          <p:nvPr/>
        </p:nvSpPr>
        <p:spPr>
          <a:xfrm>
            <a:off x="7810237" y="6510528"/>
            <a:ext cx="245942" cy="0"/>
          </a:xfrm>
          <a:prstGeom prst="line">
            <a:avLst/>
          </a:prstGeom>
          <a:noFill/>
          <a:ln w="28575">
            <a:solidFill>
              <a:schemeClr val="accent2"/>
            </a:solidFill>
            <a:prstDash val="solid"/>
          </a:ln>
        </p:spPr>
      </p:sp>
      <p:pic>
        <p:nvPicPr>
          <p:cNvPr id="27" name="!!tracker" descr="Progress marker">    </p:cNvPr>
          <p:cNvPicPr>
            <a:picLocks noChangeAspect="1"/>
          </p:cNvPicPr>
          <p:nvPr/>
        </p:nvPicPr>
        <p:blipFill>
          <a:blip r:embed="rId2"/>
          <a:stretch>
            <a:fillRect/>
          </a:stretch>
        </p:blipFill>
        <p:spPr>
          <a:xfrm>
            <a:off x="7627357"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20</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900"/>
                                        <p:tgtEl>
                                          <p:spTgt spid="5"/>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wipe(left)">
                                      <p:cBhvr>
                                        <p:cTn id="18" dur="900"/>
                                        <p:tgtEl>
                                          <p:spTgt spid="6"/>
                                        </p:tgtEl>
                                      </p:cBhvr>
                                    </p:animEffect>
                                  </p:childTnLst>
                                </p:cTn>
                              </p:par>
                              <p:par>
                                <p:cTn id="19" presetID="22" presetClass="entr" presetSubtype="8" fill="hold" grpId="0" nodeType="withEffect">
                                  <p:stCondLst>
                                    <p:cond delay="2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900"/>
                                        <p:tgtEl>
                                          <p:spTgt spid="7"/>
                                        </p:tgtEl>
                                      </p:cBhvr>
                                    </p:animEffect>
                                  </p:childTnLst>
                                </p:cTn>
                              </p:par>
                              <p:par>
                                <p:cTn id="22" presetID="22" presetClass="entr" presetSubtype="8" fill="hold" grpId="0" nodeType="withEffect">
                                  <p:stCondLst>
                                    <p:cond delay="200"/>
                                  </p:stCondLst>
                                  <p:childTnLst>
                                    <p:set>
                                      <p:cBhvr>
                                        <p:cTn id="23" dur="1" fill="hold">
                                          <p:stCondLst>
                                            <p:cond delay="0"/>
                                          </p:stCondLst>
                                        </p:cTn>
                                        <p:tgtEl>
                                          <p:spTgt spid="8"/>
                                        </p:tgtEl>
                                        <p:attrNameLst>
                                          <p:attrName>style.visibility</p:attrName>
                                        </p:attrNameLst>
                                      </p:cBhvr>
                                      <p:to>
                                        <p:strVal val="visible"/>
                                      </p:to>
                                    </p:set>
                                    <p:animEffect transition="in" filter="wipe(left)">
                                      <p:cBhvr>
                                        <p:cTn id="24" dur="900"/>
                                        <p:tgtEl>
                                          <p:spTgt spid="8"/>
                                        </p:tgtEl>
                                      </p:cBhvr>
                                    </p:animEffect>
                                  </p:childTnLst>
                                </p:cTn>
                              </p:par>
                              <p:par>
                                <p:cTn id="25" presetID="22" presetClass="entr" presetSubtype="8" fill="hold" grpId="0" nodeType="withEffect">
                                  <p:stCondLst>
                                    <p:cond delay="20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900"/>
                                        <p:tgtEl>
                                          <p:spTgt spid="9"/>
                                        </p:tgtEl>
                                      </p:cBhvr>
                                    </p:animEffect>
                                  </p:childTnLst>
                                </p:cTn>
                              </p:par>
                              <p:par>
                                <p:cTn id="28" presetID="22" presetClass="entr" presetSubtype="8" fill="hold" grpId="0" nodeType="withEffect">
                                  <p:stCondLst>
                                    <p:cond delay="200"/>
                                  </p:stCondLst>
                                  <p:childTnLst>
                                    <p:set>
                                      <p:cBhvr>
                                        <p:cTn id="29" dur="1" fill="hold">
                                          <p:stCondLst>
                                            <p:cond delay="0"/>
                                          </p:stCondLst>
                                        </p:cTn>
                                        <p:tgtEl>
                                          <p:spTgt spid="10"/>
                                        </p:tgtEl>
                                        <p:attrNameLst>
                                          <p:attrName>style.visibility</p:attrName>
                                        </p:attrNameLst>
                                      </p:cBhvr>
                                      <p:to>
                                        <p:strVal val="visible"/>
                                      </p:to>
                                    </p:set>
                                    <p:animEffect transition="in" filter="wipe(left)">
                                      <p:cBhvr>
                                        <p:cTn id="30" dur="900"/>
                                        <p:tgtEl>
                                          <p:spTgt spid="10"/>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2"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animEffect transition="in" filter="wipe(right)">
                                      <p:cBhvr>
                                        <p:cTn id="35" dur="900"/>
                                        <p:tgtEl>
                                          <p:spTgt spid="11"/>
                                        </p:tgtEl>
                                      </p:cBhvr>
                                    </p:animEffect>
                                  </p:childTnLst>
                                </p:cTn>
                              </p:par>
                              <p:par>
                                <p:cTn id="36" presetID="22" presetClass="entr" presetSubtype="2"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wipe(right)">
                                      <p:cBhvr>
                                        <p:cTn id="38" dur="900"/>
                                        <p:tgtEl>
                                          <p:spTgt spid="12"/>
                                        </p:tgtEl>
                                      </p:cBhvr>
                                    </p:animEffect>
                                  </p:childTnLst>
                                </p:cTn>
                              </p:par>
                              <p:par>
                                <p:cTn id="39" presetID="22" presetClass="entr" presetSubtype="2" fill="hold" grpId="0" nodeType="with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wipe(right)">
                                      <p:cBhvr>
                                        <p:cTn id="41" dur="900"/>
                                        <p:tgtEl>
                                          <p:spTgt spid="13"/>
                                        </p:tgtEl>
                                      </p:cBhvr>
                                    </p:animEffect>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500" fill="hold"/>
                                        <p:tgtEl>
                                          <p:spTgt spid="14"/>
                                        </p:tgtEl>
                                        <p:attrNameLst>
                                          <p:attrName>ppt_y</p:attrName>
                                        </p:attrNameLst>
                                      </p:cBhvr>
                                      <p:tavLst>
                                        <p:tav tm="0">
                                          <p:val>
                                            <p:strVal val="#ppt_y+.1"/>
                                          </p:val>
                                        </p:tav>
                                        <p:tav tm="100000">
                                          <p:val>
                                            <p:strVal val="#ppt_y"/>
                                          </p:val>
                                        </p:tav>
                                      </p:tavLst>
                                    </p:anim>
                                    <p:animEffect transition="in" filter="fade">
                                      <p:cBhvr>
                                        <p:cTn id="47" dur="500"/>
                                        <p:tgtEl>
                                          <p:spTgt spid="14"/>
                                        </p:tgtEl>
                                      </p:cBhvr>
                                    </p:animEffect>
                                  </p:childTnLst>
                                </p:cTn>
                              </p:par>
                              <p:par>
                                <p:cTn id="48" presetID="42" presetClass="entr" presetSubtype="0" fill="hold" grpId="0" nodeType="withEffect">
                                  <p:stCondLst>
                                    <p:cond delay="15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500" fill="hold"/>
                                        <p:tgtEl>
                                          <p:spTgt spid="15"/>
                                        </p:tgtEl>
                                        <p:attrNameLst>
                                          <p:attrName>ppt_y</p:attrName>
                                        </p:attrNameLst>
                                      </p:cBhvr>
                                      <p:tavLst>
                                        <p:tav tm="0">
                                          <p:val>
                                            <p:strVal val="#ppt_y+.1"/>
                                          </p:val>
                                        </p:tav>
                                        <p:tav tm="100000">
                                          <p:val>
                                            <p:strVal val="#ppt_y"/>
                                          </p:val>
                                        </p:tav>
                                      </p:tavLst>
                                    </p:anim>
                                    <p:animEffect transition="in" filter="fade">
                                      <p:cBhvr>
                                        <p:cTn id="51" dur="500"/>
                                        <p:tgtEl>
                                          <p:spTgt spid="15"/>
                                        </p:tgtEl>
                                      </p:cBhvr>
                                    </p:animEffect>
                                  </p:childTnLst>
                                </p:cTn>
                              </p:par>
                              <p:par>
                                <p:cTn id="52" presetID="42" presetClass="entr" presetSubtype="0" fill="hold" grpId="0" nodeType="withEffect">
                                  <p:stCondLst>
                                    <p:cond delay="30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500" fill="hold"/>
                                        <p:tgtEl>
                                          <p:spTgt spid="16"/>
                                        </p:tgtEl>
                                        <p:attrNameLst>
                                          <p:attrName>ppt_y</p:attrName>
                                        </p:attrNameLst>
                                      </p:cBhvr>
                                      <p:tavLst>
                                        <p:tav tm="0">
                                          <p:val>
                                            <p:strVal val="#ppt_y+.1"/>
                                          </p:val>
                                        </p:tav>
                                        <p:tav tm="100000">
                                          <p:val>
                                            <p:strVal val="#ppt_y"/>
                                          </p:val>
                                        </p:tav>
                                      </p:tavLst>
                                    </p:anim>
                                    <p:animEffect transition="in" filter="fade">
                                      <p:cBhvr>
                                        <p:cTn id="55" dur="500"/>
                                        <p:tgtEl>
                                          <p:spTgt spid="16"/>
                                        </p:tgtEl>
                                      </p:cBhvr>
                                    </p:animEffect>
                                  </p:childTnLst>
                                </p:cTn>
                              </p:par>
                              <p:par>
                                <p:cTn id="56" presetID="42" presetClass="entr" presetSubtype="0" fill="hold" grpId="0" nodeType="withEffect">
                                  <p:stCondLst>
                                    <p:cond delay="45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500" fill="hold"/>
                                        <p:tgtEl>
                                          <p:spTgt spid="17"/>
                                        </p:tgtEl>
                                        <p:attrNameLst>
                                          <p:attrName>ppt_y</p:attrName>
                                        </p:attrNameLst>
                                      </p:cBhvr>
                                      <p:tavLst>
                                        <p:tav tm="0">
                                          <p:val>
                                            <p:strVal val="#ppt_y+.1"/>
                                          </p:val>
                                        </p:tav>
                                        <p:tav tm="100000">
                                          <p:val>
                                            <p:strVal val="#ppt_y"/>
                                          </p:val>
                                        </p:tav>
                                      </p:tavLst>
                                    </p:anim>
                                    <p:animEffect transition="in" filter="fade">
                                      <p:cBhvr>
                                        <p:cTn id="59" dur="500"/>
                                        <p:tgtEl>
                                          <p:spTgt spid="17"/>
                                        </p:tgtEl>
                                      </p:cBhvr>
                                    </p:animEffect>
                                  </p:childTnLst>
                                </p:cTn>
                              </p:par>
                              <p:par>
                                <p:cTn id="60" presetID="42" presetClass="entr" presetSubtype="0" fill="hold" grpId="0" nodeType="withEffect">
                                  <p:stCondLst>
                                    <p:cond delay="60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500" fill="hold"/>
                                        <p:tgtEl>
                                          <p:spTgt spid="18"/>
                                        </p:tgtEl>
                                        <p:attrNameLst>
                                          <p:attrName>ppt_y</p:attrName>
                                        </p:attrNameLst>
                                      </p:cBhvr>
                                      <p:tavLst>
                                        <p:tav tm="0">
                                          <p:val>
                                            <p:strVal val="#ppt_y+.1"/>
                                          </p:val>
                                        </p:tav>
                                        <p:tav tm="100000">
                                          <p:val>
                                            <p:strVal val="#ppt_y"/>
                                          </p:val>
                                        </p:tav>
                                      </p:tavLst>
                                    </p:anim>
                                    <p:animEffect transition="in" filter="fade">
                                      <p:cBhvr>
                                        <p:cTn id="63" dur="500"/>
                                        <p:tgtEl>
                                          <p:spTgt spid="18"/>
                                        </p:tgtEl>
                                      </p:cBhvr>
                                    </p:animEffect>
                                  </p:childTnLst>
                                </p:cTn>
                              </p:par>
                              <p:par>
                                <p:cTn id="64" presetID="22" presetClass="entr" presetSubtype="8" fill="hold" grpId="0" nodeType="withEffect">
                                  <p:stCondLst>
                                    <p:cond delay="600"/>
                                  </p:stCondLst>
                                  <p:childTnLst>
                                    <p:set>
                                      <p:cBhvr>
                                        <p:cTn id="65" dur="1" fill="hold">
                                          <p:stCondLst>
                                            <p:cond delay="0"/>
                                          </p:stCondLst>
                                        </p:cTn>
                                        <p:tgtEl>
                                          <p:spTgt spid="26"/>
                                        </p:tgtEl>
                                        <p:attrNameLst>
                                          <p:attrName>style.visibility</p:attrName>
                                        </p:attrNameLst>
                                      </p:cBhvr>
                                      <p:to>
                                        <p:strVal val="visible"/>
                                      </p:to>
                                    </p:set>
                                    <p:animEffect transition="in" filter="wipe(left)">
                                      <p:cBhvr>
                                        <p:cTn id="66" dur="1100"/>
                                        <p:tgtEl>
                                          <p:spTgt spid="26"/>
                                        </p:tgtEl>
                                      </p:cBhvr>
                                    </p:animEffect>
                                  </p:childTnLst>
                                </p:cTn>
                              </p:par>
                              <p:par>
                                <p:cTn id="68" presetID="0" presetClass="path" presetSubtype="0" fill="hold" accel="30000" decel="30000" nodeType="withEffect">
                                  <p:stCondLst>
                                    <p:cond delay="600"/>
                                  </p:stCondLst>
                                  <p:childTnLst>
                                    <p:animMotion origin="layout" path="M 0 0 L 0.02017 0 E" pathEditMode="relative" rAng="0" ptsTypes="AA">
                                      <p:cBhvr>
                                        <p:cTn id="67" dur="1100" fill="hold"/>
                                        <p:tgtEl>
                                          <p:spTgt spid="27"/>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3" grpId="0" animBg="1"/>
      <p:bldP spid="14" grpId="0" animBg="1"/>
      <p:bldP spid="15" grpId="0" animBg="1"/>
      <p:bldP spid="16" grpId="0" animBg="1"/>
      <p:bldP spid="17" grpId="0" animBg="1"/>
      <p:bldP spid="18" grpId="0" animBg="1"/>
      <p:bldP spid="2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03  ·  THE APPLICATION</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Flight conditions and delay logic</a:t>
            </a:r>
            <a:endParaRPr lang="en-US" sz="3600" dirty="0"/>
          </a:p>
        </p:txBody>
      </p:sp>
      <p:sp>
        <p:nvSpPr>
          <p:cNvPr id="5" name="rulehd"/>
          <p:cNvSpPr txBox="1"/>
          <p:nvPr/>
        </p:nvSpPr>
        <p:spPr>
          <a:xfrm>
            <a:off x="548640" y="1645920"/>
            <a:ext cx="36576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FIRST MATCH WINS</a:t>
            </a:r>
            <a:endParaRPr lang="en-US" sz="1200" dirty="0"/>
          </a:p>
        </p:txBody>
      </p:sp>
      <p:sp>
        <p:nvSpPr>
          <p:cNvPr id="6" name="ru0c"/>
          <p:cNvSpPr txBox="1"/>
          <p:nvPr/>
        </p:nvSpPr>
        <p:spPr>
          <a:xfrm>
            <a:off x="548640" y="2011680"/>
            <a:ext cx="2468880" cy="484632"/>
          </a:xfrm>
          <a:prstGeom prst="roundRect">
            <a:avLst>
              <a:gd name="adj" fmla="val 49057"/>
            </a:avLst>
          </a:prstGeom>
          <a:solidFill>
            <a:schemeClr val="accent5">
              <a:alpha val="22000"/>
            </a:schemeClr>
          </a:solidFill>
          <a:ln w="9525">
            <a:solidFill>
              <a:schemeClr val="accent5">
                <a:alpha val="70000"/>
              </a:schemeClr>
            </a:solidFill>
          </a:ln>
        </p:spPr>
        <p:txBody>
          <a:bodyPr wrap="square" lIns="25400" tIns="127000" rIns="127000" bIns="25400" rtlCol="0" anchor="ctr"/>
          <a:lstStyle/>
          <a:p>
            <a:pPr algn="l" indent="0" marL="0">
              <a:buNone/>
            </a:pPr>
            <a:r>
              <a:rPr lang="en-US" sz="1400" b="1" dirty="0">
                <a:solidFill>
                  <a:schemeClr val="bg1"/>
                </a:solidFill>
              </a:rPr>
              <a:t>Cancelled</a:t>
            </a:r>
            <a:endParaRPr lang="en-US" sz="1400" dirty="0"/>
          </a:p>
        </p:txBody>
      </p:sp>
      <p:sp>
        <p:nvSpPr>
          <p:cNvPr id="7" name="ru0t"/>
          <p:cNvSpPr txBox="1"/>
          <p:nvPr/>
        </p:nvSpPr>
        <p:spPr>
          <a:xfrm>
            <a:off x="3200400" y="2011680"/>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is cancelled</a:t>
            </a:r>
            <a:endParaRPr lang="en-US" sz="1500" dirty="0"/>
          </a:p>
        </p:txBody>
      </p:sp>
      <p:sp>
        <p:nvSpPr>
          <p:cNvPr id="8" name="ru1c"/>
          <p:cNvSpPr txBox="1"/>
          <p:nvPr/>
        </p:nvSpPr>
        <p:spPr>
          <a:xfrm>
            <a:off x="548640" y="2587752"/>
            <a:ext cx="2468880" cy="484632"/>
          </a:xfrm>
          <a:prstGeom prst="roundRect">
            <a:avLst>
              <a:gd name="adj" fmla="val 49057"/>
            </a:avLst>
          </a:prstGeom>
          <a:solidFill>
            <a:schemeClr val="accent3">
              <a:alpha val="22000"/>
            </a:schemeClr>
          </a:solidFill>
          <a:ln w="9525">
            <a:solidFill>
              <a:schemeClr val="accent3">
                <a:alpha val="70000"/>
              </a:schemeClr>
            </a:solidFill>
          </a:ln>
        </p:spPr>
        <p:txBody>
          <a:bodyPr wrap="square" lIns="25400" tIns="127000" rIns="127000" bIns="25400" rtlCol="0" anchor="ctr"/>
          <a:lstStyle/>
          <a:p>
            <a:pPr algn="l" indent="0" marL="0">
              <a:buNone/>
            </a:pPr>
            <a:r>
              <a:rPr lang="en-US" sz="1400" b="1" dirty="0">
                <a:solidFill>
                  <a:schemeClr val="bg1"/>
                </a:solidFill>
              </a:rPr>
              <a:t>Delayed N min</a:t>
            </a:r>
            <a:endParaRPr lang="en-US" sz="1400" dirty="0"/>
          </a:p>
        </p:txBody>
      </p:sp>
      <p:sp>
        <p:nvSpPr>
          <p:cNvPr id="9" name="ru1t"/>
          <p:cNvSpPr txBox="1"/>
          <p:nvPr/>
        </p:nvSpPr>
        <p:spPr>
          <a:xfrm>
            <a:off x="3200400" y="2587752"/>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max delay is above zero</a:t>
            </a:r>
            <a:endParaRPr lang="en-US" sz="1500" dirty="0"/>
          </a:p>
        </p:txBody>
      </p:sp>
      <p:sp>
        <p:nvSpPr>
          <p:cNvPr id="10" name="ru2c"/>
          <p:cNvSpPr txBox="1"/>
          <p:nvPr/>
        </p:nvSpPr>
        <p:spPr>
          <a:xfrm>
            <a:off x="548640" y="3163824"/>
            <a:ext cx="2468880" cy="484632"/>
          </a:xfrm>
          <a:prstGeom prst="roundRect">
            <a:avLst>
              <a:gd name="adj" fmla="val 49057"/>
            </a:avLst>
          </a:prstGeom>
          <a:solidFill>
            <a:schemeClr val="accent4">
              <a:alpha val="22000"/>
            </a:schemeClr>
          </a:solidFill>
          <a:ln w="9525">
            <a:solidFill>
              <a:schemeClr val="accent4">
                <a:alpha val="70000"/>
              </a:schemeClr>
            </a:solidFill>
          </a:ln>
        </p:spPr>
        <p:txBody>
          <a:bodyPr wrap="square" lIns="25400" tIns="127000" rIns="127000" bIns="25400" rtlCol="0" anchor="ctr"/>
          <a:lstStyle/>
          <a:p>
            <a:pPr algn="l" indent="0" marL="0">
              <a:buNone/>
            </a:pPr>
            <a:r>
              <a:rPr lang="en-US" sz="1400" b="1" dirty="0">
                <a:solidFill>
                  <a:schemeClr val="bg1"/>
                </a:solidFill>
              </a:rPr>
              <a:t>Weather Alert</a:t>
            </a:r>
            <a:endParaRPr lang="en-US" sz="1400" dirty="0"/>
          </a:p>
        </p:txBody>
      </p:sp>
      <p:sp>
        <p:nvSpPr>
          <p:cNvPr id="11" name="ru2t"/>
          <p:cNvSpPr txBox="1"/>
          <p:nvPr/>
        </p:nvSpPr>
        <p:spPr>
          <a:xfrm>
            <a:off x="3200400" y="3163824"/>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only if the source confirms weather</a:t>
            </a:r>
            <a:endParaRPr lang="en-US" sz="1500" dirty="0"/>
          </a:p>
        </p:txBody>
      </p:sp>
      <p:sp>
        <p:nvSpPr>
          <p:cNvPr id="12" name="ru3c"/>
          <p:cNvSpPr txBox="1"/>
          <p:nvPr/>
        </p:nvSpPr>
        <p:spPr>
          <a:xfrm>
            <a:off x="548640" y="3739896"/>
            <a:ext cx="2468880" cy="484632"/>
          </a:xfrm>
          <a:prstGeom prst="roundRect">
            <a:avLst>
              <a:gd name="adj" fmla="val 49057"/>
            </a:avLst>
          </a:prstGeom>
          <a:solidFill>
            <a:schemeClr val="accent3">
              <a:alpha val="22000"/>
            </a:schemeClr>
          </a:solidFill>
          <a:ln w="9525">
            <a:solidFill>
              <a:schemeClr val="accent3">
                <a:alpha val="70000"/>
              </a:schemeClr>
            </a:solidFill>
          </a:ln>
        </p:spPr>
        <p:txBody>
          <a:bodyPr wrap="square" lIns="25400" tIns="127000" rIns="127000" bIns="25400" rtlCol="0" anchor="ctr"/>
          <a:lstStyle/>
          <a:p>
            <a:pPr algn="l" indent="0" marL="0">
              <a:buNone/>
            </a:pPr>
            <a:r>
              <a:rPr lang="en-US" sz="1400" b="1" dirty="0">
                <a:solidFill>
                  <a:schemeClr val="bg1"/>
                </a:solidFill>
              </a:rPr>
              <a:t>Incident / Diverted</a:t>
            </a:r>
            <a:endParaRPr lang="en-US" sz="1400" dirty="0"/>
          </a:p>
        </p:txBody>
      </p:sp>
      <p:sp>
        <p:nvSpPr>
          <p:cNvPr id="13" name="ru3t"/>
          <p:cNvSpPr txBox="1"/>
          <p:nvPr/>
        </p:nvSpPr>
        <p:spPr>
          <a:xfrm>
            <a:off x="3200400" y="3739896"/>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incident or diverted</a:t>
            </a:r>
            <a:endParaRPr lang="en-US" sz="1500" dirty="0"/>
          </a:p>
        </p:txBody>
      </p:sp>
      <p:sp>
        <p:nvSpPr>
          <p:cNvPr id="14" name="ru4c"/>
          <p:cNvSpPr txBox="1"/>
          <p:nvPr/>
        </p:nvSpPr>
        <p:spPr>
          <a:xfrm>
            <a:off x="548640" y="4315968"/>
            <a:ext cx="2468880" cy="484632"/>
          </a:xfrm>
          <a:prstGeom prst="roundRect">
            <a:avLst>
              <a:gd name="adj" fmla="val 49057"/>
            </a:avLst>
          </a:prstGeom>
          <a:solidFill>
            <a:schemeClr val="accent6">
              <a:alpha val="22000"/>
            </a:schemeClr>
          </a:solidFill>
          <a:ln w="9525">
            <a:solidFill>
              <a:schemeClr val="accent6">
                <a:alpha val="70000"/>
              </a:schemeClr>
            </a:solidFill>
          </a:ln>
        </p:spPr>
        <p:txBody>
          <a:bodyPr wrap="square" lIns="25400" tIns="127000" rIns="127000" bIns="25400" rtlCol="0" anchor="ctr"/>
          <a:lstStyle/>
          <a:p>
            <a:pPr algn="l" indent="0" marL="0">
              <a:buNone/>
            </a:pPr>
            <a:r>
              <a:rPr lang="en-US" sz="1400" b="1" dirty="0">
                <a:solidFill>
                  <a:schemeClr val="bg1"/>
                </a:solidFill>
              </a:rPr>
              <a:t>On Time</a:t>
            </a:r>
            <a:endParaRPr lang="en-US" sz="1400" dirty="0"/>
          </a:p>
        </p:txBody>
      </p:sp>
      <p:sp>
        <p:nvSpPr>
          <p:cNvPr id="15" name="ru4t"/>
          <p:cNvSpPr txBox="1"/>
          <p:nvPr/>
        </p:nvSpPr>
        <p:spPr>
          <a:xfrm>
            <a:off x="3200400" y="4315968"/>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scheduled or active</a:t>
            </a:r>
            <a:endParaRPr lang="en-US" sz="1500" dirty="0"/>
          </a:p>
        </p:txBody>
      </p:sp>
      <p:sp>
        <p:nvSpPr>
          <p:cNvPr id="16" name="ru5c"/>
          <p:cNvSpPr txBox="1"/>
          <p:nvPr/>
        </p:nvSpPr>
        <p:spPr>
          <a:xfrm>
            <a:off x="548640" y="4892040"/>
            <a:ext cx="2468880" cy="484632"/>
          </a:xfrm>
          <a:prstGeom prst="roundRect">
            <a:avLst>
              <a:gd name="adj" fmla="val 49057"/>
            </a:avLst>
          </a:prstGeom>
          <a:solidFill>
            <a:schemeClr val="accent1">
              <a:alpha val="22000"/>
            </a:schemeClr>
          </a:solidFill>
          <a:ln w="9525">
            <a:solidFill>
              <a:schemeClr val="accent1">
                <a:alpha val="70000"/>
              </a:schemeClr>
            </a:solidFill>
          </a:ln>
        </p:spPr>
        <p:txBody>
          <a:bodyPr wrap="square" lIns="25400" tIns="127000" rIns="127000" bIns="25400" rtlCol="0" anchor="ctr"/>
          <a:lstStyle/>
          <a:p>
            <a:pPr algn="l" indent="0" marL="0">
              <a:buNone/>
            </a:pPr>
            <a:r>
              <a:rPr lang="en-US" sz="1400" b="1" dirty="0">
                <a:solidFill>
                  <a:schemeClr val="bg1"/>
                </a:solidFill>
              </a:rPr>
              <a:t>Landed</a:t>
            </a:r>
            <a:endParaRPr lang="en-US" sz="1400" dirty="0"/>
          </a:p>
        </p:txBody>
      </p:sp>
      <p:sp>
        <p:nvSpPr>
          <p:cNvPr id="17" name="ru5t"/>
          <p:cNvSpPr txBox="1"/>
          <p:nvPr/>
        </p:nvSpPr>
        <p:spPr>
          <a:xfrm>
            <a:off x="3200400" y="4892040"/>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status landed</a:t>
            </a:r>
            <a:endParaRPr lang="en-US" sz="1500" dirty="0"/>
          </a:p>
        </p:txBody>
      </p:sp>
      <p:sp>
        <p:nvSpPr>
          <p:cNvPr id="18" name="ru6c"/>
          <p:cNvSpPr txBox="1"/>
          <p:nvPr/>
        </p:nvSpPr>
        <p:spPr>
          <a:xfrm>
            <a:off x="548640" y="5468112"/>
            <a:ext cx="2468880" cy="484632"/>
          </a:xfrm>
          <a:prstGeom prst="roundRect">
            <a:avLst>
              <a:gd name="adj" fmla="val 49057"/>
            </a:avLst>
          </a:prstGeom>
          <a:solidFill>
            <a:schemeClr val="bg2">
              <a:alpha val="22000"/>
            </a:schemeClr>
          </a:solidFill>
          <a:ln w="9525">
            <a:solidFill>
              <a:schemeClr val="bg2">
                <a:alpha val="70000"/>
              </a:schemeClr>
            </a:solidFill>
          </a:ln>
        </p:spPr>
        <p:txBody>
          <a:bodyPr wrap="square" lIns="25400" tIns="127000" rIns="127000" bIns="25400" rtlCol="0" anchor="ctr"/>
          <a:lstStyle/>
          <a:p>
            <a:pPr algn="l" indent="0" marL="0">
              <a:buNone/>
            </a:pPr>
            <a:r>
              <a:rPr lang="en-US" sz="1400" b="1" dirty="0">
                <a:solidFill>
                  <a:schemeClr val="bg1"/>
                </a:solidFill>
              </a:rPr>
              <a:t>Status Unknown</a:t>
            </a:r>
            <a:endParaRPr lang="en-US" sz="1400" dirty="0"/>
          </a:p>
        </p:txBody>
      </p:sp>
      <p:sp>
        <p:nvSpPr>
          <p:cNvPr id="19" name="ru6t"/>
          <p:cNvSpPr txBox="1"/>
          <p:nvPr/>
        </p:nvSpPr>
        <p:spPr>
          <a:xfrm>
            <a:off x="3200400" y="5468112"/>
            <a:ext cx="4023360" cy="484632"/>
          </a:xfrm>
          <a:prstGeom prst="rect">
            <a:avLst/>
          </a:prstGeom>
          <a:noFill/>
          <a:ln/>
        </p:spPr>
        <p:txBody>
          <a:bodyPr wrap="square" lIns="0" tIns="0" rIns="0" bIns="0" rtlCol="0" anchor="ctr"/>
          <a:lstStyle/>
          <a:p>
            <a:pPr algn="l" indent="0" marL="0">
              <a:buNone/>
            </a:pPr>
            <a:r>
              <a:rPr lang="en-US" sz="1500" dirty="0">
                <a:solidFill>
                  <a:schemeClr val="bg2"/>
                </a:solidFill>
              </a:rPr>
              <a:t>anything else</a:t>
            </a:r>
            <a:endParaRPr lang="en-US" sz="1500" dirty="0"/>
          </a:p>
        </p:txBody>
      </p:sp>
      <p:sp>
        <p:nvSpPr>
          <p:cNvPr id="20" name="barhd"/>
          <p:cNvSpPr txBox="1"/>
          <p:nvPr/>
        </p:nvSpPr>
        <p:spPr>
          <a:xfrm>
            <a:off x="7589520" y="1645920"/>
            <a:ext cx="4023360" cy="274320"/>
          </a:xfrm>
          <a:prstGeom prst="rect">
            <a:avLst/>
          </a:prstGeom>
          <a:noFill/>
          <a:ln/>
        </p:spPr>
        <p:txBody>
          <a:bodyPr wrap="square" lIns="0" tIns="0" rIns="0" bIns="0" rtlCol="0" anchor="t"/>
          <a:lstStyle/>
          <a:p>
            <a:pPr algn="l" indent="0" marL="0">
              <a:buNone/>
            </a:pPr>
            <a:r>
              <a:rPr lang="en-US" sz="1200" b="1" spc="200" kern="0" dirty="0">
                <a:solidFill>
                  <a:schemeClr val="accent2"/>
                </a:solidFill>
              </a:rPr>
              <a:t>FLIGHT CONDITIONS BAR  ·  STORED DATA</a:t>
            </a:r>
            <a:endParaRPr lang="en-US" sz="1200" dirty="0"/>
          </a:p>
        </p:txBody>
      </p:sp>
      <p:sp>
        <p:nvSpPr>
          <p:cNvPr id="21" name="bar0"/>
          <p:cNvSpPr txBox="1"/>
          <p:nvPr/>
        </p:nvSpPr>
        <p:spPr>
          <a:xfrm>
            <a:off x="7589520" y="2011680"/>
            <a:ext cx="1298448" cy="457200"/>
          </a:xfrm>
          <a:prstGeom prst="roundRect">
            <a:avLst>
              <a:gd name="adj" fmla="val 50000"/>
            </a:avLst>
          </a:prstGeom>
          <a:solidFill>
            <a:schemeClr val="accent6">
              <a:alpha val="22000"/>
            </a:schemeClr>
          </a:solidFill>
          <a:ln w="9525">
            <a:solidFill>
              <a:schemeClr val="accent6">
                <a:alpha val="70000"/>
              </a:schemeClr>
            </a:solidFill>
          </a:ln>
        </p:spPr>
        <p:txBody>
          <a:bodyPr wrap="square" lIns="25400" tIns="50800" rIns="50800" bIns="25400" rtlCol="0" anchor="ctr"/>
          <a:lstStyle/>
          <a:p>
            <a:pPr algn="ctr" indent="0" marL="0">
              <a:buNone/>
            </a:pPr>
            <a:r>
              <a:rPr lang="en-US" sz="1200" b="1" dirty="0">
                <a:solidFill>
                  <a:schemeClr val="bg1"/>
                </a:solidFill>
              </a:rPr>
              <a:t>On Time: 124</a:t>
            </a:r>
            <a:endParaRPr lang="en-US" sz="1200" dirty="0"/>
          </a:p>
        </p:txBody>
      </p:sp>
      <p:sp>
        <p:nvSpPr>
          <p:cNvPr id="22" name="bar1"/>
          <p:cNvSpPr txBox="1"/>
          <p:nvPr/>
        </p:nvSpPr>
        <p:spPr>
          <a:xfrm>
            <a:off x="8961120" y="2011680"/>
            <a:ext cx="1298448" cy="457200"/>
          </a:xfrm>
          <a:prstGeom prst="roundRect">
            <a:avLst>
              <a:gd name="adj" fmla="val 50000"/>
            </a:avLst>
          </a:prstGeom>
          <a:solidFill>
            <a:schemeClr val="accent3">
              <a:alpha val="22000"/>
            </a:schemeClr>
          </a:solidFill>
          <a:ln w="9525">
            <a:solidFill>
              <a:schemeClr val="accent3">
                <a:alpha val="70000"/>
              </a:schemeClr>
            </a:solidFill>
          </a:ln>
        </p:spPr>
        <p:txBody>
          <a:bodyPr wrap="square" lIns="25400" tIns="50800" rIns="50800" bIns="25400" rtlCol="0" anchor="ctr"/>
          <a:lstStyle/>
          <a:p>
            <a:pPr algn="ctr" indent="0" marL="0">
              <a:buNone/>
            </a:pPr>
            <a:r>
              <a:rPr lang="en-US" sz="1200" b="1" dirty="0">
                <a:solidFill>
                  <a:schemeClr val="bg1"/>
                </a:solidFill>
              </a:rPr>
              <a:t>Delayed: 9</a:t>
            </a:r>
            <a:endParaRPr lang="en-US" sz="1200" dirty="0"/>
          </a:p>
        </p:txBody>
      </p:sp>
      <p:sp>
        <p:nvSpPr>
          <p:cNvPr id="23" name="bar2"/>
          <p:cNvSpPr txBox="1"/>
          <p:nvPr/>
        </p:nvSpPr>
        <p:spPr>
          <a:xfrm>
            <a:off x="10332720" y="2011680"/>
            <a:ext cx="1298448" cy="457200"/>
          </a:xfrm>
          <a:prstGeom prst="roundRect">
            <a:avLst>
              <a:gd name="adj" fmla="val 50000"/>
            </a:avLst>
          </a:prstGeom>
          <a:solidFill>
            <a:schemeClr val="accent5">
              <a:alpha val="22000"/>
            </a:schemeClr>
          </a:solidFill>
          <a:ln w="9525">
            <a:solidFill>
              <a:schemeClr val="accent5">
                <a:alpha val="70000"/>
              </a:schemeClr>
            </a:solidFill>
          </a:ln>
        </p:spPr>
        <p:txBody>
          <a:bodyPr wrap="square" lIns="25400" tIns="50800" rIns="50800" bIns="25400" rtlCol="0" anchor="ctr"/>
          <a:lstStyle/>
          <a:p>
            <a:pPr algn="ctr" indent="0" marL="0">
              <a:buNone/>
            </a:pPr>
            <a:r>
              <a:rPr lang="en-US" sz="1200" b="1" dirty="0">
                <a:solidFill>
                  <a:schemeClr val="bg1"/>
                </a:solidFill>
              </a:rPr>
              <a:t>Cancelled: 0</a:t>
            </a:r>
            <a:endParaRPr lang="en-US" sz="1200" dirty="0"/>
          </a:p>
        </p:txBody>
      </p:sp>
      <p:sp>
        <p:nvSpPr>
          <p:cNvPr id="24" name="ds0c"/>
          <p:cNvSpPr/>
          <p:nvPr/>
        </p:nvSpPr>
        <p:spPr>
          <a:xfrm>
            <a:off x="7589520" y="274320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25" name="ds0v"/>
          <p:cNvSpPr txBox="1"/>
          <p:nvPr/>
        </p:nvSpPr>
        <p:spPr>
          <a:xfrm>
            <a:off x="7726680" y="2926080"/>
            <a:ext cx="1737360" cy="640080"/>
          </a:xfrm>
          <a:prstGeom prst="rect">
            <a:avLst/>
          </a:prstGeom>
          <a:noFill/>
          <a:ln/>
        </p:spPr>
        <p:txBody>
          <a:bodyPr wrap="square" lIns="0" tIns="0" rIns="0" bIns="0" rtlCol="0" anchor="t"/>
          <a:lstStyle/>
          <a:p>
            <a:pPr algn="l" indent="0" marL="0">
              <a:buNone/>
            </a:pPr>
            <a:r>
              <a:rPr lang="en-US" sz="2800" b="1" dirty="0">
                <a:solidFill>
                  <a:schemeClr val="accent1"/>
                </a:solidFill>
                <a:latin typeface="+mj-lt" pitchFamily="34" charset="0"/>
                <a:ea typeface="+mj-lt" pitchFamily="34" charset="-122"/>
                <a:cs typeface="+mj-lt" pitchFamily="34" charset="-120"/>
              </a:rPr>
              <a:t>66 of 133</a:t>
            </a:r>
            <a:endParaRPr lang="en-US" sz="2800" dirty="0"/>
          </a:p>
        </p:txBody>
      </p:sp>
      <p:sp>
        <p:nvSpPr>
          <p:cNvPr id="26" name="ds0l"/>
          <p:cNvSpPr txBox="1"/>
          <p:nvPr/>
        </p:nvSpPr>
        <p:spPr>
          <a:xfrm>
            <a:off x="7726680" y="361188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flights carry delay data</a:t>
            </a:r>
            <a:endParaRPr lang="en-US" sz="1300" dirty="0"/>
          </a:p>
        </p:txBody>
      </p:sp>
      <p:sp>
        <p:nvSpPr>
          <p:cNvPr id="27" name="ds1c"/>
          <p:cNvSpPr/>
          <p:nvPr/>
        </p:nvSpPr>
        <p:spPr>
          <a:xfrm>
            <a:off x="9646920" y="274320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28" name="ds1v"/>
          <p:cNvSpPr txBox="1"/>
          <p:nvPr/>
        </p:nvSpPr>
        <p:spPr>
          <a:xfrm>
            <a:off x="9784080" y="2926080"/>
            <a:ext cx="1737360" cy="640080"/>
          </a:xfrm>
          <a:prstGeom prst="rect">
            <a:avLst/>
          </a:prstGeom>
          <a:noFill/>
          <a:ln/>
        </p:spPr>
        <p:txBody>
          <a:bodyPr wrap="square" lIns="0" tIns="0" rIns="0" bIns="0" rtlCol="0" anchor="t"/>
          <a:lstStyle/>
          <a:p>
            <a:pPr algn="l" indent="0" marL="0">
              <a:buNone/>
            </a:pPr>
            <a:r>
              <a:rPr lang="en-US" sz="2800" b="1" dirty="0">
                <a:solidFill>
                  <a:schemeClr val="accent3"/>
                </a:solidFill>
                <a:latin typeface="+mj-lt" pitchFamily="34" charset="0"/>
                <a:ea typeface="+mj-lt" pitchFamily="34" charset="-122"/>
                <a:cs typeface="+mj-lt" pitchFamily="34" charset="-120"/>
              </a:rPr>
              <a:t>6.8%</a:t>
            </a:r>
            <a:endParaRPr lang="en-US" sz="2800" dirty="0"/>
          </a:p>
        </p:txBody>
      </p:sp>
      <p:sp>
        <p:nvSpPr>
          <p:cNvPr id="29" name="ds1l"/>
          <p:cNvSpPr txBox="1"/>
          <p:nvPr/>
        </p:nvSpPr>
        <p:spPr>
          <a:xfrm>
            <a:off x="9784080" y="361188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delayed (9 flights)</a:t>
            </a:r>
            <a:endParaRPr lang="en-US" sz="1300" dirty="0"/>
          </a:p>
        </p:txBody>
      </p:sp>
      <p:sp>
        <p:nvSpPr>
          <p:cNvPr id="30" name="ds2c"/>
          <p:cNvSpPr/>
          <p:nvPr/>
        </p:nvSpPr>
        <p:spPr>
          <a:xfrm>
            <a:off x="7589520" y="443484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31" name="ds2v"/>
          <p:cNvSpPr txBox="1"/>
          <p:nvPr/>
        </p:nvSpPr>
        <p:spPr>
          <a:xfrm>
            <a:off x="7726680" y="4617720"/>
            <a:ext cx="1737360" cy="640080"/>
          </a:xfrm>
          <a:prstGeom prst="rect">
            <a:avLst/>
          </a:prstGeom>
          <a:noFill/>
          <a:ln/>
        </p:spPr>
        <p:txBody>
          <a:bodyPr wrap="square" lIns="0" tIns="0" rIns="0" bIns="0" rtlCol="0" anchor="t"/>
          <a:lstStyle/>
          <a:p>
            <a:pPr algn="l" indent="0" marL="0">
              <a:buNone/>
            </a:pPr>
            <a:r>
              <a:rPr lang="en-US" sz="2800" b="1" dirty="0">
                <a:solidFill>
                  <a:schemeClr val="accent2"/>
                </a:solidFill>
                <a:latin typeface="+mj-lt" pitchFamily="34" charset="0"/>
                <a:ea typeface="+mj-lt" pitchFamily="34" charset="-122"/>
                <a:cs typeface="+mj-lt" pitchFamily="34" charset="-120"/>
              </a:rPr>
              <a:t>2.5 min</a:t>
            </a:r>
            <a:endParaRPr lang="en-US" sz="2800" dirty="0"/>
          </a:p>
        </p:txBody>
      </p:sp>
      <p:sp>
        <p:nvSpPr>
          <p:cNvPr id="32" name="ds2l"/>
          <p:cNvSpPr txBox="1"/>
          <p:nvPr/>
        </p:nvSpPr>
        <p:spPr>
          <a:xfrm>
            <a:off x="7726680" y="530352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average delay, median 0</a:t>
            </a:r>
            <a:endParaRPr lang="en-US" sz="1300" dirty="0"/>
          </a:p>
        </p:txBody>
      </p:sp>
      <p:sp>
        <p:nvSpPr>
          <p:cNvPr id="33" name="ds3c"/>
          <p:cNvSpPr/>
          <p:nvPr/>
        </p:nvSpPr>
        <p:spPr>
          <a:xfrm>
            <a:off x="9646920" y="4434840"/>
            <a:ext cx="1965960" cy="1554480"/>
          </a:xfrm>
          <a:prstGeom prst="roundRect">
            <a:avLst>
              <a:gd name="adj" fmla="val 7059"/>
            </a:avLst>
          </a:prstGeom>
          <a:solidFill>
            <a:schemeClr val="bg1">
              <a:alpha val="9000"/>
            </a:schemeClr>
          </a:solidFill>
          <a:ln w="9525">
            <a:solidFill>
              <a:schemeClr val="bg1">
                <a:alpha val="22000"/>
              </a:schemeClr>
            </a:solidFill>
            <a:prstDash val="solid"/>
          </a:ln>
        </p:spPr>
      </p:sp>
      <p:sp>
        <p:nvSpPr>
          <p:cNvPr id="34" name="ds3v"/>
          <p:cNvSpPr txBox="1"/>
          <p:nvPr/>
        </p:nvSpPr>
        <p:spPr>
          <a:xfrm>
            <a:off x="9784080" y="4617720"/>
            <a:ext cx="1737360" cy="640080"/>
          </a:xfrm>
          <a:prstGeom prst="rect">
            <a:avLst/>
          </a:prstGeom>
          <a:noFill/>
          <a:ln/>
        </p:spPr>
        <p:txBody>
          <a:bodyPr wrap="square" lIns="0" tIns="0" rIns="0" bIns="0" rtlCol="0" anchor="t"/>
          <a:lstStyle/>
          <a:p>
            <a:pPr algn="l" indent="0" marL="0">
              <a:buNone/>
            </a:pPr>
            <a:r>
              <a:rPr lang="en-US" sz="2800" b="1" dirty="0">
                <a:solidFill>
                  <a:schemeClr val="accent5"/>
                </a:solidFill>
                <a:latin typeface="+mj-lt" pitchFamily="34" charset="0"/>
                <a:ea typeface="+mj-lt" pitchFamily="34" charset="-122"/>
                <a:cs typeface="+mj-lt" pitchFamily="34" charset="-120"/>
              </a:rPr>
              <a:t>65 min</a:t>
            </a:r>
            <a:endParaRPr lang="en-US" sz="2800" dirty="0"/>
          </a:p>
        </p:txBody>
      </p:sp>
      <p:sp>
        <p:nvSpPr>
          <p:cNvPr id="35" name="ds3l"/>
          <p:cNvSpPr txBox="1"/>
          <p:nvPr/>
        </p:nvSpPr>
        <p:spPr>
          <a:xfrm>
            <a:off x="9784080" y="5303520"/>
            <a:ext cx="1737360" cy="594360"/>
          </a:xfrm>
          <a:prstGeom prst="rect">
            <a:avLst/>
          </a:prstGeom>
          <a:noFill/>
          <a:ln/>
        </p:spPr>
        <p:txBody>
          <a:bodyPr wrap="square" lIns="0" tIns="0" rIns="0" bIns="0" rtlCol="0" anchor="t"/>
          <a:lstStyle/>
          <a:p>
            <a:pPr algn="l" indent="0" marL="0">
              <a:buNone/>
            </a:pPr>
            <a:r>
              <a:rPr lang="en-US" sz="1300" dirty="0">
                <a:solidFill>
                  <a:schemeClr val="bg2"/>
                </a:solidFill>
              </a:rPr>
              <a:t>worst reported delay</a:t>
            </a:r>
            <a:endParaRPr lang="en-US" sz="1300" dirty="0"/>
          </a:p>
        </p:txBody>
      </p:sp>
      <p:sp>
        <p:nvSpPr>
          <p:cNvPr id="36" name="track"/>
          <p:cNvSpPr/>
          <p:nvPr/>
        </p:nvSpPr>
        <p:spPr>
          <a:xfrm>
            <a:off x="3383280" y="6510528"/>
            <a:ext cx="7132320" cy="0"/>
          </a:xfrm>
          <a:prstGeom prst="line">
            <a:avLst/>
          </a:prstGeom>
          <a:noFill/>
          <a:ln w="12700">
            <a:solidFill>
              <a:schemeClr val="bg2">
                <a:alpha val="45000"/>
              </a:schemeClr>
            </a:solidFill>
            <a:prstDash val="dash"/>
          </a:ln>
        </p:spPr>
      </p:sp>
      <p:sp>
        <p:nvSpPr>
          <p:cNvPr id="37" name="progress"/>
          <p:cNvSpPr/>
          <p:nvPr/>
        </p:nvSpPr>
        <p:spPr>
          <a:xfrm>
            <a:off x="3383280" y="6510528"/>
            <a:ext cx="4672899" cy="0"/>
          </a:xfrm>
          <a:prstGeom prst="line">
            <a:avLst/>
          </a:prstGeom>
          <a:noFill/>
          <a:ln w="28575">
            <a:solidFill>
              <a:schemeClr val="accent2"/>
            </a:solidFill>
            <a:prstDash val="solid"/>
          </a:ln>
        </p:spPr>
      </p:sp>
      <p:sp>
        <p:nvSpPr>
          <p:cNvPr id="38" name="wp0"/>
          <p:cNvSpPr/>
          <p:nvPr/>
        </p:nvSpPr>
        <p:spPr>
          <a:xfrm>
            <a:off x="3834016" y="6469380"/>
            <a:ext cx="82296" cy="82296"/>
          </a:xfrm>
          <a:prstGeom prst="ellipse">
            <a:avLst/>
          </a:prstGeom>
          <a:solidFill>
            <a:schemeClr val="accent2"/>
          </a:solidFill>
          <a:ln/>
        </p:spPr>
      </p:sp>
      <p:sp>
        <p:nvSpPr>
          <p:cNvPr id="39" name="wp1"/>
          <p:cNvSpPr/>
          <p:nvPr/>
        </p:nvSpPr>
        <p:spPr>
          <a:xfrm>
            <a:off x="4817784" y="6469380"/>
            <a:ext cx="82296" cy="82296"/>
          </a:xfrm>
          <a:prstGeom prst="ellipse">
            <a:avLst/>
          </a:prstGeom>
          <a:solidFill>
            <a:schemeClr val="accent2"/>
          </a:solidFill>
          <a:ln/>
        </p:spPr>
      </p:sp>
      <p:sp>
        <p:nvSpPr>
          <p:cNvPr id="40" name="wp2"/>
          <p:cNvSpPr/>
          <p:nvPr/>
        </p:nvSpPr>
        <p:spPr>
          <a:xfrm>
            <a:off x="7277205" y="6469380"/>
            <a:ext cx="82296" cy="82296"/>
          </a:xfrm>
          <a:prstGeom prst="ellipse">
            <a:avLst/>
          </a:prstGeom>
          <a:solidFill>
            <a:schemeClr val="accent2"/>
          </a:solidFill>
          <a:ln/>
        </p:spPr>
      </p:sp>
      <p:sp>
        <p:nvSpPr>
          <p:cNvPr id="41" name="wp3"/>
          <p:cNvSpPr/>
          <p:nvPr/>
        </p:nvSpPr>
        <p:spPr>
          <a:xfrm>
            <a:off x="8506915" y="6469380"/>
            <a:ext cx="82296" cy="82296"/>
          </a:xfrm>
          <a:prstGeom prst="ellipse">
            <a:avLst/>
          </a:prstGeom>
          <a:solidFill>
            <a:schemeClr val="bg2">
              <a:alpha val="60000"/>
            </a:schemeClr>
          </a:solidFill>
          <a:ln/>
        </p:spPr>
      </p:sp>
      <p:sp>
        <p:nvSpPr>
          <p:cNvPr id="42" name="wp4"/>
          <p:cNvSpPr/>
          <p:nvPr/>
        </p:nvSpPr>
        <p:spPr>
          <a:xfrm>
            <a:off x="9982568" y="6469380"/>
            <a:ext cx="82296" cy="82296"/>
          </a:xfrm>
          <a:prstGeom prst="ellipse">
            <a:avLst/>
          </a:prstGeom>
          <a:solidFill>
            <a:schemeClr val="bg2">
              <a:alpha val="60000"/>
            </a:schemeClr>
          </a:solidFill>
          <a:ln/>
        </p:spPr>
      </p:sp>
      <p:sp>
        <p:nvSpPr>
          <p:cNvPr id="43" name="progress_ext"/>
          <p:cNvSpPr/>
          <p:nvPr/>
        </p:nvSpPr>
        <p:spPr>
          <a:xfrm>
            <a:off x="8056179" y="6510528"/>
            <a:ext cx="245942" cy="0"/>
          </a:xfrm>
          <a:prstGeom prst="line">
            <a:avLst/>
          </a:prstGeom>
          <a:noFill/>
          <a:ln w="28575">
            <a:solidFill>
              <a:schemeClr val="accent2"/>
            </a:solidFill>
            <a:prstDash val="solid"/>
          </a:ln>
        </p:spPr>
      </p:sp>
      <p:pic>
        <p:nvPicPr>
          <p:cNvPr id="44" name="!!tracker" descr="Progress marker">    </p:cNvPr>
          <p:cNvPicPr>
            <a:picLocks noChangeAspect="1"/>
          </p:cNvPicPr>
          <p:nvPr/>
        </p:nvPicPr>
        <p:blipFill>
          <a:blip r:embed="rId1"/>
          <a:stretch>
            <a:fillRect/>
          </a:stretch>
        </p:blipFill>
        <p:spPr>
          <a:xfrm>
            <a:off x="7873299"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21</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500"/>
                                        <p:tgtEl>
                                          <p:spTgt spid="6"/>
                                        </p:tgtEl>
                                      </p:cBhvr>
                                    </p:animEffect>
                                  </p:childTnLst>
                                </p:cTn>
                              </p:par>
                              <p:par>
                                <p:cTn id="16" presetID="22" presetClass="entr" presetSubtype="8" fill="hold" grpId="0" nodeType="withEffect">
                                  <p:stCondLst>
                                    <p:cond delay="200"/>
                                  </p:stCondLst>
                                  <p:childTnLst>
                                    <p:set>
                                      <p:cBhvr>
                                        <p:cTn id="17" dur="1" fill="hold">
                                          <p:stCondLst>
                                            <p:cond delay="0"/>
                                          </p:stCondLst>
                                        </p:cTn>
                                        <p:tgtEl>
                                          <p:spTgt spid="7"/>
                                        </p:tgtEl>
                                        <p:attrNameLst>
                                          <p:attrName>style.visibility</p:attrName>
                                        </p:attrNameLst>
                                      </p:cBhvr>
                                      <p:to>
                                        <p:strVal val="visible"/>
                                      </p:to>
                                    </p:set>
                                    <p:animEffect transition="in" filter="wipe(left)">
                                      <p:cBhvr>
                                        <p:cTn id="18" dur="500"/>
                                        <p:tgtEl>
                                          <p:spTgt spid="7"/>
                                        </p:tgtEl>
                                      </p:cBhvr>
                                    </p:animEffect>
                                  </p:childTnLst>
                                </p:cTn>
                              </p:par>
                              <p:par>
                                <p:cTn id="19" presetID="22" presetClass="entr" presetSubtype="8" fill="hold" grpId="0" nodeType="withEffect">
                                  <p:stCondLst>
                                    <p:cond delay="550"/>
                                  </p:stCondLst>
                                  <p:childTnLst>
                                    <p:set>
                                      <p:cBhvr>
                                        <p:cTn id="20" dur="1" fill="hold">
                                          <p:stCondLst>
                                            <p:cond delay="0"/>
                                          </p:stCondLst>
                                        </p:cTn>
                                        <p:tgtEl>
                                          <p:spTgt spid="8"/>
                                        </p:tgtEl>
                                        <p:attrNameLst>
                                          <p:attrName>style.visibility</p:attrName>
                                        </p:attrNameLst>
                                      </p:cBhvr>
                                      <p:to>
                                        <p:strVal val="visible"/>
                                      </p:to>
                                    </p:set>
                                    <p:animEffect transition="in" filter="wipe(left)">
                                      <p:cBhvr>
                                        <p:cTn id="21" dur="500"/>
                                        <p:tgtEl>
                                          <p:spTgt spid="8"/>
                                        </p:tgtEl>
                                      </p:cBhvr>
                                    </p:animEffect>
                                  </p:childTnLst>
                                </p:cTn>
                              </p:par>
                              <p:par>
                                <p:cTn id="22" presetID="22" presetClass="entr" presetSubtype="8" fill="hold" grpId="0" nodeType="withEffect">
                                  <p:stCondLst>
                                    <p:cond delay="550"/>
                                  </p:stCondLst>
                                  <p:childTnLst>
                                    <p:set>
                                      <p:cBhvr>
                                        <p:cTn id="23" dur="1" fill="hold">
                                          <p:stCondLst>
                                            <p:cond delay="0"/>
                                          </p:stCondLst>
                                        </p:cTn>
                                        <p:tgtEl>
                                          <p:spTgt spid="9"/>
                                        </p:tgtEl>
                                        <p:attrNameLst>
                                          <p:attrName>style.visibility</p:attrName>
                                        </p:attrNameLst>
                                      </p:cBhvr>
                                      <p:to>
                                        <p:strVal val="visible"/>
                                      </p:to>
                                    </p:set>
                                    <p:animEffect transition="in" filter="wipe(left)">
                                      <p:cBhvr>
                                        <p:cTn id="24" dur="500"/>
                                        <p:tgtEl>
                                          <p:spTgt spid="9"/>
                                        </p:tgtEl>
                                      </p:cBhvr>
                                    </p:animEffect>
                                  </p:childTnLst>
                                </p:cTn>
                              </p:par>
                              <p:par>
                                <p:cTn id="25" presetID="22" presetClass="entr" presetSubtype="8" fill="hold" grpId="0" nodeType="withEffect">
                                  <p:stCondLst>
                                    <p:cond delay="90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500"/>
                                        <p:tgtEl>
                                          <p:spTgt spid="10"/>
                                        </p:tgtEl>
                                      </p:cBhvr>
                                    </p:animEffect>
                                  </p:childTnLst>
                                </p:cTn>
                              </p:par>
                              <p:par>
                                <p:cTn id="28" presetID="22" presetClass="entr" presetSubtype="8" fill="hold" grpId="0" nodeType="withEffect">
                                  <p:stCondLst>
                                    <p:cond delay="90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par>
                                <p:cTn id="31" presetID="22" presetClass="entr" presetSubtype="8" fill="hold" grpId="0" nodeType="withEffect">
                                  <p:stCondLst>
                                    <p:cond delay="1250"/>
                                  </p:stCondLst>
                                  <p:childTnLst>
                                    <p:set>
                                      <p:cBhvr>
                                        <p:cTn id="32" dur="1" fill="hold">
                                          <p:stCondLst>
                                            <p:cond delay="0"/>
                                          </p:stCondLst>
                                        </p:cTn>
                                        <p:tgtEl>
                                          <p:spTgt spid="12"/>
                                        </p:tgtEl>
                                        <p:attrNameLst>
                                          <p:attrName>style.visibility</p:attrName>
                                        </p:attrNameLst>
                                      </p:cBhvr>
                                      <p:to>
                                        <p:strVal val="visible"/>
                                      </p:to>
                                    </p:set>
                                    <p:animEffect transition="in" filter="wipe(left)">
                                      <p:cBhvr>
                                        <p:cTn id="33" dur="500"/>
                                        <p:tgtEl>
                                          <p:spTgt spid="12"/>
                                        </p:tgtEl>
                                      </p:cBhvr>
                                    </p:animEffect>
                                  </p:childTnLst>
                                </p:cTn>
                              </p:par>
                              <p:par>
                                <p:cTn id="34" presetID="22" presetClass="entr" presetSubtype="8" fill="hold" grpId="0" nodeType="withEffect">
                                  <p:stCondLst>
                                    <p:cond delay="1250"/>
                                  </p:stCondLst>
                                  <p:childTnLst>
                                    <p:set>
                                      <p:cBhvr>
                                        <p:cTn id="35" dur="1" fill="hold">
                                          <p:stCondLst>
                                            <p:cond delay="0"/>
                                          </p:stCondLst>
                                        </p:cTn>
                                        <p:tgtEl>
                                          <p:spTgt spid="13"/>
                                        </p:tgtEl>
                                        <p:attrNameLst>
                                          <p:attrName>style.visibility</p:attrName>
                                        </p:attrNameLst>
                                      </p:cBhvr>
                                      <p:to>
                                        <p:strVal val="visible"/>
                                      </p:to>
                                    </p:set>
                                    <p:animEffect transition="in" filter="wipe(left)">
                                      <p:cBhvr>
                                        <p:cTn id="36" dur="500"/>
                                        <p:tgtEl>
                                          <p:spTgt spid="13"/>
                                        </p:tgtEl>
                                      </p:cBhvr>
                                    </p:animEffect>
                                  </p:childTnLst>
                                </p:cTn>
                              </p:par>
                              <p:par>
                                <p:cTn id="37" presetID="22" presetClass="entr" presetSubtype="8" fill="hold" grpId="0" nodeType="withEffect">
                                  <p:stCondLst>
                                    <p:cond delay="1600"/>
                                  </p:stCondLst>
                                  <p:childTnLst>
                                    <p:set>
                                      <p:cBhvr>
                                        <p:cTn id="38" dur="1" fill="hold">
                                          <p:stCondLst>
                                            <p:cond delay="0"/>
                                          </p:stCondLst>
                                        </p:cTn>
                                        <p:tgtEl>
                                          <p:spTgt spid="14"/>
                                        </p:tgtEl>
                                        <p:attrNameLst>
                                          <p:attrName>style.visibility</p:attrName>
                                        </p:attrNameLst>
                                      </p:cBhvr>
                                      <p:to>
                                        <p:strVal val="visible"/>
                                      </p:to>
                                    </p:set>
                                    <p:animEffect transition="in" filter="wipe(left)">
                                      <p:cBhvr>
                                        <p:cTn id="39" dur="500"/>
                                        <p:tgtEl>
                                          <p:spTgt spid="14"/>
                                        </p:tgtEl>
                                      </p:cBhvr>
                                    </p:animEffect>
                                  </p:childTnLst>
                                </p:cTn>
                              </p:par>
                              <p:par>
                                <p:cTn id="40" presetID="22" presetClass="entr" presetSubtype="8" fill="hold" grpId="0" nodeType="withEffect">
                                  <p:stCondLst>
                                    <p:cond delay="160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par>
                                <p:cTn id="43" presetID="22" presetClass="entr" presetSubtype="8" fill="hold" grpId="0" nodeType="withEffect">
                                  <p:stCondLst>
                                    <p:cond delay="1950"/>
                                  </p:stCondLst>
                                  <p:childTnLst>
                                    <p:set>
                                      <p:cBhvr>
                                        <p:cTn id="44" dur="1" fill="hold">
                                          <p:stCondLst>
                                            <p:cond delay="0"/>
                                          </p:stCondLst>
                                        </p:cTn>
                                        <p:tgtEl>
                                          <p:spTgt spid="16"/>
                                        </p:tgtEl>
                                        <p:attrNameLst>
                                          <p:attrName>style.visibility</p:attrName>
                                        </p:attrNameLst>
                                      </p:cBhvr>
                                      <p:to>
                                        <p:strVal val="visible"/>
                                      </p:to>
                                    </p:set>
                                    <p:animEffect transition="in" filter="wipe(left)">
                                      <p:cBhvr>
                                        <p:cTn id="45" dur="500"/>
                                        <p:tgtEl>
                                          <p:spTgt spid="16"/>
                                        </p:tgtEl>
                                      </p:cBhvr>
                                    </p:animEffect>
                                  </p:childTnLst>
                                </p:cTn>
                              </p:par>
                              <p:par>
                                <p:cTn id="46" presetID="22" presetClass="entr" presetSubtype="8" fill="hold" grpId="0" nodeType="withEffect">
                                  <p:stCondLst>
                                    <p:cond delay="1950"/>
                                  </p:stCondLst>
                                  <p:childTnLst>
                                    <p:set>
                                      <p:cBhvr>
                                        <p:cTn id="47" dur="1" fill="hold">
                                          <p:stCondLst>
                                            <p:cond delay="0"/>
                                          </p:stCondLst>
                                        </p:cTn>
                                        <p:tgtEl>
                                          <p:spTgt spid="17"/>
                                        </p:tgtEl>
                                        <p:attrNameLst>
                                          <p:attrName>style.visibility</p:attrName>
                                        </p:attrNameLst>
                                      </p:cBhvr>
                                      <p:to>
                                        <p:strVal val="visible"/>
                                      </p:to>
                                    </p:set>
                                    <p:animEffect transition="in" filter="wipe(left)">
                                      <p:cBhvr>
                                        <p:cTn id="48" dur="500"/>
                                        <p:tgtEl>
                                          <p:spTgt spid="17"/>
                                        </p:tgtEl>
                                      </p:cBhvr>
                                    </p:animEffect>
                                  </p:childTnLst>
                                </p:cTn>
                              </p:par>
                              <p:par>
                                <p:cTn id="49" presetID="22" presetClass="entr" presetSubtype="8" fill="hold" grpId="0" nodeType="withEffect">
                                  <p:stCondLst>
                                    <p:cond delay="2300"/>
                                  </p:stCondLst>
                                  <p:childTnLst>
                                    <p:set>
                                      <p:cBhvr>
                                        <p:cTn id="50" dur="1" fill="hold">
                                          <p:stCondLst>
                                            <p:cond delay="0"/>
                                          </p:stCondLst>
                                        </p:cTn>
                                        <p:tgtEl>
                                          <p:spTgt spid="18"/>
                                        </p:tgtEl>
                                        <p:attrNameLst>
                                          <p:attrName>style.visibility</p:attrName>
                                        </p:attrNameLst>
                                      </p:cBhvr>
                                      <p:to>
                                        <p:strVal val="visible"/>
                                      </p:to>
                                    </p:set>
                                    <p:animEffect transition="in" filter="wipe(left)">
                                      <p:cBhvr>
                                        <p:cTn id="51" dur="500"/>
                                        <p:tgtEl>
                                          <p:spTgt spid="18"/>
                                        </p:tgtEl>
                                      </p:cBhvr>
                                    </p:animEffect>
                                  </p:childTnLst>
                                </p:cTn>
                              </p:par>
                              <p:par>
                                <p:cTn id="52" presetID="22" presetClass="entr" presetSubtype="8" fill="hold" grpId="0" nodeType="withEffect">
                                  <p:stCondLst>
                                    <p:cond delay="2300"/>
                                  </p:stCondLst>
                                  <p:childTnLst>
                                    <p:set>
                                      <p:cBhvr>
                                        <p:cTn id="53" dur="1" fill="hold">
                                          <p:stCondLst>
                                            <p:cond delay="0"/>
                                          </p:stCondLst>
                                        </p:cTn>
                                        <p:tgtEl>
                                          <p:spTgt spid="19"/>
                                        </p:tgtEl>
                                        <p:attrNameLst>
                                          <p:attrName>style.visibility</p:attrName>
                                        </p:attrNameLst>
                                      </p:cBhvr>
                                      <p:to>
                                        <p:strVal val="visible"/>
                                      </p:to>
                                    </p:set>
                                    <p:animEffect transition="in" filter="wipe(left)">
                                      <p:cBhvr>
                                        <p:cTn id="54" dur="5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500"/>
                                        <p:tgtEl>
                                          <p:spTgt spid="20"/>
                                        </p:tgtEl>
                                      </p:cBhvr>
                                    </p:animEffect>
                                  </p:childTnLst>
                                </p:cTn>
                              </p:par>
                              <p:par>
                                <p:cTn id="60" presetID="10" presetClass="entr" presetSubtype="0" fill="hold" grpId="0" nodeType="withEffect">
                                  <p:stCondLst>
                                    <p:cond delay="20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500"/>
                                        <p:tgtEl>
                                          <p:spTgt spid="21"/>
                                        </p:tgtEl>
                                      </p:cBhvr>
                                    </p:animEffect>
                                  </p:childTnLst>
                                </p:cTn>
                              </p:par>
                              <p:par>
                                <p:cTn id="63" presetID="10" presetClass="entr" presetSubtype="0" fill="hold" grpId="0" nodeType="withEffect">
                                  <p:stCondLst>
                                    <p:cond delay="40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500"/>
                                        <p:tgtEl>
                                          <p:spTgt spid="22"/>
                                        </p:tgtEl>
                                      </p:cBhvr>
                                    </p:animEffect>
                                  </p:childTnLst>
                                </p:cTn>
                              </p:par>
                              <p:par>
                                <p:cTn id="66" presetID="10" presetClass="entr" presetSubtype="0" fill="hold" grpId="0" nodeType="withEffect">
                                  <p:stCondLst>
                                    <p:cond delay="600"/>
                                  </p:stCondLst>
                                  <p:childTnLst>
                                    <p:set>
                                      <p:cBhvr>
                                        <p:cTn id="67" dur="1" fill="hold">
                                          <p:stCondLst>
                                            <p:cond delay="0"/>
                                          </p:stCondLst>
                                        </p:cTn>
                                        <p:tgtEl>
                                          <p:spTgt spid="23"/>
                                        </p:tgtEl>
                                        <p:attrNameLst>
                                          <p:attrName>style.visibility</p:attrName>
                                        </p:attrNameLst>
                                      </p:cBhvr>
                                      <p:to>
                                        <p:strVal val="visible"/>
                                      </p:to>
                                    </p:set>
                                    <p:animEffect transition="in" filter="fade">
                                      <p:cBhvr>
                                        <p:cTn id="68" dur="500"/>
                                        <p:tgtEl>
                                          <p:spTgt spid="23"/>
                                        </p:tgtEl>
                                      </p:cBhvr>
                                    </p:animEffect>
                                  </p:childTnLst>
                                </p:cTn>
                              </p:par>
                              <p:par>
                                <p:cTn id="69" presetID="53" presetClass="entr" presetSubtype="16" fill="hold" grpId="0" nodeType="withEffect">
                                  <p:stCondLst>
                                    <p:cond delay="600"/>
                                  </p:stCondLst>
                                  <p:childTnLst>
                                    <p:set>
                                      <p:cBhvr>
                                        <p:cTn id="70" dur="1" fill="hold">
                                          <p:stCondLst>
                                            <p:cond delay="0"/>
                                          </p:stCondLst>
                                        </p:cTn>
                                        <p:tgtEl>
                                          <p:spTgt spid="24"/>
                                        </p:tgtEl>
                                        <p:attrNameLst>
                                          <p:attrName>style.visibility</p:attrName>
                                        </p:attrNameLst>
                                      </p:cBhvr>
                                      <p:to>
                                        <p:strVal val="visible"/>
                                      </p:to>
                                    </p:set>
                                    <p:anim calcmode="lin" valueType="num">
                                      <p:cBhvr additive="base">
                                        <p:cTn id="71" dur="500" fill="hold"/>
                                        <p:tgtEl>
                                          <p:spTgt spid="24"/>
                                        </p:tgtEl>
                                        <p:attrNameLst>
                                          <p:attrName>ppt_w</p:attrName>
                                        </p:attrNameLst>
                                      </p:cBhvr>
                                      <p:tavLst>
                                        <p:tav tm="0">
                                          <p:val>
                                            <p:fltVal val="0"/>
                                          </p:val>
                                        </p:tav>
                                        <p:tav tm="100000">
                                          <p:val>
                                            <p:strVal val="#ppt_w"/>
                                          </p:val>
                                        </p:tav>
                                      </p:tavLst>
                                    </p:anim>
                                    <p:anim calcmode="lin" valueType="num">
                                      <p:cBhvr additive="base">
                                        <p:cTn id="72" dur="500" fill="hold"/>
                                        <p:tgtEl>
                                          <p:spTgt spid="24"/>
                                        </p:tgtEl>
                                        <p:attrNameLst>
                                          <p:attrName>ppt_h</p:attrName>
                                        </p:attrNameLst>
                                      </p:cBhvr>
                                      <p:tavLst>
                                        <p:tav tm="0">
                                          <p:val>
                                            <p:fltVal val="0"/>
                                          </p:val>
                                        </p:tav>
                                        <p:tav tm="100000">
                                          <p:val>
                                            <p:strVal val="#ppt_h"/>
                                          </p:val>
                                        </p:tav>
                                      </p:tavLst>
                                    </p:anim>
                                    <p:animEffect transition="in" filter="fade">
                                      <p:cBhvr>
                                        <p:cTn id="73" dur="500"/>
                                        <p:tgtEl>
                                          <p:spTgt spid="24"/>
                                        </p:tgtEl>
                                      </p:cBhvr>
                                    </p:animEffect>
                                  </p:childTnLst>
                                </p:cTn>
                              </p:par>
                              <p:par>
                                <p:cTn id="74" presetID="53" presetClass="entr" presetSubtype="16" fill="hold" grpId="0" nodeType="withEffect">
                                  <p:stCondLst>
                                    <p:cond delay="600"/>
                                  </p:stCondLst>
                                  <p:childTnLst>
                                    <p:set>
                                      <p:cBhvr>
                                        <p:cTn id="75" dur="1" fill="hold">
                                          <p:stCondLst>
                                            <p:cond delay="0"/>
                                          </p:stCondLst>
                                        </p:cTn>
                                        <p:tgtEl>
                                          <p:spTgt spid="25"/>
                                        </p:tgtEl>
                                        <p:attrNameLst>
                                          <p:attrName>style.visibility</p:attrName>
                                        </p:attrNameLst>
                                      </p:cBhvr>
                                      <p:to>
                                        <p:strVal val="visible"/>
                                      </p:to>
                                    </p:set>
                                    <p:anim calcmode="lin" valueType="num">
                                      <p:cBhvr additive="base">
                                        <p:cTn id="76" dur="500" fill="hold"/>
                                        <p:tgtEl>
                                          <p:spTgt spid="25"/>
                                        </p:tgtEl>
                                        <p:attrNameLst>
                                          <p:attrName>ppt_w</p:attrName>
                                        </p:attrNameLst>
                                      </p:cBhvr>
                                      <p:tavLst>
                                        <p:tav tm="0">
                                          <p:val>
                                            <p:fltVal val="0"/>
                                          </p:val>
                                        </p:tav>
                                        <p:tav tm="100000">
                                          <p:val>
                                            <p:strVal val="#ppt_w"/>
                                          </p:val>
                                        </p:tav>
                                      </p:tavLst>
                                    </p:anim>
                                    <p:anim calcmode="lin" valueType="num">
                                      <p:cBhvr additive="base">
                                        <p:cTn id="77" dur="500" fill="hold"/>
                                        <p:tgtEl>
                                          <p:spTgt spid="25"/>
                                        </p:tgtEl>
                                        <p:attrNameLst>
                                          <p:attrName>ppt_h</p:attrName>
                                        </p:attrNameLst>
                                      </p:cBhvr>
                                      <p:tavLst>
                                        <p:tav tm="0">
                                          <p:val>
                                            <p:fltVal val="0"/>
                                          </p:val>
                                        </p:tav>
                                        <p:tav tm="100000">
                                          <p:val>
                                            <p:strVal val="#ppt_h"/>
                                          </p:val>
                                        </p:tav>
                                      </p:tavLst>
                                    </p:anim>
                                    <p:animEffect transition="in" filter="fade">
                                      <p:cBhvr>
                                        <p:cTn id="78" dur="500"/>
                                        <p:tgtEl>
                                          <p:spTgt spid="25"/>
                                        </p:tgtEl>
                                      </p:cBhvr>
                                    </p:animEffect>
                                  </p:childTnLst>
                                </p:cTn>
                              </p:par>
                              <p:par>
                                <p:cTn id="79" presetID="53" presetClass="entr" presetSubtype="16" fill="hold" grpId="0" nodeType="withEffect">
                                  <p:stCondLst>
                                    <p:cond delay="600"/>
                                  </p:stCondLst>
                                  <p:childTnLst>
                                    <p:set>
                                      <p:cBhvr>
                                        <p:cTn id="80" dur="1" fill="hold">
                                          <p:stCondLst>
                                            <p:cond delay="0"/>
                                          </p:stCondLst>
                                        </p:cTn>
                                        <p:tgtEl>
                                          <p:spTgt spid="26"/>
                                        </p:tgtEl>
                                        <p:attrNameLst>
                                          <p:attrName>style.visibility</p:attrName>
                                        </p:attrNameLst>
                                      </p:cBhvr>
                                      <p:to>
                                        <p:strVal val="visible"/>
                                      </p:to>
                                    </p:set>
                                    <p:anim calcmode="lin" valueType="num">
                                      <p:cBhvr additive="base">
                                        <p:cTn id="81" dur="500" fill="hold"/>
                                        <p:tgtEl>
                                          <p:spTgt spid="26"/>
                                        </p:tgtEl>
                                        <p:attrNameLst>
                                          <p:attrName>ppt_w</p:attrName>
                                        </p:attrNameLst>
                                      </p:cBhvr>
                                      <p:tavLst>
                                        <p:tav tm="0">
                                          <p:val>
                                            <p:fltVal val="0"/>
                                          </p:val>
                                        </p:tav>
                                        <p:tav tm="100000">
                                          <p:val>
                                            <p:strVal val="#ppt_w"/>
                                          </p:val>
                                        </p:tav>
                                      </p:tavLst>
                                    </p:anim>
                                    <p:anim calcmode="lin" valueType="num">
                                      <p:cBhvr additive="base">
                                        <p:cTn id="82" dur="500" fill="hold"/>
                                        <p:tgtEl>
                                          <p:spTgt spid="26"/>
                                        </p:tgtEl>
                                        <p:attrNameLst>
                                          <p:attrName>ppt_h</p:attrName>
                                        </p:attrNameLst>
                                      </p:cBhvr>
                                      <p:tavLst>
                                        <p:tav tm="0">
                                          <p:val>
                                            <p:fltVal val="0"/>
                                          </p:val>
                                        </p:tav>
                                        <p:tav tm="100000">
                                          <p:val>
                                            <p:strVal val="#ppt_h"/>
                                          </p:val>
                                        </p:tav>
                                      </p:tavLst>
                                    </p:anim>
                                    <p:animEffect transition="in" filter="fade">
                                      <p:cBhvr>
                                        <p:cTn id="83" dur="500"/>
                                        <p:tgtEl>
                                          <p:spTgt spid="26"/>
                                        </p:tgtEl>
                                      </p:cBhvr>
                                    </p:animEffect>
                                  </p:childTnLst>
                                </p:cTn>
                              </p:par>
                              <p:par>
                                <p:cTn id="84" presetID="53" presetClass="entr" presetSubtype="16" fill="hold" grpId="0" nodeType="withEffect">
                                  <p:stCondLst>
                                    <p:cond delay="850"/>
                                  </p:stCondLst>
                                  <p:childTnLst>
                                    <p:set>
                                      <p:cBhvr>
                                        <p:cTn id="85" dur="1" fill="hold">
                                          <p:stCondLst>
                                            <p:cond delay="0"/>
                                          </p:stCondLst>
                                        </p:cTn>
                                        <p:tgtEl>
                                          <p:spTgt spid="27"/>
                                        </p:tgtEl>
                                        <p:attrNameLst>
                                          <p:attrName>style.visibility</p:attrName>
                                        </p:attrNameLst>
                                      </p:cBhvr>
                                      <p:to>
                                        <p:strVal val="visible"/>
                                      </p:to>
                                    </p:set>
                                    <p:anim calcmode="lin" valueType="num">
                                      <p:cBhvr additive="base">
                                        <p:cTn id="86" dur="500" fill="hold"/>
                                        <p:tgtEl>
                                          <p:spTgt spid="27"/>
                                        </p:tgtEl>
                                        <p:attrNameLst>
                                          <p:attrName>ppt_w</p:attrName>
                                        </p:attrNameLst>
                                      </p:cBhvr>
                                      <p:tavLst>
                                        <p:tav tm="0">
                                          <p:val>
                                            <p:fltVal val="0"/>
                                          </p:val>
                                        </p:tav>
                                        <p:tav tm="100000">
                                          <p:val>
                                            <p:strVal val="#ppt_w"/>
                                          </p:val>
                                        </p:tav>
                                      </p:tavLst>
                                    </p:anim>
                                    <p:anim calcmode="lin" valueType="num">
                                      <p:cBhvr additive="base">
                                        <p:cTn id="87" dur="500" fill="hold"/>
                                        <p:tgtEl>
                                          <p:spTgt spid="27"/>
                                        </p:tgtEl>
                                        <p:attrNameLst>
                                          <p:attrName>ppt_h</p:attrName>
                                        </p:attrNameLst>
                                      </p:cBhvr>
                                      <p:tavLst>
                                        <p:tav tm="0">
                                          <p:val>
                                            <p:fltVal val="0"/>
                                          </p:val>
                                        </p:tav>
                                        <p:tav tm="100000">
                                          <p:val>
                                            <p:strVal val="#ppt_h"/>
                                          </p:val>
                                        </p:tav>
                                      </p:tavLst>
                                    </p:anim>
                                    <p:animEffect transition="in" filter="fade">
                                      <p:cBhvr>
                                        <p:cTn id="88" dur="500"/>
                                        <p:tgtEl>
                                          <p:spTgt spid="27"/>
                                        </p:tgtEl>
                                      </p:cBhvr>
                                    </p:animEffect>
                                  </p:childTnLst>
                                </p:cTn>
                              </p:par>
                              <p:par>
                                <p:cTn id="89" presetID="53" presetClass="entr" presetSubtype="16" fill="hold" grpId="0" nodeType="withEffect">
                                  <p:stCondLst>
                                    <p:cond delay="850"/>
                                  </p:stCondLst>
                                  <p:childTnLst>
                                    <p:set>
                                      <p:cBhvr>
                                        <p:cTn id="90" dur="1" fill="hold">
                                          <p:stCondLst>
                                            <p:cond delay="0"/>
                                          </p:stCondLst>
                                        </p:cTn>
                                        <p:tgtEl>
                                          <p:spTgt spid="28"/>
                                        </p:tgtEl>
                                        <p:attrNameLst>
                                          <p:attrName>style.visibility</p:attrName>
                                        </p:attrNameLst>
                                      </p:cBhvr>
                                      <p:to>
                                        <p:strVal val="visible"/>
                                      </p:to>
                                    </p:set>
                                    <p:anim calcmode="lin" valueType="num">
                                      <p:cBhvr additive="base">
                                        <p:cTn id="91" dur="500" fill="hold"/>
                                        <p:tgtEl>
                                          <p:spTgt spid="28"/>
                                        </p:tgtEl>
                                        <p:attrNameLst>
                                          <p:attrName>ppt_w</p:attrName>
                                        </p:attrNameLst>
                                      </p:cBhvr>
                                      <p:tavLst>
                                        <p:tav tm="0">
                                          <p:val>
                                            <p:fltVal val="0"/>
                                          </p:val>
                                        </p:tav>
                                        <p:tav tm="100000">
                                          <p:val>
                                            <p:strVal val="#ppt_w"/>
                                          </p:val>
                                        </p:tav>
                                      </p:tavLst>
                                    </p:anim>
                                    <p:anim calcmode="lin" valueType="num">
                                      <p:cBhvr additive="base">
                                        <p:cTn id="92" dur="500" fill="hold"/>
                                        <p:tgtEl>
                                          <p:spTgt spid="28"/>
                                        </p:tgtEl>
                                        <p:attrNameLst>
                                          <p:attrName>ppt_h</p:attrName>
                                        </p:attrNameLst>
                                      </p:cBhvr>
                                      <p:tavLst>
                                        <p:tav tm="0">
                                          <p:val>
                                            <p:fltVal val="0"/>
                                          </p:val>
                                        </p:tav>
                                        <p:tav tm="100000">
                                          <p:val>
                                            <p:strVal val="#ppt_h"/>
                                          </p:val>
                                        </p:tav>
                                      </p:tavLst>
                                    </p:anim>
                                    <p:animEffect transition="in" filter="fade">
                                      <p:cBhvr>
                                        <p:cTn id="93" dur="500"/>
                                        <p:tgtEl>
                                          <p:spTgt spid="28"/>
                                        </p:tgtEl>
                                      </p:cBhvr>
                                    </p:animEffect>
                                  </p:childTnLst>
                                </p:cTn>
                              </p:par>
                              <p:par>
                                <p:cTn id="94" presetID="53" presetClass="entr" presetSubtype="16" fill="hold" grpId="0" nodeType="withEffect">
                                  <p:stCondLst>
                                    <p:cond delay="850"/>
                                  </p:stCondLst>
                                  <p:childTnLst>
                                    <p:set>
                                      <p:cBhvr>
                                        <p:cTn id="95" dur="1" fill="hold">
                                          <p:stCondLst>
                                            <p:cond delay="0"/>
                                          </p:stCondLst>
                                        </p:cTn>
                                        <p:tgtEl>
                                          <p:spTgt spid="29"/>
                                        </p:tgtEl>
                                        <p:attrNameLst>
                                          <p:attrName>style.visibility</p:attrName>
                                        </p:attrNameLst>
                                      </p:cBhvr>
                                      <p:to>
                                        <p:strVal val="visible"/>
                                      </p:to>
                                    </p:set>
                                    <p:anim calcmode="lin" valueType="num">
                                      <p:cBhvr additive="base">
                                        <p:cTn id="96" dur="500" fill="hold"/>
                                        <p:tgtEl>
                                          <p:spTgt spid="29"/>
                                        </p:tgtEl>
                                        <p:attrNameLst>
                                          <p:attrName>ppt_w</p:attrName>
                                        </p:attrNameLst>
                                      </p:cBhvr>
                                      <p:tavLst>
                                        <p:tav tm="0">
                                          <p:val>
                                            <p:fltVal val="0"/>
                                          </p:val>
                                        </p:tav>
                                        <p:tav tm="100000">
                                          <p:val>
                                            <p:strVal val="#ppt_w"/>
                                          </p:val>
                                        </p:tav>
                                      </p:tavLst>
                                    </p:anim>
                                    <p:anim calcmode="lin" valueType="num">
                                      <p:cBhvr additive="base">
                                        <p:cTn id="97" dur="500" fill="hold"/>
                                        <p:tgtEl>
                                          <p:spTgt spid="29"/>
                                        </p:tgtEl>
                                        <p:attrNameLst>
                                          <p:attrName>ppt_h</p:attrName>
                                        </p:attrNameLst>
                                      </p:cBhvr>
                                      <p:tavLst>
                                        <p:tav tm="0">
                                          <p:val>
                                            <p:fltVal val="0"/>
                                          </p:val>
                                        </p:tav>
                                        <p:tav tm="100000">
                                          <p:val>
                                            <p:strVal val="#ppt_h"/>
                                          </p:val>
                                        </p:tav>
                                      </p:tavLst>
                                    </p:anim>
                                    <p:animEffect transition="in" filter="fade">
                                      <p:cBhvr>
                                        <p:cTn id="98" dur="500"/>
                                        <p:tgtEl>
                                          <p:spTgt spid="29"/>
                                        </p:tgtEl>
                                      </p:cBhvr>
                                    </p:animEffect>
                                  </p:childTnLst>
                                </p:cTn>
                              </p:par>
                              <p:par>
                                <p:cTn id="99" presetID="53" presetClass="entr" presetSubtype="16" fill="hold" grpId="0" nodeType="withEffect">
                                  <p:stCondLst>
                                    <p:cond delay="1100"/>
                                  </p:stCondLst>
                                  <p:childTnLst>
                                    <p:set>
                                      <p:cBhvr>
                                        <p:cTn id="100" dur="1" fill="hold">
                                          <p:stCondLst>
                                            <p:cond delay="0"/>
                                          </p:stCondLst>
                                        </p:cTn>
                                        <p:tgtEl>
                                          <p:spTgt spid="30"/>
                                        </p:tgtEl>
                                        <p:attrNameLst>
                                          <p:attrName>style.visibility</p:attrName>
                                        </p:attrNameLst>
                                      </p:cBhvr>
                                      <p:to>
                                        <p:strVal val="visible"/>
                                      </p:to>
                                    </p:set>
                                    <p:anim calcmode="lin" valueType="num">
                                      <p:cBhvr additive="base">
                                        <p:cTn id="101" dur="500" fill="hold"/>
                                        <p:tgtEl>
                                          <p:spTgt spid="30"/>
                                        </p:tgtEl>
                                        <p:attrNameLst>
                                          <p:attrName>ppt_w</p:attrName>
                                        </p:attrNameLst>
                                      </p:cBhvr>
                                      <p:tavLst>
                                        <p:tav tm="0">
                                          <p:val>
                                            <p:fltVal val="0"/>
                                          </p:val>
                                        </p:tav>
                                        <p:tav tm="100000">
                                          <p:val>
                                            <p:strVal val="#ppt_w"/>
                                          </p:val>
                                        </p:tav>
                                      </p:tavLst>
                                    </p:anim>
                                    <p:anim calcmode="lin" valueType="num">
                                      <p:cBhvr additive="base">
                                        <p:cTn id="102" dur="500" fill="hold"/>
                                        <p:tgtEl>
                                          <p:spTgt spid="30"/>
                                        </p:tgtEl>
                                        <p:attrNameLst>
                                          <p:attrName>ppt_h</p:attrName>
                                        </p:attrNameLst>
                                      </p:cBhvr>
                                      <p:tavLst>
                                        <p:tav tm="0">
                                          <p:val>
                                            <p:fltVal val="0"/>
                                          </p:val>
                                        </p:tav>
                                        <p:tav tm="100000">
                                          <p:val>
                                            <p:strVal val="#ppt_h"/>
                                          </p:val>
                                        </p:tav>
                                      </p:tavLst>
                                    </p:anim>
                                    <p:animEffect transition="in" filter="fade">
                                      <p:cBhvr>
                                        <p:cTn id="103" dur="500"/>
                                        <p:tgtEl>
                                          <p:spTgt spid="30"/>
                                        </p:tgtEl>
                                      </p:cBhvr>
                                    </p:animEffect>
                                  </p:childTnLst>
                                </p:cTn>
                              </p:par>
                              <p:par>
                                <p:cTn id="104" presetID="53" presetClass="entr" presetSubtype="16" fill="hold" grpId="0" nodeType="withEffect">
                                  <p:stCondLst>
                                    <p:cond delay="1100"/>
                                  </p:stCondLst>
                                  <p:childTnLst>
                                    <p:set>
                                      <p:cBhvr>
                                        <p:cTn id="105" dur="1" fill="hold">
                                          <p:stCondLst>
                                            <p:cond delay="0"/>
                                          </p:stCondLst>
                                        </p:cTn>
                                        <p:tgtEl>
                                          <p:spTgt spid="31"/>
                                        </p:tgtEl>
                                        <p:attrNameLst>
                                          <p:attrName>style.visibility</p:attrName>
                                        </p:attrNameLst>
                                      </p:cBhvr>
                                      <p:to>
                                        <p:strVal val="visible"/>
                                      </p:to>
                                    </p:set>
                                    <p:anim calcmode="lin" valueType="num">
                                      <p:cBhvr additive="base">
                                        <p:cTn id="106" dur="500" fill="hold"/>
                                        <p:tgtEl>
                                          <p:spTgt spid="31"/>
                                        </p:tgtEl>
                                        <p:attrNameLst>
                                          <p:attrName>ppt_w</p:attrName>
                                        </p:attrNameLst>
                                      </p:cBhvr>
                                      <p:tavLst>
                                        <p:tav tm="0">
                                          <p:val>
                                            <p:fltVal val="0"/>
                                          </p:val>
                                        </p:tav>
                                        <p:tav tm="100000">
                                          <p:val>
                                            <p:strVal val="#ppt_w"/>
                                          </p:val>
                                        </p:tav>
                                      </p:tavLst>
                                    </p:anim>
                                    <p:anim calcmode="lin" valueType="num">
                                      <p:cBhvr additive="base">
                                        <p:cTn id="107" dur="500" fill="hold"/>
                                        <p:tgtEl>
                                          <p:spTgt spid="31"/>
                                        </p:tgtEl>
                                        <p:attrNameLst>
                                          <p:attrName>ppt_h</p:attrName>
                                        </p:attrNameLst>
                                      </p:cBhvr>
                                      <p:tavLst>
                                        <p:tav tm="0">
                                          <p:val>
                                            <p:fltVal val="0"/>
                                          </p:val>
                                        </p:tav>
                                        <p:tav tm="100000">
                                          <p:val>
                                            <p:strVal val="#ppt_h"/>
                                          </p:val>
                                        </p:tav>
                                      </p:tavLst>
                                    </p:anim>
                                    <p:animEffect transition="in" filter="fade">
                                      <p:cBhvr>
                                        <p:cTn id="108" dur="500"/>
                                        <p:tgtEl>
                                          <p:spTgt spid="31"/>
                                        </p:tgtEl>
                                      </p:cBhvr>
                                    </p:animEffect>
                                  </p:childTnLst>
                                </p:cTn>
                              </p:par>
                              <p:par>
                                <p:cTn id="109" presetID="53" presetClass="entr" presetSubtype="16" fill="hold" grpId="0" nodeType="withEffect">
                                  <p:stCondLst>
                                    <p:cond delay="1100"/>
                                  </p:stCondLst>
                                  <p:childTnLst>
                                    <p:set>
                                      <p:cBhvr>
                                        <p:cTn id="110" dur="1" fill="hold">
                                          <p:stCondLst>
                                            <p:cond delay="0"/>
                                          </p:stCondLst>
                                        </p:cTn>
                                        <p:tgtEl>
                                          <p:spTgt spid="32"/>
                                        </p:tgtEl>
                                        <p:attrNameLst>
                                          <p:attrName>style.visibility</p:attrName>
                                        </p:attrNameLst>
                                      </p:cBhvr>
                                      <p:to>
                                        <p:strVal val="visible"/>
                                      </p:to>
                                    </p:set>
                                    <p:anim calcmode="lin" valueType="num">
                                      <p:cBhvr additive="base">
                                        <p:cTn id="111" dur="500" fill="hold"/>
                                        <p:tgtEl>
                                          <p:spTgt spid="32"/>
                                        </p:tgtEl>
                                        <p:attrNameLst>
                                          <p:attrName>ppt_w</p:attrName>
                                        </p:attrNameLst>
                                      </p:cBhvr>
                                      <p:tavLst>
                                        <p:tav tm="0">
                                          <p:val>
                                            <p:fltVal val="0"/>
                                          </p:val>
                                        </p:tav>
                                        <p:tav tm="100000">
                                          <p:val>
                                            <p:strVal val="#ppt_w"/>
                                          </p:val>
                                        </p:tav>
                                      </p:tavLst>
                                    </p:anim>
                                    <p:anim calcmode="lin" valueType="num">
                                      <p:cBhvr additive="base">
                                        <p:cTn id="112" dur="500" fill="hold"/>
                                        <p:tgtEl>
                                          <p:spTgt spid="32"/>
                                        </p:tgtEl>
                                        <p:attrNameLst>
                                          <p:attrName>ppt_h</p:attrName>
                                        </p:attrNameLst>
                                      </p:cBhvr>
                                      <p:tavLst>
                                        <p:tav tm="0">
                                          <p:val>
                                            <p:fltVal val="0"/>
                                          </p:val>
                                        </p:tav>
                                        <p:tav tm="100000">
                                          <p:val>
                                            <p:strVal val="#ppt_h"/>
                                          </p:val>
                                        </p:tav>
                                      </p:tavLst>
                                    </p:anim>
                                    <p:animEffect transition="in" filter="fade">
                                      <p:cBhvr>
                                        <p:cTn id="113" dur="500"/>
                                        <p:tgtEl>
                                          <p:spTgt spid="32"/>
                                        </p:tgtEl>
                                      </p:cBhvr>
                                    </p:animEffect>
                                  </p:childTnLst>
                                </p:cTn>
                              </p:par>
                              <p:par>
                                <p:cTn id="114" presetID="53" presetClass="entr" presetSubtype="16" fill="hold" grpId="0" nodeType="withEffect">
                                  <p:stCondLst>
                                    <p:cond delay="1350"/>
                                  </p:stCondLst>
                                  <p:childTnLst>
                                    <p:set>
                                      <p:cBhvr>
                                        <p:cTn id="115" dur="1" fill="hold">
                                          <p:stCondLst>
                                            <p:cond delay="0"/>
                                          </p:stCondLst>
                                        </p:cTn>
                                        <p:tgtEl>
                                          <p:spTgt spid="33"/>
                                        </p:tgtEl>
                                        <p:attrNameLst>
                                          <p:attrName>style.visibility</p:attrName>
                                        </p:attrNameLst>
                                      </p:cBhvr>
                                      <p:to>
                                        <p:strVal val="visible"/>
                                      </p:to>
                                    </p:set>
                                    <p:anim calcmode="lin" valueType="num">
                                      <p:cBhvr additive="base">
                                        <p:cTn id="116" dur="500" fill="hold"/>
                                        <p:tgtEl>
                                          <p:spTgt spid="33"/>
                                        </p:tgtEl>
                                        <p:attrNameLst>
                                          <p:attrName>ppt_w</p:attrName>
                                        </p:attrNameLst>
                                      </p:cBhvr>
                                      <p:tavLst>
                                        <p:tav tm="0">
                                          <p:val>
                                            <p:fltVal val="0"/>
                                          </p:val>
                                        </p:tav>
                                        <p:tav tm="100000">
                                          <p:val>
                                            <p:strVal val="#ppt_w"/>
                                          </p:val>
                                        </p:tav>
                                      </p:tavLst>
                                    </p:anim>
                                    <p:anim calcmode="lin" valueType="num">
                                      <p:cBhvr additive="base">
                                        <p:cTn id="117" dur="500" fill="hold"/>
                                        <p:tgtEl>
                                          <p:spTgt spid="33"/>
                                        </p:tgtEl>
                                        <p:attrNameLst>
                                          <p:attrName>ppt_h</p:attrName>
                                        </p:attrNameLst>
                                      </p:cBhvr>
                                      <p:tavLst>
                                        <p:tav tm="0">
                                          <p:val>
                                            <p:fltVal val="0"/>
                                          </p:val>
                                        </p:tav>
                                        <p:tav tm="100000">
                                          <p:val>
                                            <p:strVal val="#ppt_h"/>
                                          </p:val>
                                        </p:tav>
                                      </p:tavLst>
                                    </p:anim>
                                    <p:animEffect transition="in" filter="fade">
                                      <p:cBhvr>
                                        <p:cTn id="118" dur="500"/>
                                        <p:tgtEl>
                                          <p:spTgt spid="33"/>
                                        </p:tgtEl>
                                      </p:cBhvr>
                                    </p:animEffect>
                                  </p:childTnLst>
                                </p:cTn>
                              </p:par>
                              <p:par>
                                <p:cTn id="119" presetID="53" presetClass="entr" presetSubtype="16" fill="hold" grpId="0" nodeType="withEffect">
                                  <p:stCondLst>
                                    <p:cond delay="1350"/>
                                  </p:stCondLst>
                                  <p:childTnLst>
                                    <p:set>
                                      <p:cBhvr>
                                        <p:cTn id="120" dur="1" fill="hold">
                                          <p:stCondLst>
                                            <p:cond delay="0"/>
                                          </p:stCondLst>
                                        </p:cTn>
                                        <p:tgtEl>
                                          <p:spTgt spid="34"/>
                                        </p:tgtEl>
                                        <p:attrNameLst>
                                          <p:attrName>style.visibility</p:attrName>
                                        </p:attrNameLst>
                                      </p:cBhvr>
                                      <p:to>
                                        <p:strVal val="visible"/>
                                      </p:to>
                                    </p:set>
                                    <p:anim calcmode="lin" valueType="num">
                                      <p:cBhvr additive="base">
                                        <p:cTn id="121" dur="500" fill="hold"/>
                                        <p:tgtEl>
                                          <p:spTgt spid="34"/>
                                        </p:tgtEl>
                                        <p:attrNameLst>
                                          <p:attrName>ppt_w</p:attrName>
                                        </p:attrNameLst>
                                      </p:cBhvr>
                                      <p:tavLst>
                                        <p:tav tm="0">
                                          <p:val>
                                            <p:fltVal val="0"/>
                                          </p:val>
                                        </p:tav>
                                        <p:tav tm="100000">
                                          <p:val>
                                            <p:strVal val="#ppt_w"/>
                                          </p:val>
                                        </p:tav>
                                      </p:tavLst>
                                    </p:anim>
                                    <p:anim calcmode="lin" valueType="num">
                                      <p:cBhvr additive="base">
                                        <p:cTn id="122" dur="500" fill="hold"/>
                                        <p:tgtEl>
                                          <p:spTgt spid="34"/>
                                        </p:tgtEl>
                                        <p:attrNameLst>
                                          <p:attrName>ppt_h</p:attrName>
                                        </p:attrNameLst>
                                      </p:cBhvr>
                                      <p:tavLst>
                                        <p:tav tm="0">
                                          <p:val>
                                            <p:fltVal val="0"/>
                                          </p:val>
                                        </p:tav>
                                        <p:tav tm="100000">
                                          <p:val>
                                            <p:strVal val="#ppt_h"/>
                                          </p:val>
                                        </p:tav>
                                      </p:tavLst>
                                    </p:anim>
                                    <p:animEffect transition="in" filter="fade">
                                      <p:cBhvr>
                                        <p:cTn id="123" dur="500"/>
                                        <p:tgtEl>
                                          <p:spTgt spid="34"/>
                                        </p:tgtEl>
                                      </p:cBhvr>
                                    </p:animEffect>
                                  </p:childTnLst>
                                </p:cTn>
                              </p:par>
                              <p:par>
                                <p:cTn id="124" presetID="53" presetClass="entr" presetSubtype="16" fill="hold" grpId="0" nodeType="withEffect">
                                  <p:stCondLst>
                                    <p:cond delay="1350"/>
                                  </p:stCondLst>
                                  <p:childTnLst>
                                    <p:set>
                                      <p:cBhvr>
                                        <p:cTn id="125" dur="1" fill="hold">
                                          <p:stCondLst>
                                            <p:cond delay="0"/>
                                          </p:stCondLst>
                                        </p:cTn>
                                        <p:tgtEl>
                                          <p:spTgt spid="35"/>
                                        </p:tgtEl>
                                        <p:attrNameLst>
                                          <p:attrName>style.visibility</p:attrName>
                                        </p:attrNameLst>
                                      </p:cBhvr>
                                      <p:to>
                                        <p:strVal val="visible"/>
                                      </p:to>
                                    </p:set>
                                    <p:anim calcmode="lin" valueType="num">
                                      <p:cBhvr additive="base">
                                        <p:cTn id="126" dur="500" fill="hold"/>
                                        <p:tgtEl>
                                          <p:spTgt spid="35"/>
                                        </p:tgtEl>
                                        <p:attrNameLst>
                                          <p:attrName>ppt_w</p:attrName>
                                        </p:attrNameLst>
                                      </p:cBhvr>
                                      <p:tavLst>
                                        <p:tav tm="0">
                                          <p:val>
                                            <p:fltVal val="0"/>
                                          </p:val>
                                        </p:tav>
                                        <p:tav tm="100000">
                                          <p:val>
                                            <p:strVal val="#ppt_w"/>
                                          </p:val>
                                        </p:tav>
                                      </p:tavLst>
                                    </p:anim>
                                    <p:anim calcmode="lin" valueType="num">
                                      <p:cBhvr additive="base">
                                        <p:cTn id="127" dur="500" fill="hold"/>
                                        <p:tgtEl>
                                          <p:spTgt spid="35"/>
                                        </p:tgtEl>
                                        <p:attrNameLst>
                                          <p:attrName>ppt_h</p:attrName>
                                        </p:attrNameLst>
                                      </p:cBhvr>
                                      <p:tavLst>
                                        <p:tav tm="0">
                                          <p:val>
                                            <p:fltVal val="0"/>
                                          </p:val>
                                        </p:tav>
                                        <p:tav tm="100000">
                                          <p:val>
                                            <p:strVal val="#ppt_h"/>
                                          </p:val>
                                        </p:tav>
                                      </p:tavLst>
                                    </p:anim>
                                    <p:animEffect transition="in" filter="fade">
                                      <p:cBhvr>
                                        <p:cTn id="128" dur="500"/>
                                        <p:tgtEl>
                                          <p:spTgt spid="35"/>
                                        </p:tgtEl>
                                      </p:cBhvr>
                                    </p:animEffect>
                                  </p:childTnLst>
                                </p:cTn>
                              </p:par>
                              <p:par>
                                <p:cTn id="129" presetID="22" presetClass="entr" presetSubtype="8" fill="hold" grpId="0" nodeType="withEffect">
                                  <p:stCondLst>
                                    <p:cond delay="600"/>
                                  </p:stCondLst>
                                  <p:childTnLst>
                                    <p:set>
                                      <p:cBhvr>
                                        <p:cTn id="130" dur="1" fill="hold">
                                          <p:stCondLst>
                                            <p:cond delay="0"/>
                                          </p:stCondLst>
                                        </p:cTn>
                                        <p:tgtEl>
                                          <p:spTgt spid="43"/>
                                        </p:tgtEl>
                                        <p:attrNameLst>
                                          <p:attrName>style.visibility</p:attrName>
                                        </p:attrNameLst>
                                      </p:cBhvr>
                                      <p:to>
                                        <p:strVal val="visible"/>
                                      </p:to>
                                    </p:set>
                                    <p:animEffect transition="in" filter="wipe(left)">
                                      <p:cBhvr>
                                        <p:cTn id="131" dur="1100"/>
                                        <p:tgtEl>
                                          <p:spTgt spid="43"/>
                                        </p:tgtEl>
                                      </p:cBhvr>
                                    </p:animEffect>
                                  </p:childTnLst>
                                </p:cTn>
                              </p:par>
                              <p:par>
                                <p:cTn id="133" presetID="0" presetClass="path" presetSubtype="0" fill="hold" accel="30000" decel="30000" nodeType="withEffect">
                                  <p:stCondLst>
                                    <p:cond delay="600"/>
                                  </p:stCondLst>
                                  <p:childTnLst>
                                    <p:animMotion origin="layout" path="M 0 0 L 0.02017 0 E" pathEditMode="relative" rAng="0" ptsTypes="AA">
                                      <p:cBhvr>
                                        <p:cTn id="132" dur="1100" fill="hold"/>
                                        <p:tgtEl>
                                          <p:spTgt spid="44"/>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43"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3" name="trail1" descr="Dashed flight route">    </p:cNvPr>
          <p:cNvPicPr>
            <a:picLocks noChangeAspect="1"/>
          </p:cNvPicPr>
          <p:nvPr/>
        </p:nvPicPr>
        <p:blipFill>
          <a:blip r:embed="rId1"/>
          <a:stretch>
            <a:fillRect/>
          </a:stretch>
        </p:blipFill>
        <p:spPr>
          <a:xfrm>
            <a:off x="0" y="3064408"/>
            <a:ext cx="12191695" cy="1098255"/>
          </a:xfrm>
          <a:prstGeom prst="rect">
            <a:avLst/>
          </a:prstGeom>
        </p:spPr>
      </p:pic>
      <p:pic>
        <p:nvPicPr>
          <p:cNvPr id="4" name="!!plane" descr="Airplane">    </p:cNvPr>
          <p:cNvPicPr>
            <a:picLocks noChangeAspect="1"/>
          </p:cNvPicPr>
          <p:nvPr/>
        </p:nvPicPr>
        <p:blipFill>
          <a:blip r:embed="rId2"/>
          <a:stretch>
            <a:fillRect/>
          </a:stretch>
        </p:blipFill>
        <p:spPr>
          <a:xfrm rot="19521543">
            <a:off x="-2560320" y="4287393"/>
            <a:ext cx="1463040" cy="1300734"/>
          </a:xfrm>
          <a:prstGeom prst="rect">
            <a:avLst/>
          </a:prstGeom>
        </p:spPr>
      </p:pic>
      <p:sp>
        <p:nvSpPr>
          <p:cNvPr id="5" name="kicker"/>
          <p:cNvSpPr txBox="1"/>
          <p:nvPr/>
        </p:nvSpPr>
        <p:spPr>
          <a:xfrm>
            <a:off x="868680" y="2148840"/>
            <a:ext cx="3657600" cy="365760"/>
          </a:xfrm>
          <a:prstGeom prst="rect">
            <a:avLst/>
          </a:prstGeom>
          <a:noFill/>
          <a:ln/>
        </p:spPr>
        <p:txBody>
          <a:bodyPr wrap="square" lIns="0" tIns="0" rIns="0" bIns="0" rtlCol="0" anchor="t"/>
          <a:lstStyle/>
          <a:p>
            <a:pPr algn="l" indent="0" marL="0">
              <a:buNone/>
            </a:pPr>
            <a:r>
              <a:rPr lang="en-US" sz="1800" b="1" spc="600" kern="0" dirty="0">
                <a:solidFill>
                  <a:schemeClr val="accent3"/>
                </a:solidFill>
              </a:rPr>
              <a:t>PART 04</a:t>
            </a:r>
            <a:endParaRPr lang="en-US" sz="1800" dirty="0"/>
          </a:p>
        </p:txBody>
      </p:sp>
      <p:sp>
        <p:nvSpPr>
          <p:cNvPr id="6" name="hero"/>
          <p:cNvSpPr txBox="1"/>
          <p:nvPr/>
        </p:nvSpPr>
        <p:spPr>
          <a:xfrm>
            <a:off x="822960" y="2514600"/>
            <a:ext cx="10058400" cy="1188720"/>
          </a:xfrm>
          <a:prstGeom prst="rect">
            <a:avLst/>
          </a:prstGeom>
          <a:noFill/>
          <a:ln/>
        </p:spPr>
        <p:txBody>
          <a:bodyPr wrap="square" lIns="0" tIns="0" rIns="0" bIns="0" rtlCol="0" anchor="t"/>
          <a:lstStyle/>
          <a:p>
            <a:pPr algn="l" indent="0" marL="0">
              <a:buNone/>
            </a:pPr>
            <a:r>
              <a:rPr lang="en-US" sz="6600" b="1" dirty="0">
                <a:solidFill>
                  <a:schemeClr val="bg1"/>
                </a:solidFill>
                <a:latin typeface="+mj-lt" pitchFamily="34" charset="0"/>
                <a:ea typeface="+mj-lt" pitchFamily="34" charset="-122"/>
                <a:cs typeface="+mj-lt" pitchFamily="34" charset="-120"/>
              </a:rPr>
              <a:t>Proof and quality</a:t>
            </a:r>
            <a:endParaRPr lang="en-US" sz="6600" dirty="0"/>
          </a:p>
        </p:txBody>
      </p:sp>
      <p:sp>
        <p:nvSpPr>
          <p:cNvPr id="7" name="sub"/>
          <p:cNvSpPr txBox="1"/>
          <p:nvPr/>
        </p:nvSpPr>
        <p:spPr>
          <a:xfrm>
            <a:off x="868680" y="3749040"/>
            <a:ext cx="8229600" cy="548640"/>
          </a:xfrm>
          <a:prstGeom prst="rect">
            <a:avLst/>
          </a:prstGeom>
          <a:noFill/>
          <a:ln/>
        </p:spPr>
        <p:txBody>
          <a:bodyPr wrap="square" lIns="0" tIns="0" rIns="0" bIns="0" rtlCol="0" anchor="t"/>
          <a:lstStyle/>
          <a:p>
            <a:pPr algn="l" indent="0" marL="0">
              <a:buNone/>
            </a:pPr>
            <a:r>
              <a:rPr lang="en-US" sz="2400" dirty="0">
                <a:solidFill>
                  <a:schemeClr val="bg1"/>
                </a:solidFill>
              </a:rPr>
              <a:t>Tested, measured and honest about the limits</a:t>
            </a:r>
            <a:endParaRPr lang="en-US" sz="2400" dirty="0"/>
          </a:p>
        </p:txBody>
      </p:sp>
      <p:pic>
        <p:nvPicPr>
          <p:cNvPr id="8" name="cloud2" descr="Cloud">    </p:cNvPr>
          <p:cNvPicPr>
            <a:picLocks noChangeAspect="1"/>
          </p:cNvPicPr>
          <p:nvPr/>
        </p:nvPicPr>
        <p:blipFill>
          <a:blip r:embed="rId3"/>
          <a:stretch>
            <a:fillRect/>
          </a:stretch>
        </p:blipFill>
        <p:spPr>
          <a:xfrm>
            <a:off x="6583680" y="3291840"/>
            <a:ext cx="5120640" cy="2150669"/>
          </a:xfrm>
          <a:prstGeom prst="rect">
            <a:avLst/>
          </a:prstGeom>
        </p:spPr>
      </p:pic>
      <p:pic>
        <p:nvPicPr>
          <p:cNvPr id="9" name="cloud3" descr="Cloud">    </p:cNvPr>
          <p:cNvPicPr>
            <a:picLocks noChangeAspect="1"/>
          </p:cNvPicPr>
          <p:nvPr/>
        </p:nvPicPr>
        <p:blipFill>
          <a:blip r:embed="rId4"/>
          <a:stretch>
            <a:fillRect/>
          </a:stretch>
        </p:blipFill>
        <p:spPr>
          <a:xfrm>
            <a:off x="-731520" y="5394960"/>
            <a:ext cx="5303520" cy="2227478"/>
          </a:xfrm>
          <a:prstGeom prst="rect">
            <a:avLst/>
          </a:prstGeom>
        </p:spPr>
      </p:pic>
    </p:spTree>
  </p:cSld>
  <p:clrMapOvr>
    <a:masterClrMapping/>
  </p:clrMapOvr>
  <p:transition spd="med">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accel="25000" decel="15000" nodeType="withEffect">
                                  <p:stCondLst>
                                    <p:cond delay="127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4650"/>
                                        <p:tgtEl>
                                          <p:spTgt spid="3"/>
                                        </p:tgtEl>
                                      </p:cBhvr>
                                    </p:animEffect>
                                  </p:childTnLst>
                                </p:cTn>
                              </p:par>
                              <p:par>
                                <p:cTn id="9" presetID="0" presetClass="path" presetSubtype="0" fill="hold" accel="25000" decel="15000" nodeType="withEffect">
                                  <p:stCondLst>
                                    <p:cond delay="500"/>
                                  </p:stCondLst>
                                  <p:childTnLst>
                                    <p:animMotion origin="layout" path="M 0 0 C 0.41251 -0.50667 0.78752 0.16 1.33503 -0.4 E" pathEditMode="relative" rAng="0" ptsTypes="AAAA">
                                      <p:cBhvr>
                                        <p:cTn id="8" dur="5200" fill="hold"/>
                                        <p:tgtEl>
                                          <p:spTgt spid="4"/>
                                        </p:tgtEl>
                                        <p:attrNameLst>
                                          <p:attrName>ppt_x</p:attrName>
                                          <p:attrName>ppt_y</p:attrName>
                                        </p:attrNameLst>
                                      </p:cBhvr>
                                      <p:rCtr x="0.66752" y="-0.2"/>
                                    </p:animMotion>
                                  </p:childTnLst>
                                </p:cTn>
                              </p:par>
                              <p:par>
                                <p:cTn id="11" presetID="8" presetClass="emph" presetSubtype="0" fill="hold" nodeType="withEffect">
                                  <p:stCondLst>
                                    <p:cond delay="500"/>
                                  </p:stCondLst>
                                  <p:childTnLst>
                                    <p:animRot by="1228200">
                                      <p:cBhvr>
                                        <p:cTn id="10" dur="867" fill="hold"/>
                                        <p:tgtEl>
                                          <p:spTgt spid="4"/>
                                        </p:tgtEl>
                                        <p:attrNameLst>
                                          <p:attrName>r</p:attrName>
                                        </p:attrNameLst>
                                      </p:cBhvr>
                                    </p:animRot>
                                  </p:childTnLst>
                                </p:cTn>
                              </p:par>
                              <p:par>
                                <p:cTn id="13" presetID="8" presetClass="emph" presetSubtype="0" fill="hold" nodeType="withEffect">
                                  <p:stCondLst>
                                    <p:cond delay="1367"/>
                                  </p:stCondLst>
                                  <p:childTnLst>
                                    <p:animRot by="892200">
                                      <p:cBhvr>
                                        <p:cTn id="12" dur="867" fill="hold"/>
                                        <p:tgtEl>
                                          <p:spTgt spid="4"/>
                                        </p:tgtEl>
                                        <p:attrNameLst>
                                          <p:attrName>r</p:attrName>
                                        </p:attrNameLst>
                                      </p:cBhvr>
                                    </p:animRot>
                                  </p:childTnLst>
                                </p:cTn>
                              </p:par>
                              <p:par>
                                <p:cTn id="15" presetID="8" presetClass="emph" presetSubtype="0" fill="hold" nodeType="withEffect">
                                  <p:stCondLst>
                                    <p:cond delay="2233"/>
                                  </p:stCondLst>
                                  <p:childTnLst>
                                    <p:animRot by="259200">
                                      <p:cBhvr>
                                        <p:cTn id="14" dur="867" fill="hold"/>
                                        <p:tgtEl>
                                          <p:spTgt spid="4"/>
                                        </p:tgtEl>
                                        <p:attrNameLst>
                                          <p:attrName>r</p:attrName>
                                        </p:attrNameLst>
                                      </p:cBhvr>
                                    </p:animRot>
                                  </p:childTnLst>
                                </p:cTn>
                              </p:par>
                              <p:par>
                                <p:cTn id="17" presetID="8" presetClass="emph" presetSubtype="0" fill="hold" nodeType="withEffect">
                                  <p:stCondLst>
                                    <p:cond delay="3100"/>
                                  </p:stCondLst>
                                  <p:childTnLst>
                                    <p:animRot by="-338400">
                                      <p:cBhvr>
                                        <p:cTn id="16" dur="867" fill="hold"/>
                                        <p:tgtEl>
                                          <p:spTgt spid="4"/>
                                        </p:tgtEl>
                                        <p:attrNameLst>
                                          <p:attrName>r</p:attrName>
                                        </p:attrNameLst>
                                      </p:cBhvr>
                                    </p:animRot>
                                  </p:childTnLst>
                                </p:cTn>
                              </p:par>
                              <p:par>
                                <p:cTn id="19" presetID="8" presetClass="emph" presetSubtype="0" fill="hold" nodeType="withEffect">
                                  <p:stCondLst>
                                    <p:cond delay="3967"/>
                                  </p:stCondLst>
                                  <p:childTnLst>
                                    <p:animRot by="-795000">
                                      <p:cBhvr>
                                        <p:cTn id="18" dur="867" fill="hold"/>
                                        <p:tgtEl>
                                          <p:spTgt spid="4"/>
                                        </p:tgtEl>
                                        <p:attrNameLst>
                                          <p:attrName>r</p:attrName>
                                        </p:attrNameLst>
                                      </p:cBhvr>
                                    </p:animRot>
                                  </p:childTnLst>
                                </p:cTn>
                              </p:par>
                              <p:par>
                                <p:cTn id="21" presetID="8" presetClass="emph" presetSubtype="0" fill="hold" nodeType="withEffect">
                                  <p:stCondLst>
                                    <p:cond delay="4833"/>
                                  </p:stCondLst>
                                  <p:childTnLst>
                                    <p:animRot by="-962400">
                                      <p:cBhvr>
                                        <p:cTn id="20" dur="867" fill="hold"/>
                                        <p:tgtEl>
                                          <p:spTgt spid="4"/>
                                        </p:tgtEl>
                                        <p:attrNameLst>
                                          <p:attrName>r</p:attrName>
                                        </p:attrNameLst>
                                      </p:cBhvr>
                                    </p:animRot>
                                  </p:childTnLst>
                                </p:cTn>
                              </p:par>
                              <p:par>
                                <p:cTn id="23" presetID="6" presetClass="emph" presetSubtype="0" fill="hold" accel="25000" decel="15000" nodeType="withEffect">
                                  <p:stCondLst>
                                    <p:cond delay="500"/>
                                  </p:stCondLst>
                                  <p:childTnLst>
                                    <p:animScale>
                                      <p:cBhvr>
                                        <p:cTn id="22" dur="5200" fill="hold"/>
                                        <p:tgtEl>
                                          <p:spTgt spid="4"/>
                                        </p:tgtEl>
                                      </p:cBhvr>
                                      <p:by x="120000" y="120000"/>
                                    </p:animScale>
                                  </p:childTnLst>
                                </p:cTn>
                              </p:par>
                              <p:par>
                                <p:cTn id="25" presetID="0" presetClass="path" presetSubtype="0" fill="hold" nodeType="withEffect">
                                  <p:stCondLst>
                                    <p:cond delay="0"/>
                                  </p:stCondLst>
                                  <p:childTnLst>
                                    <p:animMotion origin="layout" path="M 0 0 L -0.06 0 E" pathEditMode="relative" rAng="0" ptsTypes="AA">
                                      <p:cBhvr>
                                        <p:cTn id="24" dur="12000" fill="hold"/>
                                        <p:tgtEl>
                                          <p:spTgt spid="8"/>
                                        </p:tgtEl>
                                        <p:attrNameLst>
                                          <p:attrName>ppt_x</p:attrName>
                                          <p:attrName>ppt_y</p:attrName>
                                        </p:attrNameLst>
                                      </p:cBhvr>
                                      <p:rCtr x="-0.03" y="0"/>
                                    </p:animMotion>
                                  </p:childTnLst>
                                </p:cTn>
                              </p:par>
                              <p:par>
                                <p:cTn id="27" presetID="0" presetClass="path" presetSubtype="0" fill="hold" nodeType="withEffect">
                                  <p:stCondLst>
                                    <p:cond delay="0"/>
                                  </p:stCondLst>
                                  <p:childTnLst>
                                    <p:animMotion origin="layout" path="M 0 0 L 0.0675 0 E" pathEditMode="relative" rAng="0" ptsTypes="AA">
                                      <p:cBhvr>
                                        <p:cTn id="26" dur="12000" fill="hold"/>
                                        <p:tgtEl>
                                          <p:spTgt spid="9"/>
                                        </p:tgtEl>
                                        <p:attrNameLst>
                                          <p:attrName>ppt_x</p:attrName>
                                          <p:attrName>ppt_y</p:attrName>
                                        </p:attrNameLst>
                                      </p:cBhvr>
                                      <p:rCtr x="0.03375" y="0"/>
                                    </p:animMotion>
                                  </p:childTnLst>
                                </p:cTn>
                              </p:par>
                              <p:par>
                                <p:cTn id="28" presetID="10" presetClass="entr" presetSubtype="0" fill="hold" grpId="0" nodeType="withEffect">
                                  <p:stCondLst>
                                    <p:cond delay="200"/>
                                  </p:stCondLst>
                                  <p:childTnLst>
                                    <p:set>
                                      <p:cBhvr>
                                        <p:cTn id="29" dur="1" fill="hold">
                                          <p:stCondLst>
                                            <p:cond delay="0"/>
                                          </p:stCondLst>
                                        </p:cTn>
                                        <p:tgtEl>
                                          <p:spTgt spid="5"/>
                                        </p:tgtEl>
                                        <p:attrNameLst>
                                          <p:attrName>style.visibility</p:attrName>
                                        </p:attrNameLst>
                                      </p:cBhvr>
                                      <p:to>
                                        <p:strVal val="visible"/>
                                      </p:to>
                                    </p:set>
                                    <p:animEffect transition="in" filter="fade">
                                      <p:cBhvr>
                                        <p:cTn id="30" dur="700"/>
                                        <p:tgtEl>
                                          <p:spTgt spid="5"/>
                                        </p:tgtEl>
                                      </p:cBhvr>
                                    </p:animEffect>
                                  </p:childTnLst>
                                </p:cTn>
                              </p:par>
                              <p:par>
                                <p:cTn id="31" presetID="22" presetClass="entr" presetSubtype="8" fill="hold" grpId="0" nodeType="withEffect">
                                  <p:stCondLst>
                                    <p:cond delay="50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1100"/>
                                        <p:tgtEl>
                                          <p:spTgt spid="6"/>
                                        </p:tgtEl>
                                      </p:cBhvr>
                                    </p:animEffect>
                                  </p:childTnLst>
                                </p:cTn>
                              </p:par>
                              <p:par>
                                <p:cTn id="34" presetID="42" presetClass="entr" presetSubtype="0" fill="hold" grpId="0" nodeType="withEffect">
                                  <p:stCondLst>
                                    <p:cond delay="1400"/>
                                  </p:stCondLst>
                                  <p:childTnLst>
                                    <p:set>
                                      <p:cBhvr>
                                        <p:cTn id="35" dur="1" fill="hold">
                                          <p:stCondLst>
                                            <p:cond delay="0"/>
                                          </p:stCondLst>
                                        </p:cTn>
                                        <p:tgtEl>
                                          <p:spTgt spid="7"/>
                                        </p:tgtEl>
                                        <p:attrNameLst>
                                          <p:attrName>style.visibility</p:attrName>
                                        </p:attrNameLst>
                                      </p:cBhvr>
                                      <p:to>
                                        <p:strVal val="visible"/>
                                      </p:to>
                                    </p:set>
                                    <p:anim calcmode="lin" valueType="num">
                                      <p:cBhvr additive="base">
                                        <p:cTn id="36" dur="800" fill="hold"/>
                                        <p:tgtEl>
                                          <p:spTgt spid="7"/>
                                        </p:tgtEl>
                                        <p:attrNameLst>
                                          <p:attrName>ppt_y</p:attrName>
                                        </p:attrNameLst>
                                      </p:cBhvr>
                                      <p:tavLst>
                                        <p:tav tm="0">
                                          <p:val>
                                            <p:strVal val="#ppt_y+.1"/>
                                          </p:val>
                                        </p:tav>
                                        <p:tav tm="100000">
                                          <p:val>
                                            <p:strVal val="#ppt_y"/>
                                          </p:val>
                                        </p:tav>
                                      </p:tavLst>
                                    </p:anim>
                                    <p:animEffect transition="in" filter="fade">
                                      <p:cBhvr>
                                        <p:cTn id="37" dur="8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Testing methodology</a:t>
            </a:r>
            <a:endParaRPr lang="en-US" sz="3600" dirty="0"/>
          </a:p>
        </p:txBody>
      </p:sp>
      <p:sp>
        <p:nvSpPr>
          <p:cNvPr id="5" name="chartcard"/>
          <p:cNvSpPr/>
          <p:nvPr/>
        </p:nvSpPr>
        <p:spPr>
          <a:xfrm>
            <a:off x="548640" y="1691640"/>
            <a:ext cx="6035040" cy="4389120"/>
          </a:xfrm>
          <a:prstGeom prst="roundRect">
            <a:avLst>
              <a:gd name="adj" fmla="val 2500"/>
            </a:avLst>
          </a:prstGeom>
          <a:solidFill>
            <a:schemeClr val="bg1">
              <a:alpha val="9000"/>
            </a:schemeClr>
          </a:solidFill>
          <a:ln w="9525">
            <a:solidFill>
              <a:schemeClr val="bg1">
                <a:alpha val="22000"/>
              </a:schemeClr>
            </a:solidFill>
            <a:prstDash val="solid"/>
          </a:ln>
        </p:spPr>
      </p:sp>
      <p:sp>
        <p:nvSpPr>
          <p:cNvPr id="6" name="passbig"/>
          <p:cNvSpPr txBox="1"/>
          <p:nvPr/>
        </p:nvSpPr>
        <p:spPr>
          <a:xfrm>
            <a:off x="822960" y="1828800"/>
            <a:ext cx="5486400" cy="548640"/>
          </a:xfrm>
          <a:prstGeom prst="rect">
            <a:avLst/>
          </a:prstGeom>
          <a:noFill/>
          <a:ln/>
        </p:spPr>
        <p:txBody>
          <a:bodyPr wrap="square" lIns="0" tIns="0" rIns="0" bIns="0" rtlCol="0" anchor="t"/>
          <a:lstStyle/>
          <a:p>
            <a:pPr algn="l" indent="0" marL="0">
              <a:buNone/>
            </a:pPr>
            <a:r>
              <a:rPr lang="en-US" sz="3000" b="1" dirty="0">
                <a:solidFill>
                  <a:schemeClr val="accent6"/>
                </a:solidFill>
                <a:latin typeface="+mj-lt" pitchFamily="34" charset="0"/>
                <a:ea typeface="+mj-lt" pitchFamily="34" charset="-122"/>
                <a:cs typeface="+mj-lt" pitchFamily="34" charset="-120"/>
              </a:rPr>
              <a:t>65 / 65</a:t>
            </a:r>
            <a:pPr algn="l" indent="0" marL="0">
              <a:buNone/>
            </a:pPr>
            <a:r>
              <a:rPr lang="en-US" sz="1500" dirty="0">
                <a:solidFill>
                  <a:schemeClr val="bg2"/>
                </a:solidFill>
              </a:rPr>
              <a:t>   tests passing in about 6 s</a:t>
            </a:r>
            <a:endParaRPr lang="en-US" sz="1500" dirty="0"/>
          </a:p>
        </p:txBody>
      </p:sp>
      <p:graphicFrame>
        <p:nvGraphicFramePr>
          <p:cNvPr id="7" name="testchart" descr=""/>
          <p:cNvGraphicFramePr/>
          <p:nvPr/>
        </p:nvGraphicFramePr>
        <p:xfrm>
          <a:off x="731520" y="2468880"/>
          <a:ext cx="5669280" cy="3474720"/>
        </p:xfrm>
        <a:graphic xmlns:a="http://schemas.openxmlformats.org/drawingml/2006/main">
          <a:graphicData uri="http://schemas.openxmlformats.org/drawingml/2006/chart">
            <c:chart xmlns:c="http://schemas.openxmlformats.org/drawingml/2006/chart" r:id="rId1"/>
          </a:graphicData>
        </a:graphic>
      </p:graphicFrame>
      <p:sp>
        <p:nvSpPr>
          <p:cNvPr id="8" name="tm0c"/>
          <p:cNvSpPr/>
          <p:nvPr/>
        </p:nvSpPr>
        <p:spPr>
          <a:xfrm>
            <a:off x="6858000" y="169164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9" name="tm0b_c"/>
          <p:cNvSpPr/>
          <p:nvPr/>
        </p:nvSpPr>
        <p:spPr>
          <a:xfrm>
            <a:off x="7040880" y="1874520"/>
            <a:ext cx="502920" cy="502920"/>
          </a:xfrm>
          <a:prstGeom prst="ellipse">
            <a:avLst/>
          </a:prstGeom>
          <a:solidFill>
            <a:schemeClr val="accent2">
              <a:alpha val="28000"/>
            </a:schemeClr>
          </a:solidFill>
          <a:ln/>
        </p:spPr>
      </p:sp>
      <p:pic>
        <p:nvPicPr>
          <p:cNvPr id="10" name="tm0b_i" descr="LuFlaskConical">    </p:cNvPr>
          <p:cNvPicPr>
            <a:picLocks noChangeAspect="1"/>
          </p:cNvPicPr>
          <p:nvPr/>
        </p:nvPicPr>
        <p:blipFill>
          <a:blip r:embed="rId2"/>
          <a:stretch>
            <a:fillRect/>
          </a:stretch>
        </p:blipFill>
        <p:spPr>
          <a:xfrm>
            <a:off x="7166610" y="2000250"/>
            <a:ext cx="251460" cy="251460"/>
          </a:xfrm>
          <a:prstGeom prst="rect">
            <a:avLst/>
          </a:prstGeom>
        </p:spPr>
      </p:pic>
      <p:sp>
        <p:nvSpPr>
          <p:cNvPr id="11" name="tm0t"/>
          <p:cNvSpPr txBox="1"/>
          <p:nvPr/>
        </p:nvSpPr>
        <p:spPr>
          <a:xfrm>
            <a:off x="7040880" y="249631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Fixtures, no network</a:t>
            </a:r>
            <a:endParaRPr lang="en-US" sz="1600" dirty="0"/>
          </a:p>
        </p:txBody>
      </p:sp>
      <p:sp>
        <p:nvSpPr>
          <p:cNvPr id="12" name="tm0d"/>
          <p:cNvSpPr txBox="1"/>
          <p:nvPr/>
        </p:nvSpPr>
        <p:spPr>
          <a:xfrm>
            <a:off x="7040880" y="301752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A bundled AviationStack-shaped sample. No key needed.</a:t>
            </a:r>
            <a:endParaRPr lang="en-US" sz="1300" dirty="0"/>
          </a:p>
        </p:txBody>
      </p:sp>
      <p:sp>
        <p:nvSpPr>
          <p:cNvPr id="13" name="tm1c"/>
          <p:cNvSpPr/>
          <p:nvPr/>
        </p:nvSpPr>
        <p:spPr>
          <a:xfrm>
            <a:off x="9308592" y="169164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4" name="tm1b_c"/>
          <p:cNvSpPr/>
          <p:nvPr/>
        </p:nvSpPr>
        <p:spPr>
          <a:xfrm>
            <a:off x="9491472" y="1874520"/>
            <a:ext cx="502920" cy="502920"/>
          </a:xfrm>
          <a:prstGeom prst="ellipse">
            <a:avLst/>
          </a:prstGeom>
          <a:solidFill>
            <a:schemeClr val="accent1">
              <a:alpha val="28000"/>
            </a:schemeClr>
          </a:solidFill>
          <a:ln/>
        </p:spPr>
      </p:sp>
      <p:pic>
        <p:nvPicPr>
          <p:cNvPr id="15" name="tm1b_i" descr="LuMonitor">    </p:cNvPr>
          <p:cNvPicPr>
            <a:picLocks noChangeAspect="1"/>
          </p:cNvPicPr>
          <p:nvPr/>
        </p:nvPicPr>
        <p:blipFill>
          <a:blip r:embed="rId3"/>
          <a:stretch>
            <a:fillRect/>
          </a:stretch>
        </p:blipFill>
        <p:spPr>
          <a:xfrm>
            <a:off x="9617202" y="2000250"/>
            <a:ext cx="251460" cy="251460"/>
          </a:xfrm>
          <a:prstGeom prst="rect">
            <a:avLst/>
          </a:prstGeom>
        </p:spPr>
      </p:pic>
      <p:sp>
        <p:nvSpPr>
          <p:cNvPr id="16" name="tm1t"/>
          <p:cNvSpPr txBox="1"/>
          <p:nvPr/>
        </p:nvSpPr>
        <p:spPr>
          <a:xfrm>
            <a:off x="9491472" y="249631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Headless GUI tests</a:t>
            </a:r>
            <a:endParaRPr lang="en-US" sz="1600" dirty="0"/>
          </a:p>
        </p:txBody>
      </p:sp>
      <p:sp>
        <p:nvSpPr>
          <p:cNvPr id="17" name="tm1d"/>
          <p:cNvSpPr txBox="1"/>
          <p:nvPr/>
        </p:nvSpPr>
        <p:spPr>
          <a:xfrm>
            <a:off x="9491472" y="301752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Real widgets on the Qt offscreen platform.</a:t>
            </a:r>
            <a:endParaRPr lang="en-US" sz="1300" dirty="0"/>
          </a:p>
        </p:txBody>
      </p:sp>
      <p:sp>
        <p:nvSpPr>
          <p:cNvPr id="18" name="tm2c"/>
          <p:cNvSpPr/>
          <p:nvPr/>
        </p:nvSpPr>
        <p:spPr>
          <a:xfrm>
            <a:off x="6858000" y="393192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19" name="tm2b_c"/>
          <p:cNvSpPr/>
          <p:nvPr/>
        </p:nvSpPr>
        <p:spPr>
          <a:xfrm>
            <a:off x="7040880" y="4114800"/>
            <a:ext cx="502920" cy="502920"/>
          </a:xfrm>
          <a:prstGeom prst="ellipse">
            <a:avLst/>
          </a:prstGeom>
          <a:solidFill>
            <a:schemeClr val="accent3">
              <a:alpha val="28000"/>
            </a:schemeClr>
          </a:solidFill>
          <a:ln/>
        </p:spPr>
      </p:sp>
      <p:pic>
        <p:nvPicPr>
          <p:cNvPr id="20" name="tm2b_i" descr="LuBug">    </p:cNvPr>
          <p:cNvPicPr>
            <a:picLocks noChangeAspect="1"/>
          </p:cNvPicPr>
          <p:nvPr/>
        </p:nvPicPr>
        <p:blipFill>
          <a:blip r:embed="rId4"/>
          <a:stretch>
            <a:fillRect/>
          </a:stretch>
        </p:blipFill>
        <p:spPr>
          <a:xfrm>
            <a:off x="7166610" y="4240530"/>
            <a:ext cx="251460" cy="251460"/>
          </a:xfrm>
          <a:prstGeom prst="rect">
            <a:avLst/>
          </a:prstGeom>
        </p:spPr>
      </p:pic>
      <p:sp>
        <p:nvSpPr>
          <p:cNvPr id="21" name="tm2t"/>
          <p:cNvSpPr txBox="1"/>
          <p:nvPr/>
        </p:nvSpPr>
        <p:spPr>
          <a:xfrm>
            <a:off x="7040880" y="473659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Regression pins</a:t>
            </a:r>
            <a:endParaRPr lang="en-US" sz="1600" dirty="0"/>
          </a:p>
        </p:txBody>
      </p:sp>
      <p:sp>
        <p:nvSpPr>
          <p:cNvPr id="22" name="tm2d"/>
          <p:cNvSpPr txBox="1"/>
          <p:nvPr/>
        </p:nvSpPr>
        <p:spPr>
          <a:xfrm>
            <a:off x="7040880" y="525780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UTF-8 BOM in .env, API error bodies, connections.</a:t>
            </a:r>
            <a:endParaRPr lang="en-US" sz="1300" dirty="0"/>
          </a:p>
        </p:txBody>
      </p:sp>
      <p:sp>
        <p:nvSpPr>
          <p:cNvPr id="23" name="tm3c"/>
          <p:cNvSpPr/>
          <p:nvPr/>
        </p:nvSpPr>
        <p:spPr>
          <a:xfrm>
            <a:off x="9308592" y="3931920"/>
            <a:ext cx="2331720" cy="2103120"/>
          </a:xfrm>
          <a:prstGeom prst="roundRect">
            <a:avLst>
              <a:gd name="adj" fmla="val 5217"/>
            </a:avLst>
          </a:prstGeom>
          <a:solidFill>
            <a:schemeClr val="bg1">
              <a:alpha val="9000"/>
            </a:schemeClr>
          </a:solidFill>
          <a:ln w="9525">
            <a:solidFill>
              <a:schemeClr val="bg1">
                <a:alpha val="22000"/>
              </a:schemeClr>
            </a:solidFill>
            <a:prstDash val="solid"/>
          </a:ln>
        </p:spPr>
      </p:sp>
      <p:sp>
        <p:nvSpPr>
          <p:cNvPr id="24" name="tm3b_c"/>
          <p:cNvSpPr/>
          <p:nvPr/>
        </p:nvSpPr>
        <p:spPr>
          <a:xfrm>
            <a:off x="9491472" y="4114800"/>
            <a:ext cx="502920" cy="502920"/>
          </a:xfrm>
          <a:prstGeom prst="ellipse">
            <a:avLst/>
          </a:prstGeom>
          <a:solidFill>
            <a:schemeClr val="accent5">
              <a:alpha val="28000"/>
            </a:schemeClr>
          </a:solidFill>
          <a:ln/>
        </p:spPr>
      </p:sp>
      <p:pic>
        <p:nvPicPr>
          <p:cNvPr id="25" name="tm3b_i" descr="LuTriangleAlert">    </p:cNvPr>
          <p:cNvPicPr>
            <a:picLocks noChangeAspect="1"/>
          </p:cNvPicPr>
          <p:nvPr/>
        </p:nvPicPr>
        <p:blipFill>
          <a:blip r:embed="rId5"/>
          <a:stretch>
            <a:fillRect/>
          </a:stretch>
        </p:blipFill>
        <p:spPr>
          <a:xfrm>
            <a:off x="9617202" y="4240530"/>
            <a:ext cx="251460" cy="251460"/>
          </a:xfrm>
          <a:prstGeom prst="rect">
            <a:avLst/>
          </a:prstGeom>
        </p:spPr>
      </p:pic>
      <p:sp>
        <p:nvSpPr>
          <p:cNvPr id="26" name="tm3t"/>
          <p:cNvSpPr txBox="1"/>
          <p:nvPr/>
        </p:nvSpPr>
        <p:spPr>
          <a:xfrm>
            <a:off x="9491472" y="4736592"/>
            <a:ext cx="2011680" cy="502920"/>
          </a:xfrm>
          <a:prstGeom prst="rect">
            <a:avLst/>
          </a:prstGeom>
          <a:noFill/>
          <a:ln/>
        </p:spPr>
        <p:txBody>
          <a:bodyPr wrap="square" lIns="0" tIns="0" rIns="0" bIns="0" rtlCol="0" anchor="t"/>
          <a:lstStyle/>
          <a:p>
            <a:pPr algn="l" indent="0" marL="0">
              <a:buNone/>
            </a:pPr>
            <a:r>
              <a:rPr lang="en-US" sz="1600" b="1" dirty="0">
                <a:solidFill>
                  <a:schemeClr val="bg1"/>
                </a:solidFill>
              </a:rPr>
              <a:t>Edge cases</a:t>
            </a:r>
            <a:endParaRPr lang="en-US" sz="1600" dirty="0"/>
          </a:p>
        </p:txBody>
      </p:sp>
      <p:sp>
        <p:nvSpPr>
          <p:cNvPr id="27" name="tm3d"/>
          <p:cNvSpPr txBox="1"/>
          <p:nvPr/>
        </p:nvSpPr>
        <p:spPr>
          <a:xfrm>
            <a:off x="9491472" y="5257800"/>
            <a:ext cx="2011680" cy="731520"/>
          </a:xfrm>
          <a:prstGeom prst="rect">
            <a:avLst/>
          </a:prstGeom>
          <a:noFill/>
          <a:ln/>
        </p:spPr>
        <p:txBody>
          <a:bodyPr wrap="square" lIns="0" tIns="0" rIns="0" bIns="0" rtlCol="0" anchor="t"/>
          <a:lstStyle/>
          <a:p>
            <a:pPr algn="l" indent="0" marL="0">
              <a:buNone/>
            </a:pPr>
            <a:r>
              <a:rPr lang="en-US" sz="1300" dirty="0">
                <a:solidFill>
                  <a:schemeClr val="bg2"/>
                </a:solidFill>
              </a:rPr>
              <a:t>Bad status, date, negative delay, empty datasets.</a:t>
            </a:r>
            <a:endParaRPr lang="en-US" sz="1300" dirty="0"/>
          </a:p>
        </p:txBody>
      </p:sp>
      <p:sp>
        <p:nvSpPr>
          <p:cNvPr id="28" name="track"/>
          <p:cNvSpPr/>
          <p:nvPr/>
        </p:nvSpPr>
        <p:spPr>
          <a:xfrm>
            <a:off x="3383280" y="6510528"/>
            <a:ext cx="7132320" cy="0"/>
          </a:xfrm>
          <a:prstGeom prst="line">
            <a:avLst/>
          </a:prstGeom>
          <a:noFill/>
          <a:ln w="12700">
            <a:solidFill>
              <a:schemeClr val="bg2">
                <a:alpha val="45000"/>
              </a:schemeClr>
            </a:solidFill>
            <a:prstDash val="dash"/>
          </a:ln>
        </p:spPr>
      </p:sp>
      <p:sp>
        <p:nvSpPr>
          <p:cNvPr id="29" name="progress"/>
          <p:cNvSpPr/>
          <p:nvPr/>
        </p:nvSpPr>
        <p:spPr>
          <a:xfrm>
            <a:off x="3383280" y="6510528"/>
            <a:ext cx="5164783" cy="0"/>
          </a:xfrm>
          <a:prstGeom prst="line">
            <a:avLst/>
          </a:prstGeom>
          <a:noFill/>
          <a:ln w="28575">
            <a:solidFill>
              <a:schemeClr val="accent2"/>
            </a:solidFill>
            <a:prstDash val="solid"/>
          </a:ln>
        </p:spPr>
      </p:sp>
      <p:sp>
        <p:nvSpPr>
          <p:cNvPr id="30" name="wp0"/>
          <p:cNvSpPr/>
          <p:nvPr/>
        </p:nvSpPr>
        <p:spPr>
          <a:xfrm>
            <a:off x="3834016" y="6469380"/>
            <a:ext cx="82296" cy="82296"/>
          </a:xfrm>
          <a:prstGeom prst="ellipse">
            <a:avLst/>
          </a:prstGeom>
          <a:solidFill>
            <a:schemeClr val="accent2"/>
          </a:solidFill>
          <a:ln/>
        </p:spPr>
      </p:sp>
      <p:sp>
        <p:nvSpPr>
          <p:cNvPr id="31" name="wp1"/>
          <p:cNvSpPr/>
          <p:nvPr/>
        </p:nvSpPr>
        <p:spPr>
          <a:xfrm>
            <a:off x="4817784" y="6469380"/>
            <a:ext cx="82296" cy="82296"/>
          </a:xfrm>
          <a:prstGeom prst="ellipse">
            <a:avLst/>
          </a:prstGeom>
          <a:solidFill>
            <a:schemeClr val="accent2"/>
          </a:solidFill>
          <a:ln/>
        </p:spPr>
      </p:sp>
      <p:sp>
        <p:nvSpPr>
          <p:cNvPr id="32" name="wp2"/>
          <p:cNvSpPr/>
          <p:nvPr/>
        </p:nvSpPr>
        <p:spPr>
          <a:xfrm>
            <a:off x="7277205" y="6469380"/>
            <a:ext cx="82296" cy="82296"/>
          </a:xfrm>
          <a:prstGeom prst="ellipse">
            <a:avLst/>
          </a:prstGeom>
          <a:solidFill>
            <a:schemeClr val="accent2"/>
          </a:solidFill>
          <a:ln/>
        </p:spPr>
      </p:sp>
      <p:sp>
        <p:nvSpPr>
          <p:cNvPr id="33" name="wp3"/>
          <p:cNvSpPr/>
          <p:nvPr/>
        </p:nvSpPr>
        <p:spPr>
          <a:xfrm>
            <a:off x="8506915" y="6469380"/>
            <a:ext cx="82296" cy="82296"/>
          </a:xfrm>
          <a:prstGeom prst="ellipse">
            <a:avLst/>
          </a:prstGeom>
          <a:solidFill>
            <a:schemeClr val="accent2"/>
          </a:solidFill>
          <a:ln/>
        </p:spPr>
      </p:sp>
      <p:sp>
        <p:nvSpPr>
          <p:cNvPr id="34" name="wp4"/>
          <p:cNvSpPr/>
          <p:nvPr/>
        </p:nvSpPr>
        <p:spPr>
          <a:xfrm>
            <a:off x="9982568" y="6469380"/>
            <a:ext cx="82296" cy="82296"/>
          </a:xfrm>
          <a:prstGeom prst="ellipse">
            <a:avLst/>
          </a:prstGeom>
          <a:solidFill>
            <a:schemeClr val="bg2">
              <a:alpha val="60000"/>
            </a:schemeClr>
          </a:solidFill>
          <a:ln/>
        </p:spPr>
      </p:sp>
      <p:sp>
        <p:nvSpPr>
          <p:cNvPr id="35" name="progress_ext"/>
          <p:cNvSpPr/>
          <p:nvPr/>
        </p:nvSpPr>
        <p:spPr>
          <a:xfrm>
            <a:off x="8548063" y="6510528"/>
            <a:ext cx="245942" cy="0"/>
          </a:xfrm>
          <a:prstGeom prst="line">
            <a:avLst/>
          </a:prstGeom>
          <a:noFill/>
          <a:ln w="28575">
            <a:solidFill>
              <a:schemeClr val="accent2"/>
            </a:solidFill>
            <a:prstDash val="solid"/>
          </a:ln>
        </p:spPr>
      </p:sp>
      <p:pic>
        <p:nvPicPr>
          <p:cNvPr id="36" name="!!tracker" descr="Progress marker">    </p:cNvPr>
          <p:cNvPicPr>
            <a:picLocks noChangeAspect="1"/>
          </p:cNvPicPr>
          <p:nvPr/>
        </p:nvPicPr>
        <p:blipFill>
          <a:blip r:embed="rId6"/>
          <a:stretch>
            <a:fillRect/>
          </a:stretch>
        </p:blipFill>
        <p:spPr>
          <a:xfrm>
            <a:off x="8365183"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10"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600"/>
                                        <p:tgtEl>
                                          <p:spTgt spid="5"/>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par>
                                <p:cTn id="19" presetID="22" presetClass="entr" presetSubtype="8" fill="hold" grpId="0" nodeType="withEffect">
                                  <p:stCondLst>
                                    <p:cond delay="50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1200"/>
                                        <p:tgtEl>
                                          <p:spTgt spid="7"/>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50" fill="hold"/>
                                        <p:tgtEl>
                                          <p:spTgt spid="8"/>
                                        </p:tgtEl>
                                        <p:attrNameLst>
                                          <p:attrName>ppt_y</p:attrName>
                                        </p:attrNameLst>
                                      </p:cBhvr>
                                      <p:tavLst>
                                        <p:tav tm="0">
                                          <p:val>
                                            <p:strVal val="#ppt_y+.1"/>
                                          </p:val>
                                        </p:tav>
                                        <p:tav tm="100000">
                                          <p:val>
                                            <p:strVal val="#ppt_y"/>
                                          </p:val>
                                        </p:tav>
                                      </p:tavLst>
                                    </p:anim>
                                    <p:animEffect transition="in" filter="fade">
                                      <p:cBhvr>
                                        <p:cTn id="27" dur="550"/>
                                        <p:tgtEl>
                                          <p:spTgt spid="8"/>
                                        </p:tgtEl>
                                      </p:cBhvr>
                                    </p:animEffect>
                                  </p:childTnLst>
                                </p:cTn>
                              </p:par>
                              <p:par>
                                <p:cTn id="28" presetID="42" presetClass="entr" presetSubtype="0" fill="hold" grpId="0" nodeType="with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50" fill="hold"/>
                                        <p:tgtEl>
                                          <p:spTgt spid="9"/>
                                        </p:tgtEl>
                                        <p:attrNameLst>
                                          <p:attrName>ppt_y</p:attrName>
                                        </p:attrNameLst>
                                      </p:cBhvr>
                                      <p:tavLst>
                                        <p:tav tm="0">
                                          <p:val>
                                            <p:strVal val="#ppt_y+.1"/>
                                          </p:val>
                                        </p:tav>
                                        <p:tav tm="100000">
                                          <p:val>
                                            <p:strVal val="#ppt_y"/>
                                          </p:val>
                                        </p:tav>
                                      </p:tavLst>
                                    </p:anim>
                                    <p:animEffect transition="in" filter="fade">
                                      <p:cBhvr>
                                        <p:cTn id="31" dur="550"/>
                                        <p:tgtEl>
                                          <p:spTgt spid="9"/>
                                        </p:tgtEl>
                                      </p:cBhvr>
                                    </p:animEffect>
                                  </p:childTnLst>
                                </p:cTn>
                              </p:par>
                              <p:par>
                                <p:cTn id="32" presetID="42" presetClass="entr" presetSubtype="0"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50" fill="hold"/>
                                        <p:tgtEl>
                                          <p:spTgt spid="10"/>
                                        </p:tgtEl>
                                        <p:attrNameLst>
                                          <p:attrName>ppt_y</p:attrName>
                                        </p:attrNameLst>
                                      </p:cBhvr>
                                      <p:tavLst>
                                        <p:tav tm="0">
                                          <p:val>
                                            <p:strVal val="#ppt_y+.1"/>
                                          </p:val>
                                        </p:tav>
                                        <p:tav tm="100000">
                                          <p:val>
                                            <p:strVal val="#ppt_y"/>
                                          </p:val>
                                        </p:tav>
                                      </p:tavLst>
                                    </p:anim>
                                    <p:animEffect transition="in" filter="fade">
                                      <p:cBhvr>
                                        <p:cTn id="35" dur="550"/>
                                        <p:tgtEl>
                                          <p:spTgt spid="10"/>
                                        </p:tgtEl>
                                      </p:cBhvr>
                                    </p:animEffect>
                                  </p:childTnLst>
                                </p:cTn>
                              </p:par>
                              <p:par>
                                <p:cTn id="36" presetID="42"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 calcmode="lin" valueType="num">
                                      <p:cBhvr additive="base">
                                        <p:cTn id="38" dur="550" fill="hold"/>
                                        <p:tgtEl>
                                          <p:spTgt spid="11"/>
                                        </p:tgtEl>
                                        <p:attrNameLst>
                                          <p:attrName>ppt_y</p:attrName>
                                        </p:attrNameLst>
                                      </p:cBhvr>
                                      <p:tavLst>
                                        <p:tav tm="0">
                                          <p:val>
                                            <p:strVal val="#ppt_y+.1"/>
                                          </p:val>
                                        </p:tav>
                                        <p:tav tm="100000">
                                          <p:val>
                                            <p:strVal val="#ppt_y"/>
                                          </p:val>
                                        </p:tav>
                                      </p:tavLst>
                                    </p:anim>
                                    <p:animEffect transition="in" filter="fade">
                                      <p:cBhvr>
                                        <p:cTn id="39" dur="550"/>
                                        <p:tgtEl>
                                          <p:spTgt spid="11"/>
                                        </p:tgtEl>
                                      </p:cBhvr>
                                    </p:animEffect>
                                  </p:childTnLst>
                                </p:cTn>
                              </p:par>
                              <p:par>
                                <p:cTn id="40" presetID="42" presetClass="entr" presetSubtype="0"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550" fill="hold"/>
                                        <p:tgtEl>
                                          <p:spTgt spid="12"/>
                                        </p:tgtEl>
                                        <p:attrNameLst>
                                          <p:attrName>ppt_y</p:attrName>
                                        </p:attrNameLst>
                                      </p:cBhvr>
                                      <p:tavLst>
                                        <p:tav tm="0">
                                          <p:val>
                                            <p:strVal val="#ppt_y+.1"/>
                                          </p:val>
                                        </p:tav>
                                        <p:tav tm="100000">
                                          <p:val>
                                            <p:strVal val="#ppt_y"/>
                                          </p:val>
                                        </p:tav>
                                      </p:tavLst>
                                    </p:anim>
                                    <p:animEffect transition="in" filter="fade">
                                      <p:cBhvr>
                                        <p:cTn id="43" dur="550"/>
                                        <p:tgtEl>
                                          <p:spTgt spid="12"/>
                                        </p:tgtEl>
                                      </p:cBhvr>
                                    </p:animEffect>
                                  </p:childTnLst>
                                </p:cTn>
                              </p:par>
                              <p:par>
                                <p:cTn id="44" presetID="42" presetClass="entr" presetSubtype="0" fill="hold" grpId="0" nodeType="withEffect">
                                  <p:stCondLst>
                                    <p:cond delay="350"/>
                                  </p:stCondLst>
                                  <p:childTnLst>
                                    <p:set>
                                      <p:cBhvr>
                                        <p:cTn id="45" dur="1" fill="hold">
                                          <p:stCondLst>
                                            <p:cond delay="0"/>
                                          </p:stCondLst>
                                        </p:cTn>
                                        <p:tgtEl>
                                          <p:spTgt spid="13"/>
                                        </p:tgtEl>
                                        <p:attrNameLst>
                                          <p:attrName>style.visibility</p:attrName>
                                        </p:attrNameLst>
                                      </p:cBhvr>
                                      <p:to>
                                        <p:strVal val="visible"/>
                                      </p:to>
                                    </p:set>
                                    <p:anim calcmode="lin" valueType="num">
                                      <p:cBhvr additive="base">
                                        <p:cTn id="46" dur="550" fill="hold"/>
                                        <p:tgtEl>
                                          <p:spTgt spid="13"/>
                                        </p:tgtEl>
                                        <p:attrNameLst>
                                          <p:attrName>ppt_y</p:attrName>
                                        </p:attrNameLst>
                                      </p:cBhvr>
                                      <p:tavLst>
                                        <p:tav tm="0">
                                          <p:val>
                                            <p:strVal val="#ppt_y+.1"/>
                                          </p:val>
                                        </p:tav>
                                        <p:tav tm="100000">
                                          <p:val>
                                            <p:strVal val="#ppt_y"/>
                                          </p:val>
                                        </p:tav>
                                      </p:tavLst>
                                    </p:anim>
                                    <p:animEffect transition="in" filter="fade">
                                      <p:cBhvr>
                                        <p:cTn id="47" dur="550"/>
                                        <p:tgtEl>
                                          <p:spTgt spid="13"/>
                                        </p:tgtEl>
                                      </p:cBhvr>
                                    </p:animEffect>
                                  </p:childTnLst>
                                </p:cTn>
                              </p:par>
                              <p:par>
                                <p:cTn id="48" presetID="42" presetClass="entr" presetSubtype="0" fill="hold" grpId="0" nodeType="withEffect">
                                  <p:stCondLst>
                                    <p:cond delay="350"/>
                                  </p:stCondLst>
                                  <p:childTnLst>
                                    <p:set>
                                      <p:cBhvr>
                                        <p:cTn id="49" dur="1" fill="hold">
                                          <p:stCondLst>
                                            <p:cond delay="0"/>
                                          </p:stCondLst>
                                        </p:cTn>
                                        <p:tgtEl>
                                          <p:spTgt spid="14"/>
                                        </p:tgtEl>
                                        <p:attrNameLst>
                                          <p:attrName>style.visibility</p:attrName>
                                        </p:attrNameLst>
                                      </p:cBhvr>
                                      <p:to>
                                        <p:strVal val="visible"/>
                                      </p:to>
                                    </p:set>
                                    <p:anim calcmode="lin" valueType="num">
                                      <p:cBhvr additive="base">
                                        <p:cTn id="50" dur="550" fill="hold"/>
                                        <p:tgtEl>
                                          <p:spTgt spid="14"/>
                                        </p:tgtEl>
                                        <p:attrNameLst>
                                          <p:attrName>ppt_y</p:attrName>
                                        </p:attrNameLst>
                                      </p:cBhvr>
                                      <p:tavLst>
                                        <p:tav tm="0">
                                          <p:val>
                                            <p:strVal val="#ppt_y+.1"/>
                                          </p:val>
                                        </p:tav>
                                        <p:tav tm="100000">
                                          <p:val>
                                            <p:strVal val="#ppt_y"/>
                                          </p:val>
                                        </p:tav>
                                      </p:tavLst>
                                    </p:anim>
                                    <p:animEffect transition="in" filter="fade">
                                      <p:cBhvr>
                                        <p:cTn id="51" dur="550"/>
                                        <p:tgtEl>
                                          <p:spTgt spid="14"/>
                                        </p:tgtEl>
                                      </p:cBhvr>
                                    </p:animEffect>
                                  </p:childTnLst>
                                </p:cTn>
                              </p:par>
                              <p:par>
                                <p:cTn id="52" presetID="42" presetClass="entr" presetSubtype="0" fill="hold" nodeType="withEffect">
                                  <p:stCondLst>
                                    <p:cond delay="35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50" fill="hold"/>
                                        <p:tgtEl>
                                          <p:spTgt spid="15"/>
                                        </p:tgtEl>
                                        <p:attrNameLst>
                                          <p:attrName>ppt_y</p:attrName>
                                        </p:attrNameLst>
                                      </p:cBhvr>
                                      <p:tavLst>
                                        <p:tav tm="0">
                                          <p:val>
                                            <p:strVal val="#ppt_y+.1"/>
                                          </p:val>
                                        </p:tav>
                                        <p:tav tm="100000">
                                          <p:val>
                                            <p:strVal val="#ppt_y"/>
                                          </p:val>
                                        </p:tav>
                                      </p:tavLst>
                                    </p:anim>
                                    <p:animEffect transition="in" filter="fade">
                                      <p:cBhvr>
                                        <p:cTn id="55" dur="550"/>
                                        <p:tgtEl>
                                          <p:spTgt spid="15"/>
                                        </p:tgtEl>
                                      </p:cBhvr>
                                    </p:animEffect>
                                  </p:childTnLst>
                                </p:cTn>
                              </p:par>
                              <p:par>
                                <p:cTn id="56" presetID="42" presetClass="entr" presetSubtype="0" fill="hold" grpId="0" nodeType="withEffect">
                                  <p:stCondLst>
                                    <p:cond delay="350"/>
                                  </p:stCondLst>
                                  <p:childTnLst>
                                    <p:set>
                                      <p:cBhvr>
                                        <p:cTn id="57" dur="1" fill="hold">
                                          <p:stCondLst>
                                            <p:cond delay="0"/>
                                          </p:stCondLst>
                                        </p:cTn>
                                        <p:tgtEl>
                                          <p:spTgt spid="16"/>
                                        </p:tgtEl>
                                        <p:attrNameLst>
                                          <p:attrName>style.visibility</p:attrName>
                                        </p:attrNameLst>
                                      </p:cBhvr>
                                      <p:to>
                                        <p:strVal val="visible"/>
                                      </p:to>
                                    </p:set>
                                    <p:anim calcmode="lin" valueType="num">
                                      <p:cBhvr additive="base">
                                        <p:cTn id="58" dur="550" fill="hold"/>
                                        <p:tgtEl>
                                          <p:spTgt spid="16"/>
                                        </p:tgtEl>
                                        <p:attrNameLst>
                                          <p:attrName>ppt_y</p:attrName>
                                        </p:attrNameLst>
                                      </p:cBhvr>
                                      <p:tavLst>
                                        <p:tav tm="0">
                                          <p:val>
                                            <p:strVal val="#ppt_y+.1"/>
                                          </p:val>
                                        </p:tav>
                                        <p:tav tm="100000">
                                          <p:val>
                                            <p:strVal val="#ppt_y"/>
                                          </p:val>
                                        </p:tav>
                                      </p:tavLst>
                                    </p:anim>
                                    <p:animEffect transition="in" filter="fade">
                                      <p:cBhvr>
                                        <p:cTn id="59" dur="550"/>
                                        <p:tgtEl>
                                          <p:spTgt spid="16"/>
                                        </p:tgtEl>
                                      </p:cBhvr>
                                    </p:animEffect>
                                  </p:childTnLst>
                                </p:cTn>
                              </p:par>
                              <p:par>
                                <p:cTn id="60" presetID="42" presetClass="entr" presetSubtype="0" fill="hold" grpId="0" nodeType="withEffect">
                                  <p:stCondLst>
                                    <p:cond delay="350"/>
                                  </p:stCondLst>
                                  <p:childTnLst>
                                    <p:set>
                                      <p:cBhvr>
                                        <p:cTn id="61" dur="1" fill="hold">
                                          <p:stCondLst>
                                            <p:cond delay="0"/>
                                          </p:stCondLst>
                                        </p:cTn>
                                        <p:tgtEl>
                                          <p:spTgt spid="17"/>
                                        </p:tgtEl>
                                        <p:attrNameLst>
                                          <p:attrName>style.visibility</p:attrName>
                                        </p:attrNameLst>
                                      </p:cBhvr>
                                      <p:to>
                                        <p:strVal val="visible"/>
                                      </p:to>
                                    </p:set>
                                    <p:anim calcmode="lin" valueType="num">
                                      <p:cBhvr additive="base">
                                        <p:cTn id="62" dur="550" fill="hold"/>
                                        <p:tgtEl>
                                          <p:spTgt spid="17"/>
                                        </p:tgtEl>
                                        <p:attrNameLst>
                                          <p:attrName>ppt_y</p:attrName>
                                        </p:attrNameLst>
                                      </p:cBhvr>
                                      <p:tavLst>
                                        <p:tav tm="0">
                                          <p:val>
                                            <p:strVal val="#ppt_y+.1"/>
                                          </p:val>
                                        </p:tav>
                                        <p:tav tm="100000">
                                          <p:val>
                                            <p:strVal val="#ppt_y"/>
                                          </p:val>
                                        </p:tav>
                                      </p:tavLst>
                                    </p:anim>
                                    <p:animEffect transition="in" filter="fade">
                                      <p:cBhvr>
                                        <p:cTn id="63" dur="550"/>
                                        <p:tgtEl>
                                          <p:spTgt spid="17"/>
                                        </p:tgtEl>
                                      </p:cBhvr>
                                    </p:animEffect>
                                  </p:childTnLst>
                                </p:cTn>
                              </p:par>
                              <p:par>
                                <p:cTn id="64" presetID="42" presetClass="entr" presetSubtype="0" fill="hold" grpId="0" nodeType="withEffect">
                                  <p:stCondLst>
                                    <p:cond delay="700"/>
                                  </p:stCondLst>
                                  <p:childTnLst>
                                    <p:set>
                                      <p:cBhvr>
                                        <p:cTn id="65" dur="1" fill="hold">
                                          <p:stCondLst>
                                            <p:cond delay="0"/>
                                          </p:stCondLst>
                                        </p:cTn>
                                        <p:tgtEl>
                                          <p:spTgt spid="18"/>
                                        </p:tgtEl>
                                        <p:attrNameLst>
                                          <p:attrName>style.visibility</p:attrName>
                                        </p:attrNameLst>
                                      </p:cBhvr>
                                      <p:to>
                                        <p:strVal val="visible"/>
                                      </p:to>
                                    </p:set>
                                    <p:anim calcmode="lin" valueType="num">
                                      <p:cBhvr additive="base">
                                        <p:cTn id="66" dur="550" fill="hold"/>
                                        <p:tgtEl>
                                          <p:spTgt spid="18"/>
                                        </p:tgtEl>
                                        <p:attrNameLst>
                                          <p:attrName>ppt_y</p:attrName>
                                        </p:attrNameLst>
                                      </p:cBhvr>
                                      <p:tavLst>
                                        <p:tav tm="0">
                                          <p:val>
                                            <p:strVal val="#ppt_y+.1"/>
                                          </p:val>
                                        </p:tav>
                                        <p:tav tm="100000">
                                          <p:val>
                                            <p:strVal val="#ppt_y"/>
                                          </p:val>
                                        </p:tav>
                                      </p:tavLst>
                                    </p:anim>
                                    <p:animEffect transition="in" filter="fade">
                                      <p:cBhvr>
                                        <p:cTn id="67" dur="550"/>
                                        <p:tgtEl>
                                          <p:spTgt spid="18"/>
                                        </p:tgtEl>
                                      </p:cBhvr>
                                    </p:animEffect>
                                  </p:childTnLst>
                                </p:cTn>
                              </p:par>
                              <p:par>
                                <p:cTn id="68" presetID="42" presetClass="entr" presetSubtype="0" fill="hold" grpId="0" nodeType="withEffect">
                                  <p:stCondLst>
                                    <p:cond delay="700"/>
                                  </p:stCondLst>
                                  <p:childTnLst>
                                    <p:set>
                                      <p:cBhvr>
                                        <p:cTn id="69" dur="1" fill="hold">
                                          <p:stCondLst>
                                            <p:cond delay="0"/>
                                          </p:stCondLst>
                                        </p:cTn>
                                        <p:tgtEl>
                                          <p:spTgt spid="19"/>
                                        </p:tgtEl>
                                        <p:attrNameLst>
                                          <p:attrName>style.visibility</p:attrName>
                                        </p:attrNameLst>
                                      </p:cBhvr>
                                      <p:to>
                                        <p:strVal val="visible"/>
                                      </p:to>
                                    </p:set>
                                    <p:anim calcmode="lin" valueType="num">
                                      <p:cBhvr additive="base">
                                        <p:cTn id="70" dur="550" fill="hold"/>
                                        <p:tgtEl>
                                          <p:spTgt spid="19"/>
                                        </p:tgtEl>
                                        <p:attrNameLst>
                                          <p:attrName>ppt_y</p:attrName>
                                        </p:attrNameLst>
                                      </p:cBhvr>
                                      <p:tavLst>
                                        <p:tav tm="0">
                                          <p:val>
                                            <p:strVal val="#ppt_y+.1"/>
                                          </p:val>
                                        </p:tav>
                                        <p:tav tm="100000">
                                          <p:val>
                                            <p:strVal val="#ppt_y"/>
                                          </p:val>
                                        </p:tav>
                                      </p:tavLst>
                                    </p:anim>
                                    <p:animEffect transition="in" filter="fade">
                                      <p:cBhvr>
                                        <p:cTn id="71" dur="550"/>
                                        <p:tgtEl>
                                          <p:spTgt spid="19"/>
                                        </p:tgtEl>
                                      </p:cBhvr>
                                    </p:animEffect>
                                  </p:childTnLst>
                                </p:cTn>
                              </p:par>
                              <p:par>
                                <p:cTn id="72" presetID="42" presetClass="entr" presetSubtype="0" fill="hold" nodeType="withEffect">
                                  <p:stCondLst>
                                    <p:cond delay="700"/>
                                  </p:stCondLst>
                                  <p:childTnLst>
                                    <p:set>
                                      <p:cBhvr>
                                        <p:cTn id="73" dur="1" fill="hold">
                                          <p:stCondLst>
                                            <p:cond delay="0"/>
                                          </p:stCondLst>
                                        </p:cTn>
                                        <p:tgtEl>
                                          <p:spTgt spid="20"/>
                                        </p:tgtEl>
                                        <p:attrNameLst>
                                          <p:attrName>style.visibility</p:attrName>
                                        </p:attrNameLst>
                                      </p:cBhvr>
                                      <p:to>
                                        <p:strVal val="visible"/>
                                      </p:to>
                                    </p:set>
                                    <p:anim calcmode="lin" valueType="num">
                                      <p:cBhvr additive="base">
                                        <p:cTn id="74" dur="550" fill="hold"/>
                                        <p:tgtEl>
                                          <p:spTgt spid="20"/>
                                        </p:tgtEl>
                                        <p:attrNameLst>
                                          <p:attrName>ppt_y</p:attrName>
                                        </p:attrNameLst>
                                      </p:cBhvr>
                                      <p:tavLst>
                                        <p:tav tm="0">
                                          <p:val>
                                            <p:strVal val="#ppt_y+.1"/>
                                          </p:val>
                                        </p:tav>
                                        <p:tav tm="100000">
                                          <p:val>
                                            <p:strVal val="#ppt_y"/>
                                          </p:val>
                                        </p:tav>
                                      </p:tavLst>
                                    </p:anim>
                                    <p:animEffect transition="in" filter="fade">
                                      <p:cBhvr>
                                        <p:cTn id="75" dur="550"/>
                                        <p:tgtEl>
                                          <p:spTgt spid="20"/>
                                        </p:tgtEl>
                                      </p:cBhvr>
                                    </p:animEffect>
                                  </p:childTnLst>
                                </p:cTn>
                              </p:par>
                              <p:par>
                                <p:cTn id="76" presetID="42" presetClass="entr" presetSubtype="0" fill="hold" grpId="0" nodeType="withEffect">
                                  <p:stCondLst>
                                    <p:cond delay="700"/>
                                  </p:stCondLst>
                                  <p:childTnLst>
                                    <p:set>
                                      <p:cBhvr>
                                        <p:cTn id="77" dur="1" fill="hold">
                                          <p:stCondLst>
                                            <p:cond delay="0"/>
                                          </p:stCondLst>
                                        </p:cTn>
                                        <p:tgtEl>
                                          <p:spTgt spid="21"/>
                                        </p:tgtEl>
                                        <p:attrNameLst>
                                          <p:attrName>style.visibility</p:attrName>
                                        </p:attrNameLst>
                                      </p:cBhvr>
                                      <p:to>
                                        <p:strVal val="visible"/>
                                      </p:to>
                                    </p:set>
                                    <p:anim calcmode="lin" valueType="num">
                                      <p:cBhvr additive="base">
                                        <p:cTn id="78" dur="550" fill="hold"/>
                                        <p:tgtEl>
                                          <p:spTgt spid="21"/>
                                        </p:tgtEl>
                                        <p:attrNameLst>
                                          <p:attrName>ppt_y</p:attrName>
                                        </p:attrNameLst>
                                      </p:cBhvr>
                                      <p:tavLst>
                                        <p:tav tm="0">
                                          <p:val>
                                            <p:strVal val="#ppt_y+.1"/>
                                          </p:val>
                                        </p:tav>
                                        <p:tav tm="100000">
                                          <p:val>
                                            <p:strVal val="#ppt_y"/>
                                          </p:val>
                                        </p:tav>
                                      </p:tavLst>
                                    </p:anim>
                                    <p:animEffect transition="in" filter="fade">
                                      <p:cBhvr>
                                        <p:cTn id="79" dur="550"/>
                                        <p:tgtEl>
                                          <p:spTgt spid="21"/>
                                        </p:tgtEl>
                                      </p:cBhvr>
                                    </p:animEffect>
                                  </p:childTnLst>
                                </p:cTn>
                              </p:par>
                              <p:par>
                                <p:cTn id="80" presetID="42" presetClass="entr" presetSubtype="0" fill="hold" grpId="0" nodeType="withEffect">
                                  <p:stCondLst>
                                    <p:cond delay="700"/>
                                  </p:stCondLst>
                                  <p:childTnLst>
                                    <p:set>
                                      <p:cBhvr>
                                        <p:cTn id="81" dur="1" fill="hold">
                                          <p:stCondLst>
                                            <p:cond delay="0"/>
                                          </p:stCondLst>
                                        </p:cTn>
                                        <p:tgtEl>
                                          <p:spTgt spid="22"/>
                                        </p:tgtEl>
                                        <p:attrNameLst>
                                          <p:attrName>style.visibility</p:attrName>
                                        </p:attrNameLst>
                                      </p:cBhvr>
                                      <p:to>
                                        <p:strVal val="visible"/>
                                      </p:to>
                                    </p:set>
                                    <p:anim calcmode="lin" valueType="num">
                                      <p:cBhvr additive="base">
                                        <p:cTn id="82" dur="550" fill="hold"/>
                                        <p:tgtEl>
                                          <p:spTgt spid="22"/>
                                        </p:tgtEl>
                                        <p:attrNameLst>
                                          <p:attrName>ppt_y</p:attrName>
                                        </p:attrNameLst>
                                      </p:cBhvr>
                                      <p:tavLst>
                                        <p:tav tm="0">
                                          <p:val>
                                            <p:strVal val="#ppt_y+.1"/>
                                          </p:val>
                                        </p:tav>
                                        <p:tav tm="100000">
                                          <p:val>
                                            <p:strVal val="#ppt_y"/>
                                          </p:val>
                                        </p:tav>
                                      </p:tavLst>
                                    </p:anim>
                                    <p:animEffect transition="in" filter="fade">
                                      <p:cBhvr>
                                        <p:cTn id="83" dur="550"/>
                                        <p:tgtEl>
                                          <p:spTgt spid="22"/>
                                        </p:tgtEl>
                                      </p:cBhvr>
                                    </p:animEffect>
                                  </p:childTnLst>
                                </p:cTn>
                              </p:par>
                              <p:par>
                                <p:cTn id="84" presetID="42" presetClass="entr" presetSubtype="0" fill="hold" grpId="0" nodeType="withEffect">
                                  <p:stCondLst>
                                    <p:cond delay="1050"/>
                                  </p:stCondLst>
                                  <p:childTnLst>
                                    <p:set>
                                      <p:cBhvr>
                                        <p:cTn id="85" dur="1" fill="hold">
                                          <p:stCondLst>
                                            <p:cond delay="0"/>
                                          </p:stCondLst>
                                        </p:cTn>
                                        <p:tgtEl>
                                          <p:spTgt spid="23"/>
                                        </p:tgtEl>
                                        <p:attrNameLst>
                                          <p:attrName>style.visibility</p:attrName>
                                        </p:attrNameLst>
                                      </p:cBhvr>
                                      <p:to>
                                        <p:strVal val="visible"/>
                                      </p:to>
                                    </p:set>
                                    <p:anim calcmode="lin" valueType="num">
                                      <p:cBhvr additive="base">
                                        <p:cTn id="86" dur="550" fill="hold"/>
                                        <p:tgtEl>
                                          <p:spTgt spid="23"/>
                                        </p:tgtEl>
                                        <p:attrNameLst>
                                          <p:attrName>ppt_y</p:attrName>
                                        </p:attrNameLst>
                                      </p:cBhvr>
                                      <p:tavLst>
                                        <p:tav tm="0">
                                          <p:val>
                                            <p:strVal val="#ppt_y+.1"/>
                                          </p:val>
                                        </p:tav>
                                        <p:tav tm="100000">
                                          <p:val>
                                            <p:strVal val="#ppt_y"/>
                                          </p:val>
                                        </p:tav>
                                      </p:tavLst>
                                    </p:anim>
                                    <p:animEffect transition="in" filter="fade">
                                      <p:cBhvr>
                                        <p:cTn id="87" dur="550"/>
                                        <p:tgtEl>
                                          <p:spTgt spid="23"/>
                                        </p:tgtEl>
                                      </p:cBhvr>
                                    </p:animEffect>
                                  </p:childTnLst>
                                </p:cTn>
                              </p:par>
                              <p:par>
                                <p:cTn id="88" presetID="42" presetClass="entr" presetSubtype="0" fill="hold" grpId="0" nodeType="withEffect">
                                  <p:stCondLst>
                                    <p:cond delay="1050"/>
                                  </p:stCondLst>
                                  <p:childTnLst>
                                    <p:set>
                                      <p:cBhvr>
                                        <p:cTn id="89" dur="1" fill="hold">
                                          <p:stCondLst>
                                            <p:cond delay="0"/>
                                          </p:stCondLst>
                                        </p:cTn>
                                        <p:tgtEl>
                                          <p:spTgt spid="24"/>
                                        </p:tgtEl>
                                        <p:attrNameLst>
                                          <p:attrName>style.visibility</p:attrName>
                                        </p:attrNameLst>
                                      </p:cBhvr>
                                      <p:to>
                                        <p:strVal val="visible"/>
                                      </p:to>
                                    </p:set>
                                    <p:anim calcmode="lin" valueType="num">
                                      <p:cBhvr additive="base">
                                        <p:cTn id="90" dur="550" fill="hold"/>
                                        <p:tgtEl>
                                          <p:spTgt spid="24"/>
                                        </p:tgtEl>
                                        <p:attrNameLst>
                                          <p:attrName>ppt_y</p:attrName>
                                        </p:attrNameLst>
                                      </p:cBhvr>
                                      <p:tavLst>
                                        <p:tav tm="0">
                                          <p:val>
                                            <p:strVal val="#ppt_y+.1"/>
                                          </p:val>
                                        </p:tav>
                                        <p:tav tm="100000">
                                          <p:val>
                                            <p:strVal val="#ppt_y"/>
                                          </p:val>
                                        </p:tav>
                                      </p:tavLst>
                                    </p:anim>
                                    <p:animEffect transition="in" filter="fade">
                                      <p:cBhvr>
                                        <p:cTn id="91" dur="550"/>
                                        <p:tgtEl>
                                          <p:spTgt spid="24"/>
                                        </p:tgtEl>
                                      </p:cBhvr>
                                    </p:animEffect>
                                  </p:childTnLst>
                                </p:cTn>
                              </p:par>
                              <p:par>
                                <p:cTn id="92" presetID="42" presetClass="entr" presetSubtype="0" fill="hold" nodeType="withEffect">
                                  <p:stCondLst>
                                    <p:cond delay="1050"/>
                                  </p:stCondLst>
                                  <p:childTnLst>
                                    <p:set>
                                      <p:cBhvr>
                                        <p:cTn id="93" dur="1" fill="hold">
                                          <p:stCondLst>
                                            <p:cond delay="0"/>
                                          </p:stCondLst>
                                        </p:cTn>
                                        <p:tgtEl>
                                          <p:spTgt spid="25"/>
                                        </p:tgtEl>
                                        <p:attrNameLst>
                                          <p:attrName>style.visibility</p:attrName>
                                        </p:attrNameLst>
                                      </p:cBhvr>
                                      <p:to>
                                        <p:strVal val="visible"/>
                                      </p:to>
                                    </p:set>
                                    <p:anim calcmode="lin" valueType="num">
                                      <p:cBhvr additive="base">
                                        <p:cTn id="94" dur="550" fill="hold"/>
                                        <p:tgtEl>
                                          <p:spTgt spid="25"/>
                                        </p:tgtEl>
                                        <p:attrNameLst>
                                          <p:attrName>ppt_y</p:attrName>
                                        </p:attrNameLst>
                                      </p:cBhvr>
                                      <p:tavLst>
                                        <p:tav tm="0">
                                          <p:val>
                                            <p:strVal val="#ppt_y+.1"/>
                                          </p:val>
                                        </p:tav>
                                        <p:tav tm="100000">
                                          <p:val>
                                            <p:strVal val="#ppt_y"/>
                                          </p:val>
                                        </p:tav>
                                      </p:tavLst>
                                    </p:anim>
                                    <p:animEffect transition="in" filter="fade">
                                      <p:cBhvr>
                                        <p:cTn id="95" dur="550"/>
                                        <p:tgtEl>
                                          <p:spTgt spid="25"/>
                                        </p:tgtEl>
                                      </p:cBhvr>
                                    </p:animEffect>
                                  </p:childTnLst>
                                </p:cTn>
                              </p:par>
                              <p:par>
                                <p:cTn id="96" presetID="42" presetClass="entr" presetSubtype="0" fill="hold" grpId="0" nodeType="withEffect">
                                  <p:stCondLst>
                                    <p:cond delay="1050"/>
                                  </p:stCondLst>
                                  <p:childTnLst>
                                    <p:set>
                                      <p:cBhvr>
                                        <p:cTn id="97" dur="1" fill="hold">
                                          <p:stCondLst>
                                            <p:cond delay="0"/>
                                          </p:stCondLst>
                                        </p:cTn>
                                        <p:tgtEl>
                                          <p:spTgt spid="26"/>
                                        </p:tgtEl>
                                        <p:attrNameLst>
                                          <p:attrName>style.visibility</p:attrName>
                                        </p:attrNameLst>
                                      </p:cBhvr>
                                      <p:to>
                                        <p:strVal val="visible"/>
                                      </p:to>
                                    </p:set>
                                    <p:anim calcmode="lin" valueType="num">
                                      <p:cBhvr additive="base">
                                        <p:cTn id="98" dur="550" fill="hold"/>
                                        <p:tgtEl>
                                          <p:spTgt spid="26"/>
                                        </p:tgtEl>
                                        <p:attrNameLst>
                                          <p:attrName>ppt_y</p:attrName>
                                        </p:attrNameLst>
                                      </p:cBhvr>
                                      <p:tavLst>
                                        <p:tav tm="0">
                                          <p:val>
                                            <p:strVal val="#ppt_y+.1"/>
                                          </p:val>
                                        </p:tav>
                                        <p:tav tm="100000">
                                          <p:val>
                                            <p:strVal val="#ppt_y"/>
                                          </p:val>
                                        </p:tav>
                                      </p:tavLst>
                                    </p:anim>
                                    <p:animEffect transition="in" filter="fade">
                                      <p:cBhvr>
                                        <p:cTn id="99" dur="550"/>
                                        <p:tgtEl>
                                          <p:spTgt spid="26"/>
                                        </p:tgtEl>
                                      </p:cBhvr>
                                    </p:animEffect>
                                  </p:childTnLst>
                                </p:cTn>
                              </p:par>
                              <p:par>
                                <p:cTn id="100" presetID="42" presetClass="entr" presetSubtype="0" fill="hold" grpId="0" nodeType="withEffect">
                                  <p:stCondLst>
                                    <p:cond delay="1050"/>
                                  </p:stCondLst>
                                  <p:childTnLst>
                                    <p:set>
                                      <p:cBhvr>
                                        <p:cTn id="101" dur="1" fill="hold">
                                          <p:stCondLst>
                                            <p:cond delay="0"/>
                                          </p:stCondLst>
                                        </p:cTn>
                                        <p:tgtEl>
                                          <p:spTgt spid="27"/>
                                        </p:tgtEl>
                                        <p:attrNameLst>
                                          <p:attrName>style.visibility</p:attrName>
                                        </p:attrNameLst>
                                      </p:cBhvr>
                                      <p:to>
                                        <p:strVal val="visible"/>
                                      </p:to>
                                    </p:set>
                                    <p:anim calcmode="lin" valueType="num">
                                      <p:cBhvr additive="base">
                                        <p:cTn id="102" dur="550" fill="hold"/>
                                        <p:tgtEl>
                                          <p:spTgt spid="27"/>
                                        </p:tgtEl>
                                        <p:attrNameLst>
                                          <p:attrName>ppt_y</p:attrName>
                                        </p:attrNameLst>
                                      </p:cBhvr>
                                      <p:tavLst>
                                        <p:tav tm="0">
                                          <p:val>
                                            <p:strVal val="#ppt_y+.1"/>
                                          </p:val>
                                        </p:tav>
                                        <p:tav tm="100000">
                                          <p:val>
                                            <p:strVal val="#ppt_y"/>
                                          </p:val>
                                        </p:tav>
                                      </p:tavLst>
                                    </p:anim>
                                    <p:animEffect transition="in" filter="fade">
                                      <p:cBhvr>
                                        <p:cTn id="103" dur="550"/>
                                        <p:tgtEl>
                                          <p:spTgt spid="27"/>
                                        </p:tgtEl>
                                      </p:cBhvr>
                                    </p:animEffect>
                                  </p:childTnLst>
                                </p:cTn>
                              </p:par>
                              <p:par>
                                <p:cTn id="104" presetID="22" presetClass="entr" presetSubtype="8" fill="hold" grpId="0" nodeType="withEffect">
                                  <p:stCondLst>
                                    <p:cond delay="600"/>
                                  </p:stCondLst>
                                  <p:childTnLst>
                                    <p:set>
                                      <p:cBhvr>
                                        <p:cTn id="105" dur="1" fill="hold">
                                          <p:stCondLst>
                                            <p:cond delay="0"/>
                                          </p:stCondLst>
                                        </p:cTn>
                                        <p:tgtEl>
                                          <p:spTgt spid="35"/>
                                        </p:tgtEl>
                                        <p:attrNameLst>
                                          <p:attrName>style.visibility</p:attrName>
                                        </p:attrNameLst>
                                      </p:cBhvr>
                                      <p:to>
                                        <p:strVal val="visible"/>
                                      </p:to>
                                    </p:set>
                                    <p:animEffect transition="in" filter="wipe(left)">
                                      <p:cBhvr>
                                        <p:cTn id="106" dur="1100"/>
                                        <p:tgtEl>
                                          <p:spTgt spid="35"/>
                                        </p:tgtEl>
                                      </p:cBhvr>
                                    </p:animEffect>
                                  </p:childTnLst>
                                </p:cTn>
                              </p:par>
                              <p:par>
                                <p:cTn id="108" presetID="0" presetClass="path" presetSubtype="0" fill="hold" accel="30000" decel="30000" nodeType="withEffect">
                                  <p:stCondLst>
                                    <p:cond delay="600"/>
                                  </p:stCondLst>
                                  <p:childTnLst>
                                    <p:animMotion origin="layout" path="M 0 0 L 0.02017 0 E" pathEditMode="relative" rAng="0" ptsTypes="AA">
                                      <p:cBhvr>
                                        <p:cTn id="107" dur="1100" fill="hold"/>
                                        <p:tgtEl>
                                          <p:spTgt spid="36"/>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Graphic spid="7" grpId="0">
        <p:bldAsOne/>
      </p:bldGraphic>
      <p:bldP spid="8" grpId="0" animBg="1"/>
      <p:bldP spid="9" grpId="0" animBg="1"/>
      <p:bldP spid="11" grpId="0" animBg="1"/>
      <p:bldP spid="12" grpId="0" animBg="1"/>
      <p:bldP spid="13" grpId="0" animBg="1"/>
      <p:bldP spid="14" grpId="0" animBg="1"/>
      <p:bldP spid="16" grpId="0" animBg="1"/>
      <p:bldP spid="17" grpId="0" animBg="1"/>
      <p:bldP spid="18" grpId="0" animBg="1"/>
      <p:bldP spid="19" grpId="0" animBg="1"/>
      <p:bldP spid="21" grpId="0" animBg="1"/>
      <p:bldP spid="22" grpId="0" animBg="1"/>
      <p:bldP spid="23" grpId="0" animBg="1"/>
      <p:bldP spid="24" grpId="0" animBg="1"/>
      <p:bldP spid="26" grpId="0" animBg="1"/>
      <p:bldP spid="27" grpId="0" animBg="1"/>
      <p:bldP spid="3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Verified results from stored data</a:t>
            </a:r>
            <a:endParaRPr lang="en-US" sz="3600" dirty="0"/>
          </a:p>
        </p:txBody>
      </p:sp>
      <p:sp>
        <p:nvSpPr>
          <p:cNvPr id="5" name="kp0c"/>
          <p:cNvSpPr/>
          <p:nvPr/>
        </p:nvSpPr>
        <p:spPr>
          <a:xfrm>
            <a:off x="54864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sp>
      <p:sp>
        <p:nvSpPr>
          <p:cNvPr id="6" name="kp0v"/>
          <p:cNvSpPr txBox="1"/>
          <p:nvPr/>
        </p:nvSpPr>
        <p:spPr>
          <a:xfrm>
            <a:off x="73152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1"/>
                </a:solidFill>
                <a:latin typeface="+mj-lt" pitchFamily="34" charset="0"/>
                <a:ea typeface="+mj-lt" pitchFamily="34" charset="-122"/>
                <a:cs typeface="+mj-lt" pitchFamily="34" charset="-120"/>
              </a:rPr>
              <a:t>133</a:t>
            </a:r>
            <a:endParaRPr lang="en-US" sz="3400" dirty="0"/>
          </a:p>
        </p:txBody>
      </p:sp>
      <p:sp>
        <p:nvSpPr>
          <p:cNvPr id="7" name="kp0l"/>
          <p:cNvSpPr txBox="1"/>
          <p:nvPr/>
        </p:nvSpPr>
        <p:spPr>
          <a:xfrm>
            <a:off x="173736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flights</a:t>
            </a:r>
            <a:endParaRPr lang="en-US" sz="1400" dirty="0"/>
          </a:p>
        </p:txBody>
      </p:sp>
      <p:sp>
        <p:nvSpPr>
          <p:cNvPr id="8" name="kp1c"/>
          <p:cNvSpPr/>
          <p:nvPr/>
        </p:nvSpPr>
        <p:spPr>
          <a:xfrm>
            <a:off x="278892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sp>
      <p:sp>
        <p:nvSpPr>
          <p:cNvPr id="9" name="kp1v"/>
          <p:cNvSpPr txBox="1"/>
          <p:nvPr/>
        </p:nvSpPr>
        <p:spPr>
          <a:xfrm>
            <a:off x="297180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2"/>
                </a:solidFill>
                <a:latin typeface="+mj-lt" pitchFamily="34" charset="0"/>
                <a:ea typeface="+mj-lt" pitchFamily="34" charset="-122"/>
                <a:cs typeface="+mj-lt" pitchFamily="34" charset="-120"/>
              </a:rPr>
              <a:t>76</a:t>
            </a:r>
            <a:endParaRPr lang="en-US" sz="3400" dirty="0"/>
          </a:p>
        </p:txBody>
      </p:sp>
      <p:sp>
        <p:nvSpPr>
          <p:cNvPr id="10" name="kp1l"/>
          <p:cNvSpPr txBox="1"/>
          <p:nvPr/>
        </p:nvSpPr>
        <p:spPr>
          <a:xfrm>
            <a:off x="397764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airports</a:t>
            </a:r>
            <a:endParaRPr lang="en-US" sz="1400" dirty="0"/>
          </a:p>
        </p:txBody>
      </p:sp>
      <p:sp>
        <p:nvSpPr>
          <p:cNvPr id="11" name="kp2c"/>
          <p:cNvSpPr/>
          <p:nvPr/>
        </p:nvSpPr>
        <p:spPr>
          <a:xfrm>
            <a:off x="502920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sp>
      <p:sp>
        <p:nvSpPr>
          <p:cNvPr id="12" name="kp2v"/>
          <p:cNvSpPr txBox="1"/>
          <p:nvPr/>
        </p:nvSpPr>
        <p:spPr>
          <a:xfrm>
            <a:off x="521208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3"/>
                </a:solidFill>
                <a:latin typeface="+mj-lt" pitchFamily="34" charset="0"/>
                <a:ea typeface="+mj-lt" pitchFamily="34" charset="-122"/>
                <a:cs typeface="+mj-lt" pitchFamily="34" charset="-120"/>
              </a:rPr>
              <a:t>81</a:t>
            </a:r>
            <a:endParaRPr lang="en-US" sz="3400" dirty="0"/>
          </a:p>
        </p:txBody>
      </p:sp>
      <p:sp>
        <p:nvSpPr>
          <p:cNvPr id="13" name="kp2l"/>
          <p:cNvSpPr txBox="1"/>
          <p:nvPr/>
        </p:nvSpPr>
        <p:spPr>
          <a:xfrm>
            <a:off x="621792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airlines</a:t>
            </a:r>
            <a:endParaRPr lang="en-US" sz="1400" dirty="0"/>
          </a:p>
        </p:txBody>
      </p:sp>
      <p:sp>
        <p:nvSpPr>
          <p:cNvPr id="14" name="kp3c"/>
          <p:cNvSpPr/>
          <p:nvPr/>
        </p:nvSpPr>
        <p:spPr>
          <a:xfrm>
            <a:off x="726948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sp>
      <p:sp>
        <p:nvSpPr>
          <p:cNvPr id="15" name="kp3v"/>
          <p:cNvSpPr txBox="1"/>
          <p:nvPr/>
        </p:nvSpPr>
        <p:spPr>
          <a:xfrm>
            <a:off x="745236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4"/>
                </a:solidFill>
                <a:latin typeface="+mj-lt" pitchFamily="34" charset="0"/>
                <a:ea typeface="+mj-lt" pitchFamily="34" charset="-122"/>
                <a:cs typeface="+mj-lt" pitchFamily="34" charset="-120"/>
              </a:rPr>
              <a:t>75</a:t>
            </a:r>
            <a:endParaRPr lang="en-US" sz="3400" dirty="0"/>
          </a:p>
        </p:txBody>
      </p:sp>
      <p:sp>
        <p:nvSpPr>
          <p:cNvPr id="16" name="kp3l"/>
          <p:cNvSpPr txBox="1"/>
          <p:nvPr/>
        </p:nvSpPr>
        <p:spPr>
          <a:xfrm>
            <a:off x="845820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routes</a:t>
            </a:r>
            <a:endParaRPr lang="en-US" sz="1400" dirty="0"/>
          </a:p>
        </p:txBody>
      </p:sp>
      <p:sp>
        <p:nvSpPr>
          <p:cNvPr id="17" name="kp4c"/>
          <p:cNvSpPr/>
          <p:nvPr/>
        </p:nvSpPr>
        <p:spPr>
          <a:xfrm>
            <a:off x="9509760" y="1645920"/>
            <a:ext cx="2103120" cy="1005840"/>
          </a:xfrm>
          <a:prstGeom prst="roundRect">
            <a:avLst>
              <a:gd name="adj" fmla="val 10909"/>
            </a:avLst>
          </a:prstGeom>
          <a:solidFill>
            <a:schemeClr val="bg1">
              <a:alpha val="9000"/>
            </a:schemeClr>
          </a:solidFill>
          <a:ln w="9525">
            <a:solidFill>
              <a:schemeClr val="bg1">
                <a:alpha val="22000"/>
              </a:schemeClr>
            </a:solidFill>
            <a:prstDash val="solid"/>
          </a:ln>
        </p:spPr>
      </p:sp>
      <p:sp>
        <p:nvSpPr>
          <p:cNvPr id="18" name="kp4v"/>
          <p:cNvSpPr txBox="1"/>
          <p:nvPr/>
        </p:nvSpPr>
        <p:spPr>
          <a:xfrm>
            <a:off x="9692640" y="1709928"/>
            <a:ext cx="1097280" cy="868680"/>
          </a:xfrm>
          <a:prstGeom prst="rect">
            <a:avLst/>
          </a:prstGeom>
          <a:noFill/>
          <a:ln/>
        </p:spPr>
        <p:txBody>
          <a:bodyPr wrap="square" lIns="0" tIns="0" rIns="0" bIns="0" rtlCol="0" anchor="ctr"/>
          <a:lstStyle/>
          <a:p>
            <a:pPr algn="l" indent="0" marL="0">
              <a:buNone/>
            </a:pPr>
            <a:r>
              <a:rPr lang="en-US" sz="3400" b="1" dirty="0">
                <a:solidFill>
                  <a:schemeClr val="accent5"/>
                </a:solidFill>
                <a:latin typeface="+mj-lt" pitchFamily="34" charset="0"/>
                <a:ea typeface="+mj-lt" pitchFamily="34" charset="-122"/>
                <a:cs typeface="+mj-lt" pitchFamily="34" charset="-120"/>
              </a:rPr>
              <a:t>6.8%</a:t>
            </a:r>
            <a:endParaRPr lang="en-US" sz="3400" dirty="0"/>
          </a:p>
        </p:txBody>
      </p:sp>
      <p:sp>
        <p:nvSpPr>
          <p:cNvPr id="19" name="kp4l"/>
          <p:cNvSpPr txBox="1"/>
          <p:nvPr/>
        </p:nvSpPr>
        <p:spPr>
          <a:xfrm>
            <a:off x="10698480" y="1709928"/>
            <a:ext cx="868680" cy="868680"/>
          </a:xfrm>
          <a:prstGeom prst="rect">
            <a:avLst/>
          </a:prstGeom>
          <a:noFill/>
          <a:ln/>
        </p:spPr>
        <p:txBody>
          <a:bodyPr wrap="square" lIns="0" tIns="0" rIns="0" bIns="0" rtlCol="0" anchor="ctr"/>
          <a:lstStyle/>
          <a:p>
            <a:pPr algn="l" indent="0" marL="0">
              <a:buNone/>
            </a:pPr>
            <a:r>
              <a:rPr lang="en-US" sz="1400" dirty="0">
                <a:solidFill>
                  <a:schemeClr val="bg2"/>
                </a:solidFill>
              </a:rPr>
              <a:t>delayed</a:t>
            </a:r>
            <a:endParaRPr lang="en-US" sz="1400" dirty="0"/>
          </a:p>
        </p:txBody>
      </p:sp>
      <p:sp>
        <p:nvSpPr>
          <p:cNvPr id="20" name="rc1"/>
          <p:cNvSpPr/>
          <p:nvPr/>
        </p:nvSpPr>
        <p:spPr>
          <a:xfrm>
            <a:off x="548640" y="2834640"/>
            <a:ext cx="3611880" cy="3108960"/>
          </a:xfrm>
          <a:prstGeom prst="roundRect">
            <a:avLst>
              <a:gd name="adj" fmla="val 3529"/>
            </a:avLst>
          </a:prstGeom>
          <a:solidFill>
            <a:schemeClr val="bg1">
              <a:alpha val="9000"/>
            </a:schemeClr>
          </a:solidFill>
          <a:ln w="9525">
            <a:solidFill>
              <a:schemeClr val="bg1">
                <a:alpha val="22000"/>
              </a:schemeClr>
            </a:solidFill>
            <a:prstDash val="solid"/>
          </a:ln>
        </p:spPr>
      </p:sp>
      <p:sp>
        <p:nvSpPr>
          <p:cNvPr id="21" name="rc2"/>
          <p:cNvSpPr/>
          <p:nvPr/>
        </p:nvSpPr>
        <p:spPr>
          <a:xfrm>
            <a:off x="4288536" y="2834640"/>
            <a:ext cx="3611880" cy="3108960"/>
          </a:xfrm>
          <a:prstGeom prst="roundRect">
            <a:avLst>
              <a:gd name="adj" fmla="val 3529"/>
            </a:avLst>
          </a:prstGeom>
          <a:solidFill>
            <a:schemeClr val="bg1">
              <a:alpha val="9000"/>
            </a:schemeClr>
          </a:solidFill>
          <a:ln w="9525">
            <a:solidFill>
              <a:schemeClr val="bg1">
                <a:alpha val="22000"/>
              </a:schemeClr>
            </a:solidFill>
            <a:prstDash val="solid"/>
          </a:ln>
        </p:spPr>
      </p:sp>
      <p:sp>
        <p:nvSpPr>
          <p:cNvPr id="22" name="rc3"/>
          <p:cNvSpPr/>
          <p:nvPr/>
        </p:nvSpPr>
        <p:spPr>
          <a:xfrm>
            <a:off x="8028432" y="2834640"/>
            <a:ext cx="3611880" cy="3108960"/>
          </a:xfrm>
          <a:prstGeom prst="roundRect">
            <a:avLst>
              <a:gd name="adj" fmla="val 3529"/>
            </a:avLst>
          </a:prstGeom>
          <a:solidFill>
            <a:schemeClr val="bg1">
              <a:alpha val="9000"/>
            </a:schemeClr>
          </a:solidFill>
          <a:ln w="9525">
            <a:solidFill>
              <a:schemeClr val="bg1">
                <a:alpha val="22000"/>
              </a:schemeClr>
            </a:solidFill>
            <a:prstDash val="solid"/>
          </a:ln>
        </p:spPr>
      </p:sp>
      <p:graphicFrame>
        <p:nvGraphicFramePr>
          <p:cNvPr id="23" name="chartA" descr=""/>
          <p:cNvGraphicFramePr/>
          <p:nvPr/>
        </p:nvGraphicFramePr>
        <p:xfrm>
          <a:off x="640080" y="2880360"/>
          <a:ext cx="3429000" cy="3017520"/>
        </p:xfrm>
        <a:graphic xmlns:a="http://schemas.openxmlformats.org/drawingml/2006/main">
          <a:graphicData uri="http://schemas.openxmlformats.org/drawingml/2006/chart">
            <c:chart xmlns:c="http://schemas.openxmlformats.org/drawingml/2006/chart" r:id="rId1"/>
          </a:graphicData>
        </a:graphic>
      </p:graphicFrame>
      <p:graphicFrame>
        <p:nvGraphicFramePr>
          <p:cNvPr id="24" name="chartB" descr=""/>
          <p:cNvGraphicFramePr/>
          <p:nvPr/>
        </p:nvGraphicFramePr>
        <p:xfrm>
          <a:off x="4379976" y="2880360"/>
          <a:ext cx="3429000" cy="3017520"/>
        </p:xfrm>
        <a:graphic xmlns:a="http://schemas.openxmlformats.org/drawingml/2006/main">
          <a:graphicData uri="http://schemas.openxmlformats.org/drawingml/2006/chart">
            <c:chart xmlns:c="http://schemas.openxmlformats.org/drawingml/2006/chart" r:id="rId2"/>
          </a:graphicData>
        </a:graphic>
      </p:graphicFrame>
      <p:graphicFrame>
        <p:nvGraphicFramePr>
          <p:cNvPr id="25" name="chartC" descr=""/>
          <p:cNvGraphicFramePr/>
          <p:nvPr/>
        </p:nvGraphicFramePr>
        <p:xfrm>
          <a:off x="8119872" y="2880360"/>
          <a:ext cx="3429000" cy="3017520"/>
        </p:xfrm>
        <a:graphic xmlns:a="http://schemas.openxmlformats.org/drawingml/2006/main">
          <a:graphicData uri="http://schemas.openxmlformats.org/drawingml/2006/chart">
            <c:chart xmlns:c="http://schemas.openxmlformats.org/drawingml/2006/chart" r:id="rId3"/>
          </a:graphicData>
        </a:graphic>
      </p:graphicFrame>
      <p:sp>
        <p:nvSpPr>
          <p:cNvPr id="26" name="src"/>
          <p:cNvSpPr txBox="1"/>
          <p:nvPr/>
        </p:nvSpPr>
        <p:spPr>
          <a:xfrm>
            <a:off x="548640" y="6016752"/>
            <a:ext cx="10607040" cy="274320"/>
          </a:xfrm>
          <a:prstGeom prst="rect">
            <a:avLst/>
          </a:prstGeom>
          <a:noFill/>
          <a:ln/>
        </p:spPr>
        <p:txBody>
          <a:bodyPr wrap="square" lIns="0" tIns="0" rIns="0" bIns="0" rtlCol="0" anchor="t"/>
          <a:lstStyle/>
          <a:p>
            <a:pPr algn="l" indent="0" marL="0">
              <a:buNone/>
            </a:pPr>
            <a:r>
              <a:rPr lang="en-US" sz="1100" dirty="0">
                <a:solidFill>
                  <a:schemeClr val="bg2"/>
                </a:solidFill>
              </a:rPr>
              <a:t>Source: stored dataset, flight dates 2026-10-09 to 2026-10-10 (AviationStack free tier). Codes are IATA airport codes.</a:t>
            </a:r>
            <a:endParaRPr lang="en-US" sz="1100" dirty="0"/>
          </a:p>
        </p:txBody>
      </p:sp>
      <p:sp>
        <p:nvSpPr>
          <p:cNvPr id="27" name="track"/>
          <p:cNvSpPr/>
          <p:nvPr/>
        </p:nvSpPr>
        <p:spPr>
          <a:xfrm>
            <a:off x="3383280" y="6510528"/>
            <a:ext cx="7132320" cy="0"/>
          </a:xfrm>
          <a:prstGeom prst="line">
            <a:avLst/>
          </a:prstGeom>
          <a:noFill/>
          <a:ln w="12700">
            <a:solidFill>
              <a:schemeClr val="bg2">
                <a:alpha val="45000"/>
              </a:schemeClr>
            </a:solidFill>
            <a:prstDash val="dash"/>
          </a:ln>
        </p:spPr>
      </p:sp>
      <p:sp>
        <p:nvSpPr>
          <p:cNvPr id="28" name="progress"/>
          <p:cNvSpPr/>
          <p:nvPr/>
        </p:nvSpPr>
        <p:spPr>
          <a:xfrm>
            <a:off x="3383280" y="6510528"/>
            <a:ext cx="5410726" cy="0"/>
          </a:xfrm>
          <a:prstGeom prst="line">
            <a:avLst/>
          </a:prstGeom>
          <a:noFill/>
          <a:ln w="28575">
            <a:solidFill>
              <a:schemeClr val="accent2"/>
            </a:solidFill>
            <a:prstDash val="solid"/>
          </a:ln>
        </p:spPr>
      </p:sp>
      <p:sp>
        <p:nvSpPr>
          <p:cNvPr id="29" name="wp0"/>
          <p:cNvSpPr/>
          <p:nvPr/>
        </p:nvSpPr>
        <p:spPr>
          <a:xfrm>
            <a:off x="3834016" y="6469380"/>
            <a:ext cx="82296" cy="82296"/>
          </a:xfrm>
          <a:prstGeom prst="ellipse">
            <a:avLst/>
          </a:prstGeom>
          <a:solidFill>
            <a:schemeClr val="accent2"/>
          </a:solidFill>
          <a:ln/>
        </p:spPr>
      </p:sp>
      <p:sp>
        <p:nvSpPr>
          <p:cNvPr id="30" name="wp1"/>
          <p:cNvSpPr/>
          <p:nvPr/>
        </p:nvSpPr>
        <p:spPr>
          <a:xfrm>
            <a:off x="4817784" y="6469380"/>
            <a:ext cx="82296" cy="82296"/>
          </a:xfrm>
          <a:prstGeom prst="ellipse">
            <a:avLst/>
          </a:prstGeom>
          <a:solidFill>
            <a:schemeClr val="accent2"/>
          </a:solidFill>
          <a:ln/>
        </p:spPr>
      </p:sp>
      <p:sp>
        <p:nvSpPr>
          <p:cNvPr id="31" name="wp2"/>
          <p:cNvSpPr/>
          <p:nvPr/>
        </p:nvSpPr>
        <p:spPr>
          <a:xfrm>
            <a:off x="7277205" y="6469380"/>
            <a:ext cx="82296" cy="82296"/>
          </a:xfrm>
          <a:prstGeom prst="ellipse">
            <a:avLst/>
          </a:prstGeom>
          <a:solidFill>
            <a:schemeClr val="accent2"/>
          </a:solidFill>
          <a:ln/>
        </p:spPr>
      </p:sp>
      <p:sp>
        <p:nvSpPr>
          <p:cNvPr id="32" name="wp3"/>
          <p:cNvSpPr/>
          <p:nvPr/>
        </p:nvSpPr>
        <p:spPr>
          <a:xfrm>
            <a:off x="8506915" y="6469380"/>
            <a:ext cx="82296" cy="82296"/>
          </a:xfrm>
          <a:prstGeom prst="ellipse">
            <a:avLst/>
          </a:prstGeom>
          <a:solidFill>
            <a:schemeClr val="accent2"/>
          </a:solidFill>
          <a:ln/>
        </p:spPr>
      </p:sp>
      <p:sp>
        <p:nvSpPr>
          <p:cNvPr id="33" name="wp4"/>
          <p:cNvSpPr/>
          <p:nvPr/>
        </p:nvSpPr>
        <p:spPr>
          <a:xfrm>
            <a:off x="9982568" y="6469380"/>
            <a:ext cx="82296" cy="82296"/>
          </a:xfrm>
          <a:prstGeom prst="ellipse">
            <a:avLst/>
          </a:prstGeom>
          <a:solidFill>
            <a:schemeClr val="bg2">
              <a:alpha val="60000"/>
            </a:schemeClr>
          </a:solidFill>
          <a:ln/>
        </p:spPr>
      </p:sp>
      <p:sp>
        <p:nvSpPr>
          <p:cNvPr id="34" name="progress_ext"/>
          <p:cNvSpPr/>
          <p:nvPr/>
        </p:nvSpPr>
        <p:spPr>
          <a:xfrm>
            <a:off x="8794006" y="6510528"/>
            <a:ext cx="245942" cy="0"/>
          </a:xfrm>
          <a:prstGeom prst="line">
            <a:avLst/>
          </a:prstGeom>
          <a:noFill/>
          <a:ln w="28575">
            <a:solidFill>
              <a:schemeClr val="accent2"/>
            </a:solidFill>
            <a:prstDash val="solid"/>
          </a:ln>
        </p:spPr>
      </p:sp>
      <p:pic>
        <p:nvPicPr>
          <p:cNvPr id="35" name="!!tracker" descr="Progress marker">    </p:cNvPr>
          <p:cNvPicPr>
            <a:picLocks noChangeAspect="1"/>
          </p:cNvPicPr>
          <p:nvPr/>
        </p:nvPicPr>
        <p:blipFill>
          <a:blip r:embed="rId4"/>
          <a:stretch>
            <a:fillRect/>
          </a:stretch>
        </p:blipFill>
        <p:spPr>
          <a:xfrm>
            <a:off x="8611126"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24</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53" presetClass="entr" presetSubtype="16"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ppt_w</p:attrName>
                                        </p:attrNameLst>
                                      </p:cBhvr>
                                      <p:tavLst>
                                        <p:tav tm="0">
                                          <p:val>
                                            <p:fltVal val="0"/>
                                          </p:val>
                                        </p:tav>
                                        <p:tav tm="100000">
                                          <p:val>
                                            <p:strVal val="#ppt_w"/>
                                          </p:val>
                                        </p:tav>
                                      </p:tavLst>
                                    </p:anim>
                                    <p:anim calcmode="lin" valueType="num">
                                      <p:cBhvr additive="base">
                                        <p:cTn id="16" dur="500" fill="hold"/>
                                        <p:tgtEl>
                                          <p:spTgt spid="5"/>
                                        </p:tgtEl>
                                        <p:attrNameLst>
                                          <p:attrName>ppt_h</p:attrName>
                                        </p:attrNameLst>
                                      </p:cBhvr>
                                      <p:tavLst>
                                        <p:tav tm="0">
                                          <p:val>
                                            <p:fltVal val="0"/>
                                          </p:val>
                                        </p:tav>
                                        <p:tav tm="100000">
                                          <p:val>
                                            <p:strVal val="#ppt_h"/>
                                          </p:val>
                                        </p:tav>
                                      </p:tavLst>
                                    </p:anim>
                                    <p:animEffect transition="in" filter="fade">
                                      <p:cBhvr>
                                        <p:cTn id="17" dur="500"/>
                                        <p:tgtEl>
                                          <p:spTgt spid="5"/>
                                        </p:tgtEl>
                                      </p:cBhvr>
                                    </p:animEffect>
                                  </p:childTnLst>
                                </p:cTn>
                              </p:par>
                              <p:par>
                                <p:cTn id="18" presetID="53" presetClass="entr" presetSubtype="16" fill="hold" grpId="0" nodeType="withEffect">
                                  <p:stCondLst>
                                    <p:cond delay="200"/>
                                  </p:stCondLst>
                                  <p:childTnLst>
                                    <p:set>
                                      <p:cBhvr>
                                        <p:cTn id="19" dur="1" fill="hold">
                                          <p:stCondLst>
                                            <p:cond delay="0"/>
                                          </p:stCondLst>
                                        </p:cTn>
                                        <p:tgtEl>
                                          <p:spTgt spid="6"/>
                                        </p:tgtEl>
                                        <p:attrNameLst>
                                          <p:attrName>style.visibility</p:attrName>
                                        </p:attrNameLst>
                                      </p:cBhvr>
                                      <p:to>
                                        <p:strVal val="visible"/>
                                      </p:to>
                                    </p:set>
                                    <p:anim calcmode="lin" valueType="num">
                                      <p:cBhvr additive="base">
                                        <p:cTn id="20" dur="500" fill="hold"/>
                                        <p:tgtEl>
                                          <p:spTgt spid="6"/>
                                        </p:tgtEl>
                                        <p:attrNameLst>
                                          <p:attrName>ppt_w</p:attrName>
                                        </p:attrNameLst>
                                      </p:cBhvr>
                                      <p:tavLst>
                                        <p:tav tm="0">
                                          <p:val>
                                            <p:fltVal val="0"/>
                                          </p:val>
                                        </p:tav>
                                        <p:tav tm="100000">
                                          <p:val>
                                            <p:strVal val="#ppt_w"/>
                                          </p:val>
                                        </p:tav>
                                      </p:tavLst>
                                    </p:anim>
                                    <p:anim calcmode="lin" valueType="num">
                                      <p:cBhvr additive="base">
                                        <p:cTn id="21" dur="500" fill="hold"/>
                                        <p:tgtEl>
                                          <p:spTgt spid="6"/>
                                        </p:tgtEl>
                                        <p:attrNameLst>
                                          <p:attrName>ppt_h</p:attrName>
                                        </p:attrNameLst>
                                      </p:cBhvr>
                                      <p:tavLst>
                                        <p:tav tm="0">
                                          <p:val>
                                            <p:fltVal val="0"/>
                                          </p:val>
                                        </p:tav>
                                        <p:tav tm="100000">
                                          <p:val>
                                            <p:strVal val="#ppt_h"/>
                                          </p:val>
                                        </p:tav>
                                      </p:tavLst>
                                    </p:anim>
                                    <p:animEffect transition="in" filter="fade">
                                      <p:cBhvr>
                                        <p:cTn id="22" dur="500"/>
                                        <p:tgtEl>
                                          <p:spTgt spid="6"/>
                                        </p:tgtEl>
                                      </p:cBhvr>
                                    </p:animEffect>
                                  </p:childTnLst>
                                </p:cTn>
                              </p:par>
                              <p:par>
                                <p:cTn id="23" presetID="53" presetClass="entr" presetSubtype="16" fill="hold" grpId="0" nodeType="withEffect">
                                  <p:stCondLst>
                                    <p:cond delay="20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ppt_w</p:attrName>
                                        </p:attrNameLst>
                                      </p:cBhvr>
                                      <p:tavLst>
                                        <p:tav tm="0">
                                          <p:val>
                                            <p:fltVal val="0"/>
                                          </p:val>
                                        </p:tav>
                                        <p:tav tm="100000">
                                          <p:val>
                                            <p:strVal val="#ppt_w"/>
                                          </p:val>
                                        </p:tav>
                                      </p:tavLst>
                                    </p:anim>
                                    <p:anim calcmode="lin" valueType="num">
                                      <p:cBhvr additive="base">
                                        <p:cTn id="26" dur="500" fill="hold"/>
                                        <p:tgtEl>
                                          <p:spTgt spid="7"/>
                                        </p:tgtEl>
                                        <p:attrNameLst>
                                          <p:attrName>ppt_h</p:attrName>
                                        </p:attrNameLst>
                                      </p:cBhvr>
                                      <p:tavLst>
                                        <p:tav tm="0">
                                          <p:val>
                                            <p:fltVal val="0"/>
                                          </p:val>
                                        </p:tav>
                                        <p:tav tm="100000">
                                          <p:val>
                                            <p:strVal val="#ppt_h"/>
                                          </p:val>
                                        </p:tav>
                                      </p:tavLst>
                                    </p:anim>
                                    <p:animEffect transition="in" filter="fade">
                                      <p:cBhvr>
                                        <p:cTn id="27" dur="500"/>
                                        <p:tgtEl>
                                          <p:spTgt spid="7"/>
                                        </p:tgtEl>
                                      </p:cBhvr>
                                    </p:animEffect>
                                  </p:childTnLst>
                                </p:cTn>
                              </p:par>
                              <p:par>
                                <p:cTn id="28" presetID="53" presetClass="entr" presetSubtype="16" fill="hold" grpId="0" nodeType="withEffect">
                                  <p:stCondLst>
                                    <p:cond delay="400"/>
                                  </p:stCondLst>
                                  <p:childTnLst>
                                    <p:set>
                                      <p:cBhvr>
                                        <p:cTn id="29" dur="1" fill="hold">
                                          <p:stCondLst>
                                            <p:cond delay="0"/>
                                          </p:stCondLst>
                                        </p:cTn>
                                        <p:tgtEl>
                                          <p:spTgt spid="8"/>
                                        </p:tgtEl>
                                        <p:attrNameLst>
                                          <p:attrName>style.visibility</p:attrName>
                                        </p:attrNameLst>
                                      </p:cBhvr>
                                      <p:to>
                                        <p:strVal val="visible"/>
                                      </p:to>
                                    </p:set>
                                    <p:anim calcmode="lin" valueType="num">
                                      <p:cBhvr additive="base">
                                        <p:cTn id="30" dur="500" fill="hold"/>
                                        <p:tgtEl>
                                          <p:spTgt spid="8"/>
                                        </p:tgtEl>
                                        <p:attrNameLst>
                                          <p:attrName>ppt_w</p:attrName>
                                        </p:attrNameLst>
                                      </p:cBhvr>
                                      <p:tavLst>
                                        <p:tav tm="0">
                                          <p:val>
                                            <p:fltVal val="0"/>
                                          </p:val>
                                        </p:tav>
                                        <p:tav tm="100000">
                                          <p:val>
                                            <p:strVal val="#ppt_w"/>
                                          </p:val>
                                        </p:tav>
                                      </p:tavLst>
                                    </p:anim>
                                    <p:anim calcmode="lin" valueType="num">
                                      <p:cBhvr additive="base">
                                        <p:cTn id="31" dur="500" fill="hold"/>
                                        <p:tgtEl>
                                          <p:spTgt spid="8"/>
                                        </p:tgtEl>
                                        <p:attrNameLst>
                                          <p:attrName>ppt_h</p:attrName>
                                        </p:attrNameLst>
                                      </p:cBhvr>
                                      <p:tavLst>
                                        <p:tav tm="0">
                                          <p:val>
                                            <p:fltVal val="0"/>
                                          </p:val>
                                        </p:tav>
                                        <p:tav tm="100000">
                                          <p:val>
                                            <p:strVal val="#ppt_h"/>
                                          </p:val>
                                        </p:tav>
                                      </p:tavLst>
                                    </p:anim>
                                    <p:animEffect transition="in" filter="fade">
                                      <p:cBhvr>
                                        <p:cTn id="32" dur="500"/>
                                        <p:tgtEl>
                                          <p:spTgt spid="8"/>
                                        </p:tgtEl>
                                      </p:cBhvr>
                                    </p:animEffect>
                                  </p:childTnLst>
                                </p:cTn>
                              </p:par>
                              <p:par>
                                <p:cTn id="33" presetID="53" presetClass="entr" presetSubtype="16" fill="hold" grpId="0" nodeType="withEffect">
                                  <p:stCondLst>
                                    <p:cond delay="400"/>
                                  </p:stCondLst>
                                  <p:childTnLst>
                                    <p:set>
                                      <p:cBhvr>
                                        <p:cTn id="34" dur="1" fill="hold">
                                          <p:stCondLst>
                                            <p:cond delay="0"/>
                                          </p:stCondLst>
                                        </p:cTn>
                                        <p:tgtEl>
                                          <p:spTgt spid="9"/>
                                        </p:tgtEl>
                                        <p:attrNameLst>
                                          <p:attrName>style.visibility</p:attrName>
                                        </p:attrNameLst>
                                      </p:cBhvr>
                                      <p:to>
                                        <p:strVal val="visible"/>
                                      </p:to>
                                    </p:set>
                                    <p:anim calcmode="lin" valueType="num">
                                      <p:cBhvr additive="base">
                                        <p:cTn id="35" dur="500" fill="hold"/>
                                        <p:tgtEl>
                                          <p:spTgt spid="9"/>
                                        </p:tgtEl>
                                        <p:attrNameLst>
                                          <p:attrName>ppt_w</p:attrName>
                                        </p:attrNameLst>
                                      </p:cBhvr>
                                      <p:tavLst>
                                        <p:tav tm="0">
                                          <p:val>
                                            <p:fltVal val="0"/>
                                          </p:val>
                                        </p:tav>
                                        <p:tav tm="100000">
                                          <p:val>
                                            <p:strVal val="#ppt_w"/>
                                          </p:val>
                                        </p:tav>
                                      </p:tavLst>
                                    </p:anim>
                                    <p:anim calcmode="lin" valueType="num">
                                      <p:cBhvr additive="base">
                                        <p:cTn id="36" dur="500" fill="hold"/>
                                        <p:tgtEl>
                                          <p:spTgt spid="9"/>
                                        </p:tgtEl>
                                        <p:attrNameLst>
                                          <p:attrName>ppt_h</p:attrName>
                                        </p:attrNameLst>
                                      </p:cBhvr>
                                      <p:tavLst>
                                        <p:tav tm="0">
                                          <p:val>
                                            <p:fltVal val="0"/>
                                          </p:val>
                                        </p:tav>
                                        <p:tav tm="100000">
                                          <p:val>
                                            <p:strVal val="#ppt_h"/>
                                          </p:val>
                                        </p:tav>
                                      </p:tavLst>
                                    </p:anim>
                                    <p:animEffect transition="in" filter="fade">
                                      <p:cBhvr>
                                        <p:cTn id="37" dur="500"/>
                                        <p:tgtEl>
                                          <p:spTgt spid="9"/>
                                        </p:tgtEl>
                                      </p:cBhvr>
                                    </p:animEffect>
                                  </p:childTnLst>
                                </p:cTn>
                              </p:par>
                              <p:par>
                                <p:cTn id="38" presetID="53" presetClass="entr" presetSubtype="16" fill="hold" grpId="0" nodeType="withEffect">
                                  <p:stCondLst>
                                    <p:cond delay="400"/>
                                  </p:stCondLst>
                                  <p:childTnLst>
                                    <p:set>
                                      <p:cBhvr>
                                        <p:cTn id="39" dur="1" fill="hold">
                                          <p:stCondLst>
                                            <p:cond delay="0"/>
                                          </p:stCondLst>
                                        </p:cTn>
                                        <p:tgtEl>
                                          <p:spTgt spid="10"/>
                                        </p:tgtEl>
                                        <p:attrNameLst>
                                          <p:attrName>style.visibility</p:attrName>
                                        </p:attrNameLst>
                                      </p:cBhvr>
                                      <p:to>
                                        <p:strVal val="visible"/>
                                      </p:to>
                                    </p:set>
                                    <p:anim calcmode="lin" valueType="num">
                                      <p:cBhvr additive="base">
                                        <p:cTn id="40" dur="500" fill="hold"/>
                                        <p:tgtEl>
                                          <p:spTgt spid="10"/>
                                        </p:tgtEl>
                                        <p:attrNameLst>
                                          <p:attrName>ppt_w</p:attrName>
                                        </p:attrNameLst>
                                      </p:cBhvr>
                                      <p:tavLst>
                                        <p:tav tm="0">
                                          <p:val>
                                            <p:fltVal val="0"/>
                                          </p:val>
                                        </p:tav>
                                        <p:tav tm="100000">
                                          <p:val>
                                            <p:strVal val="#ppt_w"/>
                                          </p:val>
                                        </p:tav>
                                      </p:tavLst>
                                    </p:anim>
                                    <p:anim calcmode="lin" valueType="num">
                                      <p:cBhvr additive="base">
                                        <p:cTn id="41" dur="500" fill="hold"/>
                                        <p:tgtEl>
                                          <p:spTgt spid="10"/>
                                        </p:tgtEl>
                                        <p:attrNameLst>
                                          <p:attrName>ppt_h</p:attrName>
                                        </p:attrNameLst>
                                      </p:cBhvr>
                                      <p:tavLst>
                                        <p:tav tm="0">
                                          <p:val>
                                            <p:fltVal val="0"/>
                                          </p:val>
                                        </p:tav>
                                        <p:tav tm="100000">
                                          <p:val>
                                            <p:strVal val="#ppt_h"/>
                                          </p:val>
                                        </p:tav>
                                      </p:tavLst>
                                    </p:anim>
                                    <p:animEffect transition="in" filter="fade">
                                      <p:cBhvr>
                                        <p:cTn id="42" dur="500"/>
                                        <p:tgtEl>
                                          <p:spTgt spid="10"/>
                                        </p:tgtEl>
                                      </p:cBhvr>
                                    </p:animEffect>
                                  </p:childTnLst>
                                </p:cTn>
                              </p:par>
                              <p:par>
                                <p:cTn id="43" presetID="53" presetClass="entr" presetSubtype="16" fill="hold" grpId="0" nodeType="withEffect">
                                  <p:stCondLst>
                                    <p:cond delay="600"/>
                                  </p:stCondLst>
                                  <p:childTnLst>
                                    <p:set>
                                      <p:cBhvr>
                                        <p:cTn id="44" dur="1" fill="hold">
                                          <p:stCondLst>
                                            <p:cond delay="0"/>
                                          </p:stCondLst>
                                        </p:cTn>
                                        <p:tgtEl>
                                          <p:spTgt spid="11"/>
                                        </p:tgtEl>
                                        <p:attrNameLst>
                                          <p:attrName>style.visibility</p:attrName>
                                        </p:attrNameLst>
                                      </p:cBhvr>
                                      <p:to>
                                        <p:strVal val="visible"/>
                                      </p:to>
                                    </p:set>
                                    <p:anim calcmode="lin" valueType="num">
                                      <p:cBhvr additive="base">
                                        <p:cTn id="45" dur="500" fill="hold"/>
                                        <p:tgtEl>
                                          <p:spTgt spid="11"/>
                                        </p:tgtEl>
                                        <p:attrNameLst>
                                          <p:attrName>ppt_w</p:attrName>
                                        </p:attrNameLst>
                                      </p:cBhvr>
                                      <p:tavLst>
                                        <p:tav tm="0">
                                          <p:val>
                                            <p:fltVal val="0"/>
                                          </p:val>
                                        </p:tav>
                                        <p:tav tm="100000">
                                          <p:val>
                                            <p:strVal val="#ppt_w"/>
                                          </p:val>
                                        </p:tav>
                                      </p:tavLst>
                                    </p:anim>
                                    <p:anim calcmode="lin" valueType="num">
                                      <p:cBhvr additive="base">
                                        <p:cTn id="46" dur="500" fill="hold"/>
                                        <p:tgtEl>
                                          <p:spTgt spid="11"/>
                                        </p:tgtEl>
                                        <p:attrNameLst>
                                          <p:attrName>ppt_h</p:attrName>
                                        </p:attrNameLst>
                                      </p:cBhvr>
                                      <p:tavLst>
                                        <p:tav tm="0">
                                          <p:val>
                                            <p:fltVal val="0"/>
                                          </p:val>
                                        </p:tav>
                                        <p:tav tm="100000">
                                          <p:val>
                                            <p:strVal val="#ppt_h"/>
                                          </p:val>
                                        </p:tav>
                                      </p:tavLst>
                                    </p:anim>
                                    <p:animEffect transition="in" filter="fade">
                                      <p:cBhvr>
                                        <p:cTn id="47" dur="500"/>
                                        <p:tgtEl>
                                          <p:spTgt spid="11"/>
                                        </p:tgtEl>
                                      </p:cBhvr>
                                    </p:animEffect>
                                  </p:childTnLst>
                                </p:cTn>
                              </p:par>
                              <p:par>
                                <p:cTn id="48" presetID="53" presetClass="entr" presetSubtype="16" fill="hold" grpId="0" nodeType="withEffect">
                                  <p:stCondLst>
                                    <p:cond delay="600"/>
                                  </p:stCondLst>
                                  <p:childTnLst>
                                    <p:set>
                                      <p:cBhvr>
                                        <p:cTn id="49" dur="1" fill="hold">
                                          <p:stCondLst>
                                            <p:cond delay="0"/>
                                          </p:stCondLst>
                                        </p:cTn>
                                        <p:tgtEl>
                                          <p:spTgt spid="12"/>
                                        </p:tgtEl>
                                        <p:attrNameLst>
                                          <p:attrName>style.visibility</p:attrName>
                                        </p:attrNameLst>
                                      </p:cBhvr>
                                      <p:to>
                                        <p:strVal val="visible"/>
                                      </p:to>
                                    </p:set>
                                    <p:anim calcmode="lin" valueType="num">
                                      <p:cBhvr additive="base">
                                        <p:cTn id="50" dur="500" fill="hold"/>
                                        <p:tgtEl>
                                          <p:spTgt spid="12"/>
                                        </p:tgtEl>
                                        <p:attrNameLst>
                                          <p:attrName>ppt_w</p:attrName>
                                        </p:attrNameLst>
                                      </p:cBhvr>
                                      <p:tavLst>
                                        <p:tav tm="0">
                                          <p:val>
                                            <p:fltVal val="0"/>
                                          </p:val>
                                        </p:tav>
                                        <p:tav tm="100000">
                                          <p:val>
                                            <p:strVal val="#ppt_w"/>
                                          </p:val>
                                        </p:tav>
                                      </p:tavLst>
                                    </p:anim>
                                    <p:anim calcmode="lin" valueType="num">
                                      <p:cBhvr additive="base">
                                        <p:cTn id="51" dur="500" fill="hold"/>
                                        <p:tgtEl>
                                          <p:spTgt spid="12"/>
                                        </p:tgtEl>
                                        <p:attrNameLst>
                                          <p:attrName>ppt_h</p:attrName>
                                        </p:attrNameLst>
                                      </p:cBhvr>
                                      <p:tavLst>
                                        <p:tav tm="0">
                                          <p:val>
                                            <p:fltVal val="0"/>
                                          </p:val>
                                        </p:tav>
                                        <p:tav tm="100000">
                                          <p:val>
                                            <p:strVal val="#ppt_h"/>
                                          </p:val>
                                        </p:tav>
                                      </p:tavLst>
                                    </p:anim>
                                    <p:animEffect transition="in" filter="fade">
                                      <p:cBhvr>
                                        <p:cTn id="52" dur="500"/>
                                        <p:tgtEl>
                                          <p:spTgt spid="12"/>
                                        </p:tgtEl>
                                      </p:cBhvr>
                                    </p:animEffect>
                                  </p:childTnLst>
                                </p:cTn>
                              </p:par>
                              <p:par>
                                <p:cTn id="53" presetID="53" presetClass="entr" presetSubtype="16" fill="hold" grpId="0" nodeType="withEffect">
                                  <p:stCondLst>
                                    <p:cond delay="600"/>
                                  </p:stCondLst>
                                  <p:childTnLst>
                                    <p:set>
                                      <p:cBhvr>
                                        <p:cTn id="54" dur="1" fill="hold">
                                          <p:stCondLst>
                                            <p:cond delay="0"/>
                                          </p:stCondLst>
                                        </p:cTn>
                                        <p:tgtEl>
                                          <p:spTgt spid="13"/>
                                        </p:tgtEl>
                                        <p:attrNameLst>
                                          <p:attrName>style.visibility</p:attrName>
                                        </p:attrNameLst>
                                      </p:cBhvr>
                                      <p:to>
                                        <p:strVal val="visible"/>
                                      </p:to>
                                    </p:set>
                                    <p:anim calcmode="lin" valueType="num">
                                      <p:cBhvr additive="base">
                                        <p:cTn id="55" dur="500" fill="hold"/>
                                        <p:tgtEl>
                                          <p:spTgt spid="13"/>
                                        </p:tgtEl>
                                        <p:attrNameLst>
                                          <p:attrName>ppt_w</p:attrName>
                                        </p:attrNameLst>
                                      </p:cBhvr>
                                      <p:tavLst>
                                        <p:tav tm="0">
                                          <p:val>
                                            <p:fltVal val="0"/>
                                          </p:val>
                                        </p:tav>
                                        <p:tav tm="100000">
                                          <p:val>
                                            <p:strVal val="#ppt_w"/>
                                          </p:val>
                                        </p:tav>
                                      </p:tavLst>
                                    </p:anim>
                                    <p:anim calcmode="lin" valueType="num">
                                      <p:cBhvr additive="base">
                                        <p:cTn id="56" dur="500" fill="hold"/>
                                        <p:tgtEl>
                                          <p:spTgt spid="13"/>
                                        </p:tgtEl>
                                        <p:attrNameLst>
                                          <p:attrName>ppt_h</p:attrName>
                                        </p:attrNameLst>
                                      </p:cBhvr>
                                      <p:tavLst>
                                        <p:tav tm="0">
                                          <p:val>
                                            <p:fltVal val="0"/>
                                          </p:val>
                                        </p:tav>
                                        <p:tav tm="100000">
                                          <p:val>
                                            <p:strVal val="#ppt_h"/>
                                          </p:val>
                                        </p:tav>
                                      </p:tavLst>
                                    </p:anim>
                                    <p:animEffect transition="in" filter="fade">
                                      <p:cBhvr>
                                        <p:cTn id="57" dur="500"/>
                                        <p:tgtEl>
                                          <p:spTgt spid="13"/>
                                        </p:tgtEl>
                                      </p:cBhvr>
                                    </p:animEffect>
                                  </p:childTnLst>
                                </p:cTn>
                              </p:par>
                              <p:par>
                                <p:cTn id="58" presetID="53" presetClass="entr" presetSubtype="16" fill="hold" grpId="0" nodeType="withEffect">
                                  <p:stCondLst>
                                    <p:cond delay="800"/>
                                  </p:stCondLst>
                                  <p:childTnLst>
                                    <p:set>
                                      <p:cBhvr>
                                        <p:cTn id="59" dur="1" fill="hold">
                                          <p:stCondLst>
                                            <p:cond delay="0"/>
                                          </p:stCondLst>
                                        </p:cTn>
                                        <p:tgtEl>
                                          <p:spTgt spid="14"/>
                                        </p:tgtEl>
                                        <p:attrNameLst>
                                          <p:attrName>style.visibility</p:attrName>
                                        </p:attrNameLst>
                                      </p:cBhvr>
                                      <p:to>
                                        <p:strVal val="visible"/>
                                      </p:to>
                                    </p:set>
                                    <p:anim calcmode="lin" valueType="num">
                                      <p:cBhvr additive="base">
                                        <p:cTn id="60" dur="500" fill="hold"/>
                                        <p:tgtEl>
                                          <p:spTgt spid="14"/>
                                        </p:tgtEl>
                                        <p:attrNameLst>
                                          <p:attrName>ppt_w</p:attrName>
                                        </p:attrNameLst>
                                      </p:cBhvr>
                                      <p:tavLst>
                                        <p:tav tm="0">
                                          <p:val>
                                            <p:fltVal val="0"/>
                                          </p:val>
                                        </p:tav>
                                        <p:tav tm="100000">
                                          <p:val>
                                            <p:strVal val="#ppt_w"/>
                                          </p:val>
                                        </p:tav>
                                      </p:tavLst>
                                    </p:anim>
                                    <p:anim calcmode="lin" valueType="num">
                                      <p:cBhvr additive="base">
                                        <p:cTn id="61" dur="500" fill="hold"/>
                                        <p:tgtEl>
                                          <p:spTgt spid="14"/>
                                        </p:tgtEl>
                                        <p:attrNameLst>
                                          <p:attrName>ppt_h</p:attrName>
                                        </p:attrNameLst>
                                      </p:cBhvr>
                                      <p:tavLst>
                                        <p:tav tm="0">
                                          <p:val>
                                            <p:fltVal val="0"/>
                                          </p:val>
                                        </p:tav>
                                        <p:tav tm="100000">
                                          <p:val>
                                            <p:strVal val="#ppt_h"/>
                                          </p:val>
                                        </p:tav>
                                      </p:tavLst>
                                    </p:anim>
                                    <p:animEffect transition="in" filter="fade">
                                      <p:cBhvr>
                                        <p:cTn id="62" dur="500"/>
                                        <p:tgtEl>
                                          <p:spTgt spid="14"/>
                                        </p:tgtEl>
                                      </p:cBhvr>
                                    </p:animEffect>
                                  </p:childTnLst>
                                </p:cTn>
                              </p:par>
                              <p:par>
                                <p:cTn id="63" presetID="53" presetClass="entr" presetSubtype="16" fill="hold" grpId="0" nodeType="withEffect">
                                  <p:stCondLst>
                                    <p:cond delay="800"/>
                                  </p:stCondLst>
                                  <p:childTnLst>
                                    <p:set>
                                      <p:cBhvr>
                                        <p:cTn id="64" dur="1" fill="hold">
                                          <p:stCondLst>
                                            <p:cond delay="0"/>
                                          </p:stCondLst>
                                        </p:cTn>
                                        <p:tgtEl>
                                          <p:spTgt spid="15"/>
                                        </p:tgtEl>
                                        <p:attrNameLst>
                                          <p:attrName>style.visibility</p:attrName>
                                        </p:attrNameLst>
                                      </p:cBhvr>
                                      <p:to>
                                        <p:strVal val="visible"/>
                                      </p:to>
                                    </p:set>
                                    <p:anim calcmode="lin" valueType="num">
                                      <p:cBhvr additive="base">
                                        <p:cTn id="65" dur="500" fill="hold"/>
                                        <p:tgtEl>
                                          <p:spTgt spid="15"/>
                                        </p:tgtEl>
                                        <p:attrNameLst>
                                          <p:attrName>ppt_w</p:attrName>
                                        </p:attrNameLst>
                                      </p:cBhvr>
                                      <p:tavLst>
                                        <p:tav tm="0">
                                          <p:val>
                                            <p:fltVal val="0"/>
                                          </p:val>
                                        </p:tav>
                                        <p:tav tm="100000">
                                          <p:val>
                                            <p:strVal val="#ppt_w"/>
                                          </p:val>
                                        </p:tav>
                                      </p:tavLst>
                                    </p:anim>
                                    <p:anim calcmode="lin" valueType="num">
                                      <p:cBhvr additive="base">
                                        <p:cTn id="66" dur="500" fill="hold"/>
                                        <p:tgtEl>
                                          <p:spTgt spid="15"/>
                                        </p:tgtEl>
                                        <p:attrNameLst>
                                          <p:attrName>ppt_h</p:attrName>
                                        </p:attrNameLst>
                                      </p:cBhvr>
                                      <p:tavLst>
                                        <p:tav tm="0">
                                          <p:val>
                                            <p:fltVal val="0"/>
                                          </p:val>
                                        </p:tav>
                                        <p:tav tm="100000">
                                          <p:val>
                                            <p:strVal val="#ppt_h"/>
                                          </p:val>
                                        </p:tav>
                                      </p:tavLst>
                                    </p:anim>
                                    <p:animEffect transition="in" filter="fade">
                                      <p:cBhvr>
                                        <p:cTn id="67" dur="500"/>
                                        <p:tgtEl>
                                          <p:spTgt spid="15"/>
                                        </p:tgtEl>
                                      </p:cBhvr>
                                    </p:animEffect>
                                  </p:childTnLst>
                                </p:cTn>
                              </p:par>
                              <p:par>
                                <p:cTn id="68" presetID="53" presetClass="entr" presetSubtype="16" fill="hold" grpId="0" nodeType="withEffect">
                                  <p:stCondLst>
                                    <p:cond delay="800"/>
                                  </p:stCondLst>
                                  <p:childTnLst>
                                    <p:set>
                                      <p:cBhvr>
                                        <p:cTn id="69" dur="1" fill="hold">
                                          <p:stCondLst>
                                            <p:cond delay="0"/>
                                          </p:stCondLst>
                                        </p:cTn>
                                        <p:tgtEl>
                                          <p:spTgt spid="16"/>
                                        </p:tgtEl>
                                        <p:attrNameLst>
                                          <p:attrName>style.visibility</p:attrName>
                                        </p:attrNameLst>
                                      </p:cBhvr>
                                      <p:to>
                                        <p:strVal val="visible"/>
                                      </p:to>
                                    </p:set>
                                    <p:anim calcmode="lin" valueType="num">
                                      <p:cBhvr additive="base">
                                        <p:cTn id="70" dur="500" fill="hold"/>
                                        <p:tgtEl>
                                          <p:spTgt spid="16"/>
                                        </p:tgtEl>
                                        <p:attrNameLst>
                                          <p:attrName>ppt_w</p:attrName>
                                        </p:attrNameLst>
                                      </p:cBhvr>
                                      <p:tavLst>
                                        <p:tav tm="0">
                                          <p:val>
                                            <p:fltVal val="0"/>
                                          </p:val>
                                        </p:tav>
                                        <p:tav tm="100000">
                                          <p:val>
                                            <p:strVal val="#ppt_w"/>
                                          </p:val>
                                        </p:tav>
                                      </p:tavLst>
                                    </p:anim>
                                    <p:anim calcmode="lin" valueType="num">
                                      <p:cBhvr additive="base">
                                        <p:cTn id="71" dur="500" fill="hold"/>
                                        <p:tgtEl>
                                          <p:spTgt spid="16"/>
                                        </p:tgtEl>
                                        <p:attrNameLst>
                                          <p:attrName>ppt_h</p:attrName>
                                        </p:attrNameLst>
                                      </p:cBhvr>
                                      <p:tavLst>
                                        <p:tav tm="0">
                                          <p:val>
                                            <p:fltVal val="0"/>
                                          </p:val>
                                        </p:tav>
                                        <p:tav tm="100000">
                                          <p:val>
                                            <p:strVal val="#ppt_h"/>
                                          </p:val>
                                        </p:tav>
                                      </p:tavLst>
                                    </p:anim>
                                    <p:animEffect transition="in" filter="fade">
                                      <p:cBhvr>
                                        <p:cTn id="72" dur="500"/>
                                        <p:tgtEl>
                                          <p:spTgt spid="16"/>
                                        </p:tgtEl>
                                      </p:cBhvr>
                                    </p:animEffect>
                                  </p:childTnLst>
                                </p:cTn>
                              </p:par>
                              <p:par>
                                <p:cTn id="73" presetID="53" presetClass="entr" presetSubtype="16" fill="hold" grpId="0" nodeType="withEffect">
                                  <p:stCondLst>
                                    <p:cond delay="1000"/>
                                  </p:stCondLst>
                                  <p:childTnLst>
                                    <p:set>
                                      <p:cBhvr>
                                        <p:cTn id="74" dur="1" fill="hold">
                                          <p:stCondLst>
                                            <p:cond delay="0"/>
                                          </p:stCondLst>
                                        </p:cTn>
                                        <p:tgtEl>
                                          <p:spTgt spid="17"/>
                                        </p:tgtEl>
                                        <p:attrNameLst>
                                          <p:attrName>style.visibility</p:attrName>
                                        </p:attrNameLst>
                                      </p:cBhvr>
                                      <p:to>
                                        <p:strVal val="visible"/>
                                      </p:to>
                                    </p:set>
                                    <p:anim calcmode="lin" valueType="num">
                                      <p:cBhvr additive="base">
                                        <p:cTn id="75" dur="500" fill="hold"/>
                                        <p:tgtEl>
                                          <p:spTgt spid="17"/>
                                        </p:tgtEl>
                                        <p:attrNameLst>
                                          <p:attrName>ppt_w</p:attrName>
                                        </p:attrNameLst>
                                      </p:cBhvr>
                                      <p:tavLst>
                                        <p:tav tm="0">
                                          <p:val>
                                            <p:fltVal val="0"/>
                                          </p:val>
                                        </p:tav>
                                        <p:tav tm="100000">
                                          <p:val>
                                            <p:strVal val="#ppt_w"/>
                                          </p:val>
                                        </p:tav>
                                      </p:tavLst>
                                    </p:anim>
                                    <p:anim calcmode="lin" valueType="num">
                                      <p:cBhvr additive="base">
                                        <p:cTn id="76" dur="500" fill="hold"/>
                                        <p:tgtEl>
                                          <p:spTgt spid="17"/>
                                        </p:tgtEl>
                                        <p:attrNameLst>
                                          <p:attrName>ppt_h</p:attrName>
                                        </p:attrNameLst>
                                      </p:cBhvr>
                                      <p:tavLst>
                                        <p:tav tm="0">
                                          <p:val>
                                            <p:fltVal val="0"/>
                                          </p:val>
                                        </p:tav>
                                        <p:tav tm="100000">
                                          <p:val>
                                            <p:strVal val="#ppt_h"/>
                                          </p:val>
                                        </p:tav>
                                      </p:tavLst>
                                    </p:anim>
                                    <p:animEffect transition="in" filter="fade">
                                      <p:cBhvr>
                                        <p:cTn id="77" dur="500"/>
                                        <p:tgtEl>
                                          <p:spTgt spid="17"/>
                                        </p:tgtEl>
                                      </p:cBhvr>
                                    </p:animEffect>
                                  </p:childTnLst>
                                </p:cTn>
                              </p:par>
                              <p:par>
                                <p:cTn id="78" presetID="53" presetClass="entr" presetSubtype="16" fill="hold" grpId="0" nodeType="withEffect">
                                  <p:stCondLst>
                                    <p:cond delay="1000"/>
                                  </p:stCondLst>
                                  <p:childTnLst>
                                    <p:set>
                                      <p:cBhvr>
                                        <p:cTn id="79" dur="1" fill="hold">
                                          <p:stCondLst>
                                            <p:cond delay="0"/>
                                          </p:stCondLst>
                                        </p:cTn>
                                        <p:tgtEl>
                                          <p:spTgt spid="18"/>
                                        </p:tgtEl>
                                        <p:attrNameLst>
                                          <p:attrName>style.visibility</p:attrName>
                                        </p:attrNameLst>
                                      </p:cBhvr>
                                      <p:to>
                                        <p:strVal val="visible"/>
                                      </p:to>
                                    </p:set>
                                    <p:anim calcmode="lin" valueType="num">
                                      <p:cBhvr additive="base">
                                        <p:cTn id="80" dur="500" fill="hold"/>
                                        <p:tgtEl>
                                          <p:spTgt spid="18"/>
                                        </p:tgtEl>
                                        <p:attrNameLst>
                                          <p:attrName>ppt_w</p:attrName>
                                        </p:attrNameLst>
                                      </p:cBhvr>
                                      <p:tavLst>
                                        <p:tav tm="0">
                                          <p:val>
                                            <p:fltVal val="0"/>
                                          </p:val>
                                        </p:tav>
                                        <p:tav tm="100000">
                                          <p:val>
                                            <p:strVal val="#ppt_w"/>
                                          </p:val>
                                        </p:tav>
                                      </p:tavLst>
                                    </p:anim>
                                    <p:anim calcmode="lin" valueType="num">
                                      <p:cBhvr additive="base">
                                        <p:cTn id="81" dur="500" fill="hold"/>
                                        <p:tgtEl>
                                          <p:spTgt spid="18"/>
                                        </p:tgtEl>
                                        <p:attrNameLst>
                                          <p:attrName>ppt_h</p:attrName>
                                        </p:attrNameLst>
                                      </p:cBhvr>
                                      <p:tavLst>
                                        <p:tav tm="0">
                                          <p:val>
                                            <p:fltVal val="0"/>
                                          </p:val>
                                        </p:tav>
                                        <p:tav tm="100000">
                                          <p:val>
                                            <p:strVal val="#ppt_h"/>
                                          </p:val>
                                        </p:tav>
                                      </p:tavLst>
                                    </p:anim>
                                    <p:animEffect transition="in" filter="fade">
                                      <p:cBhvr>
                                        <p:cTn id="82" dur="500"/>
                                        <p:tgtEl>
                                          <p:spTgt spid="18"/>
                                        </p:tgtEl>
                                      </p:cBhvr>
                                    </p:animEffect>
                                  </p:childTnLst>
                                </p:cTn>
                              </p:par>
                              <p:par>
                                <p:cTn id="83" presetID="53" presetClass="entr" presetSubtype="16" fill="hold" grpId="0" nodeType="withEffect">
                                  <p:stCondLst>
                                    <p:cond delay="1000"/>
                                  </p:stCondLst>
                                  <p:childTnLst>
                                    <p:set>
                                      <p:cBhvr>
                                        <p:cTn id="84" dur="1" fill="hold">
                                          <p:stCondLst>
                                            <p:cond delay="0"/>
                                          </p:stCondLst>
                                        </p:cTn>
                                        <p:tgtEl>
                                          <p:spTgt spid="19"/>
                                        </p:tgtEl>
                                        <p:attrNameLst>
                                          <p:attrName>style.visibility</p:attrName>
                                        </p:attrNameLst>
                                      </p:cBhvr>
                                      <p:to>
                                        <p:strVal val="visible"/>
                                      </p:to>
                                    </p:set>
                                    <p:anim calcmode="lin" valueType="num">
                                      <p:cBhvr additive="base">
                                        <p:cTn id="85" dur="500" fill="hold"/>
                                        <p:tgtEl>
                                          <p:spTgt spid="19"/>
                                        </p:tgtEl>
                                        <p:attrNameLst>
                                          <p:attrName>ppt_w</p:attrName>
                                        </p:attrNameLst>
                                      </p:cBhvr>
                                      <p:tavLst>
                                        <p:tav tm="0">
                                          <p:val>
                                            <p:fltVal val="0"/>
                                          </p:val>
                                        </p:tav>
                                        <p:tav tm="100000">
                                          <p:val>
                                            <p:strVal val="#ppt_w"/>
                                          </p:val>
                                        </p:tav>
                                      </p:tavLst>
                                    </p:anim>
                                    <p:anim calcmode="lin" valueType="num">
                                      <p:cBhvr additive="base">
                                        <p:cTn id="86" dur="500" fill="hold"/>
                                        <p:tgtEl>
                                          <p:spTgt spid="19"/>
                                        </p:tgtEl>
                                        <p:attrNameLst>
                                          <p:attrName>ppt_h</p:attrName>
                                        </p:attrNameLst>
                                      </p:cBhvr>
                                      <p:tavLst>
                                        <p:tav tm="0">
                                          <p:val>
                                            <p:fltVal val="0"/>
                                          </p:val>
                                        </p:tav>
                                        <p:tav tm="100000">
                                          <p:val>
                                            <p:strVal val="#ppt_h"/>
                                          </p:val>
                                        </p:tav>
                                      </p:tavLst>
                                    </p:anim>
                                    <p:animEffect transition="in" filter="fade">
                                      <p:cBhvr>
                                        <p:cTn id="87" dur="500"/>
                                        <p:tgtEl>
                                          <p:spTgt spid="19"/>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fade">
                                      <p:cBhvr>
                                        <p:cTn id="92" dur="500"/>
                                        <p:tgtEl>
                                          <p:spTgt spid="20"/>
                                        </p:tgtEl>
                                      </p:cBhvr>
                                    </p:animEffect>
                                  </p:childTnLst>
                                </p:cTn>
                              </p:par>
                              <p:par>
                                <p:cTn id="93" presetID="10" presetClass="entr" presetSubtype="0" fill="hold" grpId="0" nodeType="withEffect">
                                  <p:stCondLst>
                                    <p:cond delay="150"/>
                                  </p:stCondLst>
                                  <p:childTnLst>
                                    <p:set>
                                      <p:cBhvr>
                                        <p:cTn id="94" dur="1" fill="hold">
                                          <p:stCondLst>
                                            <p:cond delay="0"/>
                                          </p:stCondLst>
                                        </p:cTn>
                                        <p:tgtEl>
                                          <p:spTgt spid="21"/>
                                        </p:tgtEl>
                                        <p:attrNameLst>
                                          <p:attrName>style.visibility</p:attrName>
                                        </p:attrNameLst>
                                      </p:cBhvr>
                                      <p:to>
                                        <p:strVal val="visible"/>
                                      </p:to>
                                    </p:set>
                                    <p:animEffect transition="in" filter="fade">
                                      <p:cBhvr>
                                        <p:cTn id="95" dur="500"/>
                                        <p:tgtEl>
                                          <p:spTgt spid="21"/>
                                        </p:tgtEl>
                                      </p:cBhvr>
                                    </p:animEffect>
                                  </p:childTnLst>
                                </p:cTn>
                              </p:par>
                              <p:par>
                                <p:cTn id="96" presetID="10" presetClass="entr" presetSubtype="0" fill="hold" grpId="0" nodeType="withEffect">
                                  <p:stCondLst>
                                    <p:cond delay="300"/>
                                  </p:stCondLst>
                                  <p:childTnLst>
                                    <p:set>
                                      <p:cBhvr>
                                        <p:cTn id="97" dur="1" fill="hold">
                                          <p:stCondLst>
                                            <p:cond delay="0"/>
                                          </p:stCondLst>
                                        </p:cTn>
                                        <p:tgtEl>
                                          <p:spTgt spid="22"/>
                                        </p:tgtEl>
                                        <p:attrNameLst>
                                          <p:attrName>style.visibility</p:attrName>
                                        </p:attrNameLst>
                                      </p:cBhvr>
                                      <p:to>
                                        <p:strVal val="visible"/>
                                      </p:to>
                                    </p:set>
                                    <p:animEffect transition="in" filter="fade">
                                      <p:cBhvr>
                                        <p:cTn id="98" dur="500"/>
                                        <p:tgtEl>
                                          <p:spTgt spid="22"/>
                                        </p:tgtEl>
                                      </p:cBhvr>
                                    </p:animEffect>
                                  </p:childTnLst>
                                </p:cTn>
                              </p:par>
                              <p:par>
                                <p:cTn id="99" presetID="22" presetClass="entr" presetSubtype="8" fill="hold" grpId="0" nodeType="withEffect">
                                  <p:stCondLst>
                                    <p:cond delay="300"/>
                                  </p:stCondLst>
                                  <p:childTnLst>
                                    <p:set>
                                      <p:cBhvr>
                                        <p:cTn id="100" dur="1" fill="hold">
                                          <p:stCondLst>
                                            <p:cond delay="0"/>
                                          </p:stCondLst>
                                        </p:cTn>
                                        <p:tgtEl>
                                          <p:spTgt spid="23"/>
                                        </p:tgtEl>
                                        <p:attrNameLst>
                                          <p:attrName>style.visibility</p:attrName>
                                        </p:attrNameLst>
                                      </p:cBhvr>
                                      <p:to>
                                        <p:strVal val="visible"/>
                                      </p:to>
                                    </p:set>
                                    <p:animEffect transition="in" filter="wipe(left)">
                                      <p:cBhvr>
                                        <p:cTn id="101" dur="900"/>
                                        <p:tgtEl>
                                          <p:spTgt spid="23"/>
                                        </p:tgtEl>
                                      </p:cBhvr>
                                    </p:animEffect>
                                  </p:childTnLst>
                                </p:cTn>
                              </p:par>
                              <p:par>
                                <p:cTn id="102" presetID="22" presetClass="entr" presetSubtype="8" fill="hold" grpId="0" nodeType="withEffect">
                                  <p:stCondLst>
                                    <p:cond delay="500"/>
                                  </p:stCondLst>
                                  <p:childTnLst>
                                    <p:set>
                                      <p:cBhvr>
                                        <p:cTn id="103" dur="1" fill="hold">
                                          <p:stCondLst>
                                            <p:cond delay="0"/>
                                          </p:stCondLst>
                                        </p:cTn>
                                        <p:tgtEl>
                                          <p:spTgt spid="24"/>
                                        </p:tgtEl>
                                        <p:attrNameLst>
                                          <p:attrName>style.visibility</p:attrName>
                                        </p:attrNameLst>
                                      </p:cBhvr>
                                      <p:to>
                                        <p:strVal val="visible"/>
                                      </p:to>
                                    </p:set>
                                    <p:animEffect transition="in" filter="wipe(left)">
                                      <p:cBhvr>
                                        <p:cTn id="104" dur="900"/>
                                        <p:tgtEl>
                                          <p:spTgt spid="24"/>
                                        </p:tgtEl>
                                      </p:cBhvr>
                                    </p:animEffect>
                                  </p:childTnLst>
                                </p:cTn>
                              </p:par>
                              <p:par>
                                <p:cTn id="105" presetID="22" presetClass="entr" presetSubtype="8" fill="hold" grpId="0" nodeType="withEffect">
                                  <p:stCondLst>
                                    <p:cond delay="700"/>
                                  </p:stCondLst>
                                  <p:childTnLst>
                                    <p:set>
                                      <p:cBhvr>
                                        <p:cTn id="106" dur="1" fill="hold">
                                          <p:stCondLst>
                                            <p:cond delay="0"/>
                                          </p:stCondLst>
                                        </p:cTn>
                                        <p:tgtEl>
                                          <p:spTgt spid="25"/>
                                        </p:tgtEl>
                                        <p:attrNameLst>
                                          <p:attrName>style.visibility</p:attrName>
                                        </p:attrNameLst>
                                      </p:cBhvr>
                                      <p:to>
                                        <p:strVal val="visible"/>
                                      </p:to>
                                    </p:set>
                                    <p:animEffect transition="in" filter="wipe(left)">
                                      <p:cBhvr>
                                        <p:cTn id="107" dur="900"/>
                                        <p:tgtEl>
                                          <p:spTgt spid="25"/>
                                        </p:tgtEl>
                                      </p:cBhvr>
                                    </p:animEffect>
                                  </p:childTnLst>
                                </p:cTn>
                              </p:par>
                              <p:par>
                                <p:cTn id="108" presetID="22" presetClass="entr" presetSubtype="8" fill="hold" grpId="0" nodeType="withEffect">
                                  <p:stCondLst>
                                    <p:cond delay="600"/>
                                  </p:stCondLst>
                                  <p:childTnLst>
                                    <p:set>
                                      <p:cBhvr>
                                        <p:cTn id="109" dur="1" fill="hold">
                                          <p:stCondLst>
                                            <p:cond delay="0"/>
                                          </p:stCondLst>
                                        </p:cTn>
                                        <p:tgtEl>
                                          <p:spTgt spid="34"/>
                                        </p:tgtEl>
                                        <p:attrNameLst>
                                          <p:attrName>style.visibility</p:attrName>
                                        </p:attrNameLst>
                                      </p:cBhvr>
                                      <p:to>
                                        <p:strVal val="visible"/>
                                      </p:to>
                                    </p:set>
                                    <p:animEffect transition="in" filter="wipe(left)">
                                      <p:cBhvr>
                                        <p:cTn id="110" dur="1100"/>
                                        <p:tgtEl>
                                          <p:spTgt spid="34"/>
                                        </p:tgtEl>
                                      </p:cBhvr>
                                    </p:animEffect>
                                  </p:childTnLst>
                                </p:cTn>
                              </p:par>
                              <p:par>
                                <p:cTn id="112" presetID="0" presetClass="path" presetSubtype="0" fill="hold" accel="30000" decel="30000" nodeType="withEffect">
                                  <p:stCondLst>
                                    <p:cond delay="600"/>
                                  </p:stCondLst>
                                  <p:childTnLst>
                                    <p:animMotion origin="layout" path="M 0 0 L 0.02017 0 E" pathEditMode="relative" rAng="0" ptsTypes="AA">
                                      <p:cBhvr>
                                        <p:cTn id="111" dur="1100" fill="hold"/>
                                        <p:tgtEl>
                                          <p:spTgt spid="35"/>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Graphic spid="23" grpId="0">
        <p:bldAsOne/>
      </p:bldGraphic>
      <p:bldGraphic spid="24" grpId="0">
        <p:bldAsOne/>
      </p:bldGraphic>
      <p:bldGraphic spid="25" grpId="0">
        <p:bldAsOne/>
      </p:bldGraphic>
      <p:bldP spid="3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Real pipeline runs</a:t>
            </a:r>
            <a:endParaRPr lang="en-US" sz="3600" dirty="0"/>
          </a:p>
        </p:txBody>
      </p:sp>
      <p:graphicFrame>
        <p:nvGraphicFramePr>
          <p:cNvPr id="26" name="runtable"/>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914400"/>
        </p:xfrm>
        <a:graphic>
          <a:graphicData uri="http://schemas.openxmlformats.org/drawingml/2006/table">
            <a:tbl>
              <a:tblPr/>
              <a:tblGrid>
                <a:gridCol w="640080"/>
                <a:gridCol w="2011680"/>
                <a:gridCol w="914400"/>
                <a:gridCol w="822960"/>
                <a:gridCol w="822960"/>
                <a:gridCol w="2011680"/>
              </a:tblGrid>
              <a:tr h="566928">
                <a:tc>
                  <a:txBody>
                    <a:bodyPr/>
                    <a:lstStyle/>
                    <a:p>
                      <a:pPr algn="l" indent="0" marL="0">
                        <a:buNone/>
                      </a:pPr>
                      <a:r>
                        <a:rPr lang="en-US" sz="1400" b="1" dirty="0">
                          <a:solidFill>
                            <a:srgbClr val="F1F5FA"/>
                          </a:solidFill>
                        </a:rPr>
                        <a:t>Run</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Time (UTC)</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Fetched</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Valid</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Stored</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c>
                  <a:txBody>
                    <a:bodyPr/>
                    <a:lstStyle/>
                    <a:p>
                      <a:pPr algn="l" indent="0" marL="0">
                        <a:buNone/>
                      </a:pPr>
                      <a:r>
                        <a:rPr lang="en-US" sz="1400" b="1" dirty="0">
                          <a:solidFill>
                            <a:srgbClr val="F1F5FA"/>
                          </a:solidFill>
                        </a:rPr>
                        <a:t>Status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1B3A6B"/>
                    </a:solidFill>
                  </a:tcPr>
                </a:tc>
              </a:tr>
              <a:tr h="566928">
                <a:tc>
                  <a:txBody>
                    <a:bodyPr/>
                    <a:lstStyle/>
                    <a:p>
                      <a:pPr indent="0" marL="0">
                        <a:buNone/>
                      </a:pPr>
                      <a:r>
                        <a:rPr lang="en-US" sz="1400" dirty="0">
                          <a:solidFill>
                            <a:srgbClr val="F1F5FA"/>
                          </a:solidFill>
                        </a:rPr>
                        <a:t>1</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2026-10-09 05:15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34D399"/>
                          </a:solidFill>
                        </a:rPr>
                        <a:t>success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r h="566928">
                <a:tc>
                  <a:txBody>
                    <a:bodyPr/>
                    <a:lstStyle/>
                    <a:p>
                      <a:pPr indent="0" marL="0">
                        <a:buNone/>
                      </a:pPr>
                      <a:r>
                        <a:rPr lang="en-US" sz="1400" dirty="0">
                          <a:solidFill>
                            <a:srgbClr val="F1F5FA"/>
                          </a:solidFill>
                        </a:rPr>
                        <a:t>2</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2026-10-09 05:21</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25</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34D399"/>
                          </a:solidFill>
                        </a:rPr>
                        <a:t>success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r h="566928">
                <a:tc>
                  <a:txBody>
                    <a:bodyPr/>
                    <a:lstStyle/>
                    <a:p>
                      <a:pPr indent="0" marL="0">
                        <a:buNone/>
                      </a:pPr>
                      <a:r>
                        <a:rPr lang="en-US" sz="1400" dirty="0">
                          <a:solidFill>
                            <a:srgbClr val="F1F5FA"/>
                          </a:solidFill>
                        </a:rPr>
                        <a:t>3</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2026-10-09 05:22</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10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34D399"/>
                          </a:solidFill>
                        </a:rPr>
                        <a:t>success</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r h="566928">
                <a:tc>
                  <a:txBody>
                    <a:bodyPr/>
                    <a:lstStyle/>
                    <a:p>
                      <a:pPr indent="0" marL="0">
                        <a:buNone/>
                      </a:pPr>
                      <a:r>
                        <a:rPr lang="en-US" sz="1400" dirty="0">
                          <a:solidFill>
                            <a:srgbClr val="F1F5FA"/>
                          </a:solidFill>
                        </a:rPr>
                        <a:t>4</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2026-10-11 06:59</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dirty="0">
                          <a:solidFill>
                            <a:srgbClr val="F1F5FA"/>
                          </a:solidFill>
                        </a:rPr>
                        <a:t>0</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c>
                  <a:txBody>
                    <a:bodyPr/>
                    <a:lstStyle/>
                    <a:p>
                      <a:pPr indent="0" marL="0">
                        <a:buNone/>
                      </a:pPr>
                      <a:r>
                        <a:rPr lang="en-US" sz="1400" b="1" dirty="0">
                          <a:solidFill>
                            <a:srgbClr val="F87171"/>
                          </a:solidFill>
                        </a:rPr>
                        <a:t>failed: HTTP 403</a:t>
                      </a:r>
                      <a:endParaRPr lang="en-US" sz="1400" dirty="0"/>
                    </a:p>
                  </a:txBody>
                  <a:tcPr marL="109728" marR="109728" marT="0" marB="0" anchor="ctr">
                    <a:lnL w="9525" cap="flat" cmpd="sng" algn="ctr">
                      <a:solidFill>
                        <a:srgbClr val="3A4A66"/>
                      </a:solidFill>
                      <a:prstDash val="solid"/>
                      <a:round/>
                      <a:headEnd type="none" w="med" len="med"/>
                      <a:tailEnd type="none" w="med" len="med"/>
                    </a:lnL>
                    <a:lnR w="9525" cap="flat" cmpd="sng" algn="ctr">
                      <a:solidFill>
                        <a:srgbClr val="3A4A66"/>
                      </a:solidFill>
                      <a:prstDash val="solid"/>
                      <a:round/>
                      <a:headEnd type="none" w="med" len="med"/>
                      <a:tailEnd type="none" w="med" len="med"/>
                    </a:lnR>
                    <a:lnT w="9525" cap="flat" cmpd="sng" algn="ctr">
                      <a:solidFill>
                        <a:srgbClr val="3A4A66"/>
                      </a:solidFill>
                      <a:prstDash val="solid"/>
                      <a:round/>
                      <a:headEnd type="none" w="med" len="med"/>
                      <a:tailEnd type="none" w="med" len="med"/>
                    </a:lnT>
                    <a:lnB w="9525" cap="flat" cmpd="sng" algn="ctr">
                      <a:solidFill>
                        <a:srgbClr val="3A4A66"/>
                      </a:solidFill>
                      <a:prstDash val="solid"/>
                      <a:round/>
                      <a:headEnd type="none" w="med" len="med"/>
                      <a:tailEnd type="none" w="med" len="med"/>
                    </a:lnB>
                    <a:solidFill>
                      <a:srgbClr val="0E2146"/>
                    </a:solidFill>
                  </a:tcPr>
                </a:tc>
              </a:tr>
            </a:tbl>
          </a:graphicData>
        </a:graphic>
      </p:graphicFrame>
      <p:sp>
        <p:nvSpPr>
          <p:cNvPr id="6" name="runnote"/>
          <p:cNvSpPr txBox="1"/>
          <p:nvPr/>
        </p:nvSpPr>
        <p:spPr>
          <a:xfrm>
            <a:off x="548640" y="4846320"/>
            <a:ext cx="7223760" cy="1234440"/>
          </a:xfrm>
          <a:prstGeom prst="roundRect">
            <a:avLst>
              <a:gd name="adj" fmla="val 8889"/>
            </a:avLst>
          </a:prstGeom>
          <a:solidFill>
            <a:schemeClr val="bg1">
              <a:alpha val="9000"/>
            </a:schemeClr>
          </a:solidFill>
          <a:ln w="9525">
            <a:solidFill>
              <a:schemeClr val="bg1">
                <a:alpha val="22000"/>
              </a:schemeClr>
            </a:solidFill>
          </a:ln>
        </p:spPr>
        <p:txBody>
          <a:bodyPr wrap="square" lIns="127000" tIns="152400" rIns="152400" bIns="127000" rtlCol="0" anchor="ctr"/>
          <a:lstStyle/>
          <a:p>
            <a:pPr algn="l" indent="0" marL="0">
              <a:buNone/>
            </a:pPr>
            <a:r>
              <a:rPr lang="en-US" sz="1500" b="1" dirty="0">
                <a:solidFill>
                  <a:schemeClr val="accent2"/>
                </a:solidFill>
              </a:rPr>
              <a:t>Source: </a:t>
            </a:r>
            <a:pPr algn="l" indent="0" marL="0">
              <a:buNone/>
            </a:pPr>
            <a:r>
              <a:rPr lang="en-US" sz="1500" dirty="0">
                <a:solidFill>
                  <a:schemeClr val="bg1"/>
                </a:solidFill>
              </a:rPr>
              <a:t>the refresh_log table of the delivered database. Each retrieval, successful or not, leaves an audit row with its counts and message.</a:t>
            </a:r>
            <a:endParaRPr lang="en-US" sz="1500" dirty="0"/>
          </a:p>
        </p:txBody>
      </p:sp>
      <p:sp>
        <p:nvSpPr>
          <p:cNvPr id="7" name="rn1"/>
          <p:cNvSpPr/>
          <p:nvPr/>
        </p:nvSpPr>
        <p:spPr>
          <a:xfrm>
            <a:off x="8046720" y="1737360"/>
            <a:ext cx="3593592" cy="2148840"/>
          </a:xfrm>
          <a:prstGeom prst="roundRect">
            <a:avLst>
              <a:gd name="adj" fmla="val 5106"/>
            </a:avLst>
          </a:prstGeom>
          <a:solidFill>
            <a:schemeClr val="accent3">
              <a:alpha val="12000"/>
            </a:schemeClr>
          </a:solidFill>
          <a:ln w="9525">
            <a:solidFill>
              <a:schemeClr val="accent3">
                <a:alpha val="50000"/>
              </a:schemeClr>
            </a:solidFill>
            <a:prstDash val="solid"/>
          </a:ln>
        </p:spPr>
      </p:sp>
      <p:sp>
        <p:nvSpPr>
          <p:cNvPr id="8" name="rn1v"/>
          <p:cNvSpPr txBox="1"/>
          <p:nvPr/>
        </p:nvSpPr>
        <p:spPr>
          <a:xfrm>
            <a:off x="8275320" y="1874520"/>
            <a:ext cx="3200400" cy="822960"/>
          </a:xfrm>
          <a:prstGeom prst="rect">
            <a:avLst/>
          </a:prstGeom>
          <a:noFill/>
          <a:ln/>
        </p:spPr>
        <p:txBody>
          <a:bodyPr wrap="square" lIns="0" tIns="0" rIns="0" bIns="0" rtlCol="0" anchor="t"/>
          <a:lstStyle/>
          <a:p>
            <a:pPr algn="l" indent="0" marL="0">
              <a:buNone/>
            </a:pPr>
            <a:r>
              <a:rPr lang="en-US" sz="4400" b="1" dirty="0">
                <a:solidFill>
                  <a:schemeClr val="accent3"/>
                </a:solidFill>
                <a:latin typeface="+mj-lt" pitchFamily="34" charset="0"/>
                <a:ea typeface="+mj-lt" pitchFamily="34" charset="-122"/>
                <a:cs typeface="+mj-lt" pitchFamily="34" charset="-120"/>
              </a:rPr>
              <a:t>135 → 133</a:t>
            </a:r>
            <a:endParaRPr lang="en-US" sz="4400" dirty="0"/>
          </a:p>
        </p:txBody>
      </p:sp>
      <p:sp>
        <p:nvSpPr>
          <p:cNvPr id="9" name="rn1t"/>
          <p:cNvSpPr txBox="1"/>
          <p:nvPr/>
        </p:nvSpPr>
        <p:spPr>
          <a:xfrm>
            <a:off x="8275320" y="2743200"/>
            <a:ext cx="3200400" cy="1051560"/>
          </a:xfrm>
          <a:prstGeom prst="rect">
            <a:avLst/>
          </a:prstGeom>
          <a:noFill/>
          <a:ln/>
        </p:spPr>
        <p:txBody>
          <a:bodyPr wrap="square" lIns="0" tIns="0" rIns="0" bIns="0" rtlCol="0" anchor="t"/>
          <a:lstStyle/>
          <a:p>
            <a:pPr algn="l" indent="0" marL="0">
              <a:buNone/>
            </a:pPr>
            <a:r>
              <a:rPr lang="en-US" sz="1400" dirty="0">
                <a:solidFill>
                  <a:schemeClr val="bg1"/>
                </a:solidFill>
              </a:rPr>
              <a:t>records fetched became 133 unique flights: the natural-key upsert replaced repeats.</a:t>
            </a:r>
            <a:endParaRPr lang="en-US" sz="1400" dirty="0"/>
          </a:p>
        </p:txBody>
      </p:sp>
      <p:sp>
        <p:nvSpPr>
          <p:cNvPr id="10" name="rn2"/>
          <p:cNvSpPr/>
          <p:nvPr/>
        </p:nvSpPr>
        <p:spPr>
          <a:xfrm>
            <a:off x="8046720" y="4023360"/>
            <a:ext cx="3593592" cy="2057400"/>
          </a:xfrm>
          <a:prstGeom prst="roundRect">
            <a:avLst>
              <a:gd name="adj" fmla="val 5333"/>
            </a:avLst>
          </a:prstGeom>
          <a:solidFill>
            <a:schemeClr val="accent5">
              <a:alpha val="12000"/>
            </a:schemeClr>
          </a:solidFill>
          <a:ln w="9525">
            <a:solidFill>
              <a:schemeClr val="accent5">
                <a:alpha val="50000"/>
              </a:schemeClr>
            </a:solidFill>
            <a:prstDash val="solid"/>
          </a:ln>
        </p:spPr>
      </p:sp>
      <p:sp>
        <p:nvSpPr>
          <p:cNvPr id="11" name="rn2v"/>
          <p:cNvSpPr txBox="1"/>
          <p:nvPr/>
        </p:nvSpPr>
        <p:spPr>
          <a:xfrm>
            <a:off x="8275320" y="4160520"/>
            <a:ext cx="3200400" cy="457200"/>
          </a:xfrm>
          <a:prstGeom prst="rect">
            <a:avLst/>
          </a:prstGeom>
          <a:noFill/>
          <a:ln/>
        </p:spPr>
        <p:txBody>
          <a:bodyPr wrap="square" lIns="0" tIns="0" rIns="0" bIns="0" rtlCol="0" anchor="t"/>
          <a:lstStyle/>
          <a:p>
            <a:pPr algn="l" indent="0" marL="0">
              <a:buNone/>
            </a:pPr>
            <a:r>
              <a:rPr lang="en-US" sz="2200" b="1" dirty="0">
                <a:solidFill>
                  <a:schemeClr val="accent5"/>
                </a:solidFill>
                <a:latin typeface="+mj-lt" pitchFamily="34" charset="0"/>
                <a:ea typeface="+mj-lt" pitchFamily="34" charset="-122"/>
                <a:cs typeface="+mj-lt" pitchFamily="34" charset="-120"/>
              </a:rPr>
              <a:t>HTTP 403, handled</a:t>
            </a:r>
            <a:endParaRPr lang="en-US" sz="2200" dirty="0"/>
          </a:p>
        </p:txBody>
      </p:sp>
      <p:sp>
        <p:nvSpPr>
          <p:cNvPr id="12" name="rn2t"/>
          <p:cNvSpPr txBox="1"/>
          <p:nvPr/>
        </p:nvSpPr>
        <p:spPr>
          <a:xfrm>
            <a:off x="8275320" y="4709160"/>
            <a:ext cx="3200400" cy="1280160"/>
          </a:xfrm>
          <a:prstGeom prst="rect">
            <a:avLst/>
          </a:prstGeom>
          <a:noFill/>
          <a:ln/>
        </p:spPr>
        <p:txBody>
          <a:bodyPr wrap="square" lIns="0" tIns="0" rIns="0" bIns="0" rtlCol="0" anchor="t"/>
          <a:lstStyle/>
          <a:p>
            <a:pPr algn="l" indent="0" marL="0">
              <a:buNone/>
            </a:pPr>
            <a:r>
              <a:rPr lang="en-US" sz="1400" dirty="0">
                <a:solidFill>
                  <a:schemeClr val="bg1"/>
                </a:solidFill>
              </a:rPr>
              <a:t>The failed run was logged with the provider reason. The 133 stored flights stayed available.</a:t>
            </a:r>
            <a:endParaRPr lang="en-US" sz="1400" dirty="0"/>
          </a:p>
        </p:txBody>
      </p:sp>
      <p:sp>
        <p:nvSpPr>
          <p:cNvPr id="13" name="track"/>
          <p:cNvSpPr/>
          <p:nvPr/>
        </p:nvSpPr>
        <p:spPr>
          <a:xfrm>
            <a:off x="3383280" y="6510528"/>
            <a:ext cx="7132320" cy="0"/>
          </a:xfrm>
          <a:prstGeom prst="line">
            <a:avLst/>
          </a:prstGeom>
          <a:noFill/>
          <a:ln w="12700">
            <a:solidFill>
              <a:schemeClr val="bg2">
                <a:alpha val="45000"/>
              </a:schemeClr>
            </a:solidFill>
            <a:prstDash val="dash"/>
          </a:ln>
        </p:spPr>
      </p:sp>
      <p:sp>
        <p:nvSpPr>
          <p:cNvPr id="14" name="progress"/>
          <p:cNvSpPr/>
          <p:nvPr/>
        </p:nvSpPr>
        <p:spPr>
          <a:xfrm>
            <a:off x="3383280" y="6510528"/>
            <a:ext cx="5656668" cy="0"/>
          </a:xfrm>
          <a:prstGeom prst="line">
            <a:avLst/>
          </a:prstGeom>
          <a:noFill/>
          <a:ln w="28575">
            <a:solidFill>
              <a:schemeClr val="accent2"/>
            </a:solidFill>
            <a:prstDash val="solid"/>
          </a:ln>
        </p:spPr>
      </p:sp>
      <p:sp>
        <p:nvSpPr>
          <p:cNvPr id="15" name="wp0"/>
          <p:cNvSpPr/>
          <p:nvPr/>
        </p:nvSpPr>
        <p:spPr>
          <a:xfrm>
            <a:off x="3834016" y="6469380"/>
            <a:ext cx="82296" cy="82296"/>
          </a:xfrm>
          <a:prstGeom prst="ellipse">
            <a:avLst/>
          </a:prstGeom>
          <a:solidFill>
            <a:schemeClr val="accent2"/>
          </a:solidFill>
          <a:ln/>
        </p:spPr>
      </p:sp>
      <p:sp>
        <p:nvSpPr>
          <p:cNvPr id="16" name="wp1"/>
          <p:cNvSpPr/>
          <p:nvPr/>
        </p:nvSpPr>
        <p:spPr>
          <a:xfrm>
            <a:off x="4817784" y="6469380"/>
            <a:ext cx="82296" cy="82296"/>
          </a:xfrm>
          <a:prstGeom prst="ellipse">
            <a:avLst/>
          </a:prstGeom>
          <a:solidFill>
            <a:schemeClr val="accent2"/>
          </a:solidFill>
          <a:ln/>
        </p:spPr>
      </p:sp>
      <p:sp>
        <p:nvSpPr>
          <p:cNvPr id="17" name="wp2"/>
          <p:cNvSpPr/>
          <p:nvPr/>
        </p:nvSpPr>
        <p:spPr>
          <a:xfrm>
            <a:off x="7277205" y="6469380"/>
            <a:ext cx="82296" cy="82296"/>
          </a:xfrm>
          <a:prstGeom prst="ellipse">
            <a:avLst/>
          </a:prstGeom>
          <a:solidFill>
            <a:schemeClr val="accent2"/>
          </a:solidFill>
          <a:ln/>
        </p:spPr>
      </p:sp>
      <p:sp>
        <p:nvSpPr>
          <p:cNvPr id="18" name="wp3"/>
          <p:cNvSpPr/>
          <p:nvPr/>
        </p:nvSpPr>
        <p:spPr>
          <a:xfrm>
            <a:off x="8506915" y="6469380"/>
            <a:ext cx="82296" cy="82296"/>
          </a:xfrm>
          <a:prstGeom prst="ellipse">
            <a:avLst/>
          </a:prstGeom>
          <a:solidFill>
            <a:schemeClr val="accent2"/>
          </a:solidFill>
          <a:ln/>
        </p:spPr>
      </p:sp>
      <p:sp>
        <p:nvSpPr>
          <p:cNvPr id="19" name="wp4"/>
          <p:cNvSpPr/>
          <p:nvPr/>
        </p:nvSpPr>
        <p:spPr>
          <a:xfrm>
            <a:off x="9982568" y="6469380"/>
            <a:ext cx="82296" cy="82296"/>
          </a:xfrm>
          <a:prstGeom prst="ellipse">
            <a:avLst/>
          </a:prstGeom>
          <a:solidFill>
            <a:schemeClr val="bg2">
              <a:alpha val="60000"/>
            </a:schemeClr>
          </a:solidFill>
          <a:ln/>
        </p:spPr>
      </p:sp>
      <p:sp>
        <p:nvSpPr>
          <p:cNvPr id="20" name="progress_ext"/>
          <p:cNvSpPr/>
          <p:nvPr/>
        </p:nvSpPr>
        <p:spPr>
          <a:xfrm>
            <a:off x="9039948" y="6510528"/>
            <a:ext cx="245942" cy="0"/>
          </a:xfrm>
          <a:prstGeom prst="line">
            <a:avLst/>
          </a:prstGeom>
          <a:noFill/>
          <a:ln w="28575">
            <a:solidFill>
              <a:schemeClr val="accent2"/>
            </a:solidFill>
            <a:prstDash val="solid"/>
          </a:ln>
        </p:spPr>
      </p:sp>
      <p:pic>
        <p:nvPicPr>
          <p:cNvPr id="21" name="!!tracker" descr="Progress marker">    </p:cNvPr>
          <p:cNvPicPr>
            <a:picLocks noChangeAspect="1"/>
          </p:cNvPicPr>
          <p:nvPr/>
        </p:nvPicPr>
        <p:blipFill>
          <a:blip r:embed="rId1"/>
          <a:stretch>
            <a:fillRect/>
          </a:stretch>
        </p:blipFill>
        <p:spPr>
          <a:xfrm>
            <a:off x="8857068"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25</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1" fill="hold" nodeType="afterEffect">
                                  <p:stCondLst>
                                    <p:cond delay="200"/>
                                  </p:stCondLst>
                                  <p:childTnLst>
                                    <p:set>
                                      <p:cBhvr>
                                        <p:cTn id="14" dur="1" fill="hold">
                                          <p:stCondLst>
                                            <p:cond delay="0"/>
                                          </p:stCondLst>
                                        </p:cTn>
                                        <p:tgtEl>
                                          <p:spTgt spid="26"/>
                                        </p:tgtEl>
                                        <p:attrNameLst>
                                          <p:attrName>style.visibility</p:attrName>
                                        </p:attrNameLst>
                                      </p:cBhvr>
                                      <p:to>
                                        <p:strVal val="visible"/>
                                      </p:to>
                                    </p:set>
                                    <p:animEffect transition="in" filter="wipe(up)">
                                      <p:cBhvr>
                                        <p:cTn id="15" dur="1200"/>
                                        <p:tgtEl>
                                          <p:spTgt spid="26"/>
                                        </p:tgtEl>
                                      </p:cBhvr>
                                    </p:animEffect>
                                  </p:childTnLst>
                                </p:cTn>
                              </p:par>
                              <p:par>
                                <p:cTn id="16" presetID="10" presetClass="entr" presetSubtype="0" fill="hold" grpId="0" nodeType="withEffect">
                                  <p:stCondLst>
                                    <p:cond delay="100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6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600" fill="hold"/>
                                        <p:tgtEl>
                                          <p:spTgt spid="7"/>
                                        </p:tgtEl>
                                        <p:attrNameLst>
                                          <p:attrName>ppt_y</p:attrName>
                                        </p:attrNameLst>
                                      </p:cBhvr>
                                      <p:tavLst>
                                        <p:tav tm="0">
                                          <p:val>
                                            <p:strVal val="#ppt_y+.1"/>
                                          </p:val>
                                        </p:tav>
                                        <p:tav tm="100000">
                                          <p:val>
                                            <p:strVal val="#ppt_y"/>
                                          </p:val>
                                        </p:tav>
                                      </p:tavLst>
                                    </p:anim>
                                    <p:animEffect transition="in" filter="fade">
                                      <p:cBhvr>
                                        <p:cTn id="24" dur="600"/>
                                        <p:tgtEl>
                                          <p:spTgt spid="7"/>
                                        </p:tgtEl>
                                      </p:cBhvr>
                                    </p:animEffect>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600" fill="hold"/>
                                        <p:tgtEl>
                                          <p:spTgt spid="8"/>
                                        </p:tgtEl>
                                        <p:attrNameLst>
                                          <p:attrName>ppt_y</p:attrName>
                                        </p:attrNameLst>
                                      </p:cBhvr>
                                      <p:tavLst>
                                        <p:tav tm="0">
                                          <p:val>
                                            <p:strVal val="#ppt_y+.1"/>
                                          </p:val>
                                        </p:tav>
                                        <p:tav tm="100000">
                                          <p:val>
                                            <p:strVal val="#ppt_y"/>
                                          </p:val>
                                        </p:tav>
                                      </p:tavLst>
                                    </p:anim>
                                    <p:animEffect transition="in" filter="fade">
                                      <p:cBhvr>
                                        <p:cTn id="28" dur="600"/>
                                        <p:tgtEl>
                                          <p:spTgt spid="8"/>
                                        </p:tgtEl>
                                      </p:cBhvr>
                                    </p:animEffect>
                                  </p:childTnLst>
                                </p:cTn>
                              </p:par>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600" fill="hold"/>
                                        <p:tgtEl>
                                          <p:spTgt spid="9"/>
                                        </p:tgtEl>
                                        <p:attrNameLst>
                                          <p:attrName>ppt_y</p:attrName>
                                        </p:attrNameLst>
                                      </p:cBhvr>
                                      <p:tavLst>
                                        <p:tav tm="0">
                                          <p:val>
                                            <p:strVal val="#ppt_y+.1"/>
                                          </p:val>
                                        </p:tav>
                                        <p:tav tm="100000">
                                          <p:val>
                                            <p:strVal val="#ppt_y"/>
                                          </p:val>
                                        </p:tav>
                                      </p:tavLst>
                                    </p:anim>
                                    <p:animEffect transition="in" filter="fade">
                                      <p:cBhvr>
                                        <p:cTn id="32" dur="6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600" fill="hold"/>
                                        <p:tgtEl>
                                          <p:spTgt spid="10"/>
                                        </p:tgtEl>
                                        <p:attrNameLst>
                                          <p:attrName>ppt_y</p:attrName>
                                        </p:attrNameLst>
                                      </p:cBhvr>
                                      <p:tavLst>
                                        <p:tav tm="0">
                                          <p:val>
                                            <p:strVal val="#ppt_y+.1"/>
                                          </p:val>
                                        </p:tav>
                                        <p:tav tm="100000">
                                          <p:val>
                                            <p:strVal val="#ppt_y"/>
                                          </p:val>
                                        </p:tav>
                                      </p:tavLst>
                                    </p:anim>
                                    <p:animEffect transition="in" filter="fade">
                                      <p:cBhvr>
                                        <p:cTn id="38" dur="600"/>
                                        <p:tgtEl>
                                          <p:spTgt spid="10"/>
                                        </p:tgtEl>
                                      </p:cBhvr>
                                    </p:animEffect>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 calcmode="lin" valueType="num">
                                      <p:cBhvr additive="base">
                                        <p:cTn id="41" dur="600" fill="hold"/>
                                        <p:tgtEl>
                                          <p:spTgt spid="11"/>
                                        </p:tgtEl>
                                        <p:attrNameLst>
                                          <p:attrName>ppt_y</p:attrName>
                                        </p:attrNameLst>
                                      </p:cBhvr>
                                      <p:tavLst>
                                        <p:tav tm="0">
                                          <p:val>
                                            <p:strVal val="#ppt_y+.1"/>
                                          </p:val>
                                        </p:tav>
                                        <p:tav tm="100000">
                                          <p:val>
                                            <p:strVal val="#ppt_y"/>
                                          </p:val>
                                        </p:tav>
                                      </p:tavLst>
                                    </p:anim>
                                    <p:animEffect transition="in" filter="fade">
                                      <p:cBhvr>
                                        <p:cTn id="42" dur="600"/>
                                        <p:tgtEl>
                                          <p:spTgt spid="11"/>
                                        </p:tgtEl>
                                      </p:cBhvr>
                                    </p:animEffect>
                                  </p:childTnLst>
                                </p:cTn>
                              </p:par>
                              <p:par>
                                <p:cTn id="43" presetID="42" presetClass="entr" presetSubtype="0" fill="hold" grpId="0" nodeType="withEffect">
                                  <p:stCondLst>
                                    <p:cond delay="0"/>
                                  </p:stCondLst>
                                  <p:childTnLst>
                                    <p:set>
                                      <p:cBhvr>
                                        <p:cTn id="44" dur="1" fill="hold">
                                          <p:stCondLst>
                                            <p:cond delay="0"/>
                                          </p:stCondLst>
                                        </p:cTn>
                                        <p:tgtEl>
                                          <p:spTgt spid="12"/>
                                        </p:tgtEl>
                                        <p:attrNameLst>
                                          <p:attrName>style.visibility</p:attrName>
                                        </p:attrNameLst>
                                      </p:cBhvr>
                                      <p:to>
                                        <p:strVal val="visible"/>
                                      </p:to>
                                    </p:set>
                                    <p:anim calcmode="lin" valueType="num">
                                      <p:cBhvr additive="base">
                                        <p:cTn id="45" dur="600" fill="hold"/>
                                        <p:tgtEl>
                                          <p:spTgt spid="12"/>
                                        </p:tgtEl>
                                        <p:attrNameLst>
                                          <p:attrName>ppt_y</p:attrName>
                                        </p:attrNameLst>
                                      </p:cBhvr>
                                      <p:tavLst>
                                        <p:tav tm="0">
                                          <p:val>
                                            <p:strVal val="#ppt_y+.1"/>
                                          </p:val>
                                        </p:tav>
                                        <p:tav tm="100000">
                                          <p:val>
                                            <p:strVal val="#ppt_y"/>
                                          </p:val>
                                        </p:tav>
                                      </p:tavLst>
                                    </p:anim>
                                    <p:animEffect transition="in" filter="fade">
                                      <p:cBhvr>
                                        <p:cTn id="46" dur="600"/>
                                        <p:tgtEl>
                                          <p:spTgt spid="12"/>
                                        </p:tgtEl>
                                      </p:cBhvr>
                                    </p:animEffect>
                                  </p:childTnLst>
                                </p:cTn>
                              </p:par>
                              <p:par>
                                <p:cTn id="47" presetID="22" presetClass="entr" presetSubtype="8" fill="hold" grpId="0" nodeType="withEffect">
                                  <p:stCondLst>
                                    <p:cond delay="600"/>
                                  </p:stCondLst>
                                  <p:childTnLst>
                                    <p:set>
                                      <p:cBhvr>
                                        <p:cTn id="48" dur="1" fill="hold">
                                          <p:stCondLst>
                                            <p:cond delay="0"/>
                                          </p:stCondLst>
                                        </p:cTn>
                                        <p:tgtEl>
                                          <p:spTgt spid="20"/>
                                        </p:tgtEl>
                                        <p:attrNameLst>
                                          <p:attrName>style.visibility</p:attrName>
                                        </p:attrNameLst>
                                      </p:cBhvr>
                                      <p:to>
                                        <p:strVal val="visible"/>
                                      </p:to>
                                    </p:set>
                                    <p:animEffect transition="in" filter="wipe(left)">
                                      <p:cBhvr>
                                        <p:cTn id="49" dur="1100"/>
                                        <p:tgtEl>
                                          <p:spTgt spid="20"/>
                                        </p:tgtEl>
                                      </p:cBhvr>
                                    </p:animEffect>
                                  </p:childTnLst>
                                </p:cTn>
                              </p:par>
                              <p:par>
                                <p:cTn id="51" presetID="0" presetClass="path" presetSubtype="0" fill="hold" accel="30000" decel="30000" nodeType="withEffect">
                                  <p:stCondLst>
                                    <p:cond delay="600"/>
                                  </p:stCondLst>
                                  <p:childTnLst>
                                    <p:animMotion origin="layout" path="M 0 0 L 0.02017 0 E" pathEditMode="relative" rAng="0" ptsTypes="AA">
                                      <p:cBhvr>
                                        <p:cTn id="50" dur="1100" fill="hold"/>
                                        <p:tgtEl>
                                          <p:spTgt spid="21"/>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7" grpId="0" animBg="1"/>
      <p:bldP spid="8" grpId="0" animBg="1"/>
      <p:bldP spid="9" grpId="0" animBg="1"/>
      <p:bldP spid="10" grpId="0" animBg="1"/>
      <p:bldP spid="11" grpId="0" animBg="1"/>
      <p:bldP spid="12" grpId="0" animBg="1"/>
      <p:bldP spid="2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Challenges and solutions</a:t>
            </a:r>
            <a:endParaRPr lang="en-US" sz="3600" dirty="0"/>
          </a:p>
        </p:txBody>
      </p:sp>
      <p:sp>
        <p:nvSpPr>
          <p:cNvPr id="5" name="cs0c"/>
          <p:cNvSpPr/>
          <p:nvPr/>
        </p:nvSpPr>
        <p:spPr>
          <a:xfrm>
            <a:off x="548640"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6" name="cs0h1"/>
          <p:cNvSpPr txBox="1"/>
          <p:nvPr/>
        </p:nvSpPr>
        <p:spPr>
          <a:xfrm>
            <a:off x="749808"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7" name="cs0t1"/>
          <p:cNvSpPr txBox="1"/>
          <p:nvPr/>
        </p:nvSpPr>
        <p:spPr>
          <a:xfrm>
            <a:off x="749808"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Tiny free-tier quota</a:t>
            </a:r>
            <a:endParaRPr lang="en-US" sz="1400" dirty="0"/>
          </a:p>
          <a:p>
            <a:pPr algn="l" indent="0" marL="0">
              <a:buNone/>
            </a:pPr>
            <a:r>
              <a:rPr lang="en-US" sz="1300" dirty="0">
                <a:solidFill>
                  <a:schemeClr val="bg2"/>
                </a:solidFill>
              </a:rPr>
              <a:t>About 100 requests a month</a:t>
            </a:r>
            <a:endParaRPr lang="en-US" sz="1400" dirty="0"/>
          </a:p>
        </p:txBody>
      </p:sp>
      <p:sp>
        <p:nvSpPr>
          <p:cNvPr id="8" name="cs0h2"/>
          <p:cNvSpPr txBox="1"/>
          <p:nvPr/>
        </p:nvSpPr>
        <p:spPr>
          <a:xfrm>
            <a:off x="749808"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9" name="cs0t2"/>
          <p:cNvSpPr txBox="1"/>
          <p:nvPr/>
        </p:nvSpPr>
        <p:spPr>
          <a:xfrm>
            <a:off x="749808"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Every refresh is saved in SQLite; the app works on stored data.</a:t>
            </a:r>
            <a:endParaRPr lang="en-US" sz="1400" dirty="0"/>
          </a:p>
        </p:txBody>
      </p:sp>
      <p:sp>
        <p:nvSpPr>
          <p:cNvPr id="10" name="cs1c"/>
          <p:cNvSpPr/>
          <p:nvPr/>
        </p:nvSpPr>
        <p:spPr>
          <a:xfrm>
            <a:off x="4270248"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1" name="cs1h1"/>
          <p:cNvSpPr txBox="1"/>
          <p:nvPr/>
        </p:nvSpPr>
        <p:spPr>
          <a:xfrm>
            <a:off x="4471416"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12" name="cs1t1"/>
          <p:cNvSpPr txBox="1"/>
          <p:nvPr/>
        </p:nvSpPr>
        <p:spPr>
          <a:xfrm>
            <a:off x="4471416"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Opaque HTTP 403 errors</a:t>
            </a:r>
            <a:endParaRPr lang="en-US" sz="1400" dirty="0"/>
          </a:p>
          <a:p>
            <a:pPr algn="l" indent="0" marL="0">
              <a:buNone/>
            </a:pPr>
            <a:r>
              <a:rPr lang="en-US" sz="1300" dirty="0">
                <a:solidFill>
                  <a:schemeClr val="bg2"/>
                </a:solidFill>
              </a:rPr>
              <a:t>Users saw no reason</a:t>
            </a:r>
            <a:endParaRPr lang="en-US" sz="1400" dirty="0"/>
          </a:p>
        </p:txBody>
      </p:sp>
      <p:sp>
        <p:nvSpPr>
          <p:cNvPr id="13" name="cs1h2"/>
          <p:cNvSpPr txBox="1"/>
          <p:nvPr/>
        </p:nvSpPr>
        <p:spPr>
          <a:xfrm>
            <a:off x="4471416"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14" name="cs1t2"/>
          <p:cNvSpPr txBox="1"/>
          <p:nvPr/>
        </p:nvSpPr>
        <p:spPr>
          <a:xfrm>
            <a:off x="4471416"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Provider message is surfaced and logged; stored data stays usable.</a:t>
            </a:r>
            <a:endParaRPr lang="en-US" sz="1400" dirty="0"/>
          </a:p>
        </p:txBody>
      </p:sp>
      <p:sp>
        <p:nvSpPr>
          <p:cNvPr id="15" name="cs2c"/>
          <p:cNvSpPr/>
          <p:nvPr/>
        </p:nvSpPr>
        <p:spPr>
          <a:xfrm>
            <a:off x="7991856"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6" name="cs2h1"/>
          <p:cNvSpPr txBox="1"/>
          <p:nvPr/>
        </p:nvSpPr>
        <p:spPr>
          <a:xfrm>
            <a:off x="8193024" y="1828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17" name="cs2t1"/>
          <p:cNvSpPr txBox="1"/>
          <p:nvPr/>
        </p:nvSpPr>
        <p:spPr>
          <a:xfrm>
            <a:off x="8193024" y="2075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.env with a UTF-8 BOM</a:t>
            </a:r>
            <a:endParaRPr lang="en-US" sz="1400" dirty="0"/>
          </a:p>
          <a:p>
            <a:pPr algn="l" indent="0" marL="0">
              <a:buNone/>
            </a:pPr>
            <a:r>
              <a:rPr lang="en-US" sz="1300" dirty="0">
                <a:solidFill>
                  <a:schemeClr val="bg2"/>
                </a:solidFill>
              </a:rPr>
              <a:t>The API key looked missing</a:t>
            </a:r>
            <a:endParaRPr lang="en-US" sz="1400" dirty="0"/>
          </a:p>
        </p:txBody>
      </p:sp>
      <p:sp>
        <p:nvSpPr>
          <p:cNvPr id="18" name="cs2h2"/>
          <p:cNvSpPr txBox="1"/>
          <p:nvPr/>
        </p:nvSpPr>
        <p:spPr>
          <a:xfrm>
            <a:off x="8193024" y="2880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19" name="cs2t2"/>
          <p:cNvSpPr txBox="1"/>
          <p:nvPr/>
        </p:nvSpPr>
        <p:spPr>
          <a:xfrm>
            <a:off x="8193024" y="3118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Config reads utf-8-sig; a regression test pins the fix.</a:t>
            </a:r>
            <a:endParaRPr lang="en-US" sz="1400" dirty="0"/>
          </a:p>
        </p:txBody>
      </p:sp>
      <p:sp>
        <p:nvSpPr>
          <p:cNvPr id="20" name="cs3c"/>
          <p:cNvSpPr/>
          <p:nvPr/>
        </p:nvSpPr>
        <p:spPr>
          <a:xfrm>
            <a:off x="548640"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1" name="cs3h1"/>
          <p:cNvSpPr txBox="1"/>
          <p:nvPr/>
        </p:nvSpPr>
        <p:spPr>
          <a:xfrm>
            <a:off x="749808"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22" name="cs3t1"/>
          <p:cNvSpPr txBox="1"/>
          <p:nvPr/>
        </p:nvSpPr>
        <p:spPr>
          <a:xfrm>
            <a:off x="749808"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Frozen window risk</a:t>
            </a:r>
            <a:endParaRPr lang="en-US" sz="1400" dirty="0"/>
          </a:p>
          <a:p>
            <a:pPr algn="l" indent="0" marL="0">
              <a:buNone/>
            </a:pPr>
            <a:r>
              <a:rPr lang="en-US" sz="1300" dirty="0">
                <a:solidFill>
                  <a:schemeClr val="bg2"/>
                </a:solidFill>
              </a:rPr>
              <a:t>Network calls block the UI</a:t>
            </a:r>
            <a:endParaRPr lang="en-US" sz="1400" dirty="0"/>
          </a:p>
        </p:txBody>
      </p:sp>
      <p:sp>
        <p:nvSpPr>
          <p:cNvPr id="23" name="cs3h2"/>
          <p:cNvSpPr txBox="1"/>
          <p:nvPr/>
        </p:nvSpPr>
        <p:spPr>
          <a:xfrm>
            <a:off x="749808"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24" name="cs3t2"/>
          <p:cNvSpPr txBox="1"/>
          <p:nvPr/>
        </p:nvSpPr>
        <p:spPr>
          <a:xfrm>
            <a:off x="749808"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Background workers with callbacks on the GUI thread.</a:t>
            </a:r>
            <a:endParaRPr lang="en-US" sz="1400" dirty="0"/>
          </a:p>
        </p:txBody>
      </p:sp>
      <p:sp>
        <p:nvSpPr>
          <p:cNvPr id="25" name="cs4c"/>
          <p:cNvSpPr/>
          <p:nvPr/>
        </p:nvSpPr>
        <p:spPr>
          <a:xfrm>
            <a:off x="4270248"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6" name="cs4h1"/>
          <p:cNvSpPr txBox="1"/>
          <p:nvPr/>
        </p:nvSpPr>
        <p:spPr>
          <a:xfrm>
            <a:off x="4471416"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27" name="cs4t1"/>
          <p:cNvSpPr txBox="1"/>
          <p:nvPr/>
        </p:nvSpPr>
        <p:spPr>
          <a:xfrm>
            <a:off x="4471416"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Duplicate flights</a:t>
            </a:r>
            <a:endParaRPr lang="en-US" sz="1400" dirty="0"/>
          </a:p>
          <a:p>
            <a:pPr algn="l" indent="0" marL="0">
              <a:buNone/>
            </a:pPr>
            <a:r>
              <a:rPr lang="en-US" sz="1300" dirty="0">
                <a:solidFill>
                  <a:schemeClr val="bg2"/>
                </a:solidFill>
              </a:rPr>
              <a:t>Re-retrieval repeats rows</a:t>
            </a:r>
            <a:endParaRPr lang="en-US" sz="1400" dirty="0"/>
          </a:p>
        </p:txBody>
      </p:sp>
      <p:sp>
        <p:nvSpPr>
          <p:cNvPr id="28" name="cs4h2"/>
          <p:cNvSpPr txBox="1"/>
          <p:nvPr/>
        </p:nvSpPr>
        <p:spPr>
          <a:xfrm>
            <a:off x="4471416"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29" name="cs4t2"/>
          <p:cNvSpPr txBox="1"/>
          <p:nvPr/>
        </p:nvSpPr>
        <p:spPr>
          <a:xfrm>
            <a:off x="4471416"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Natural-key upsert: ON CONFLICT REPLACE.</a:t>
            </a:r>
            <a:endParaRPr lang="en-US" sz="1400" dirty="0"/>
          </a:p>
        </p:txBody>
      </p:sp>
      <p:sp>
        <p:nvSpPr>
          <p:cNvPr id="30" name="cs5c"/>
          <p:cNvSpPr/>
          <p:nvPr/>
        </p:nvSpPr>
        <p:spPr>
          <a:xfrm>
            <a:off x="7991856"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31" name="cs5h1"/>
          <p:cNvSpPr txBox="1"/>
          <p:nvPr/>
        </p:nvSpPr>
        <p:spPr>
          <a:xfrm>
            <a:off x="8193024" y="411480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5"/>
                </a:solidFill>
              </a:rPr>
              <a:t>CHALLENGE</a:t>
            </a:r>
            <a:endParaRPr lang="en-US" sz="1100" dirty="0"/>
          </a:p>
        </p:txBody>
      </p:sp>
      <p:sp>
        <p:nvSpPr>
          <p:cNvPr id="32" name="cs5t1"/>
          <p:cNvSpPr txBox="1"/>
          <p:nvPr/>
        </p:nvSpPr>
        <p:spPr>
          <a:xfrm>
            <a:off x="8193024" y="4361688"/>
            <a:ext cx="3200400" cy="777240"/>
          </a:xfrm>
          <a:prstGeom prst="rect">
            <a:avLst/>
          </a:prstGeom>
          <a:noFill/>
          <a:ln/>
        </p:spPr>
        <p:txBody>
          <a:bodyPr wrap="square" lIns="0" tIns="0" rIns="0" bIns="0" rtlCol="0" anchor="t"/>
          <a:lstStyle/>
          <a:p>
            <a:pPr algn="l" indent="0" marL="0">
              <a:buNone/>
            </a:pPr>
            <a:r>
              <a:rPr lang="en-US" sz="1700" b="1" dirty="0">
                <a:solidFill>
                  <a:schemeClr val="bg1"/>
                </a:solidFill>
              </a:rPr>
              <a:t>HTTP-only free plan</a:t>
            </a:r>
            <a:endParaRPr lang="en-US" sz="1400" dirty="0"/>
          </a:p>
          <a:p>
            <a:pPr algn="l" indent="0" marL="0">
              <a:buNone/>
            </a:pPr>
            <a:r>
              <a:rPr lang="en-US" sz="1300" dirty="0">
                <a:solidFill>
                  <a:schemeClr val="bg2"/>
                </a:solidFill>
              </a:rPr>
              <a:t>HTTPS requests are refused</a:t>
            </a:r>
            <a:endParaRPr lang="en-US" sz="1400" dirty="0"/>
          </a:p>
        </p:txBody>
      </p:sp>
      <p:sp>
        <p:nvSpPr>
          <p:cNvPr id="33" name="cs5h2"/>
          <p:cNvSpPr txBox="1"/>
          <p:nvPr/>
        </p:nvSpPr>
        <p:spPr>
          <a:xfrm>
            <a:off x="8193024" y="5166360"/>
            <a:ext cx="1828800" cy="228600"/>
          </a:xfrm>
          <a:prstGeom prst="rect">
            <a:avLst/>
          </a:prstGeom>
          <a:noFill/>
          <a:ln/>
        </p:spPr>
        <p:txBody>
          <a:bodyPr wrap="square" lIns="0" tIns="0" rIns="0" bIns="0" rtlCol="0" anchor="t"/>
          <a:lstStyle/>
          <a:p>
            <a:pPr algn="l" indent="0" marL="0">
              <a:buNone/>
            </a:pPr>
            <a:r>
              <a:rPr lang="en-US" sz="1100" b="1" spc="200" kern="0" dirty="0">
                <a:solidFill>
                  <a:schemeClr val="accent6"/>
                </a:solidFill>
              </a:rPr>
              <a:t>SOLUTION</a:t>
            </a:r>
            <a:endParaRPr lang="en-US" sz="1100" dirty="0"/>
          </a:p>
        </p:txBody>
      </p:sp>
      <p:sp>
        <p:nvSpPr>
          <p:cNvPr id="34" name="cs5t2"/>
          <p:cNvSpPr txBox="1"/>
          <p:nvPr/>
        </p:nvSpPr>
        <p:spPr>
          <a:xfrm>
            <a:off x="8193024" y="5404104"/>
            <a:ext cx="3200400" cy="685800"/>
          </a:xfrm>
          <a:prstGeom prst="rect">
            <a:avLst/>
          </a:prstGeom>
          <a:noFill/>
          <a:ln/>
        </p:spPr>
        <p:txBody>
          <a:bodyPr wrap="square" lIns="0" tIns="0" rIns="0" bIns="0" rtlCol="0" anchor="t"/>
          <a:lstStyle/>
          <a:p>
            <a:pPr algn="l" indent="0" marL="0">
              <a:buNone/>
            </a:pPr>
            <a:r>
              <a:rPr lang="en-US" sz="1400" dirty="0">
                <a:solidFill>
                  <a:schemeClr val="bg1"/>
                </a:solidFill>
              </a:rPr>
              <a:t>Configurable base URL, http:// by default.</a:t>
            </a:r>
            <a:endParaRPr lang="en-US" sz="1400" dirty="0"/>
          </a:p>
        </p:txBody>
      </p:sp>
      <p:sp>
        <p:nvSpPr>
          <p:cNvPr id="35" name="track"/>
          <p:cNvSpPr/>
          <p:nvPr/>
        </p:nvSpPr>
        <p:spPr>
          <a:xfrm>
            <a:off x="3383280" y="6510528"/>
            <a:ext cx="7132320" cy="0"/>
          </a:xfrm>
          <a:prstGeom prst="line">
            <a:avLst/>
          </a:prstGeom>
          <a:noFill/>
          <a:ln w="12700">
            <a:solidFill>
              <a:schemeClr val="bg2">
                <a:alpha val="45000"/>
              </a:schemeClr>
            </a:solidFill>
            <a:prstDash val="dash"/>
          </a:ln>
        </p:spPr>
      </p:sp>
      <p:sp>
        <p:nvSpPr>
          <p:cNvPr id="36" name="progress"/>
          <p:cNvSpPr/>
          <p:nvPr/>
        </p:nvSpPr>
        <p:spPr>
          <a:xfrm>
            <a:off x="3383280" y="6510528"/>
            <a:ext cx="5902610" cy="0"/>
          </a:xfrm>
          <a:prstGeom prst="line">
            <a:avLst/>
          </a:prstGeom>
          <a:noFill/>
          <a:ln w="28575">
            <a:solidFill>
              <a:schemeClr val="accent2"/>
            </a:solidFill>
            <a:prstDash val="solid"/>
          </a:ln>
        </p:spPr>
      </p:sp>
      <p:sp>
        <p:nvSpPr>
          <p:cNvPr id="37" name="wp0"/>
          <p:cNvSpPr/>
          <p:nvPr/>
        </p:nvSpPr>
        <p:spPr>
          <a:xfrm>
            <a:off x="3834016" y="6469380"/>
            <a:ext cx="82296" cy="82296"/>
          </a:xfrm>
          <a:prstGeom prst="ellipse">
            <a:avLst/>
          </a:prstGeom>
          <a:solidFill>
            <a:schemeClr val="accent2"/>
          </a:solidFill>
          <a:ln/>
        </p:spPr>
      </p:sp>
      <p:sp>
        <p:nvSpPr>
          <p:cNvPr id="38" name="wp1"/>
          <p:cNvSpPr/>
          <p:nvPr/>
        </p:nvSpPr>
        <p:spPr>
          <a:xfrm>
            <a:off x="4817784" y="6469380"/>
            <a:ext cx="82296" cy="82296"/>
          </a:xfrm>
          <a:prstGeom prst="ellipse">
            <a:avLst/>
          </a:prstGeom>
          <a:solidFill>
            <a:schemeClr val="accent2"/>
          </a:solidFill>
          <a:ln/>
        </p:spPr>
      </p:sp>
      <p:sp>
        <p:nvSpPr>
          <p:cNvPr id="39" name="wp2"/>
          <p:cNvSpPr/>
          <p:nvPr/>
        </p:nvSpPr>
        <p:spPr>
          <a:xfrm>
            <a:off x="7277205" y="6469380"/>
            <a:ext cx="82296" cy="82296"/>
          </a:xfrm>
          <a:prstGeom prst="ellipse">
            <a:avLst/>
          </a:prstGeom>
          <a:solidFill>
            <a:schemeClr val="accent2"/>
          </a:solidFill>
          <a:ln/>
        </p:spPr>
      </p:sp>
      <p:sp>
        <p:nvSpPr>
          <p:cNvPr id="40" name="wp3"/>
          <p:cNvSpPr/>
          <p:nvPr/>
        </p:nvSpPr>
        <p:spPr>
          <a:xfrm>
            <a:off x="8506915" y="6469380"/>
            <a:ext cx="82296" cy="82296"/>
          </a:xfrm>
          <a:prstGeom prst="ellipse">
            <a:avLst/>
          </a:prstGeom>
          <a:solidFill>
            <a:schemeClr val="accent2"/>
          </a:solidFill>
          <a:ln/>
        </p:spPr>
      </p:sp>
      <p:sp>
        <p:nvSpPr>
          <p:cNvPr id="41" name="wp4"/>
          <p:cNvSpPr/>
          <p:nvPr/>
        </p:nvSpPr>
        <p:spPr>
          <a:xfrm>
            <a:off x="9982568" y="6469380"/>
            <a:ext cx="82296" cy="82296"/>
          </a:xfrm>
          <a:prstGeom prst="ellipse">
            <a:avLst/>
          </a:prstGeom>
          <a:solidFill>
            <a:schemeClr val="bg2">
              <a:alpha val="60000"/>
            </a:schemeClr>
          </a:solidFill>
          <a:ln/>
        </p:spPr>
      </p:sp>
      <p:sp>
        <p:nvSpPr>
          <p:cNvPr id="42" name="progress_ext"/>
          <p:cNvSpPr/>
          <p:nvPr/>
        </p:nvSpPr>
        <p:spPr>
          <a:xfrm>
            <a:off x="9285890" y="6510528"/>
            <a:ext cx="245942" cy="0"/>
          </a:xfrm>
          <a:prstGeom prst="line">
            <a:avLst/>
          </a:prstGeom>
          <a:noFill/>
          <a:ln w="28575">
            <a:solidFill>
              <a:schemeClr val="accent2"/>
            </a:solidFill>
            <a:prstDash val="solid"/>
          </a:ln>
        </p:spPr>
      </p:sp>
      <p:pic>
        <p:nvPicPr>
          <p:cNvPr id="43" name="!!tracker" descr="Progress marker">    </p:cNvPr>
          <p:cNvPicPr>
            <a:picLocks noChangeAspect="1"/>
          </p:cNvPicPr>
          <p:nvPr/>
        </p:nvPicPr>
        <p:blipFill>
          <a:blip r:embed="rId1"/>
          <a:stretch>
            <a:fillRect/>
          </a:stretch>
        </p:blipFill>
        <p:spPr>
          <a:xfrm>
            <a:off x="9103010"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ppt_y</p:attrName>
                                        </p:attrNameLst>
                                      </p:cBhvr>
                                      <p:tavLst>
                                        <p:tav tm="0">
                                          <p:val>
                                            <p:strVal val="#ppt_y+.1"/>
                                          </p:val>
                                        </p:tav>
                                        <p:tav tm="100000">
                                          <p:val>
                                            <p:strVal val="#ppt_y"/>
                                          </p:val>
                                        </p:tav>
                                      </p:tavLst>
                                    </p:anim>
                                    <p:animEffect transition="in" filter="fade">
                                      <p:cBhvr>
                                        <p:cTn id="16" dur="50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ppt_y</p:attrName>
                                        </p:attrNameLst>
                                      </p:cBhvr>
                                      <p:tavLst>
                                        <p:tav tm="0">
                                          <p:val>
                                            <p:strVal val="#ppt_y+.1"/>
                                          </p:val>
                                        </p:tav>
                                        <p:tav tm="100000">
                                          <p:val>
                                            <p:strVal val="#ppt_y"/>
                                          </p:val>
                                        </p:tav>
                                      </p:tavLst>
                                    </p:anim>
                                    <p:animEffect transition="in" filter="fade">
                                      <p:cBhvr>
                                        <p:cTn id="20" dur="500"/>
                                        <p:tgtEl>
                                          <p:spTgt spid="6"/>
                                        </p:tgtEl>
                                      </p:cBhvr>
                                    </p:animEffect>
                                  </p:childTnLst>
                                </p:cTn>
                              </p:par>
                              <p:par>
                                <p:cTn id="21" presetID="42" presetClass="entr" presetSubtype="0" fill="hold" grpId="0"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00" fill="hold"/>
                                        <p:tgtEl>
                                          <p:spTgt spid="7"/>
                                        </p:tgtEl>
                                        <p:attrNameLst>
                                          <p:attrName>ppt_y</p:attrName>
                                        </p:attrNameLst>
                                      </p:cBhvr>
                                      <p:tavLst>
                                        <p:tav tm="0">
                                          <p:val>
                                            <p:strVal val="#ppt_y+.1"/>
                                          </p:val>
                                        </p:tav>
                                        <p:tav tm="100000">
                                          <p:val>
                                            <p:strVal val="#ppt_y"/>
                                          </p:val>
                                        </p:tav>
                                      </p:tavLst>
                                    </p:anim>
                                    <p:animEffect transition="in" filter="fade">
                                      <p:cBhvr>
                                        <p:cTn id="24" dur="500"/>
                                        <p:tgtEl>
                                          <p:spTgt spid="7"/>
                                        </p:tgtEl>
                                      </p:cBhvr>
                                    </p:animEffect>
                                  </p:childTnLst>
                                </p:cTn>
                              </p:par>
                            </p:childTnLst>
                          </p:cTn>
                        </p:par>
                        <p:par>
                          <p:cTn id="25" fill="hold">
                            <p:stCondLst>
                              <p:cond delay="1550"/>
                            </p:stCondLst>
                            <p:childTnLst>
                              <p:par>
                                <p:cTn id="26" presetID="22" presetClass="entr" presetSubtype="8" fill="hold" grpId="0" nodeType="afterEffect">
                                  <p:stCondLst>
                                    <p:cond delay="15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600"/>
                                        <p:tgtEl>
                                          <p:spTgt spid="8"/>
                                        </p:tgtEl>
                                      </p:cBhvr>
                                    </p:animEffect>
                                  </p:childTnLst>
                                </p:cTn>
                              </p:par>
                              <p:par>
                                <p:cTn id="29" presetID="22" presetClass="entr" presetSubtype="8" fill="hold" grpId="0" nodeType="withEffect">
                                  <p:stCondLst>
                                    <p:cond delay="150"/>
                                  </p:stCondLst>
                                  <p:childTnLst>
                                    <p:set>
                                      <p:cBhvr>
                                        <p:cTn id="30" dur="1" fill="hold">
                                          <p:stCondLst>
                                            <p:cond delay="0"/>
                                          </p:stCondLst>
                                        </p:cTn>
                                        <p:tgtEl>
                                          <p:spTgt spid="9"/>
                                        </p:tgtEl>
                                        <p:attrNameLst>
                                          <p:attrName>style.visibility</p:attrName>
                                        </p:attrNameLst>
                                      </p:cBhvr>
                                      <p:to>
                                        <p:strVal val="visible"/>
                                      </p:to>
                                    </p:set>
                                    <p:animEffect transition="in" filter="wipe(left)">
                                      <p:cBhvr>
                                        <p:cTn id="31" dur="600"/>
                                        <p:tgtEl>
                                          <p:spTgt spid="9"/>
                                        </p:tgtEl>
                                      </p:cBhvr>
                                    </p:animEffect>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20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ppt_y</p:attrName>
                                        </p:attrNameLst>
                                      </p:cBhvr>
                                      <p:tavLst>
                                        <p:tav tm="0">
                                          <p:val>
                                            <p:strVal val="#ppt_y+.1"/>
                                          </p:val>
                                        </p:tav>
                                        <p:tav tm="100000">
                                          <p:val>
                                            <p:strVal val="#ppt_y"/>
                                          </p:val>
                                        </p:tav>
                                      </p:tavLst>
                                    </p:anim>
                                    <p:animEffect transition="in" filter="fade">
                                      <p:cBhvr>
                                        <p:cTn id="37" dur="500"/>
                                        <p:tgtEl>
                                          <p:spTgt spid="10"/>
                                        </p:tgtEl>
                                      </p:cBhvr>
                                    </p:animEffect>
                                  </p:childTnLst>
                                </p:cTn>
                              </p:par>
                              <p:par>
                                <p:cTn id="38" presetID="42" presetClass="entr" presetSubtype="0" fill="hold" grpId="0" nodeType="withEffect">
                                  <p:stCondLst>
                                    <p:cond delay="200"/>
                                  </p:stCondLst>
                                  <p:childTnLst>
                                    <p:set>
                                      <p:cBhvr>
                                        <p:cTn id="39" dur="1" fill="hold">
                                          <p:stCondLst>
                                            <p:cond delay="0"/>
                                          </p:stCondLst>
                                        </p:cTn>
                                        <p:tgtEl>
                                          <p:spTgt spid="11"/>
                                        </p:tgtEl>
                                        <p:attrNameLst>
                                          <p:attrName>style.visibility</p:attrName>
                                        </p:attrNameLst>
                                      </p:cBhvr>
                                      <p:to>
                                        <p:strVal val="visible"/>
                                      </p:to>
                                    </p:set>
                                    <p:anim calcmode="lin" valueType="num">
                                      <p:cBhvr additive="base">
                                        <p:cTn id="40" dur="500" fill="hold"/>
                                        <p:tgtEl>
                                          <p:spTgt spid="11"/>
                                        </p:tgtEl>
                                        <p:attrNameLst>
                                          <p:attrName>ppt_y</p:attrName>
                                        </p:attrNameLst>
                                      </p:cBhvr>
                                      <p:tavLst>
                                        <p:tav tm="0">
                                          <p:val>
                                            <p:strVal val="#ppt_y+.1"/>
                                          </p:val>
                                        </p:tav>
                                        <p:tav tm="100000">
                                          <p:val>
                                            <p:strVal val="#ppt_y"/>
                                          </p:val>
                                        </p:tav>
                                      </p:tavLst>
                                    </p:anim>
                                    <p:animEffect transition="in" filter="fade">
                                      <p:cBhvr>
                                        <p:cTn id="41" dur="500"/>
                                        <p:tgtEl>
                                          <p:spTgt spid="11"/>
                                        </p:tgtEl>
                                      </p:cBhvr>
                                    </p:animEffect>
                                  </p:childTnLst>
                                </p:cTn>
                              </p:par>
                              <p:par>
                                <p:cTn id="42" presetID="42" presetClass="entr" presetSubtype="0" fill="hold" grpId="0" nodeType="withEffect">
                                  <p:stCondLst>
                                    <p:cond delay="200"/>
                                  </p:stCondLst>
                                  <p:childTnLst>
                                    <p:set>
                                      <p:cBhvr>
                                        <p:cTn id="43" dur="1" fill="hold">
                                          <p:stCondLst>
                                            <p:cond delay="0"/>
                                          </p:stCondLst>
                                        </p:cTn>
                                        <p:tgtEl>
                                          <p:spTgt spid="12"/>
                                        </p:tgtEl>
                                        <p:attrNameLst>
                                          <p:attrName>style.visibility</p:attrName>
                                        </p:attrNameLst>
                                      </p:cBhvr>
                                      <p:to>
                                        <p:strVal val="visible"/>
                                      </p:to>
                                    </p:set>
                                    <p:anim calcmode="lin" valueType="num">
                                      <p:cBhvr additive="base">
                                        <p:cTn id="44" dur="500" fill="hold"/>
                                        <p:tgtEl>
                                          <p:spTgt spid="12"/>
                                        </p:tgtEl>
                                        <p:attrNameLst>
                                          <p:attrName>ppt_y</p:attrName>
                                        </p:attrNameLst>
                                      </p:cBhvr>
                                      <p:tavLst>
                                        <p:tav tm="0">
                                          <p:val>
                                            <p:strVal val="#ppt_y+.1"/>
                                          </p:val>
                                        </p:tav>
                                        <p:tav tm="100000">
                                          <p:val>
                                            <p:strVal val="#ppt_y"/>
                                          </p:val>
                                        </p:tav>
                                      </p:tavLst>
                                    </p:anim>
                                    <p:animEffect transition="in" filter="fade">
                                      <p:cBhvr>
                                        <p:cTn id="45" dur="500"/>
                                        <p:tgtEl>
                                          <p:spTgt spid="12"/>
                                        </p:tgtEl>
                                      </p:cBhvr>
                                    </p:animEffect>
                                  </p:childTnLst>
                                </p:cTn>
                              </p:par>
                            </p:childTnLst>
                          </p:cTn>
                        </p:par>
                        <p:par>
                          <p:cTn id="46" fill="hold">
                            <p:stCondLst>
                              <p:cond delay="700"/>
                            </p:stCondLst>
                            <p:childTnLst>
                              <p:par>
                                <p:cTn id="47" presetID="22" presetClass="entr" presetSubtype="8" fill="hold" grpId="0" nodeType="afterEffect">
                                  <p:stCondLst>
                                    <p:cond delay="150"/>
                                  </p:stCondLst>
                                  <p:childTnLst>
                                    <p:set>
                                      <p:cBhvr>
                                        <p:cTn id="48" dur="1" fill="hold">
                                          <p:stCondLst>
                                            <p:cond delay="0"/>
                                          </p:stCondLst>
                                        </p:cTn>
                                        <p:tgtEl>
                                          <p:spTgt spid="13"/>
                                        </p:tgtEl>
                                        <p:attrNameLst>
                                          <p:attrName>style.visibility</p:attrName>
                                        </p:attrNameLst>
                                      </p:cBhvr>
                                      <p:to>
                                        <p:strVal val="visible"/>
                                      </p:to>
                                    </p:set>
                                    <p:animEffect transition="in" filter="wipe(left)">
                                      <p:cBhvr>
                                        <p:cTn id="49" dur="600"/>
                                        <p:tgtEl>
                                          <p:spTgt spid="13"/>
                                        </p:tgtEl>
                                      </p:cBhvr>
                                    </p:animEffect>
                                  </p:childTnLst>
                                </p:cTn>
                              </p:par>
                              <p:par>
                                <p:cTn id="50" presetID="22" presetClass="entr" presetSubtype="8" fill="hold" grpId="0" nodeType="withEffect">
                                  <p:stCondLst>
                                    <p:cond delay="150"/>
                                  </p:stCondLst>
                                  <p:childTnLst>
                                    <p:set>
                                      <p:cBhvr>
                                        <p:cTn id="51" dur="1" fill="hold">
                                          <p:stCondLst>
                                            <p:cond delay="0"/>
                                          </p:stCondLst>
                                        </p:cTn>
                                        <p:tgtEl>
                                          <p:spTgt spid="14"/>
                                        </p:tgtEl>
                                        <p:attrNameLst>
                                          <p:attrName>style.visibility</p:attrName>
                                        </p:attrNameLst>
                                      </p:cBhvr>
                                      <p:to>
                                        <p:strVal val="visible"/>
                                      </p:to>
                                    </p:set>
                                    <p:animEffect transition="in" filter="wipe(left)">
                                      <p:cBhvr>
                                        <p:cTn id="52" dur="600"/>
                                        <p:tgtEl>
                                          <p:spTgt spid="14"/>
                                        </p:tgtEl>
                                      </p:cBhvr>
                                    </p:animEffect>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200"/>
                                  </p:stCondLst>
                                  <p:childTnLst>
                                    <p:set>
                                      <p:cBhvr>
                                        <p:cTn id="56" dur="1" fill="hold">
                                          <p:stCondLst>
                                            <p:cond delay="0"/>
                                          </p:stCondLst>
                                        </p:cTn>
                                        <p:tgtEl>
                                          <p:spTgt spid="15"/>
                                        </p:tgtEl>
                                        <p:attrNameLst>
                                          <p:attrName>style.visibility</p:attrName>
                                        </p:attrNameLst>
                                      </p:cBhvr>
                                      <p:to>
                                        <p:strVal val="visible"/>
                                      </p:to>
                                    </p:set>
                                    <p:anim calcmode="lin" valueType="num">
                                      <p:cBhvr additive="base">
                                        <p:cTn id="57" dur="500" fill="hold"/>
                                        <p:tgtEl>
                                          <p:spTgt spid="15"/>
                                        </p:tgtEl>
                                        <p:attrNameLst>
                                          <p:attrName>ppt_y</p:attrName>
                                        </p:attrNameLst>
                                      </p:cBhvr>
                                      <p:tavLst>
                                        <p:tav tm="0">
                                          <p:val>
                                            <p:strVal val="#ppt_y+.1"/>
                                          </p:val>
                                        </p:tav>
                                        <p:tav tm="100000">
                                          <p:val>
                                            <p:strVal val="#ppt_y"/>
                                          </p:val>
                                        </p:tav>
                                      </p:tavLst>
                                    </p:anim>
                                    <p:animEffect transition="in" filter="fade">
                                      <p:cBhvr>
                                        <p:cTn id="58" dur="500"/>
                                        <p:tgtEl>
                                          <p:spTgt spid="15"/>
                                        </p:tgtEl>
                                      </p:cBhvr>
                                    </p:animEffect>
                                  </p:childTnLst>
                                </p:cTn>
                              </p:par>
                              <p:par>
                                <p:cTn id="59" presetID="42" presetClass="entr" presetSubtype="0" fill="hold" grpId="0" nodeType="withEffect">
                                  <p:stCondLst>
                                    <p:cond delay="20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ppt_y</p:attrName>
                                        </p:attrNameLst>
                                      </p:cBhvr>
                                      <p:tavLst>
                                        <p:tav tm="0">
                                          <p:val>
                                            <p:strVal val="#ppt_y+.1"/>
                                          </p:val>
                                        </p:tav>
                                        <p:tav tm="100000">
                                          <p:val>
                                            <p:strVal val="#ppt_y"/>
                                          </p:val>
                                        </p:tav>
                                      </p:tavLst>
                                    </p:anim>
                                    <p:animEffect transition="in" filter="fade">
                                      <p:cBhvr>
                                        <p:cTn id="62" dur="500"/>
                                        <p:tgtEl>
                                          <p:spTgt spid="16"/>
                                        </p:tgtEl>
                                      </p:cBhvr>
                                    </p:animEffect>
                                  </p:childTnLst>
                                </p:cTn>
                              </p:par>
                              <p:par>
                                <p:cTn id="63" presetID="42" presetClass="entr" presetSubtype="0" fill="hold" grpId="0" nodeType="withEffect">
                                  <p:stCondLst>
                                    <p:cond delay="200"/>
                                  </p:stCondLst>
                                  <p:childTnLst>
                                    <p:set>
                                      <p:cBhvr>
                                        <p:cTn id="64" dur="1" fill="hold">
                                          <p:stCondLst>
                                            <p:cond delay="0"/>
                                          </p:stCondLst>
                                        </p:cTn>
                                        <p:tgtEl>
                                          <p:spTgt spid="17"/>
                                        </p:tgtEl>
                                        <p:attrNameLst>
                                          <p:attrName>style.visibility</p:attrName>
                                        </p:attrNameLst>
                                      </p:cBhvr>
                                      <p:to>
                                        <p:strVal val="visible"/>
                                      </p:to>
                                    </p:set>
                                    <p:anim calcmode="lin" valueType="num">
                                      <p:cBhvr additive="base">
                                        <p:cTn id="65" dur="500" fill="hold"/>
                                        <p:tgtEl>
                                          <p:spTgt spid="17"/>
                                        </p:tgtEl>
                                        <p:attrNameLst>
                                          <p:attrName>ppt_y</p:attrName>
                                        </p:attrNameLst>
                                      </p:cBhvr>
                                      <p:tavLst>
                                        <p:tav tm="0">
                                          <p:val>
                                            <p:strVal val="#ppt_y+.1"/>
                                          </p:val>
                                        </p:tav>
                                        <p:tav tm="100000">
                                          <p:val>
                                            <p:strVal val="#ppt_y"/>
                                          </p:val>
                                        </p:tav>
                                      </p:tavLst>
                                    </p:anim>
                                    <p:animEffect transition="in" filter="fade">
                                      <p:cBhvr>
                                        <p:cTn id="66" dur="500"/>
                                        <p:tgtEl>
                                          <p:spTgt spid="17"/>
                                        </p:tgtEl>
                                      </p:cBhvr>
                                    </p:animEffect>
                                  </p:childTnLst>
                                </p:cTn>
                              </p:par>
                            </p:childTnLst>
                          </p:cTn>
                        </p:par>
                        <p:par>
                          <p:cTn id="67" fill="hold">
                            <p:stCondLst>
                              <p:cond delay="700"/>
                            </p:stCondLst>
                            <p:childTnLst>
                              <p:par>
                                <p:cTn id="68" presetID="22" presetClass="entr" presetSubtype="8" fill="hold" grpId="0" nodeType="afterEffect">
                                  <p:stCondLst>
                                    <p:cond delay="150"/>
                                  </p:stCondLst>
                                  <p:childTnLst>
                                    <p:set>
                                      <p:cBhvr>
                                        <p:cTn id="69" dur="1" fill="hold">
                                          <p:stCondLst>
                                            <p:cond delay="0"/>
                                          </p:stCondLst>
                                        </p:cTn>
                                        <p:tgtEl>
                                          <p:spTgt spid="18"/>
                                        </p:tgtEl>
                                        <p:attrNameLst>
                                          <p:attrName>style.visibility</p:attrName>
                                        </p:attrNameLst>
                                      </p:cBhvr>
                                      <p:to>
                                        <p:strVal val="visible"/>
                                      </p:to>
                                    </p:set>
                                    <p:animEffect transition="in" filter="wipe(left)">
                                      <p:cBhvr>
                                        <p:cTn id="70" dur="600"/>
                                        <p:tgtEl>
                                          <p:spTgt spid="18"/>
                                        </p:tgtEl>
                                      </p:cBhvr>
                                    </p:animEffect>
                                  </p:childTnLst>
                                </p:cTn>
                              </p:par>
                              <p:par>
                                <p:cTn id="71" presetID="22" presetClass="entr" presetSubtype="8" fill="hold" grpId="0" nodeType="withEffect">
                                  <p:stCondLst>
                                    <p:cond delay="150"/>
                                  </p:stCondLst>
                                  <p:childTnLst>
                                    <p:set>
                                      <p:cBhvr>
                                        <p:cTn id="72" dur="1" fill="hold">
                                          <p:stCondLst>
                                            <p:cond delay="0"/>
                                          </p:stCondLst>
                                        </p:cTn>
                                        <p:tgtEl>
                                          <p:spTgt spid="19"/>
                                        </p:tgtEl>
                                        <p:attrNameLst>
                                          <p:attrName>style.visibility</p:attrName>
                                        </p:attrNameLst>
                                      </p:cBhvr>
                                      <p:to>
                                        <p:strVal val="visible"/>
                                      </p:to>
                                    </p:set>
                                    <p:animEffect transition="in" filter="wipe(left)">
                                      <p:cBhvr>
                                        <p:cTn id="73" dur="600"/>
                                        <p:tgtEl>
                                          <p:spTgt spid="19"/>
                                        </p:tgtEl>
                                      </p:cBhvr>
                                    </p:animEffect>
                                  </p:childTnLst>
                                </p:cTn>
                              </p:par>
                            </p:childTnLst>
                          </p:cTn>
                        </p:par>
                      </p:childTnLst>
                    </p:cTn>
                  </p:par>
                  <p:par>
                    <p:cTn id="74" fill="hold">
                      <p:stCondLst>
                        <p:cond delay="indefinite"/>
                      </p:stCondLst>
                      <p:childTnLst>
                        <p:par>
                          <p:cTn id="75" fill="hold">
                            <p:stCondLst>
                              <p:cond delay="0"/>
                            </p:stCondLst>
                            <p:childTnLst>
                              <p:par>
                                <p:cTn id="76" presetID="42" presetClass="entr" presetSubtype="0" fill="hold" grpId="0" nodeType="clickEffect">
                                  <p:stCondLst>
                                    <p:cond delay="200"/>
                                  </p:stCondLst>
                                  <p:childTnLst>
                                    <p:set>
                                      <p:cBhvr>
                                        <p:cTn id="77" dur="1" fill="hold">
                                          <p:stCondLst>
                                            <p:cond delay="0"/>
                                          </p:stCondLst>
                                        </p:cTn>
                                        <p:tgtEl>
                                          <p:spTgt spid="20"/>
                                        </p:tgtEl>
                                        <p:attrNameLst>
                                          <p:attrName>style.visibility</p:attrName>
                                        </p:attrNameLst>
                                      </p:cBhvr>
                                      <p:to>
                                        <p:strVal val="visible"/>
                                      </p:to>
                                    </p:set>
                                    <p:anim calcmode="lin" valueType="num">
                                      <p:cBhvr additive="base">
                                        <p:cTn id="78" dur="500" fill="hold"/>
                                        <p:tgtEl>
                                          <p:spTgt spid="20"/>
                                        </p:tgtEl>
                                        <p:attrNameLst>
                                          <p:attrName>ppt_y</p:attrName>
                                        </p:attrNameLst>
                                      </p:cBhvr>
                                      <p:tavLst>
                                        <p:tav tm="0">
                                          <p:val>
                                            <p:strVal val="#ppt_y+.1"/>
                                          </p:val>
                                        </p:tav>
                                        <p:tav tm="100000">
                                          <p:val>
                                            <p:strVal val="#ppt_y"/>
                                          </p:val>
                                        </p:tav>
                                      </p:tavLst>
                                    </p:anim>
                                    <p:animEffect transition="in" filter="fade">
                                      <p:cBhvr>
                                        <p:cTn id="79" dur="500"/>
                                        <p:tgtEl>
                                          <p:spTgt spid="20"/>
                                        </p:tgtEl>
                                      </p:cBhvr>
                                    </p:animEffect>
                                  </p:childTnLst>
                                </p:cTn>
                              </p:par>
                              <p:par>
                                <p:cTn id="80" presetID="42" presetClass="entr" presetSubtype="0" fill="hold" grpId="0" nodeType="withEffect">
                                  <p:stCondLst>
                                    <p:cond delay="200"/>
                                  </p:stCondLst>
                                  <p:childTnLst>
                                    <p:set>
                                      <p:cBhvr>
                                        <p:cTn id="81" dur="1" fill="hold">
                                          <p:stCondLst>
                                            <p:cond delay="0"/>
                                          </p:stCondLst>
                                        </p:cTn>
                                        <p:tgtEl>
                                          <p:spTgt spid="21"/>
                                        </p:tgtEl>
                                        <p:attrNameLst>
                                          <p:attrName>style.visibility</p:attrName>
                                        </p:attrNameLst>
                                      </p:cBhvr>
                                      <p:to>
                                        <p:strVal val="visible"/>
                                      </p:to>
                                    </p:set>
                                    <p:anim calcmode="lin" valueType="num">
                                      <p:cBhvr additive="base">
                                        <p:cTn id="82" dur="500" fill="hold"/>
                                        <p:tgtEl>
                                          <p:spTgt spid="21"/>
                                        </p:tgtEl>
                                        <p:attrNameLst>
                                          <p:attrName>ppt_y</p:attrName>
                                        </p:attrNameLst>
                                      </p:cBhvr>
                                      <p:tavLst>
                                        <p:tav tm="0">
                                          <p:val>
                                            <p:strVal val="#ppt_y+.1"/>
                                          </p:val>
                                        </p:tav>
                                        <p:tav tm="100000">
                                          <p:val>
                                            <p:strVal val="#ppt_y"/>
                                          </p:val>
                                        </p:tav>
                                      </p:tavLst>
                                    </p:anim>
                                    <p:animEffect transition="in" filter="fade">
                                      <p:cBhvr>
                                        <p:cTn id="83" dur="500"/>
                                        <p:tgtEl>
                                          <p:spTgt spid="21"/>
                                        </p:tgtEl>
                                      </p:cBhvr>
                                    </p:animEffect>
                                  </p:childTnLst>
                                </p:cTn>
                              </p:par>
                              <p:par>
                                <p:cTn id="84" presetID="42" presetClass="entr" presetSubtype="0" fill="hold" grpId="0" nodeType="withEffect">
                                  <p:stCondLst>
                                    <p:cond delay="200"/>
                                  </p:stCondLst>
                                  <p:childTnLst>
                                    <p:set>
                                      <p:cBhvr>
                                        <p:cTn id="85" dur="1" fill="hold">
                                          <p:stCondLst>
                                            <p:cond delay="0"/>
                                          </p:stCondLst>
                                        </p:cTn>
                                        <p:tgtEl>
                                          <p:spTgt spid="22"/>
                                        </p:tgtEl>
                                        <p:attrNameLst>
                                          <p:attrName>style.visibility</p:attrName>
                                        </p:attrNameLst>
                                      </p:cBhvr>
                                      <p:to>
                                        <p:strVal val="visible"/>
                                      </p:to>
                                    </p:set>
                                    <p:anim calcmode="lin" valueType="num">
                                      <p:cBhvr additive="base">
                                        <p:cTn id="86" dur="500" fill="hold"/>
                                        <p:tgtEl>
                                          <p:spTgt spid="22"/>
                                        </p:tgtEl>
                                        <p:attrNameLst>
                                          <p:attrName>ppt_y</p:attrName>
                                        </p:attrNameLst>
                                      </p:cBhvr>
                                      <p:tavLst>
                                        <p:tav tm="0">
                                          <p:val>
                                            <p:strVal val="#ppt_y+.1"/>
                                          </p:val>
                                        </p:tav>
                                        <p:tav tm="100000">
                                          <p:val>
                                            <p:strVal val="#ppt_y"/>
                                          </p:val>
                                        </p:tav>
                                      </p:tavLst>
                                    </p:anim>
                                    <p:animEffect transition="in" filter="fade">
                                      <p:cBhvr>
                                        <p:cTn id="87" dur="500"/>
                                        <p:tgtEl>
                                          <p:spTgt spid="22"/>
                                        </p:tgtEl>
                                      </p:cBhvr>
                                    </p:animEffect>
                                  </p:childTnLst>
                                </p:cTn>
                              </p:par>
                            </p:childTnLst>
                          </p:cTn>
                        </p:par>
                        <p:par>
                          <p:cTn id="88" fill="hold">
                            <p:stCondLst>
                              <p:cond delay="700"/>
                            </p:stCondLst>
                            <p:childTnLst>
                              <p:par>
                                <p:cTn id="89" presetID="22" presetClass="entr" presetSubtype="8" fill="hold" grpId="0" nodeType="afterEffect">
                                  <p:stCondLst>
                                    <p:cond delay="150"/>
                                  </p:stCondLst>
                                  <p:childTnLst>
                                    <p:set>
                                      <p:cBhvr>
                                        <p:cTn id="90" dur="1" fill="hold">
                                          <p:stCondLst>
                                            <p:cond delay="0"/>
                                          </p:stCondLst>
                                        </p:cTn>
                                        <p:tgtEl>
                                          <p:spTgt spid="23"/>
                                        </p:tgtEl>
                                        <p:attrNameLst>
                                          <p:attrName>style.visibility</p:attrName>
                                        </p:attrNameLst>
                                      </p:cBhvr>
                                      <p:to>
                                        <p:strVal val="visible"/>
                                      </p:to>
                                    </p:set>
                                    <p:animEffect transition="in" filter="wipe(left)">
                                      <p:cBhvr>
                                        <p:cTn id="91" dur="600"/>
                                        <p:tgtEl>
                                          <p:spTgt spid="23"/>
                                        </p:tgtEl>
                                      </p:cBhvr>
                                    </p:animEffect>
                                  </p:childTnLst>
                                </p:cTn>
                              </p:par>
                              <p:par>
                                <p:cTn id="92" presetID="22" presetClass="entr" presetSubtype="8" fill="hold" grpId="0" nodeType="withEffect">
                                  <p:stCondLst>
                                    <p:cond delay="150"/>
                                  </p:stCondLst>
                                  <p:childTnLst>
                                    <p:set>
                                      <p:cBhvr>
                                        <p:cTn id="93" dur="1" fill="hold">
                                          <p:stCondLst>
                                            <p:cond delay="0"/>
                                          </p:stCondLst>
                                        </p:cTn>
                                        <p:tgtEl>
                                          <p:spTgt spid="24"/>
                                        </p:tgtEl>
                                        <p:attrNameLst>
                                          <p:attrName>style.visibility</p:attrName>
                                        </p:attrNameLst>
                                      </p:cBhvr>
                                      <p:to>
                                        <p:strVal val="visible"/>
                                      </p:to>
                                    </p:set>
                                    <p:animEffect transition="in" filter="wipe(left)">
                                      <p:cBhvr>
                                        <p:cTn id="94" dur="600"/>
                                        <p:tgtEl>
                                          <p:spTgt spid="24"/>
                                        </p:tgtEl>
                                      </p:cBhvr>
                                    </p:animEffect>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200"/>
                                  </p:stCondLst>
                                  <p:childTnLst>
                                    <p:set>
                                      <p:cBhvr>
                                        <p:cTn id="98" dur="1" fill="hold">
                                          <p:stCondLst>
                                            <p:cond delay="0"/>
                                          </p:stCondLst>
                                        </p:cTn>
                                        <p:tgtEl>
                                          <p:spTgt spid="25"/>
                                        </p:tgtEl>
                                        <p:attrNameLst>
                                          <p:attrName>style.visibility</p:attrName>
                                        </p:attrNameLst>
                                      </p:cBhvr>
                                      <p:to>
                                        <p:strVal val="visible"/>
                                      </p:to>
                                    </p:set>
                                    <p:anim calcmode="lin" valueType="num">
                                      <p:cBhvr additive="base">
                                        <p:cTn id="99" dur="500" fill="hold"/>
                                        <p:tgtEl>
                                          <p:spTgt spid="25"/>
                                        </p:tgtEl>
                                        <p:attrNameLst>
                                          <p:attrName>ppt_y</p:attrName>
                                        </p:attrNameLst>
                                      </p:cBhvr>
                                      <p:tavLst>
                                        <p:tav tm="0">
                                          <p:val>
                                            <p:strVal val="#ppt_y+.1"/>
                                          </p:val>
                                        </p:tav>
                                        <p:tav tm="100000">
                                          <p:val>
                                            <p:strVal val="#ppt_y"/>
                                          </p:val>
                                        </p:tav>
                                      </p:tavLst>
                                    </p:anim>
                                    <p:animEffect transition="in" filter="fade">
                                      <p:cBhvr>
                                        <p:cTn id="100" dur="500"/>
                                        <p:tgtEl>
                                          <p:spTgt spid="25"/>
                                        </p:tgtEl>
                                      </p:cBhvr>
                                    </p:animEffect>
                                  </p:childTnLst>
                                </p:cTn>
                              </p:par>
                              <p:par>
                                <p:cTn id="101" presetID="42" presetClass="entr" presetSubtype="0" fill="hold" grpId="0" nodeType="withEffect">
                                  <p:stCondLst>
                                    <p:cond delay="200"/>
                                  </p:stCondLst>
                                  <p:childTnLst>
                                    <p:set>
                                      <p:cBhvr>
                                        <p:cTn id="102" dur="1" fill="hold">
                                          <p:stCondLst>
                                            <p:cond delay="0"/>
                                          </p:stCondLst>
                                        </p:cTn>
                                        <p:tgtEl>
                                          <p:spTgt spid="26"/>
                                        </p:tgtEl>
                                        <p:attrNameLst>
                                          <p:attrName>style.visibility</p:attrName>
                                        </p:attrNameLst>
                                      </p:cBhvr>
                                      <p:to>
                                        <p:strVal val="visible"/>
                                      </p:to>
                                    </p:set>
                                    <p:anim calcmode="lin" valueType="num">
                                      <p:cBhvr additive="base">
                                        <p:cTn id="103" dur="500" fill="hold"/>
                                        <p:tgtEl>
                                          <p:spTgt spid="26"/>
                                        </p:tgtEl>
                                        <p:attrNameLst>
                                          <p:attrName>ppt_y</p:attrName>
                                        </p:attrNameLst>
                                      </p:cBhvr>
                                      <p:tavLst>
                                        <p:tav tm="0">
                                          <p:val>
                                            <p:strVal val="#ppt_y+.1"/>
                                          </p:val>
                                        </p:tav>
                                        <p:tav tm="100000">
                                          <p:val>
                                            <p:strVal val="#ppt_y"/>
                                          </p:val>
                                        </p:tav>
                                      </p:tavLst>
                                    </p:anim>
                                    <p:animEffect transition="in" filter="fade">
                                      <p:cBhvr>
                                        <p:cTn id="104" dur="500"/>
                                        <p:tgtEl>
                                          <p:spTgt spid="26"/>
                                        </p:tgtEl>
                                      </p:cBhvr>
                                    </p:animEffect>
                                  </p:childTnLst>
                                </p:cTn>
                              </p:par>
                              <p:par>
                                <p:cTn id="105" presetID="42" presetClass="entr" presetSubtype="0" fill="hold" grpId="0" nodeType="withEffect">
                                  <p:stCondLst>
                                    <p:cond delay="200"/>
                                  </p:stCondLst>
                                  <p:childTnLst>
                                    <p:set>
                                      <p:cBhvr>
                                        <p:cTn id="106" dur="1" fill="hold">
                                          <p:stCondLst>
                                            <p:cond delay="0"/>
                                          </p:stCondLst>
                                        </p:cTn>
                                        <p:tgtEl>
                                          <p:spTgt spid="27"/>
                                        </p:tgtEl>
                                        <p:attrNameLst>
                                          <p:attrName>style.visibility</p:attrName>
                                        </p:attrNameLst>
                                      </p:cBhvr>
                                      <p:to>
                                        <p:strVal val="visible"/>
                                      </p:to>
                                    </p:set>
                                    <p:anim calcmode="lin" valueType="num">
                                      <p:cBhvr additive="base">
                                        <p:cTn id="107" dur="500" fill="hold"/>
                                        <p:tgtEl>
                                          <p:spTgt spid="27"/>
                                        </p:tgtEl>
                                        <p:attrNameLst>
                                          <p:attrName>ppt_y</p:attrName>
                                        </p:attrNameLst>
                                      </p:cBhvr>
                                      <p:tavLst>
                                        <p:tav tm="0">
                                          <p:val>
                                            <p:strVal val="#ppt_y+.1"/>
                                          </p:val>
                                        </p:tav>
                                        <p:tav tm="100000">
                                          <p:val>
                                            <p:strVal val="#ppt_y"/>
                                          </p:val>
                                        </p:tav>
                                      </p:tavLst>
                                    </p:anim>
                                    <p:animEffect transition="in" filter="fade">
                                      <p:cBhvr>
                                        <p:cTn id="108" dur="500"/>
                                        <p:tgtEl>
                                          <p:spTgt spid="27"/>
                                        </p:tgtEl>
                                      </p:cBhvr>
                                    </p:animEffect>
                                  </p:childTnLst>
                                </p:cTn>
                              </p:par>
                            </p:childTnLst>
                          </p:cTn>
                        </p:par>
                        <p:par>
                          <p:cTn id="109" fill="hold">
                            <p:stCondLst>
                              <p:cond delay="700"/>
                            </p:stCondLst>
                            <p:childTnLst>
                              <p:par>
                                <p:cTn id="110" presetID="22" presetClass="entr" presetSubtype="8" fill="hold" grpId="0" nodeType="afterEffect">
                                  <p:stCondLst>
                                    <p:cond delay="150"/>
                                  </p:stCondLst>
                                  <p:childTnLst>
                                    <p:set>
                                      <p:cBhvr>
                                        <p:cTn id="111" dur="1" fill="hold">
                                          <p:stCondLst>
                                            <p:cond delay="0"/>
                                          </p:stCondLst>
                                        </p:cTn>
                                        <p:tgtEl>
                                          <p:spTgt spid="28"/>
                                        </p:tgtEl>
                                        <p:attrNameLst>
                                          <p:attrName>style.visibility</p:attrName>
                                        </p:attrNameLst>
                                      </p:cBhvr>
                                      <p:to>
                                        <p:strVal val="visible"/>
                                      </p:to>
                                    </p:set>
                                    <p:animEffect transition="in" filter="wipe(left)">
                                      <p:cBhvr>
                                        <p:cTn id="112" dur="600"/>
                                        <p:tgtEl>
                                          <p:spTgt spid="28"/>
                                        </p:tgtEl>
                                      </p:cBhvr>
                                    </p:animEffect>
                                  </p:childTnLst>
                                </p:cTn>
                              </p:par>
                              <p:par>
                                <p:cTn id="113" presetID="22" presetClass="entr" presetSubtype="8" fill="hold" grpId="0" nodeType="withEffect">
                                  <p:stCondLst>
                                    <p:cond delay="150"/>
                                  </p:stCondLst>
                                  <p:childTnLst>
                                    <p:set>
                                      <p:cBhvr>
                                        <p:cTn id="114" dur="1" fill="hold">
                                          <p:stCondLst>
                                            <p:cond delay="0"/>
                                          </p:stCondLst>
                                        </p:cTn>
                                        <p:tgtEl>
                                          <p:spTgt spid="29"/>
                                        </p:tgtEl>
                                        <p:attrNameLst>
                                          <p:attrName>style.visibility</p:attrName>
                                        </p:attrNameLst>
                                      </p:cBhvr>
                                      <p:to>
                                        <p:strVal val="visible"/>
                                      </p:to>
                                    </p:set>
                                    <p:animEffect transition="in" filter="wipe(left)">
                                      <p:cBhvr>
                                        <p:cTn id="115" dur="600"/>
                                        <p:tgtEl>
                                          <p:spTgt spid="29"/>
                                        </p:tgtEl>
                                      </p:cBhvr>
                                    </p:animEffect>
                                  </p:childTnLst>
                                </p:cTn>
                              </p:par>
                            </p:childTnLst>
                          </p:cTn>
                        </p:par>
                      </p:childTnLst>
                    </p:cTn>
                  </p:par>
                  <p:par>
                    <p:cTn id="116" fill="hold">
                      <p:stCondLst>
                        <p:cond delay="indefinite"/>
                      </p:stCondLst>
                      <p:childTnLst>
                        <p:par>
                          <p:cTn id="117" fill="hold">
                            <p:stCondLst>
                              <p:cond delay="0"/>
                            </p:stCondLst>
                            <p:childTnLst>
                              <p:par>
                                <p:cTn id="118" presetID="42" presetClass="entr" presetSubtype="0" fill="hold" grpId="0" nodeType="clickEffect">
                                  <p:stCondLst>
                                    <p:cond delay="200"/>
                                  </p:stCondLst>
                                  <p:childTnLst>
                                    <p:set>
                                      <p:cBhvr>
                                        <p:cTn id="119" dur="1" fill="hold">
                                          <p:stCondLst>
                                            <p:cond delay="0"/>
                                          </p:stCondLst>
                                        </p:cTn>
                                        <p:tgtEl>
                                          <p:spTgt spid="30"/>
                                        </p:tgtEl>
                                        <p:attrNameLst>
                                          <p:attrName>style.visibility</p:attrName>
                                        </p:attrNameLst>
                                      </p:cBhvr>
                                      <p:to>
                                        <p:strVal val="visible"/>
                                      </p:to>
                                    </p:set>
                                    <p:anim calcmode="lin" valueType="num">
                                      <p:cBhvr additive="base">
                                        <p:cTn id="120" dur="500" fill="hold"/>
                                        <p:tgtEl>
                                          <p:spTgt spid="30"/>
                                        </p:tgtEl>
                                        <p:attrNameLst>
                                          <p:attrName>ppt_y</p:attrName>
                                        </p:attrNameLst>
                                      </p:cBhvr>
                                      <p:tavLst>
                                        <p:tav tm="0">
                                          <p:val>
                                            <p:strVal val="#ppt_y+.1"/>
                                          </p:val>
                                        </p:tav>
                                        <p:tav tm="100000">
                                          <p:val>
                                            <p:strVal val="#ppt_y"/>
                                          </p:val>
                                        </p:tav>
                                      </p:tavLst>
                                    </p:anim>
                                    <p:animEffect transition="in" filter="fade">
                                      <p:cBhvr>
                                        <p:cTn id="121" dur="500"/>
                                        <p:tgtEl>
                                          <p:spTgt spid="30"/>
                                        </p:tgtEl>
                                      </p:cBhvr>
                                    </p:animEffect>
                                  </p:childTnLst>
                                </p:cTn>
                              </p:par>
                              <p:par>
                                <p:cTn id="122" presetID="42" presetClass="entr" presetSubtype="0" fill="hold" grpId="0" nodeType="withEffect">
                                  <p:stCondLst>
                                    <p:cond delay="200"/>
                                  </p:stCondLst>
                                  <p:childTnLst>
                                    <p:set>
                                      <p:cBhvr>
                                        <p:cTn id="123" dur="1" fill="hold">
                                          <p:stCondLst>
                                            <p:cond delay="0"/>
                                          </p:stCondLst>
                                        </p:cTn>
                                        <p:tgtEl>
                                          <p:spTgt spid="31"/>
                                        </p:tgtEl>
                                        <p:attrNameLst>
                                          <p:attrName>style.visibility</p:attrName>
                                        </p:attrNameLst>
                                      </p:cBhvr>
                                      <p:to>
                                        <p:strVal val="visible"/>
                                      </p:to>
                                    </p:set>
                                    <p:anim calcmode="lin" valueType="num">
                                      <p:cBhvr additive="base">
                                        <p:cTn id="124" dur="500" fill="hold"/>
                                        <p:tgtEl>
                                          <p:spTgt spid="31"/>
                                        </p:tgtEl>
                                        <p:attrNameLst>
                                          <p:attrName>ppt_y</p:attrName>
                                        </p:attrNameLst>
                                      </p:cBhvr>
                                      <p:tavLst>
                                        <p:tav tm="0">
                                          <p:val>
                                            <p:strVal val="#ppt_y+.1"/>
                                          </p:val>
                                        </p:tav>
                                        <p:tav tm="100000">
                                          <p:val>
                                            <p:strVal val="#ppt_y"/>
                                          </p:val>
                                        </p:tav>
                                      </p:tavLst>
                                    </p:anim>
                                    <p:animEffect transition="in" filter="fade">
                                      <p:cBhvr>
                                        <p:cTn id="125" dur="500"/>
                                        <p:tgtEl>
                                          <p:spTgt spid="31"/>
                                        </p:tgtEl>
                                      </p:cBhvr>
                                    </p:animEffect>
                                  </p:childTnLst>
                                </p:cTn>
                              </p:par>
                              <p:par>
                                <p:cTn id="126" presetID="42" presetClass="entr" presetSubtype="0" fill="hold" grpId="0" nodeType="withEffect">
                                  <p:stCondLst>
                                    <p:cond delay="200"/>
                                  </p:stCondLst>
                                  <p:childTnLst>
                                    <p:set>
                                      <p:cBhvr>
                                        <p:cTn id="127" dur="1" fill="hold">
                                          <p:stCondLst>
                                            <p:cond delay="0"/>
                                          </p:stCondLst>
                                        </p:cTn>
                                        <p:tgtEl>
                                          <p:spTgt spid="32"/>
                                        </p:tgtEl>
                                        <p:attrNameLst>
                                          <p:attrName>style.visibility</p:attrName>
                                        </p:attrNameLst>
                                      </p:cBhvr>
                                      <p:to>
                                        <p:strVal val="visible"/>
                                      </p:to>
                                    </p:set>
                                    <p:anim calcmode="lin" valueType="num">
                                      <p:cBhvr additive="base">
                                        <p:cTn id="128" dur="500" fill="hold"/>
                                        <p:tgtEl>
                                          <p:spTgt spid="32"/>
                                        </p:tgtEl>
                                        <p:attrNameLst>
                                          <p:attrName>ppt_y</p:attrName>
                                        </p:attrNameLst>
                                      </p:cBhvr>
                                      <p:tavLst>
                                        <p:tav tm="0">
                                          <p:val>
                                            <p:strVal val="#ppt_y+.1"/>
                                          </p:val>
                                        </p:tav>
                                        <p:tav tm="100000">
                                          <p:val>
                                            <p:strVal val="#ppt_y"/>
                                          </p:val>
                                        </p:tav>
                                      </p:tavLst>
                                    </p:anim>
                                    <p:animEffect transition="in" filter="fade">
                                      <p:cBhvr>
                                        <p:cTn id="129" dur="500"/>
                                        <p:tgtEl>
                                          <p:spTgt spid="32"/>
                                        </p:tgtEl>
                                      </p:cBhvr>
                                    </p:animEffect>
                                  </p:childTnLst>
                                </p:cTn>
                              </p:par>
                            </p:childTnLst>
                          </p:cTn>
                        </p:par>
                        <p:par>
                          <p:cTn id="130" fill="hold">
                            <p:stCondLst>
                              <p:cond delay="700"/>
                            </p:stCondLst>
                            <p:childTnLst>
                              <p:par>
                                <p:cTn id="131" presetID="22" presetClass="entr" presetSubtype="8" fill="hold" grpId="0" nodeType="afterEffect">
                                  <p:stCondLst>
                                    <p:cond delay="150"/>
                                  </p:stCondLst>
                                  <p:childTnLst>
                                    <p:set>
                                      <p:cBhvr>
                                        <p:cTn id="132" dur="1" fill="hold">
                                          <p:stCondLst>
                                            <p:cond delay="0"/>
                                          </p:stCondLst>
                                        </p:cTn>
                                        <p:tgtEl>
                                          <p:spTgt spid="33"/>
                                        </p:tgtEl>
                                        <p:attrNameLst>
                                          <p:attrName>style.visibility</p:attrName>
                                        </p:attrNameLst>
                                      </p:cBhvr>
                                      <p:to>
                                        <p:strVal val="visible"/>
                                      </p:to>
                                    </p:set>
                                    <p:animEffect transition="in" filter="wipe(left)">
                                      <p:cBhvr>
                                        <p:cTn id="133" dur="600"/>
                                        <p:tgtEl>
                                          <p:spTgt spid="33"/>
                                        </p:tgtEl>
                                      </p:cBhvr>
                                    </p:animEffect>
                                  </p:childTnLst>
                                </p:cTn>
                              </p:par>
                              <p:par>
                                <p:cTn id="134" presetID="22" presetClass="entr" presetSubtype="8" fill="hold" grpId="0" nodeType="withEffect">
                                  <p:stCondLst>
                                    <p:cond delay="150"/>
                                  </p:stCondLst>
                                  <p:childTnLst>
                                    <p:set>
                                      <p:cBhvr>
                                        <p:cTn id="135" dur="1" fill="hold">
                                          <p:stCondLst>
                                            <p:cond delay="0"/>
                                          </p:stCondLst>
                                        </p:cTn>
                                        <p:tgtEl>
                                          <p:spTgt spid="34"/>
                                        </p:tgtEl>
                                        <p:attrNameLst>
                                          <p:attrName>style.visibility</p:attrName>
                                        </p:attrNameLst>
                                      </p:cBhvr>
                                      <p:to>
                                        <p:strVal val="visible"/>
                                      </p:to>
                                    </p:set>
                                    <p:animEffect transition="in" filter="wipe(left)">
                                      <p:cBhvr>
                                        <p:cTn id="136" dur="600"/>
                                        <p:tgtEl>
                                          <p:spTgt spid="34"/>
                                        </p:tgtEl>
                                      </p:cBhvr>
                                    </p:animEffect>
                                  </p:childTnLst>
                                </p:cTn>
                              </p:par>
                              <p:par>
                                <p:cTn id="137" presetID="22" presetClass="entr" presetSubtype="8" fill="hold" grpId="0" nodeType="withEffect">
                                  <p:stCondLst>
                                    <p:cond delay="600"/>
                                  </p:stCondLst>
                                  <p:childTnLst>
                                    <p:set>
                                      <p:cBhvr>
                                        <p:cTn id="138" dur="1" fill="hold">
                                          <p:stCondLst>
                                            <p:cond delay="0"/>
                                          </p:stCondLst>
                                        </p:cTn>
                                        <p:tgtEl>
                                          <p:spTgt spid="42"/>
                                        </p:tgtEl>
                                        <p:attrNameLst>
                                          <p:attrName>style.visibility</p:attrName>
                                        </p:attrNameLst>
                                      </p:cBhvr>
                                      <p:to>
                                        <p:strVal val="visible"/>
                                      </p:to>
                                    </p:set>
                                    <p:animEffect transition="in" filter="wipe(left)">
                                      <p:cBhvr>
                                        <p:cTn id="139" dur="1100"/>
                                        <p:tgtEl>
                                          <p:spTgt spid="42"/>
                                        </p:tgtEl>
                                      </p:cBhvr>
                                    </p:animEffect>
                                  </p:childTnLst>
                                </p:cTn>
                              </p:par>
                              <p:par>
                                <p:cTn id="141" presetID="0" presetClass="path" presetSubtype="0" fill="hold" accel="30000" decel="30000" nodeType="withEffect">
                                  <p:stCondLst>
                                    <p:cond delay="600"/>
                                  </p:stCondLst>
                                  <p:childTnLst>
                                    <p:animMotion origin="layout" path="M 0 0 L 0.02017 0 E" pathEditMode="relative" rAng="0" ptsTypes="AA">
                                      <p:cBhvr>
                                        <p:cTn id="140" dur="1100" fill="hold"/>
                                        <p:tgtEl>
                                          <p:spTgt spid="43"/>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4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04  ·  PROOF AND QUALITY</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Honest limitations</a:t>
            </a:r>
            <a:endParaRPr lang="en-US" sz="3600" dirty="0"/>
          </a:p>
        </p:txBody>
      </p:sp>
      <p:sp>
        <p:nvSpPr>
          <p:cNvPr id="5" name="lm0c"/>
          <p:cNvSpPr/>
          <p:nvPr/>
        </p:nvSpPr>
        <p:spPr>
          <a:xfrm>
            <a:off x="548640"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6" name="lm0b_c"/>
          <p:cNvSpPr/>
          <p:nvPr/>
        </p:nvSpPr>
        <p:spPr>
          <a:xfrm>
            <a:off x="777240" y="1920240"/>
            <a:ext cx="566928" cy="566928"/>
          </a:xfrm>
          <a:prstGeom prst="ellipse">
            <a:avLst/>
          </a:prstGeom>
          <a:solidFill>
            <a:schemeClr val="accent3">
              <a:alpha val="28000"/>
            </a:schemeClr>
          </a:solidFill>
          <a:ln/>
        </p:spPr>
      </p:sp>
      <p:pic>
        <p:nvPicPr>
          <p:cNvPr id="7" name="lm0b_i" descr="LuCalendar">    </p:cNvPr>
          <p:cNvPicPr>
            <a:picLocks noChangeAspect="1"/>
          </p:cNvPicPr>
          <p:nvPr/>
        </p:nvPicPr>
        <p:blipFill>
          <a:blip r:embed="rId1"/>
          <a:stretch>
            <a:fillRect/>
          </a:stretch>
        </p:blipFill>
        <p:spPr>
          <a:xfrm>
            <a:off x="918972" y="2061972"/>
            <a:ext cx="283464" cy="283464"/>
          </a:xfrm>
          <a:prstGeom prst="rect">
            <a:avLst/>
          </a:prstGeom>
        </p:spPr>
      </p:pic>
      <p:sp>
        <p:nvSpPr>
          <p:cNvPr id="8" name="lm0t"/>
          <p:cNvSpPr txBox="1"/>
          <p:nvPr/>
        </p:nvSpPr>
        <p:spPr>
          <a:xfrm>
            <a:off x="777240"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A snapshot, not history</a:t>
            </a:r>
            <a:endParaRPr lang="en-US" sz="1800" dirty="0"/>
          </a:p>
        </p:txBody>
      </p:sp>
      <p:sp>
        <p:nvSpPr>
          <p:cNvPr id="9" name="lm0d"/>
          <p:cNvSpPr txBox="1"/>
          <p:nvPr/>
        </p:nvSpPr>
        <p:spPr>
          <a:xfrm>
            <a:off x="777240"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Stored flights cover 2026-10-09 to 2026-10-10 only.</a:t>
            </a:r>
            <a:endParaRPr lang="en-US" sz="1400" dirty="0"/>
          </a:p>
        </p:txBody>
      </p:sp>
      <p:sp>
        <p:nvSpPr>
          <p:cNvPr id="10" name="lm1c"/>
          <p:cNvSpPr/>
          <p:nvPr/>
        </p:nvSpPr>
        <p:spPr>
          <a:xfrm>
            <a:off x="4270248"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1" name="lm1b_c"/>
          <p:cNvSpPr/>
          <p:nvPr/>
        </p:nvSpPr>
        <p:spPr>
          <a:xfrm>
            <a:off x="4498848" y="1920240"/>
            <a:ext cx="566928" cy="566928"/>
          </a:xfrm>
          <a:prstGeom prst="ellipse">
            <a:avLst/>
          </a:prstGeom>
          <a:solidFill>
            <a:schemeClr val="accent3">
              <a:alpha val="28000"/>
            </a:schemeClr>
          </a:solidFill>
          <a:ln/>
        </p:spPr>
      </p:sp>
      <p:pic>
        <p:nvPicPr>
          <p:cNvPr id="12" name="lm1b_i" descr="LuGauge">    </p:cNvPr>
          <p:cNvPicPr>
            <a:picLocks noChangeAspect="1"/>
          </p:cNvPicPr>
          <p:nvPr/>
        </p:nvPicPr>
        <p:blipFill>
          <a:blip r:embed="rId2"/>
          <a:stretch>
            <a:fillRect/>
          </a:stretch>
        </p:blipFill>
        <p:spPr>
          <a:xfrm>
            <a:off x="4640580" y="2061972"/>
            <a:ext cx="283464" cy="283464"/>
          </a:xfrm>
          <a:prstGeom prst="rect">
            <a:avLst/>
          </a:prstGeom>
        </p:spPr>
      </p:pic>
      <p:sp>
        <p:nvSpPr>
          <p:cNvPr id="13" name="lm1t"/>
          <p:cNvSpPr txBox="1"/>
          <p:nvPr/>
        </p:nvSpPr>
        <p:spPr>
          <a:xfrm>
            <a:off x="4498848"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Quota-bound refresh</a:t>
            </a:r>
            <a:endParaRPr lang="en-US" sz="1800" dirty="0"/>
          </a:p>
        </p:txBody>
      </p:sp>
      <p:sp>
        <p:nvSpPr>
          <p:cNvPr id="14" name="lm1d"/>
          <p:cNvSpPr txBox="1"/>
          <p:nvPr/>
        </p:nvSpPr>
        <p:spPr>
          <a:xfrm>
            <a:off x="4498848"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About 100 API requests a month limits refresh frequency.</a:t>
            </a:r>
            <a:endParaRPr lang="en-US" sz="1400" dirty="0"/>
          </a:p>
        </p:txBody>
      </p:sp>
      <p:sp>
        <p:nvSpPr>
          <p:cNvPr id="15" name="lm2c"/>
          <p:cNvSpPr/>
          <p:nvPr/>
        </p:nvSpPr>
        <p:spPr>
          <a:xfrm>
            <a:off x="7991856" y="1691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16" name="lm2b_c"/>
          <p:cNvSpPr/>
          <p:nvPr/>
        </p:nvSpPr>
        <p:spPr>
          <a:xfrm>
            <a:off x="8220456" y="1920240"/>
            <a:ext cx="566928" cy="566928"/>
          </a:xfrm>
          <a:prstGeom prst="ellipse">
            <a:avLst/>
          </a:prstGeom>
          <a:solidFill>
            <a:schemeClr val="accent3">
              <a:alpha val="28000"/>
            </a:schemeClr>
          </a:solidFill>
          <a:ln/>
        </p:spPr>
      </p:sp>
      <p:pic>
        <p:nvPicPr>
          <p:cNvPr id="17" name="lm2b_i" descr="LuCircleHelp">    </p:cNvPr>
          <p:cNvPicPr>
            <a:picLocks noChangeAspect="1"/>
          </p:cNvPicPr>
          <p:nvPr/>
        </p:nvPicPr>
        <p:blipFill>
          <a:blip r:embed="rId3"/>
          <a:stretch>
            <a:fillRect/>
          </a:stretch>
        </p:blipFill>
        <p:spPr>
          <a:xfrm>
            <a:off x="8362188" y="2061972"/>
            <a:ext cx="283464" cy="283464"/>
          </a:xfrm>
          <a:prstGeom prst="rect">
            <a:avLst/>
          </a:prstGeom>
        </p:spPr>
      </p:pic>
      <p:sp>
        <p:nvSpPr>
          <p:cNvPr id="18" name="lm2t"/>
          <p:cNvSpPr txBox="1"/>
          <p:nvPr/>
        </p:nvSpPr>
        <p:spPr>
          <a:xfrm>
            <a:off x="8220456" y="2606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No delay causes</a:t>
            </a:r>
            <a:endParaRPr lang="en-US" sz="1800" dirty="0"/>
          </a:p>
        </p:txBody>
      </p:sp>
      <p:sp>
        <p:nvSpPr>
          <p:cNvPr id="19" name="lm2d"/>
          <p:cNvSpPr txBox="1"/>
          <p:nvPr/>
        </p:nvSpPr>
        <p:spPr>
          <a:xfrm>
            <a:off x="8220456" y="3017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The source never explains delays, so weather labels stay unused.</a:t>
            </a:r>
            <a:endParaRPr lang="en-US" sz="1400" dirty="0"/>
          </a:p>
        </p:txBody>
      </p:sp>
      <p:sp>
        <p:nvSpPr>
          <p:cNvPr id="20" name="lm3c"/>
          <p:cNvSpPr/>
          <p:nvPr/>
        </p:nvSpPr>
        <p:spPr>
          <a:xfrm>
            <a:off x="548640"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1" name="lm3b_c"/>
          <p:cNvSpPr/>
          <p:nvPr/>
        </p:nvSpPr>
        <p:spPr>
          <a:xfrm>
            <a:off x="777240" y="4206240"/>
            <a:ext cx="566928" cy="566928"/>
          </a:xfrm>
          <a:prstGeom prst="ellipse">
            <a:avLst/>
          </a:prstGeom>
          <a:solidFill>
            <a:schemeClr val="accent3">
              <a:alpha val="28000"/>
            </a:schemeClr>
          </a:solidFill>
          <a:ln/>
        </p:spPr>
      </p:sp>
      <p:pic>
        <p:nvPicPr>
          <p:cNvPr id="22" name="lm3b_i" descr="LuChartBar">    </p:cNvPr>
          <p:cNvPicPr>
            <a:picLocks noChangeAspect="1"/>
          </p:cNvPicPr>
          <p:nvPr/>
        </p:nvPicPr>
        <p:blipFill>
          <a:blip r:embed="rId4"/>
          <a:stretch>
            <a:fillRect/>
          </a:stretch>
        </p:blipFill>
        <p:spPr>
          <a:xfrm>
            <a:off x="918972" y="4347972"/>
            <a:ext cx="283464" cy="283464"/>
          </a:xfrm>
          <a:prstGeom prst="rect">
            <a:avLst/>
          </a:prstGeom>
        </p:spPr>
      </p:pic>
      <p:sp>
        <p:nvSpPr>
          <p:cNvPr id="23" name="lm3t"/>
          <p:cNvSpPr txBox="1"/>
          <p:nvPr/>
        </p:nvSpPr>
        <p:spPr>
          <a:xfrm>
            <a:off x="777240"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Partial delay data</a:t>
            </a:r>
            <a:endParaRPr lang="en-US" sz="1800" dirty="0"/>
          </a:p>
        </p:txBody>
      </p:sp>
      <p:sp>
        <p:nvSpPr>
          <p:cNvPr id="24" name="lm3d"/>
          <p:cNvSpPr txBox="1"/>
          <p:nvPr/>
        </p:nvSpPr>
        <p:spPr>
          <a:xfrm>
            <a:off x="777240"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66 of 133 stored flights carry delay values.</a:t>
            </a:r>
            <a:endParaRPr lang="en-US" sz="1400" dirty="0"/>
          </a:p>
        </p:txBody>
      </p:sp>
      <p:sp>
        <p:nvSpPr>
          <p:cNvPr id="25" name="lm4c"/>
          <p:cNvSpPr/>
          <p:nvPr/>
        </p:nvSpPr>
        <p:spPr>
          <a:xfrm>
            <a:off x="4270248"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26" name="lm4b_c"/>
          <p:cNvSpPr/>
          <p:nvPr/>
        </p:nvSpPr>
        <p:spPr>
          <a:xfrm>
            <a:off x="4498848" y="4206240"/>
            <a:ext cx="566928" cy="566928"/>
          </a:xfrm>
          <a:prstGeom prst="ellipse">
            <a:avLst/>
          </a:prstGeom>
          <a:solidFill>
            <a:schemeClr val="accent3">
              <a:alpha val="28000"/>
            </a:schemeClr>
          </a:solidFill>
          <a:ln/>
        </p:spPr>
      </p:sp>
      <p:pic>
        <p:nvPicPr>
          <p:cNvPr id="27" name="lm4b_i" descr="LuMapPin">    </p:cNvPr>
          <p:cNvPicPr>
            <a:picLocks noChangeAspect="1"/>
          </p:cNvPicPr>
          <p:nvPr/>
        </p:nvPicPr>
        <p:blipFill>
          <a:blip r:embed="rId5"/>
          <a:stretch>
            <a:fillRect/>
          </a:stretch>
        </p:blipFill>
        <p:spPr>
          <a:xfrm>
            <a:off x="4640580" y="4347972"/>
            <a:ext cx="283464" cy="283464"/>
          </a:xfrm>
          <a:prstGeom prst="rect">
            <a:avLst/>
          </a:prstGeom>
        </p:spPr>
      </p:pic>
      <p:sp>
        <p:nvSpPr>
          <p:cNvPr id="28" name="lm4t"/>
          <p:cNvSpPr txBox="1"/>
          <p:nvPr/>
        </p:nvSpPr>
        <p:spPr>
          <a:xfrm>
            <a:off x="4498848"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No live positions</a:t>
            </a:r>
            <a:endParaRPr lang="en-US" sz="1800" dirty="0"/>
          </a:p>
        </p:txBody>
      </p:sp>
      <p:sp>
        <p:nvSpPr>
          <p:cNvPr id="29" name="lm4d"/>
          <p:cNvSpPr txBox="1"/>
          <p:nvPr/>
        </p:nvSpPr>
        <p:spPr>
          <a:xfrm>
            <a:off x="4498848"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0 of 133 flights are live-tracked, so the live map has nothing to plot.</a:t>
            </a:r>
            <a:endParaRPr lang="en-US" sz="1400" dirty="0"/>
          </a:p>
        </p:txBody>
      </p:sp>
      <p:sp>
        <p:nvSpPr>
          <p:cNvPr id="30" name="lm5c"/>
          <p:cNvSpPr/>
          <p:nvPr/>
        </p:nvSpPr>
        <p:spPr>
          <a:xfrm>
            <a:off x="7991856" y="3977640"/>
            <a:ext cx="3611880" cy="2148840"/>
          </a:xfrm>
          <a:prstGeom prst="roundRect">
            <a:avLst>
              <a:gd name="adj" fmla="val 5106"/>
            </a:avLst>
          </a:prstGeom>
          <a:solidFill>
            <a:schemeClr val="bg1">
              <a:alpha val="9000"/>
            </a:schemeClr>
          </a:solidFill>
          <a:ln w="9525">
            <a:solidFill>
              <a:schemeClr val="bg1">
                <a:alpha val="22000"/>
              </a:schemeClr>
            </a:solidFill>
            <a:prstDash val="solid"/>
          </a:ln>
        </p:spPr>
      </p:sp>
      <p:sp>
        <p:nvSpPr>
          <p:cNvPr id="31" name="lm5b_c"/>
          <p:cNvSpPr/>
          <p:nvPr/>
        </p:nvSpPr>
        <p:spPr>
          <a:xfrm>
            <a:off x="8220456" y="4206240"/>
            <a:ext cx="566928" cy="566928"/>
          </a:xfrm>
          <a:prstGeom prst="ellipse">
            <a:avLst/>
          </a:prstGeom>
          <a:solidFill>
            <a:schemeClr val="accent3">
              <a:alpha val="28000"/>
            </a:schemeClr>
          </a:solidFill>
          <a:ln/>
        </p:spPr>
      </p:sp>
      <p:pic>
        <p:nvPicPr>
          <p:cNvPr id="32" name="lm5b_i" descr="LuCloudSun">    </p:cNvPr>
          <p:cNvPicPr>
            <a:picLocks noChangeAspect="1"/>
          </p:cNvPicPr>
          <p:nvPr/>
        </p:nvPicPr>
        <p:blipFill>
          <a:blip r:embed="rId6"/>
          <a:stretch>
            <a:fillRect/>
          </a:stretch>
        </p:blipFill>
        <p:spPr>
          <a:xfrm>
            <a:off x="8362188" y="4347972"/>
            <a:ext cx="283464" cy="283464"/>
          </a:xfrm>
          <a:prstGeom prst="rect">
            <a:avLst/>
          </a:prstGeom>
        </p:spPr>
      </p:pic>
      <p:sp>
        <p:nvSpPr>
          <p:cNvPr id="33" name="lm5t"/>
          <p:cNvSpPr txBox="1"/>
          <p:nvPr/>
        </p:nvSpPr>
        <p:spPr>
          <a:xfrm>
            <a:off x="8220456" y="4892040"/>
            <a:ext cx="3200400" cy="411480"/>
          </a:xfrm>
          <a:prstGeom prst="rect">
            <a:avLst/>
          </a:prstGeom>
          <a:noFill/>
          <a:ln/>
        </p:spPr>
        <p:txBody>
          <a:bodyPr wrap="square" lIns="0" tIns="0" rIns="0" bIns="0" rtlCol="0" anchor="t"/>
          <a:lstStyle/>
          <a:p>
            <a:pPr algn="l" indent="0" marL="0">
              <a:buNone/>
            </a:pPr>
            <a:r>
              <a:rPr lang="en-US" sz="1800" b="1" dirty="0">
                <a:solidFill>
                  <a:schemeClr val="bg1"/>
                </a:solidFill>
              </a:rPr>
              <a:t>Weather needs setup</a:t>
            </a:r>
            <a:endParaRPr lang="en-US" sz="1800" dirty="0"/>
          </a:p>
        </p:txBody>
      </p:sp>
      <p:sp>
        <p:nvSpPr>
          <p:cNvPr id="34" name="lm5d"/>
          <p:cNvSpPr txBox="1"/>
          <p:nvPr/>
        </p:nvSpPr>
        <p:spPr>
          <a:xfrm>
            <a:off x="8220456" y="5303520"/>
            <a:ext cx="3200400" cy="731520"/>
          </a:xfrm>
          <a:prstGeom prst="rect">
            <a:avLst/>
          </a:prstGeom>
          <a:noFill/>
          <a:ln/>
        </p:spPr>
        <p:txBody>
          <a:bodyPr wrap="square" lIns="0" tIns="0" rIns="0" bIns="0" rtlCol="0" anchor="t"/>
          <a:lstStyle/>
          <a:p>
            <a:pPr algn="l" indent="0" marL="0">
              <a:buNone/>
            </a:pPr>
            <a:r>
              <a:rPr lang="en-US" sz="1400" dirty="0">
                <a:solidFill>
                  <a:schemeClr val="bg2"/>
                </a:solidFill>
              </a:rPr>
              <a:t>Weather Insights reads Not configured until a location is set.</a:t>
            </a:r>
            <a:endParaRPr lang="en-US" sz="1400" dirty="0"/>
          </a:p>
        </p:txBody>
      </p:sp>
      <p:sp>
        <p:nvSpPr>
          <p:cNvPr id="35" name="track"/>
          <p:cNvSpPr/>
          <p:nvPr/>
        </p:nvSpPr>
        <p:spPr>
          <a:xfrm>
            <a:off x="3383280" y="6510528"/>
            <a:ext cx="7132320" cy="0"/>
          </a:xfrm>
          <a:prstGeom prst="line">
            <a:avLst/>
          </a:prstGeom>
          <a:noFill/>
          <a:ln w="12700">
            <a:solidFill>
              <a:schemeClr val="bg2">
                <a:alpha val="45000"/>
              </a:schemeClr>
            </a:solidFill>
            <a:prstDash val="dash"/>
          </a:ln>
        </p:spPr>
      </p:sp>
      <p:sp>
        <p:nvSpPr>
          <p:cNvPr id="36" name="progress"/>
          <p:cNvSpPr/>
          <p:nvPr/>
        </p:nvSpPr>
        <p:spPr>
          <a:xfrm>
            <a:off x="3383280" y="6510528"/>
            <a:ext cx="6148552" cy="0"/>
          </a:xfrm>
          <a:prstGeom prst="line">
            <a:avLst/>
          </a:prstGeom>
          <a:noFill/>
          <a:ln w="28575">
            <a:solidFill>
              <a:schemeClr val="accent2"/>
            </a:solidFill>
            <a:prstDash val="solid"/>
          </a:ln>
        </p:spPr>
      </p:sp>
      <p:sp>
        <p:nvSpPr>
          <p:cNvPr id="37" name="wp0"/>
          <p:cNvSpPr/>
          <p:nvPr/>
        </p:nvSpPr>
        <p:spPr>
          <a:xfrm>
            <a:off x="3834016" y="6469380"/>
            <a:ext cx="82296" cy="82296"/>
          </a:xfrm>
          <a:prstGeom prst="ellipse">
            <a:avLst/>
          </a:prstGeom>
          <a:solidFill>
            <a:schemeClr val="accent2"/>
          </a:solidFill>
          <a:ln/>
        </p:spPr>
      </p:sp>
      <p:sp>
        <p:nvSpPr>
          <p:cNvPr id="38" name="wp1"/>
          <p:cNvSpPr/>
          <p:nvPr/>
        </p:nvSpPr>
        <p:spPr>
          <a:xfrm>
            <a:off x="4817784" y="6469380"/>
            <a:ext cx="82296" cy="82296"/>
          </a:xfrm>
          <a:prstGeom prst="ellipse">
            <a:avLst/>
          </a:prstGeom>
          <a:solidFill>
            <a:schemeClr val="accent2"/>
          </a:solidFill>
          <a:ln/>
        </p:spPr>
      </p:sp>
      <p:sp>
        <p:nvSpPr>
          <p:cNvPr id="39" name="wp2"/>
          <p:cNvSpPr/>
          <p:nvPr/>
        </p:nvSpPr>
        <p:spPr>
          <a:xfrm>
            <a:off x="7277205" y="6469380"/>
            <a:ext cx="82296" cy="82296"/>
          </a:xfrm>
          <a:prstGeom prst="ellipse">
            <a:avLst/>
          </a:prstGeom>
          <a:solidFill>
            <a:schemeClr val="accent2"/>
          </a:solidFill>
          <a:ln/>
        </p:spPr>
      </p:sp>
      <p:sp>
        <p:nvSpPr>
          <p:cNvPr id="40" name="wp3"/>
          <p:cNvSpPr/>
          <p:nvPr/>
        </p:nvSpPr>
        <p:spPr>
          <a:xfrm>
            <a:off x="8506915" y="6469380"/>
            <a:ext cx="82296" cy="82296"/>
          </a:xfrm>
          <a:prstGeom prst="ellipse">
            <a:avLst/>
          </a:prstGeom>
          <a:solidFill>
            <a:schemeClr val="accent2"/>
          </a:solidFill>
          <a:ln/>
        </p:spPr>
      </p:sp>
      <p:sp>
        <p:nvSpPr>
          <p:cNvPr id="41" name="wp4"/>
          <p:cNvSpPr/>
          <p:nvPr/>
        </p:nvSpPr>
        <p:spPr>
          <a:xfrm>
            <a:off x="9982568" y="6469380"/>
            <a:ext cx="82296" cy="82296"/>
          </a:xfrm>
          <a:prstGeom prst="ellipse">
            <a:avLst/>
          </a:prstGeom>
          <a:solidFill>
            <a:schemeClr val="bg2">
              <a:alpha val="60000"/>
            </a:schemeClr>
          </a:solidFill>
          <a:ln/>
        </p:spPr>
      </p:sp>
      <p:sp>
        <p:nvSpPr>
          <p:cNvPr id="42" name="progress_ext"/>
          <p:cNvSpPr/>
          <p:nvPr/>
        </p:nvSpPr>
        <p:spPr>
          <a:xfrm>
            <a:off x="9531832" y="6510528"/>
            <a:ext cx="245942" cy="0"/>
          </a:xfrm>
          <a:prstGeom prst="line">
            <a:avLst/>
          </a:prstGeom>
          <a:noFill/>
          <a:ln w="28575">
            <a:solidFill>
              <a:schemeClr val="accent2"/>
            </a:solidFill>
            <a:prstDash val="solid"/>
          </a:ln>
        </p:spPr>
      </p:sp>
      <p:pic>
        <p:nvPicPr>
          <p:cNvPr id="43" name="!!tracker" descr="Progress marker">    </p:cNvPr>
          <p:cNvPicPr>
            <a:picLocks noChangeAspect="1"/>
          </p:cNvPicPr>
          <p:nvPr/>
        </p:nvPicPr>
        <p:blipFill>
          <a:blip r:embed="rId7"/>
          <a:stretch>
            <a:fillRect/>
          </a:stretch>
        </p:blipFill>
        <p:spPr>
          <a:xfrm>
            <a:off x="9348952"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27</a:t>
            </a:fld>
            <a:endParaRPr lang="en-US"/>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50" fill="hold"/>
                                        <p:tgtEl>
                                          <p:spTgt spid="5"/>
                                        </p:tgtEl>
                                        <p:attrNameLst>
                                          <p:attrName>ppt_y</p:attrName>
                                        </p:attrNameLst>
                                      </p:cBhvr>
                                      <p:tavLst>
                                        <p:tav tm="0">
                                          <p:val>
                                            <p:strVal val="#ppt_y+.1"/>
                                          </p:val>
                                        </p:tav>
                                        <p:tav tm="100000">
                                          <p:val>
                                            <p:strVal val="#ppt_y"/>
                                          </p:val>
                                        </p:tav>
                                      </p:tavLst>
                                    </p:anim>
                                    <p:animEffect transition="in" filter="fade">
                                      <p:cBhvr>
                                        <p:cTn id="16" dur="550"/>
                                        <p:tgtEl>
                                          <p:spTgt spid="5"/>
                                        </p:tgtEl>
                                      </p:cBhvr>
                                    </p:animEffect>
                                  </p:childTnLst>
                                </p:cTn>
                              </p:par>
                              <p:par>
                                <p:cTn id="17" presetID="42" presetClass="entr" presetSubtype="0" fill="hold" grpId="0" nodeType="withEffect">
                                  <p:stCondLst>
                                    <p:cond delay="20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50" fill="hold"/>
                                        <p:tgtEl>
                                          <p:spTgt spid="6"/>
                                        </p:tgtEl>
                                        <p:attrNameLst>
                                          <p:attrName>ppt_y</p:attrName>
                                        </p:attrNameLst>
                                      </p:cBhvr>
                                      <p:tavLst>
                                        <p:tav tm="0">
                                          <p:val>
                                            <p:strVal val="#ppt_y+.1"/>
                                          </p:val>
                                        </p:tav>
                                        <p:tav tm="100000">
                                          <p:val>
                                            <p:strVal val="#ppt_y"/>
                                          </p:val>
                                        </p:tav>
                                      </p:tavLst>
                                    </p:anim>
                                    <p:animEffect transition="in" filter="fade">
                                      <p:cBhvr>
                                        <p:cTn id="20" dur="550"/>
                                        <p:tgtEl>
                                          <p:spTgt spid="6"/>
                                        </p:tgtEl>
                                      </p:cBhvr>
                                    </p:animEffect>
                                  </p:childTnLst>
                                </p:cTn>
                              </p:par>
                              <p:par>
                                <p:cTn id="21" presetID="42" presetClass="entr" presetSubtype="0" fill="hold" nodeType="withEffect">
                                  <p:stCondLst>
                                    <p:cond delay="200"/>
                                  </p:stCondLst>
                                  <p:childTnLst>
                                    <p:set>
                                      <p:cBhvr>
                                        <p:cTn id="22" dur="1" fill="hold">
                                          <p:stCondLst>
                                            <p:cond delay="0"/>
                                          </p:stCondLst>
                                        </p:cTn>
                                        <p:tgtEl>
                                          <p:spTgt spid="7"/>
                                        </p:tgtEl>
                                        <p:attrNameLst>
                                          <p:attrName>style.visibility</p:attrName>
                                        </p:attrNameLst>
                                      </p:cBhvr>
                                      <p:to>
                                        <p:strVal val="visible"/>
                                      </p:to>
                                    </p:set>
                                    <p:anim calcmode="lin" valueType="num">
                                      <p:cBhvr additive="base">
                                        <p:cTn id="23" dur="550" fill="hold"/>
                                        <p:tgtEl>
                                          <p:spTgt spid="7"/>
                                        </p:tgtEl>
                                        <p:attrNameLst>
                                          <p:attrName>ppt_y</p:attrName>
                                        </p:attrNameLst>
                                      </p:cBhvr>
                                      <p:tavLst>
                                        <p:tav tm="0">
                                          <p:val>
                                            <p:strVal val="#ppt_y+.1"/>
                                          </p:val>
                                        </p:tav>
                                        <p:tav tm="100000">
                                          <p:val>
                                            <p:strVal val="#ppt_y"/>
                                          </p:val>
                                        </p:tav>
                                      </p:tavLst>
                                    </p:anim>
                                    <p:animEffect transition="in" filter="fade">
                                      <p:cBhvr>
                                        <p:cTn id="24" dur="550"/>
                                        <p:tgtEl>
                                          <p:spTgt spid="7"/>
                                        </p:tgtEl>
                                      </p:cBhvr>
                                    </p:animEffect>
                                  </p:childTnLst>
                                </p:cTn>
                              </p:par>
                              <p:par>
                                <p:cTn id="25" presetID="42" presetClass="entr" presetSubtype="0" fill="hold" grpId="0" nodeType="withEffect">
                                  <p:stCondLst>
                                    <p:cond delay="200"/>
                                  </p:stCondLst>
                                  <p:childTnLst>
                                    <p:set>
                                      <p:cBhvr>
                                        <p:cTn id="26" dur="1" fill="hold">
                                          <p:stCondLst>
                                            <p:cond delay="0"/>
                                          </p:stCondLst>
                                        </p:cTn>
                                        <p:tgtEl>
                                          <p:spTgt spid="8"/>
                                        </p:tgtEl>
                                        <p:attrNameLst>
                                          <p:attrName>style.visibility</p:attrName>
                                        </p:attrNameLst>
                                      </p:cBhvr>
                                      <p:to>
                                        <p:strVal val="visible"/>
                                      </p:to>
                                    </p:set>
                                    <p:anim calcmode="lin" valueType="num">
                                      <p:cBhvr additive="base">
                                        <p:cTn id="27" dur="550" fill="hold"/>
                                        <p:tgtEl>
                                          <p:spTgt spid="8"/>
                                        </p:tgtEl>
                                        <p:attrNameLst>
                                          <p:attrName>ppt_y</p:attrName>
                                        </p:attrNameLst>
                                      </p:cBhvr>
                                      <p:tavLst>
                                        <p:tav tm="0">
                                          <p:val>
                                            <p:strVal val="#ppt_y+.1"/>
                                          </p:val>
                                        </p:tav>
                                        <p:tav tm="100000">
                                          <p:val>
                                            <p:strVal val="#ppt_y"/>
                                          </p:val>
                                        </p:tav>
                                      </p:tavLst>
                                    </p:anim>
                                    <p:animEffect transition="in" filter="fade">
                                      <p:cBhvr>
                                        <p:cTn id="28" dur="550"/>
                                        <p:tgtEl>
                                          <p:spTgt spid="8"/>
                                        </p:tgtEl>
                                      </p:cBhvr>
                                    </p:animEffect>
                                  </p:childTnLst>
                                </p:cTn>
                              </p:par>
                              <p:par>
                                <p:cTn id="29" presetID="42" presetClass="entr" presetSubtype="0" fill="hold" grpId="0" nodeType="withEffect">
                                  <p:stCondLst>
                                    <p:cond delay="20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50" fill="hold"/>
                                        <p:tgtEl>
                                          <p:spTgt spid="9"/>
                                        </p:tgtEl>
                                        <p:attrNameLst>
                                          <p:attrName>ppt_y</p:attrName>
                                        </p:attrNameLst>
                                      </p:cBhvr>
                                      <p:tavLst>
                                        <p:tav tm="0">
                                          <p:val>
                                            <p:strVal val="#ppt_y+.1"/>
                                          </p:val>
                                        </p:tav>
                                        <p:tav tm="100000">
                                          <p:val>
                                            <p:strVal val="#ppt_y"/>
                                          </p:val>
                                        </p:tav>
                                      </p:tavLst>
                                    </p:anim>
                                    <p:animEffect transition="in" filter="fade">
                                      <p:cBhvr>
                                        <p:cTn id="32" dur="550"/>
                                        <p:tgtEl>
                                          <p:spTgt spid="9"/>
                                        </p:tgtEl>
                                      </p:cBhvr>
                                    </p:animEffect>
                                  </p:childTnLst>
                                </p:cTn>
                              </p:par>
                              <p:par>
                                <p:cTn id="33" presetID="42" presetClass="entr" presetSubtype="0" fill="hold" grpId="0" nodeType="withEffect">
                                  <p:stCondLst>
                                    <p:cond delay="50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50" fill="hold"/>
                                        <p:tgtEl>
                                          <p:spTgt spid="10"/>
                                        </p:tgtEl>
                                        <p:attrNameLst>
                                          <p:attrName>ppt_y</p:attrName>
                                        </p:attrNameLst>
                                      </p:cBhvr>
                                      <p:tavLst>
                                        <p:tav tm="0">
                                          <p:val>
                                            <p:strVal val="#ppt_y+.1"/>
                                          </p:val>
                                        </p:tav>
                                        <p:tav tm="100000">
                                          <p:val>
                                            <p:strVal val="#ppt_y"/>
                                          </p:val>
                                        </p:tav>
                                      </p:tavLst>
                                    </p:anim>
                                    <p:animEffect transition="in" filter="fade">
                                      <p:cBhvr>
                                        <p:cTn id="36" dur="550"/>
                                        <p:tgtEl>
                                          <p:spTgt spid="10"/>
                                        </p:tgtEl>
                                      </p:cBhvr>
                                    </p:animEffect>
                                  </p:childTnLst>
                                </p:cTn>
                              </p:par>
                              <p:par>
                                <p:cTn id="37" presetID="42" presetClass="entr" presetSubtype="0" fill="hold" grpId="0" nodeType="withEffect">
                                  <p:stCondLst>
                                    <p:cond delay="50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50" fill="hold"/>
                                        <p:tgtEl>
                                          <p:spTgt spid="11"/>
                                        </p:tgtEl>
                                        <p:attrNameLst>
                                          <p:attrName>ppt_y</p:attrName>
                                        </p:attrNameLst>
                                      </p:cBhvr>
                                      <p:tavLst>
                                        <p:tav tm="0">
                                          <p:val>
                                            <p:strVal val="#ppt_y+.1"/>
                                          </p:val>
                                        </p:tav>
                                        <p:tav tm="100000">
                                          <p:val>
                                            <p:strVal val="#ppt_y"/>
                                          </p:val>
                                        </p:tav>
                                      </p:tavLst>
                                    </p:anim>
                                    <p:animEffect transition="in" filter="fade">
                                      <p:cBhvr>
                                        <p:cTn id="40" dur="550"/>
                                        <p:tgtEl>
                                          <p:spTgt spid="11"/>
                                        </p:tgtEl>
                                      </p:cBhvr>
                                    </p:animEffect>
                                  </p:childTnLst>
                                </p:cTn>
                              </p:par>
                              <p:par>
                                <p:cTn id="41" presetID="42" presetClass="entr" presetSubtype="0" fill="hold" nodeType="withEffect">
                                  <p:stCondLst>
                                    <p:cond delay="500"/>
                                  </p:stCondLst>
                                  <p:childTnLst>
                                    <p:set>
                                      <p:cBhvr>
                                        <p:cTn id="42" dur="1" fill="hold">
                                          <p:stCondLst>
                                            <p:cond delay="0"/>
                                          </p:stCondLst>
                                        </p:cTn>
                                        <p:tgtEl>
                                          <p:spTgt spid="12"/>
                                        </p:tgtEl>
                                        <p:attrNameLst>
                                          <p:attrName>style.visibility</p:attrName>
                                        </p:attrNameLst>
                                      </p:cBhvr>
                                      <p:to>
                                        <p:strVal val="visible"/>
                                      </p:to>
                                    </p:set>
                                    <p:anim calcmode="lin" valueType="num">
                                      <p:cBhvr additive="base">
                                        <p:cTn id="43" dur="550" fill="hold"/>
                                        <p:tgtEl>
                                          <p:spTgt spid="12"/>
                                        </p:tgtEl>
                                        <p:attrNameLst>
                                          <p:attrName>ppt_y</p:attrName>
                                        </p:attrNameLst>
                                      </p:cBhvr>
                                      <p:tavLst>
                                        <p:tav tm="0">
                                          <p:val>
                                            <p:strVal val="#ppt_y+.1"/>
                                          </p:val>
                                        </p:tav>
                                        <p:tav tm="100000">
                                          <p:val>
                                            <p:strVal val="#ppt_y"/>
                                          </p:val>
                                        </p:tav>
                                      </p:tavLst>
                                    </p:anim>
                                    <p:animEffect transition="in" filter="fade">
                                      <p:cBhvr>
                                        <p:cTn id="44" dur="550"/>
                                        <p:tgtEl>
                                          <p:spTgt spid="12"/>
                                        </p:tgtEl>
                                      </p:cBhvr>
                                    </p:animEffect>
                                  </p:childTnLst>
                                </p:cTn>
                              </p:par>
                              <p:par>
                                <p:cTn id="45" presetID="42" presetClass="entr" presetSubtype="0" fill="hold" grpId="0" nodeType="withEffect">
                                  <p:stCondLst>
                                    <p:cond delay="500"/>
                                  </p:stCondLst>
                                  <p:childTnLst>
                                    <p:set>
                                      <p:cBhvr>
                                        <p:cTn id="46" dur="1" fill="hold">
                                          <p:stCondLst>
                                            <p:cond delay="0"/>
                                          </p:stCondLst>
                                        </p:cTn>
                                        <p:tgtEl>
                                          <p:spTgt spid="13"/>
                                        </p:tgtEl>
                                        <p:attrNameLst>
                                          <p:attrName>style.visibility</p:attrName>
                                        </p:attrNameLst>
                                      </p:cBhvr>
                                      <p:to>
                                        <p:strVal val="visible"/>
                                      </p:to>
                                    </p:set>
                                    <p:anim calcmode="lin" valueType="num">
                                      <p:cBhvr additive="base">
                                        <p:cTn id="47" dur="550" fill="hold"/>
                                        <p:tgtEl>
                                          <p:spTgt spid="13"/>
                                        </p:tgtEl>
                                        <p:attrNameLst>
                                          <p:attrName>ppt_y</p:attrName>
                                        </p:attrNameLst>
                                      </p:cBhvr>
                                      <p:tavLst>
                                        <p:tav tm="0">
                                          <p:val>
                                            <p:strVal val="#ppt_y+.1"/>
                                          </p:val>
                                        </p:tav>
                                        <p:tav tm="100000">
                                          <p:val>
                                            <p:strVal val="#ppt_y"/>
                                          </p:val>
                                        </p:tav>
                                      </p:tavLst>
                                    </p:anim>
                                    <p:animEffect transition="in" filter="fade">
                                      <p:cBhvr>
                                        <p:cTn id="48" dur="550"/>
                                        <p:tgtEl>
                                          <p:spTgt spid="13"/>
                                        </p:tgtEl>
                                      </p:cBhvr>
                                    </p:animEffect>
                                  </p:childTnLst>
                                </p:cTn>
                              </p:par>
                              <p:par>
                                <p:cTn id="49" presetID="42" presetClass="entr" presetSubtype="0" fill="hold" grpId="0" nodeType="withEffect">
                                  <p:stCondLst>
                                    <p:cond delay="500"/>
                                  </p:stCondLst>
                                  <p:childTnLst>
                                    <p:set>
                                      <p:cBhvr>
                                        <p:cTn id="50" dur="1" fill="hold">
                                          <p:stCondLst>
                                            <p:cond delay="0"/>
                                          </p:stCondLst>
                                        </p:cTn>
                                        <p:tgtEl>
                                          <p:spTgt spid="14"/>
                                        </p:tgtEl>
                                        <p:attrNameLst>
                                          <p:attrName>style.visibility</p:attrName>
                                        </p:attrNameLst>
                                      </p:cBhvr>
                                      <p:to>
                                        <p:strVal val="visible"/>
                                      </p:to>
                                    </p:set>
                                    <p:anim calcmode="lin" valueType="num">
                                      <p:cBhvr additive="base">
                                        <p:cTn id="51" dur="550" fill="hold"/>
                                        <p:tgtEl>
                                          <p:spTgt spid="14"/>
                                        </p:tgtEl>
                                        <p:attrNameLst>
                                          <p:attrName>ppt_y</p:attrName>
                                        </p:attrNameLst>
                                      </p:cBhvr>
                                      <p:tavLst>
                                        <p:tav tm="0">
                                          <p:val>
                                            <p:strVal val="#ppt_y+.1"/>
                                          </p:val>
                                        </p:tav>
                                        <p:tav tm="100000">
                                          <p:val>
                                            <p:strVal val="#ppt_y"/>
                                          </p:val>
                                        </p:tav>
                                      </p:tavLst>
                                    </p:anim>
                                    <p:animEffect transition="in" filter="fade">
                                      <p:cBhvr>
                                        <p:cTn id="52" dur="550"/>
                                        <p:tgtEl>
                                          <p:spTgt spid="14"/>
                                        </p:tgtEl>
                                      </p:cBhvr>
                                    </p:animEffect>
                                  </p:childTnLst>
                                </p:cTn>
                              </p:par>
                              <p:par>
                                <p:cTn id="53" presetID="42" presetClass="entr" presetSubtype="0" fill="hold" grpId="0" nodeType="withEffect">
                                  <p:stCondLst>
                                    <p:cond delay="800"/>
                                  </p:stCondLst>
                                  <p:childTnLst>
                                    <p:set>
                                      <p:cBhvr>
                                        <p:cTn id="54" dur="1" fill="hold">
                                          <p:stCondLst>
                                            <p:cond delay="0"/>
                                          </p:stCondLst>
                                        </p:cTn>
                                        <p:tgtEl>
                                          <p:spTgt spid="15"/>
                                        </p:tgtEl>
                                        <p:attrNameLst>
                                          <p:attrName>style.visibility</p:attrName>
                                        </p:attrNameLst>
                                      </p:cBhvr>
                                      <p:to>
                                        <p:strVal val="visible"/>
                                      </p:to>
                                    </p:set>
                                    <p:anim calcmode="lin" valueType="num">
                                      <p:cBhvr additive="base">
                                        <p:cTn id="55" dur="550" fill="hold"/>
                                        <p:tgtEl>
                                          <p:spTgt spid="15"/>
                                        </p:tgtEl>
                                        <p:attrNameLst>
                                          <p:attrName>ppt_y</p:attrName>
                                        </p:attrNameLst>
                                      </p:cBhvr>
                                      <p:tavLst>
                                        <p:tav tm="0">
                                          <p:val>
                                            <p:strVal val="#ppt_y+.1"/>
                                          </p:val>
                                        </p:tav>
                                        <p:tav tm="100000">
                                          <p:val>
                                            <p:strVal val="#ppt_y"/>
                                          </p:val>
                                        </p:tav>
                                      </p:tavLst>
                                    </p:anim>
                                    <p:animEffect transition="in" filter="fade">
                                      <p:cBhvr>
                                        <p:cTn id="56" dur="550"/>
                                        <p:tgtEl>
                                          <p:spTgt spid="15"/>
                                        </p:tgtEl>
                                      </p:cBhvr>
                                    </p:animEffect>
                                  </p:childTnLst>
                                </p:cTn>
                              </p:par>
                              <p:par>
                                <p:cTn id="57" presetID="42" presetClass="entr" presetSubtype="0" fill="hold" grpId="0" nodeType="withEffect">
                                  <p:stCondLst>
                                    <p:cond delay="800"/>
                                  </p:stCondLst>
                                  <p:childTnLst>
                                    <p:set>
                                      <p:cBhvr>
                                        <p:cTn id="58" dur="1" fill="hold">
                                          <p:stCondLst>
                                            <p:cond delay="0"/>
                                          </p:stCondLst>
                                        </p:cTn>
                                        <p:tgtEl>
                                          <p:spTgt spid="16"/>
                                        </p:tgtEl>
                                        <p:attrNameLst>
                                          <p:attrName>style.visibility</p:attrName>
                                        </p:attrNameLst>
                                      </p:cBhvr>
                                      <p:to>
                                        <p:strVal val="visible"/>
                                      </p:to>
                                    </p:set>
                                    <p:anim calcmode="lin" valueType="num">
                                      <p:cBhvr additive="base">
                                        <p:cTn id="59" dur="550" fill="hold"/>
                                        <p:tgtEl>
                                          <p:spTgt spid="16"/>
                                        </p:tgtEl>
                                        <p:attrNameLst>
                                          <p:attrName>ppt_y</p:attrName>
                                        </p:attrNameLst>
                                      </p:cBhvr>
                                      <p:tavLst>
                                        <p:tav tm="0">
                                          <p:val>
                                            <p:strVal val="#ppt_y+.1"/>
                                          </p:val>
                                        </p:tav>
                                        <p:tav tm="100000">
                                          <p:val>
                                            <p:strVal val="#ppt_y"/>
                                          </p:val>
                                        </p:tav>
                                      </p:tavLst>
                                    </p:anim>
                                    <p:animEffect transition="in" filter="fade">
                                      <p:cBhvr>
                                        <p:cTn id="60" dur="550"/>
                                        <p:tgtEl>
                                          <p:spTgt spid="16"/>
                                        </p:tgtEl>
                                      </p:cBhvr>
                                    </p:animEffect>
                                  </p:childTnLst>
                                </p:cTn>
                              </p:par>
                              <p:par>
                                <p:cTn id="61" presetID="42" presetClass="entr" presetSubtype="0" fill="hold" nodeType="withEffect">
                                  <p:stCondLst>
                                    <p:cond delay="800"/>
                                  </p:stCondLst>
                                  <p:childTnLst>
                                    <p:set>
                                      <p:cBhvr>
                                        <p:cTn id="62" dur="1" fill="hold">
                                          <p:stCondLst>
                                            <p:cond delay="0"/>
                                          </p:stCondLst>
                                        </p:cTn>
                                        <p:tgtEl>
                                          <p:spTgt spid="17"/>
                                        </p:tgtEl>
                                        <p:attrNameLst>
                                          <p:attrName>style.visibility</p:attrName>
                                        </p:attrNameLst>
                                      </p:cBhvr>
                                      <p:to>
                                        <p:strVal val="visible"/>
                                      </p:to>
                                    </p:set>
                                    <p:anim calcmode="lin" valueType="num">
                                      <p:cBhvr additive="base">
                                        <p:cTn id="63" dur="550" fill="hold"/>
                                        <p:tgtEl>
                                          <p:spTgt spid="17"/>
                                        </p:tgtEl>
                                        <p:attrNameLst>
                                          <p:attrName>ppt_y</p:attrName>
                                        </p:attrNameLst>
                                      </p:cBhvr>
                                      <p:tavLst>
                                        <p:tav tm="0">
                                          <p:val>
                                            <p:strVal val="#ppt_y+.1"/>
                                          </p:val>
                                        </p:tav>
                                        <p:tav tm="100000">
                                          <p:val>
                                            <p:strVal val="#ppt_y"/>
                                          </p:val>
                                        </p:tav>
                                      </p:tavLst>
                                    </p:anim>
                                    <p:animEffect transition="in" filter="fade">
                                      <p:cBhvr>
                                        <p:cTn id="64" dur="550"/>
                                        <p:tgtEl>
                                          <p:spTgt spid="17"/>
                                        </p:tgtEl>
                                      </p:cBhvr>
                                    </p:animEffect>
                                  </p:childTnLst>
                                </p:cTn>
                              </p:par>
                              <p:par>
                                <p:cTn id="65" presetID="42" presetClass="entr" presetSubtype="0" fill="hold" grpId="0" nodeType="withEffect">
                                  <p:stCondLst>
                                    <p:cond delay="800"/>
                                  </p:stCondLst>
                                  <p:childTnLst>
                                    <p:set>
                                      <p:cBhvr>
                                        <p:cTn id="66" dur="1" fill="hold">
                                          <p:stCondLst>
                                            <p:cond delay="0"/>
                                          </p:stCondLst>
                                        </p:cTn>
                                        <p:tgtEl>
                                          <p:spTgt spid="18"/>
                                        </p:tgtEl>
                                        <p:attrNameLst>
                                          <p:attrName>style.visibility</p:attrName>
                                        </p:attrNameLst>
                                      </p:cBhvr>
                                      <p:to>
                                        <p:strVal val="visible"/>
                                      </p:to>
                                    </p:set>
                                    <p:anim calcmode="lin" valueType="num">
                                      <p:cBhvr additive="base">
                                        <p:cTn id="67" dur="550" fill="hold"/>
                                        <p:tgtEl>
                                          <p:spTgt spid="18"/>
                                        </p:tgtEl>
                                        <p:attrNameLst>
                                          <p:attrName>ppt_y</p:attrName>
                                        </p:attrNameLst>
                                      </p:cBhvr>
                                      <p:tavLst>
                                        <p:tav tm="0">
                                          <p:val>
                                            <p:strVal val="#ppt_y+.1"/>
                                          </p:val>
                                        </p:tav>
                                        <p:tav tm="100000">
                                          <p:val>
                                            <p:strVal val="#ppt_y"/>
                                          </p:val>
                                        </p:tav>
                                      </p:tavLst>
                                    </p:anim>
                                    <p:animEffect transition="in" filter="fade">
                                      <p:cBhvr>
                                        <p:cTn id="68" dur="550"/>
                                        <p:tgtEl>
                                          <p:spTgt spid="18"/>
                                        </p:tgtEl>
                                      </p:cBhvr>
                                    </p:animEffect>
                                  </p:childTnLst>
                                </p:cTn>
                              </p:par>
                              <p:par>
                                <p:cTn id="69" presetID="42" presetClass="entr" presetSubtype="0" fill="hold" grpId="0" nodeType="withEffect">
                                  <p:stCondLst>
                                    <p:cond delay="800"/>
                                  </p:stCondLst>
                                  <p:childTnLst>
                                    <p:set>
                                      <p:cBhvr>
                                        <p:cTn id="70" dur="1" fill="hold">
                                          <p:stCondLst>
                                            <p:cond delay="0"/>
                                          </p:stCondLst>
                                        </p:cTn>
                                        <p:tgtEl>
                                          <p:spTgt spid="19"/>
                                        </p:tgtEl>
                                        <p:attrNameLst>
                                          <p:attrName>style.visibility</p:attrName>
                                        </p:attrNameLst>
                                      </p:cBhvr>
                                      <p:to>
                                        <p:strVal val="visible"/>
                                      </p:to>
                                    </p:set>
                                    <p:anim calcmode="lin" valueType="num">
                                      <p:cBhvr additive="base">
                                        <p:cTn id="71" dur="550" fill="hold"/>
                                        <p:tgtEl>
                                          <p:spTgt spid="19"/>
                                        </p:tgtEl>
                                        <p:attrNameLst>
                                          <p:attrName>ppt_y</p:attrName>
                                        </p:attrNameLst>
                                      </p:cBhvr>
                                      <p:tavLst>
                                        <p:tav tm="0">
                                          <p:val>
                                            <p:strVal val="#ppt_y+.1"/>
                                          </p:val>
                                        </p:tav>
                                        <p:tav tm="100000">
                                          <p:val>
                                            <p:strVal val="#ppt_y"/>
                                          </p:val>
                                        </p:tav>
                                      </p:tavLst>
                                    </p:anim>
                                    <p:animEffect transition="in" filter="fade">
                                      <p:cBhvr>
                                        <p:cTn id="72" dur="550"/>
                                        <p:tgtEl>
                                          <p:spTgt spid="19"/>
                                        </p:tgtEl>
                                      </p:cBhvr>
                                    </p:animEffect>
                                  </p:childTnLst>
                                </p:cTn>
                              </p:par>
                              <p:par>
                                <p:cTn id="73" presetID="42" presetClass="entr" presetSubtype="0" fill="hold" grpId="0" nodeType="withEffect">
                                  <p:stCondLst>
                                    <p:cond delay="1100"/>
                                  </p:stCondLst>
                                  <p:childTnLst>
                                    <p:set>
                                      <p:cBhvr>
                                        <p:cTn id="74" dur="1" fill="hold">
                                          <p:stCondLst>
                                            <p:cond delay="0"/>
                                          </p:stCondLst>
                                        </p:cTn>
                                        <p:tgtEl>
                                          <p:spTgt spid="20"/>
                                        </p:tgtEl>
                                        <p:attrNameLst>
                                          <p:attrName>style.visibility</p:attrName>
                                        </p:attrNameLst>
                                      </p:cBhvr>
                                      <p:to>
                                        <p:strVal val="visible"/>
                                      </p:to>
                                    </p:set>
                                    <p:anim calcmode="lin" valueType="num">
                                      <p:cBhvr additive="base">
                                        <p:cTn id="75" dur="550" fill="hold"/>
                                        <p:tgtEl>
                                          <p:spTgt spid="20"/>
                                        </p:tgtEl>
                                        <p:attrNameLst>
                                          <p:attrName>ppt_y</p:attrName>
                                        </p:attrNameLst>
                                      </p:cBhvr>
                                      <p:tavLst>
                                        <p:tav tm="0">
                                          <p:val>
                                            <p:strVal val="#ppt_y+.1"/>
                                          </p:val>
                                        </p:tav>
                                        <p:tav tm="100000">
                                          <p:val>
                                            <p:strVal val="#ppt_y"/>
                                          </p:val>
                                        </p:tav>
                                      </p:tavLst>
                                    </p:anim>
                                    <p:animEffect transition="in" filter="fade">
                                      <p:cBhvr>
                                        <p:cTn id="76" dur="550"/>
                                        <p:tgtEl>
                                          <p:spTgt spid="20"/>
                                        </p:tgtEl>
                                      </p:cBhvr>
                                    </p:animEffect>
                                  </p:childTnLst>
                                </p:cTn>
                              </p:par>
                              <p:par>
                                <p:cTn id="77" presetID="42" presetClass="entr" presetSubtype="0" fill="hold" grpId="0" nodeType="withEffect">
                                  <p:stCondLst>
                                    <p:cond delay="1100"/>
                                  </p:stCondLst>
                                  <p:childTnLst>
                                    <p:set>
                                      <p:cBhvr>
                                        <p:cTn id="78" dur="1" fill="hold">
                                          <p:stCondLst>
                                            <p:cond delay="0"/>
                                          </p:stCondLst>
                                        </p:cTn>
                                        <p:tgtEl>
                                          <p:spTgt spid="21"/>
                                        </p:tgtEl>
                                        <p:attrNameLst>
                                          <p:attrName>style.visibility</p:attrName>
                                        </p:attrNameLst>
                                      </p:cBhvr>
                                      <p:to>
                                        <p:strVal val="visible"/>
                                      </p:to>
                                    </p:set>
                                    <p:anim calcmode="lin" valueType="num">
                                      <p:cBhvr additive="base">
                                        <p:cTn id="79" dur="550" fill="hold"/>
                                        <p:tgtEl>
                                          <p:spTgt spid="21"/>
                                        </p:tgtEl>
                                        <p:attrNameLst>
                                          <p:attrName>ppt_y</p:attrName>
                                        </p:attrNameLst>
                                      </p:cBhvr>
                                      <p:tavLst>
                                        <p:tav tm="0">
                                          <p:val>
                                            <p:strVal val="#ppt_y+.1"/>
                                          </p:val>
                                        </p:tav>
                                        <p:tav tm="100000">
                                          <p:val>
                                            <p:strVal val="#ppt_y"/>
                                          </p:val>
                                        </p:tav>
                                      </p:tavLst>
                                    </p:anim>
                                    <p:animEffect transition="in" filter="fade">
                                      <p:cBhvr>
                                        <p:cTn id="80" dur="550"/>
                                        <p:tgtEl>
                                          <p:spTgt spid="21"/>
                                        </p:tgtEl>
                                      </p:cBhvr>
                                    </p:animEffect>
                                  </p:childTnLst>
                                </p:cTn>
                              </p:par>
                              <p:par>
                                <p:cTn id="81" presetID="42" presetClass="entr" presetSubtype="0" fill="hold" nodeType="withEffect">
                                  <p:stCondLst>
                                    <p:cond delay="1100"/>
                                  </p:stCondLst>
                                  <p:childTnLst>
                                    <p:set>
                                      <p:cBhvr>
                                        <p:cTn id="82" dur="1" fill="hold">
                                          <p:stCondLst>
                                            <p:cond delay="0"/>
                                          </p:stCondLst>
                                        </p:cTn>
                                        <p:tgtEl>
                                          <p:spTgt spid="22"/>
                                        </p:tgtEl>
                                        <p:attrNameLst>
                                          <p:attrName>style.visibility</p:attrName>
                                        </p:attrNameLst>
                                      </p:cBhvr>
                                      <p:to>
                                        <p:strVal val="visible"/>
                                      </p:to>
                                    </p:set>
                                    <p:anim calcmode="lin" valueType="num">
                                      <p:cBhvr additive="base">
                                        <p:cTn id="83" dur="550" fill="hold"/>
                                        <p:tgtEl>
                                          <p:spTgt spid="22"/>
                                        </p:tgtEl>
                                        <p:attrNameLst>
                                          <p:attrName>ppt_y</p:attrName>
                                        </p:attrNameLst>
                                      </p:cBhvr>
                                      <p:tavLst>
                                        <p:tav tm="0">
                                          <p:val>
                                            <p:strVal val="#ppt_y+.1"/>
                                          </p:val>
                                        </p:tav>
                                        <p:tav tm="100000">
                                          <p:val>
                                            <p:strVal val="#ppt_y"/>
                                          </p:val>
                                        </p:tav>
                                      </p:tavLst>
                                    </p:anim>
                                    <p:animEffect transition="in" filter="fade">
                                      <p:cBhvr>
                                        <p:cTn id="84" dur="550"/>
                                        <p:tgtEl>
                                          <p:spTgt spid="22"/>
                                        </p:tgtEl>
                                      </p:cBhvr>
                                    </p:animEffect>
                                  </p:childTnLst>
                                </p:cTn>
                              </p:par>
                              <p:par>
                                <p:cTn id="85" presetID="42" presetClass="entr" presetSubtype="0" fill="hold" grpId="0" nodeType="withEffect">
                                  <p:stCondLst>
                                    <p:cond delay="1100"/>
                                  </p:stCondLst>
                                  <p:childTnLst>
                                    <p:set>
                                      <p:cBhvr>
                                        <p:cTn id="86" dur="1" fill="hold">
                                          <p:stCondLst>
                                            <p:cond delay="0"/>
                                          </p:stCondLst>
                                        </p:cTn>
                                        <p:tgtEl>
                                          <p:spTgt spid="23"/>
                                        </p:tgtEl>
                                        <p:attrNameLst>
                                          <p:attrName>style.visibility</p:attrName>
                                        </p:attrNameLst>
                                      </p:cBhvr>
                                      <p:to>
                                        <p:strVal val="visible"/>
                                      </p:to>
                                    </p:set>
                                    <p:anim calcmode="lin" valueType="num">
                                      <p:cBhvr additive="base">
                                        <p:cTn id="87" dur="550" fill="hold"/>
                                        <p:tgtEl>
                                          <p:spTgt spid="23"/>
                                        </p:tgtEl>
                                        <p:attrNameLst>
                                          <p:attrName>ppt_y</p:attrName>
                                        </p:attrNameLst>
                                      </p:cBhvr>
                                      <p:tavLst>
                                        <p:tav tm="0">
                                          <p:val>
                                            <p:strVal val="#ppt_y+.1"/>
                                          </p:val>
                                        </p:tav>
                                        <p:tav tm="100000">
                                          <p:val>
                                            <p:strVal val="#ppt_y"/>
                                          </p:val>
                                        </p:tav>
                                      </p:tavLst>
                                    </p:anim>
                                    <p:animEffect transition="in" filter="fade">
                                      <p:cBhvr>
                                        <p:cTn id="88" dur="550"/>
                                        <p:tgtEl>
                                          <p:spTgt spid="23"/>
                                        </p:tgtEl>
                                      </p:cBhvr>
                                    </p:animEffect>
                                  </p:childTnLst>
                                </p:cTn>
                              </p:par>
                              <p:par>
                                <p:cTn id="89" presetID="42" presetClass="entr" presetSubtype="0" fill="hold" grpId="0" nodeType="withEffect">
                                  <p:stCondLst>
                                    <p:cond delay="1100"/>
                                  </p:stCondLst>
                                  <p:childTnLst>
                                    <p:set>
                                      <p:cBhvr>
                                        <p:cTn id="90" dur="1" fill="hold">
                                          <p:stCondLst>
                                            <p:cond delay="0"/>
                                          </p:stCondLst>
                                        </p:cTn>
                                        <p:tgtEl>
                                          <p:spTgt spid="24"/>
                                        </p:tgtEl>
                                        <p:attrNameLst>
                                          <p:attrName>style.visibility</p:attrName>
                                        </p:attrNameLst>
                                      </p:cBhvr>
                                      <p:to>
                                        <p:strVal val="visible"/>
                                      </p:to>
                                    </p:set>
                                    <p:anim calcmode="lin" valueType="num">
                                      <p:cBhvr additive="base">
                                        <p:cTn id="91" dur="550" fill="hold"/>
                                        <p:tgtEl>
                                          <p:spTgt spid="24"/>
                                        </p:tgtEl>
                                        <p:attrNameLst>
                                          <p:attrName>ppt_y</p:attrName>
                                        </p:attrNameLst>
                                      </p:cBhvr>
                                      <p:tavLst>
                                        <p:tav tm="0">
                                          <p:val>
                                            <p:strVal val="#ppt_y+.1"/>
                                          </p:val>
                                        </p:tav>
                                        <p:tav tm="100000">
                                          <p:val>
                                            <p:strVal val="#ppt_y"/>
                                          </p:val>
                                        </p:tav>
                                      </p:tavLst>
                                    </p:anim>
                                    <p:animEffect transition="in" filter="fade">
                                      <p:cBhvr>
                                        <p:cTn id="92" dur="550"/>
                                        <p:tgtEl>
                                          <p:spTgt spid="24"/>
                                        </p:tgtEl>
                                      </p:cBhvr>
                                    </p:animEffect>
                                  </p:childTnLst>
                                </p:cTn>
                              </p:par>
                              <p:par>
                                <p:cTn id="93" presetID="42" presetClass="entr" presetSubtype="0" fill="hold" grpId="0" nodeType="withEffect">
                                  <p:stCondLst>
                                    <p:cond delay="1400"/>
                                  </p:stCondLst>
                                  <p:childTnLst>
                                    <p:set>
                                      <p:cBhvr>
                                        <p:cTn id="94" dur="1" fill="hold">
                                          <p:stCondLst>
                                            <p:cond delay="0"/>
                                          </p:stCondLst>
                                        </p:cTn>
                                        <p:tgtEl>
                                          <p:spTgt spid="25"/>
                                        </p:tgtEl>
                                        <p:attrNameLst>
                                          <p:attrName>style.visibility</p:attrName>
                                        </p:attrNameLst>
                                      </p:cBhvr>
                                      <p:to>
                                        <p:strVal val="visible"/>
                                      </p:to>
                                    </p:set>
                                    <p:anim calcmode="lin" valueType="num">
                                      <p:cBhvr additive="base">
                                        <p:cTn id="95" dur="550" fill="hold"/>
                                        <p:tgtEl>
                                          <p:spTgt spid="25"/>
                                        </p:tgtEl>
                                        <p:attrNameLst>
                                          <p:attrName>ppt_y</p:attrName>
                                        </p:attrNameLst>
                                      </p:cBhvr>
                                      <p:tavLst>
                                        <p:tav tm="0">
                                          <p:val>
                                            <p:strVal val="#ppt_y+.1"/>
                                          </p:val>
                                        </p:tav>
                                        <p:tav tm="100000">
                                          <p:val>
                                            <p:strVal val="#ppt_y"/>
                                          </p:val>
                                        </p:tav>
                                      </p:tavLst>
                                    </p:anim>
                                    <p:animEffect transition="in" filter="fade">
                                      <p:cBhvr>
                                        <p:cTn id="96" dur="550"/>
                                        <p:tgtEl>
                                          <p:spTgt spid="25"/>
                                        </p:tgtEl>
                                      </p:cBhvr>
                                    </p:animEffect>
                                  </p:childTnLst>
                                </p:cTn>
                              </p:par>
                              <p:par>
                                <p:cTn id="97" presetID="42" presetClass="entr" presetSubtype="0" fill="hold" grpId="0" nodeType="withEffect">
                                  <p:stCondLst>
                                    <p:cond delay="1400"/>
                                  </p:stCondLst>
                                  <p:childTnLst>
                                    <p:set>
                                      <p:cBhvr>
                                        <p:cTn id="98" dur="1" fill="hold">
                                          <p:stCondLst>
                                            <p:cond delay="0"/>
                                          </p:stCondLst>
                                        </p:cTn>
                                        <p:tgtEl>
                                          <p:spTgt spid="26"/>
                                        </p:tgtEl>
                                        <p:attrNameLst>
                                          <p:attrName>style.visibility</p:attrName>
                                        </p:attrNameLst>
                                      </p:cBhvr>
                                      <p:to>
                                        <p:strVal val="visible"/>
                                      </p:to>
                                    </p:set>
                                    <p:anim calcmode="lin" valueType="num">
                                      <p:cBhvr additive="base">
                                        <p:cTn id="99" dur="550" fill="hold"/>
                                        <p:tgtEl>
                                          <p:spTgt spid="26"/>
                                        </p:tgtEl>
                                        <p:attrNameLst>
                                          <p:attrName>ppt_y</p:attrName>
                                        </p:attrNameLst>
                                      </p:cBhvr>
                                      <p:tavLst>
                                        <p:tav tm="0">
                                          <p:val>
                                            <p:strVal val="#ppt_y+.1"/>
                                          </p:val>
                                        </p:tav>
                                        <p:tav tm="100000">
                                          <p:val>
                                            <p:strVal val="#ppt_y"/>
                                          </p:val>
                                        </p:tav>
                                      </p:tavLst>
                                    </p:anim>
                                    <p:animEffect transition="in" filter="fade">
                                      <p:cBhvr>
                                        <p:cTn id="100" dur="550"/>
                                        <p:tgtEl>
                                          <p:spTgt spid="26"/>
                                        </p:tgtEl>
                                      </p:cBhvr>
                                    </p:animEffect>
                                  </p:childTnLst>
                                </p:cTn>
                              </p:par>
                              <p:par>
                                <p:cTn id="101" presetID="42" presetClass="entr" presetSubtype="0" fill="hold" nodeType="withEffect">
                                  <p:stCondLst>
                                    <p:cond delay="1400"/>
                                  </p:stCondLst>
                                  <p:childTnLst>
                                    <p:set>
                                      <p:cBhvr>
                                        <p:cTn id="102" dur="1" fill="hold">
                                          <p:stCondLst>
                                            <p:cond delay="0"/>
                                          </p:stCondLst>
                                        </p:cTn>
                                        <p:tgtEl>
                                          <p:spTgt spid="27"/>
                                        </p:tgtEl>
                                        <p:attrNameLst>
                                          <p:attrName>style.visibility</p:attrName>
                                        </p:attrNameLst>
                                      </p:cBhvr>
                                      <p:to>
                                        <p:strVal val="visible"/>
                                      </p:to>
                                    </p:set>
                                    <p:anim calcmode="lin" valueType="num">
                                      <p:cBhvr additive="base">
                                        <p:cTn id="103" dur="550" fill="hold"/>
                                        <p:tgtEl>
                                          <p:spTgt spid="27"/>
                                        </p:tgtEl>
                                        <p:attrNameLst>
                                          <p:attrName>ppt_y</p:attrName>
                                        </p:attrNameLst>
                                      </p:cBhvr>
                                      <p:tavLst>
                                        <p:tav tm="0">
                                          <p:val>
                                            <p:strVal val="#ppt_y+.1"/>
                                          </p:val>
                                        </p:tav>
                                        <p:tav tm="100000">
                                          <p:val>
                                            <p:strVal val="#ppt_y"/>
                                          </p:val>
                                        </p:tav>
                                      </p:tavLst>
                                    </p:anim>
                                    <p:animEffect transition="in" filter="fade">
                                      <p:cBhvr>
                                        <p:cTn id="104" dur="550"/>
                                        <p:tgtEl>
                                          <p:spTgt spid="27"/>
                                        </p:tgtEl>
                                      </p:cBhvr>
                                    </p:animEffect>
                                  </p:childTnLst>
                                </p:cTn>
                              </p:par>
                              <p:par>
                                <p:cTn id="105" presetID="42" presetClass="entr" presetSubtype="0" fill="hold" grpId="0" nodeType="withEffect">
                                  <p:stCondLst>
                                    <p:cond delay="1400"/>
                                  </p:stCondLst>
                                  <p:childTnLst>
                                    <p:set>
                                      <p:cBhvr>
                                        <p:cTn id="106" dur="1" fill="hold">
                                          <p:stCondLst>
                                            <p:cond delay="0"/>
                                          </p:stCondLst>
                                        </p:cTn>
                                        <p:tgtEl>
                                          <p:spTgt spid="28"/>
                                        </p:tgtEl>
                                        <p:attrNameLst>
                                          <p:attrName>style.visibility</p:attrName>
                                        </p:attrNameLst>
                                      </p:cBhvr>
                                      <p:to>
                                        <p:strVal val="visible"/>
                                      </p:to>
                                    </p:set>
                                    <p:anim calcmode="lin" valueType="num">
                                      <p:cBhvr additive="base">
                                        <p:cTn id="107" dur="550" fill="hold"/>
                                        <p:tgtEl>
                                          <p:spTgt spid="28"/>
                                        </p:tgtEl>
                                        <p:attrNameLst>
                                          <p:attrName>ppt_y</p:attrName>
                                        </p:attrNameLst>
                                      </p:cBhvr>
                                      <p:tavLst>
                                        <p:tav tm="0">
                                          <p:val>
                                            <p:strVal val="#ppt_y+.1"/>
                                          </p:val>
                                        </p:tav>
                                        <p:tav tm="100000">
                                          <p:val>
                                            <p:strVal val="#ppt_y"/>
                                          </p:val>
                                        </p:tav>
                                      </p:tavLst>
                                    </p:anim>
                                    <p:animEffect transition="in" filter="fade">
                                      <p:cBhvr>
                                        <p:cTn id="108" dur="550"/>
                                        <p:tgtEl>
                                          <p:spTgt spid="28"/>
                                        </p:tgtEl>
                                      </p:cBhvr>
                                    </p:animEffect>
                                  </p:childTnLst>
                                </p:cTn>
                              </p:par>
                              <p:par>
                                <p:cTn id="109" presetID="42" presetClass="entr" presetSubtype="0" fill="hold" grpId="0" nodeType="withEffect">
                                  <p:stCondLst>
                                    <p:cond delay="1400"/>
                                  </p:stCondLst>
                                  <p:childTnLst>
                                    <p:set>
                                      <p:cBhvr>
                                        <p:cTn id="110" dur="1" fill="hold">
                                          <p:stCondLst>
                                            <p:cond delay="0"/>
                                          </p:stCondLst>
                                        </p:cTn>
                                        <p:tgtEl>
                                          <p:spTgt spid="29"/>
                                        </p:tgtEl>
                                        <p:attrNameLst>
                                          <p:attrName>style.visibility</p:attrName>
                                        </p:attrNameLst>
                                      </p:cBhvr>
                                      <p:to>
                                        <p:strVal val="visible"/>
                                      </p:to>
                                    </p:set>
                                    <p:anim calcmode="lin" valueType="num">
                                      <p:cBhvr additive="base">
                                        <p:cTn id="111" dur="550" fill="hold"/>
                                        <p:tgtEl>
                                          <p:spTgt spid="29"/>
                                        </p:tgtEl>
                                        <p:attrNameLst>
                                          <p:attrName>ppt_y</p:attrName>
                                        </p:attrNameLst>
                                      </p:cBhvr>
                                      <p:tavLst>
                                        <p:tav tm="0">
                                          <p:val>
                                            <p:strVal val="#ppt_y+.1"/>
                                          </p:val>
                                        </p:tav>
                                        <p:tav tm="100000">
                                          <p:val>
                                            <p:strVal val="#ppt_y"/>
                                          </p:val>
                                        </p:tav>
                                      </p:tavLst>
                                    </p:anim>
                                    <p:animEffect transition="in" filter="fade">
                                      <p:cBhvr>
                                        <p:cTn id="112" dur="550"/>
                                        <p:tgtEl>
                                          <p:spTgt spid="29"/>
                                        </p:tgtEl>
                                      </p:cBhvr>
                                    </p:animEffect>
                                  </p:childTnLst>
                                </p:cTn>
                              </p:par>
                              <p:par>
                                <p:cTn id="113" presetID="42" presetClass="entr" presetSubtype="0" fill="hold" grpId="0" nodeType="withEffect">
                                  <p:stCondLst>
                                    <p:cond delay="1700"/>
                                  </p:stCondLst>
                                  <p:childTnLst>
                                    <p:set>
                                      <p:cBhvr>
                                        <p:cTn id="114" dur="1" fill="hold">
                                          <p:stCondLst>
                                            <p:cond delay="0"/>
                                          </p:stCondLst>
                                        </p:cTn>
                                        <p:tgtEl>
                                          <p:spTgt spid="30"/>
                                        </p:tgtEl>
                                        <p:attrNameLst>
                                          <p:attrName>style.visibility</p:attrName>
                                        </p:attrNameLst>
                                      </p:cBhvr>
                                      <p:to>
                                        <p:strVal val="visible"/>
                                      </p:to>
                                    </p:set>
                                    <p:anim calcmode="lin" valueType="num">
                                      <p:cBhvr additive="base">
                                        <p:cTn id="115" dur="550" fill="hold"/>
                                        <p:tgtEl>
                                          <p:spTgt spid="30"/>
                                        </p:tgtEl>
                                        <p:attrNameLst>
                                          <p:attrName>ppt_y</p:attrName>
                                        </p:attrNameLst>
                                      </p:cBhvr>
                                      <p:tavLst>
                                        <p:tav tm="0">
                                          <p:val>
                                            <p:strVal val="#ppt_y+.1"/>
                                          </p:val>
                                        </p:tav>
                                        <p:tav tm="100000">
                                          <p:val>
                                            <p:strVal val="#ppt_y"/>
                                          </p:val>
                                        </p:tav>
                                      </p:tavLst>
                                    </p:anim>
                                    <p:animEffect transition="in" filter="fade">
                                      <p:cBhvr>
                                        <p:cTn id="116" dur="550"/>
                                        <p:tgtEl>
                                          <p:spTgt spid="30"/>
                                        </p:tgtEl>
                                      </p:cBhvr>
                                    </p:animEffect>
                                  </p:childTnLst>
                                </p:cTn>
                              </p:par>
                              <p:par>
                                <p:cTn id="117" presetID="42" presetClass="entr" presetSubtype="0" fill="hold" grpId="0" nodeType="withEffect">
                                  <p:stCondLst>
                                    <p:cond delay="1700"/>
                                  </p:stCondLst>
                                  <p:childTnLst>
                                    <p:set>
                                      <p:cBhvr>
                                        <p:cTn id="118" dur="1" fill="hold">
                                          <p:stCondLst>
                                            <p:cond delay="0"/>
                                          </p:stCondLst>
                                        </p:cTn>
                                        <p:tgtEl>
                                          <p:spTgt spid="31"/>
                                        </p:tgtEl>
                                        <p:attrNameLst>
                                          <p:attrName>style.visibility</p:attrName>
                                        </p:attrNameLst>
                                      </p:cBhvr>
                                      <p:to>
                                        <p:strVal val="visible"/>
                                      </p:to>
                                    </p:set>
                                    <p:anim calcmode="lin" valueType="num">
                                      <p:cBhvr additive="base">
                                        <p:cTn id="119" dur="550" fill="hold"/>
                                        <p:tgtEl>
                                          <p:spTgt spid="31"/>
                                        </p:tgtEl>
                                        <p:attrNameLst>
                                          <p:attrName>ppt_y</p:attrName>
                                        </p:attrNameLst>
                                      </p:cBhvr>
                                      <p:tavLst>
                                        <p:tav tm="0">
                                          <p:val>
                                            <p:strVal val="#ppt_y+.1"/>
                                          </p:val>
                                        </p:tav>
                                        <p:tav tm="100000">
                                          <p:val>
                                            <p:strVal val="#ppt_y"/>
                                          </p:val>
                                        </p:tav>
                                      </p:tavLst>
                                    </p:anim>
                                    <p:animEffect transition="in" filter="fade">
                                      <p:cBhvr>
                                        <p:cTn id="120" dur="550"/>
                                        <p:tgtEl>
                                          <p:spTgt spid="31"/>
                                        </p:tgtEl>
                                      </p:cBhvr>
                                    </p:animEffect>
                                  </p:childTnLst>
                                </p:cTn>
                              </p:par>
                              <p:par>
                                <p:cTn id="121" presetID="42" presetClass="entr" presetSubtype="0" fill="hold" nodeType="withEffect">
                                  <p:stCondLst>
                                    <p:cond delay="1700"/>
                                  </p:stCondLst>
                                  <p:childTnLst>
                                    <p:set>
                                      <p:cBhvr>
                                        <p:cTn id="122" dur="1" fill="hold">
                                          <p:stCondLst>
                                            <p:cond delay="0"/>
                                          </p:stCondLst>
                                        </p:cTn>
                                        <p:tgtEl>
                                          <p:spTgt spid="32"/>
                                        </p:tgtEl>
                                        <p:attrNameLst>
                                          <p:attrName>style.visibility</p:attrName>
                                        </p:attrNameLst>
                                      </p:cBhvr>
                                      <p:to>
                                        <p:strVal val="visible"/>
                                      </p:to>
                                    </p:set>
                                    <p:anim calcmode="lin" valueType="num">
                                      <p:cBhvr additive="base">
                                        <p:cTn id="123" dur="550" fill="hold"/>
                                        <p:tgtEl>
                                          <p:spTgt spid="32"/>
                                        </p:tgtEl>
                                        <p:attrNameLst>
                                          <p:attrName>ppt_y</p:attrName>
                                        </p:attrNameLst>
                                      </p:cBhvr>
                                      <p:tavLst>
                                        <p:tav tm="0">
                                          <p:val>
                                            <p:strVal val="#ppt_y+.1"/>
                                          </p:val>
                                        </p:tav>
                                        <p:tav tm="100000">
                                          <p:val>
                                            <p:strVal val="#ppt_y"/>
                                          </p:val>
                                        </p:tav>
                                      </p:tavLst>
                                    </p:anim>
                                    <p:animEffect transition="in" filter="fade">
                                      <p:cBhvr>
                                        <p:cTn id="124" dur="550"/>
                                        <p:tgtEl>
                                          <p:spTgt spid="32"/>
                                        </p:tgtEl>
                                      </p:cBhvr>
                                    </p:animEffect>
                                  </p:childTnLst>
                                </p:cTn>
                              </p:par>
                              <p:par>
                                <p:cTn id="125" presetID="42" presetClass="entr" presetSubtype="0" fill="hold" grpId="0" nodeType="withEffect">
                                  <p:stCondLst>
                                    <p:cond delay="1700"/>
                                  </p:stCondLst>
                                  <p:childTnLst>
                                    <p:set>
                                      <p:cBhvr>
                                        <p:cTn id="126" dur="1" fill="hold">
                                          <p:stCondLst>
                                            <p:cond delay="0"/>
                                          </p:stCondLst>
                                        </p:cTn>
                                        <p:tgtEl>
                                          <p:spTgt spid="33"/>
                                        </p:tgtEl>
                                        <p:attrNameLst>
                                          <p:attrName>style.visibility</p:attrName>
                                        </p:attrNameLst>
                                      </p:cBhvr>
                                      <p:to>
                                        <p:strVal val="visible"/>
                                      </p:to>
                                    </p:set>
                                    <p:anim calcmode="lin" valueType="num">
                                      <p:cBhvr additive="base">
                                        <p:cTn id="127" dur="550" fill="hold"/>
                                        <p:tgtEl>
                                          <p:spTgt spid="33"/>
                                        </p:tgtEl>
                                        <p:attrNameLst>
                                          <p:attrName>ppt_y</p:attrName>
                                        </p:attrNameLst>
                                      </p:cBhvr>
                                      <p:tavLst>
                                        <p:tav tm="0">
                                          <p:val>
                                            <p:strVal val="#ppt_y+.1"/>
                                          </p:val>
                                        </p:tav>
                                        <p:tav tm="100000">
                                          <p:val>
                                            <p:strVal val="#ppt_y"/>
                                          </p:val>
                                        </p:tav>
                                      </p:tavLst>
                                    </p:anim>
                                    <p:animEffect transition="in" filter="fade">
                                      <p:cBhvr>
                                        <p:cTn id="128" dur="550"/>
                                        <p:tgtEl>
                                          <p:spTgt spid="33"/>
                                        </p:tgtEl>
                                      </p:cBhvr>
                                    </p:animEffect>
                                  </p:childTnLst>
                                </p:cTn>
                              </p:par>
                              <p:par>
                                <p:cTn id="129" presetID="42" presetClass="entr" presetSubtype="0" fill="hold" grpId="0" nodeType="withEffect">
                                  <p:stCondLst>
                                    <p:cond delay="1700"/>
                                  </p:stCondLst>
                                  <p:childTnLst>
                                    <p:set>
                                      <p:cBhvr>
                                        <p:cTn id="130" dur="1" fill="hold">
                                          <p:stCondLst>
                                            <p:cond delay="0"/>
                                          </p:stCondLst>
                                        </p:cTn>
                                        <p:tgtEl>
                                          <p:spTgt spid="34"/>
                                        </p:tgtEl>
                                        <p:attrNameLst>
                                          <p:attrName>style.visibility</p:attrName>
                                        </p:attrNameLst>
                                      </p:cBhvr>
                                      <p:to>
                                        <p:strVal val="visible"/>
                                      </p:to>
                                    </p:set>
                                    <p:anim calcmode="lin" valueType="num">
                                      <p:cBhvr additive="base">
                                        <p:cTn id="131" dur="550" fill="hold"/>
                                        <p:tgtEl>
                                          <p:spTgt spid="34"/>
                                        </p:tgtEl>
                                        <p:attrNameLst>
                                          <p:attrName>ppt_y</p:attrName>
                                        </p:attrNameLst>
                                      </p:cBhvr>
                                      <p:tavLst>
                                        <p:tav tm="0">
                                          <p:val>
                                            <p:strVal val="#ppt_y+.1"/>
                                          </p:val>
                                        </p:tav>
                                        <p:tav tm="100000">
                                          <p:val>
                                            <p:strVal val="#ppt_y"/>
                                          </p:val>
                                        </p:tav>
                                      </p:tavLst>
                                    </p:anim>
                                    <p:animEffect transition="in" filter="fade">
                                      <p:cBhvr>
                                        <p:cTn id="132" dur="550"/>
                                        <p:tgtEl>
                                          <p:spTgt spid="34"/>
                                        </p:tgtEl>
                                      </p:cBhvr>
                                    </p:animEffect>
                                  </p:childTnLst>
                                </p:cTn>
                              </p:par>
                              <p:par>
                                <p:cTn id="133" presetID="22" presetClass="entr" presetSubtype="8" fill="hold" grpId="0" nodeType="withEffect">
                                  <p:stCondLst>
                                    <p:cond delay="600"/>
                                  </p:stCondLst>
                                  <p:childTnLst>
                                    <p:set>
                                      <p:cBhvr>
                                        <p:cTn id="134" dur="1" fill="hold">
                                          <p:stCondLst>
                                            <p:cond delay="0"/>
                                          </p:stCondLst>
                                        </p:cTn>
                                        <p:tgtEl>
                                          <p:spTgt spid="42"/>
                                        </p:tgtEl>
                                        <p:attrNameLst>
                                          <p:attrName>style.visibility</p:attrName>
                                        </p:attrNameLst>
                                      </p:cBhvr>
                                      <p:to>
                                        <p:strVal val="visible"/>
                                      </p:to>
                                    </p:set>
                                    <p:animEffect transition="in" filter="wipe(left)">
                                      <p:cBhvr>
                                        <p:cTn id="135" dur="1100"/>
                                        <p:tgtEl>
                                          <p:spTgt spid="42"/>
                                        </p:tgtEl>
                                      </p:cBhvr>
                                    </p:animEffect>
                                  </p:childTnLst>
                                </p:cTn>
                              </p:par>
                              <p:par>
                                <p:cTn id="137" presetID="0" presetClass="path" presetSubtype="0" fill="hold" accel="30000" decel="30000" nodeType="withEffect">
                                  <p:stCondLst>
                                    <p:cond delay="600"/>
                                  </p:stCondLst>
                                  <p:childTnLst>
                                    <p:animMotion origin="layout" path="M 0 0 L 0.02017 0 E" pathEditMode="relative" rAng="0" ptsTypes="AA">
                                      <p:cBhvr>
                                        <p:cTn id="136" dur="1100" fill="hold"/>
                                        <p:tgtEl>
                                          <p:spTgt spid="43"/>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animBg="1"/>
      <p:bldP spid="6" grpId="0" animBg="1"/>
      <p:bldP spid="8" grpId="0" animBg="1"/>
      <p:bldP spid="9" grpId="0" animBg="1"/>
      <p:bldP spid="10" grpId="0" animBg="1"/>
      <p:bldP spid="11" grpId="0" animBg="1"/>
      <p:bldP spid="13" grpId="0" animBg="1"/>
      <p:bldP spid="14" grpId="0" animBg="1"/>
      <p:bldP spid="15" grpId="0" animBg="1"/>
      <p:bldP spid="16" grpId="0" animBg="1"/>
      <p:bldP spid="18" grpId="0" animBg="1"/>
      <p:bldP spid="19" grpId="0" animBg="1"/>
      <p:bldP spid="20" grpId="0" animBg="1"/>
      <p:bldP spid="21" grpId="0" animBg="1"/>
      <p:bldP spid="23" grpId="0" animBg="1"/>
      <p:bldP spid="24" grpId="0" animBg="1"/>
      <p:bldP spid="25" grpId="0" animBg="1"/>
      <p:bldP spid="26" grpId="0" animBg="1"/>
      <p:bldP spid="28" grpId="0" animBg="1"/>
      <p:bldP spid="29" grpId="0" animBg="1"/>
      <p:bldP spid="30" grpId="0" animBg="1"/>
      <p:bldP spid="31" grpId="0" animBg="1"/>
      <p:bldP spid="33" grpId="0" animBg="1"/>
      <p:bldP spid="34" grpId="0" animBg="1"/>
      <p:bldP spid="4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05  ·  LANDING</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5" name="concl"/>
          <p:cNvSpPr txBox="1"/>
          <p:nvPr/>
        </p:nvSpPr>
        <p:spPr>
          <a:xfrm>
            <a:off x="548640" y="1783080"/>
            <a:ext cx="4937760" cy="2377440"/>
          </a:xfrm>
          <a:prstGeom prst="rect">
            <a:avLst/>
          </a:prstGeom>
          <a:noFill/>
          <a:ln/>
        </p:spPr>
        <p:txBody>
          <a:bodyPr wrap="square" lIns="0" tIns="0" rIns="0" bIns="0" rtlCol="0" anchor="t"/>
          <a:lstStyle/>
          <a:p>
            <a:pPr algn="l" indent="0" marL="0">
              <a:buNone/>
            </a:pPr>
            <a:r>
              <a:rPr lang="en-US" sz="3400" b="1" dirty="0">
                <a:solidFill>
                  <a:schemeClr val="bg1"/>
                </a:solidFill>
                <a:latin typeface="+mj-lt" pitchFamily="34" charset="0"/>
                <a:ea typeface="+mj-lt" pitchFamily="34" charset="-122"/>
                <a:cs typeface="+mj-lt" pitchFamily="34" charset="-120"/>
              </a:rPr>
              <a:t>SkyLens turns raw flight JSON into trustworthy, explorable insight.</a:t>
            </a:r>
            <a:endParaRPr lang="en-US" sz="3400" dirty="0"/>
          </a:p>
        </p:txBody>
      </p:sp>
      <p:sp>
        <p:nvSpPr>
          <p:cNvPr id="6" name="conclsub"/>
          <p:cNvSpPr txBox="1"/>
          <p:nvPr/>
        </p:nvSpPr>
        <p:spPr>
          <a:xfrm>
            <a:off x="548640" y="4251960"/>
            <a:ext cx="4754880" cy="822960"/>
          </a:xfrm>
          <a:prstGeom prst="rect">
            <a:avLst/>
          </a:prstGeom>
          <a:noFill/>
          <a:ln/>
        </p:spPr>
        <p:txBody>
          <a:bodyPr wrap="square" lIns="0" tIns="0" rIns="0" bIns="0" rtlCol="0" anchor="t"/>
          <a:lstStyle/>
          <a:p>
            <a:pPr algn="l" indent="0" marL="0">
              <a:buNone/>
            </a:pPr>
            <a:r>
              <a:rPr lang="en-US" sz="1800" i="1" dirty="0">
                <a:solidFill>
                  <a:schemeClr val="accent3"/>
                </a:solidFill>
              </a:rPr>
              <a:t>And it is honest about what the data cannot say.</a:t>
            </a:r>
            <a:endParaRPr lang="en-US" sz="1800" dirty="0"/>
          </a:p>
        </p:txBody>
      </p:sp>
      <p:sp>
        <p:nvSpPr>
          <p:cNvPr id="7" name="dn0c"/>
          <p:cNvSpPr/>
          <p:nvPr/>
        </p:nvSpPr>
        <p:spPr>
          <a:xfrm>
            <a:off x="5852160" y="1737360"/>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8" name="dn0b_c"/>
          <p:cNvSpPr/>
          <p:nvPr/>
        </p:nvSpPr>
        <p:spPr>
          <a:xfrm>
            <a:off x="6035040" y="1828800"/>
            <a:ext cx="457200" cy="457200"/>
          </a:xfrm>
          <a:prstGeom prst="ellipse">
            <a:avLst/>
          </a:prstGeom>
          <a:solidFill>
            <a:schemeClr val="accent6">
              <a:alpha val="45000"/>
            </a:schemeClr>
          </a:solidFill>
          <a:ln/>
        </p:spPr>
      </p:sp>
      <p:pic>
        <p:nvPicPr>
          <p:cNvPr id="9" name="dn0b_i" descr="LuCheck">    </p:cNvPr>
          <p:cNvPicPr>
            <a:picLocks noChangeAspect="1"/>
          </p:cNvPicPr>
          <p:nvPr/>
        </p:nvPicPr>
        <p:blipFill>
          <a:blip r:embed="rId1"/>
          <a:stretch>
            <a:fillRect/>
          </a:stretch>
        </p:blipFill>
        <p:spPr>
          <a:xfrm>
            <a:off x="6149340" y="1943100"/>
            <a:ext cx="228600" cy="228600"/>
          </a:xfrm>
          <a:prstGeom prst="rect">
            <a:avLst/>
          </a:prstGeom>
        </p:spPr>
      </p:pic>
      <p:sp>
        <p:nvSpPr>
          <p:cNvPr id="10" name="dn0t"/>
          <p:cNvSpPr txBox="1"/>
          <p:nvPr/>
        </p:nvSpPr>
        <p:spPr>
          <a:xfrm>
            <a:off x="6675120" y="1737360"/>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Retrieved real flights through a REST API</a:t>
            </a:r>
            <a:endParaRPr lang="en-US" sz="1600" dirty="0"/>
          </a:p>
        </p:txBody>
      </p:sp>
      <p:sp>
        <p:nvSpPr>
          <p:cNvPr id="11" name="dn1c"/>
          <p:cNvSpPr/>
          <p:nvPr/>
        </p:nvSpPr>
        <p:spPr>
          <a:xfrm>
            <a:off x="5852160" y="2487168"/>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12" name="dn1b_c"/>
          <p:cNvSpPr/>
          <p:nvPr/>
        </p:nvSpPr>
        <p:spPr>
          <a:xfrm>
            <a:off x="6035040" y="2578608"/>
            <a:ext cx="457200" cy="457200"/>
          </a:xfrm>
          <a:prstGeom prst="ellipse">
            <a:avLst/>
          </a:prstGeom>
          <a:solidFill>
            <a:schemeClr val="accent6">
              <a:alpha val="45000"/>
            </a:schemeClr>
          </a:solidFill>
          <a:ln/>
        </p:spPr>
      </p:sp>
      <p:pic>
        <p:nvPicPr>
          <p:cNvPr id="13" name="dn1b_i" descr="LuCheck">    </p:cNvPr>
          <p:cNvPicPr>
            <a:picLocks noChangeAspect="1"/>
          </p:cNvPicPr>
          <p:nvPr/>
        </p:nvPicPr>
        <p:blipFill>
          <a:blip r:embed="rId2"/>
          <a:stretch>
            <a:fillRect/>
          </a:stretch>
        </p:blipFill>
        <p:spPr>
          <a:xfrm>
            <a:off x="6149340" y="2692908"/>
            <a:ext cx="228600" cy="228600"/>
          </a:xfrm>
          <a:prstGeom prst="rect">
            <a:avLst/>
          </a:prstGeom>
        </p:spPr>
      </p:pic>
      <p:sp>
        <p:nvSpPr>
          <p:cNvPr id="14" name="dn1t"/>
          <p:cNvSpPr txBox="1"/>
          <p:nvPr/>
        </p:nvSpPr>
        <p:spPr>
          <a:xfrm>
            <a:off x="6675120" y="2487168"/>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Validated and cleaned every record</a:t>
            </a:r>
            <a:endParaRPr lang="en-US" sz="1600" dirty="0"/>
          </a:p>
        </p:txBody>
      </p:sp>
      <p:sp>
        <p:nvSpPr>
          <p:cNvPr id="15" name="dn2c"/>
          <p:cNvSpPr/>
          <p:nvPr/>
        </p:nvSpPr>
        <p:spPr>
          <a:xfrm>
            <a:off x="5852160" y="3236976"/>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16" name="dn2b_c"/>
          <p:cNvSpPr/>
          <p:nvPr/>
        </p:nvSpPr>
        <p:spPr>
          <a:xfrm>
            <a:off x="6035040" y="3328416"/>
            <a:ext cx="457200" cy="457200"/>
          </a:xfrm>
          <a:prstGeom prst="ellipse">
            <a:avLst/>
          </a:prstGeom>
          <a:solidFill>
            <a:schemeClr val="accent6">
              <a:alpha val="45000"/>
            </a:schemeClr>
          </a:solidFill>
          <a:ln/>
        </p:spPr>
      </p:sp>
      <p:pic>
        <p:nvPicPr>
          <p:cNvPr id="17" name="dn2b_i" descr="LuCheck">    </p:cNvPr>
          <p:cNvPicPr>
            <a:picLocks noChangeAspect="1"/>
          </p:cNvPicPr>
          <p:nvPr/>
        </p:nvPicPr>
        <p:blipFill>
          <a:blip r:embed="rId3"/>
          <a:stretch>
            <a:fillRect/>
          </a:stretch>
        </p:blipFill>
        <p:spPr>
          <a:xfrm>
            <a:off x="6149340" y="3442716"/>
            <a:ext cx="228600" cy="228600"/>
          </a:xfrm>
          <a:prstGeom prst="rect">
            <a:avLst/>
          </a:prstGeom>
        </p:spPr>
      </p:pic>
      <p:sp>
        <p:nvSpPr>
          <p:cNvPr id="18" name="dn2t"/>
          <p:cNvSpPr txBox="1"/>
          <p:nvPr/>
        </p:nvSpPr>
        <p:spPr>
          <a:xfrm>
            <a:off x="6675120" y="3236976"/>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Persisted data in SQLite without duplicates</a:t>
            </a:r>
            <a:endParaRPr lang="en-US" sz="1600" dirty="0"/>
          </a:p>
        </p:txBody>
      </p:sp>
      <p:sp>
        <p:nvSpPr>
          <p:cNvPr id="19" name="dn3c"/>
          <p:cNvSpPr/>
          <p:nvPr/>
        </p:nvSpPr>
        <p:spPr>
          <a:xfrm>
            <a:off x="5852160" y="3986784"/>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20" name="dn3b_c"/>
          <p:cNvSpPr/>
          <p:nvPr/>
        </p:nvSpPr>
        <p:spPr>
          <a:xfrm>
            <a:off x="6035040" y="4078224"/>
            <a:ext cx="457200" cy="457200"/>
          </a:xfrm>
          <a:prstGeom prst="ellipse">
            <a:avLst/>
          </a:prstGeom>
          <a:solidFill>
            <a:schemeClr val="accent6">
              <a:alpha val="45000"/>
            </a:schemeClr>
          </a:solidFill>
          <a:ln/>
        </p:spPr>
      </p:sp>
      <p:pic>
        <p:nvPicPr>
          <p:cNvPr id="21" name="dn3b_i" descr="LuCheck">    </p:cNvPr>
          <p:cNvPicPr>
            <a:picLocks noChangeAspect="1"/>
          </p:cNvPicPr>
          <p:nvPr/>
        </p:nvPicPr>
        <p:blipFill>
          <a:blip r:embed="rId4"/>
          <a:stretch>
            <a:fillRect/>
          </a:stretch>
        </p:blipFill>
        <p:spPr>
          <a:xfrm>
            <a:off x="6149340" y="4192524"/>
            <a:ext cx="228600" cy="228600"/>
          </a:xfrm>
          <a:prstGeom prst="rect">
            <a:avLst/>
          </a:prstGeom>
        </p:spPr>
      </p:pic>
      <p:sp>
        <p:nvSpPr>
          <p:cNvPr id="22" name="dn3t"/>
          <p:cNvSpPr txBox="1"/>
          <p:nvPr/>
        </p:nvSpPr>
        <p:spPr>
          <a:xfrm>
            <a:off x="6675120" y="3986784"/>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Analysed airlines, airports, routes and delays</a:t>
            </a:r>
            <a:endParaRPr lang="en-US" sz="1600" dirty="0"/>
          </a:p>
        </p:txBody>
      </p:sp>
      <p:sp>
        <p:nvSpPr>
          <p:cNvPr id="23" name="dn4c"/>
          <p:cNvSpPr/>
          <p:nvPr/>
        </p:nvSpPr>
        <p:spPr>
          <a:xfrm>
            <a:off x="5852160" y="4736592"/>
            <a:ext cx="5788152" cy="640080"/>
          </a:xfrm>
          <a:prstGeom prst="roundRect">
            <a:avLst>
              <a:gd name="adj" fmla="val 17143"/>
            </a:avLst>
          </a:prstGeom>
          <a:solidFill>
            <a:schemeClr val="bg1">
              <a:alpha val="9000"/>
            </a:schemeClr>
          </a:solidFill>
          <a:ln w="9525">
            <a:solidFill>
              <a:schemeClr val="bg1">
                <a:alpha val="22000"/>
              </a:schemeClr>
            </a:solidFill>
            <a:prstDash val="solid"/>
          </a:ln>
        </p:spPr>
      </p:sp>
      <p:sp>
        <p:nvSpPr>
          <p:cNvPr id="24" name="dn4b_c"/>
          <p:cNvSpPr/>
          <p:nvPr/>
        </p:nvSpPr>
        <p:spPr>
          <a:xfrm>
            <a:off x="6035040" y="4828032"/>
            <a:ext cx="457200" cy="457200"/>
          </a:xfrm>
          <a:prstGeom prst="ellipse">
            <a:avLst/>
          </a:prstGeom>
          <a:solidFill>
            <a:schemeClr val="accent6">
              <a:alpha val="45000"/>
            </a:schemeClr>
          </a:solidFill>
          <a:ln/>
        </p:spPr>
      </p:sp>
      <p:pic>
        <p:nvPicPr>
          <p:cNvPr id="25" name="dn4b_i" descr="LuCheck">    </p:cNvPr>
          <p:cNvPicPr>
            <a:picLocks noChangeAspect="1"/>
          </p:cNvPicPr>
          <p:nvPr/>
        </p:nvPicPr>
        <p:blipFill>
          <a:blip r:embed="rId5"/>
          <a:stretch>
            <a:fillRect/>
          </a:stretch>
        </p:blipFill>
        <p:spPr>
          <a:xfrm>
            <a:off x="6149340" y="4942332"/>
            <a:ext cx="228600" cy="228600"/>
          </a:xfrm>
          <a:prstGeom prst="rect">
            <a:avLst/>
          </a:prstGeom>
        </p:spPr>
      </p:pic>
      <p:sp>
        <p:nvSpPr>
          <p:cNvPr id="26" name="dn4t"/>
          <p:cNvSpPr txBox="1"/>
          <p:nvPr/>
        </p:nvSpPr>
        <p:spPr>
          <a:xfrm>
            <a:off x="6675120" y="4736592"/>
            <a:ext cx="4846320" cy="640080"/>
          </a:xfrm>
          <a:prstGeom prst="rect">
            <a:avLst/>
          </a:prstGeom>
          <a:noFill/>
          <a:ln/>
        </p:spPr>
        <p:txBody>
          <a:bodyPr wrap="square" lIns="0" tIns="0" rIns="0" bIns="0" rtlCol="0" anchor="ctr"/>
          <a:lstStyle/>
          <a:p>
            <a:pPr algn="l" indent="0" marL="0">
              <a:buNone/>
            </a:pPr>
            <a:r>
              <a:rPr lang="en-US" sz="1600" dirty="0">
                <a:solidFill>
                  <a:schemeClr val="bg1"/>
                </a:solidFill>
              </a:rPr>
              <a:t>Delivered a terminal app and a desktop GUI</a:t>
            </a:r>
            <a:endParaRPr lang="en-US" sz="1600" dirty="0"/>
          </a:p>
        </p:txBody>
      </p:sp>
      <p:sp>
        <p:nvSpPr>
          <p:cNvPr id="27" name="proof"/>
          <p:cNvSpPr txBox="1"/>
          <p:nvPr/>
        </p:nvSpPr>
        <p:spPr>
          <a:xfrm>
            <a:off x="5852160" y="5532120"/>
            <a:ext cx="5788152" cy="548640"/>
          </a:xfrm>
          <a:prstGeom prst="roundRect">
            <a:avLst>
              <a:gd name="adj" fmla="val 20000"/>
            </a:avLst>
          </a:prstGeom>
          <a:solidFill>
            <a:schemeClr val="accent6">
              <a:alpha val="12000"/>
            </a:schemeClr>
          </a:solidFill>
          <a:ln w="9525">
            <a:solidFill>
              <a:schemeClr val="accent6">
                <a:alpha val="50000"/>
              </a:schemeClr>
            </a:solidFill>
          </a:ln>
        </p:spPr>
        <p:txBody>
          <a:bodyPr wrap="square" lIns="127000" tIns="152400" rIns="152400" bIns="127000" rtlCol="0" anchor="ctr"/>
          <a:lstStyle/>
          <a:p>
            <a:pPr algn="l" indent="0" marL="0">
              <a:buNone/>
            </a:pPr>
            <a:r>
              <a:rPr lang="en-US" sz="1500" b="1" dirty="0">
                <a:solidFill>
                  <a:schemeClr val="accent6"/>
                </a:solidFill>
              </a:rPr>
              <a:t>65 of 65 tests pass</a:t>
            </a:r>
            <a:pPr algn="l" indent="0" marL="0">
              <a:buNone/>
            </a:pPr>
            <a:r>
              <a:rPr lang="en-US" sz="1500" dirty="0">
                <a:solidFill>
                  <a:schemeClr val="bg1"/>
                </a:solidFill>
              </a:rPr>
              <a:t>  ·  133 flights  ·  76 airports  ·  0 duplicates</a:t>
            </a:r>
            <a:endParaRPr lang="en-US" sz="1500" dirty="0"/>
          </a:p>
        </p:txBody>
      </p:sp>
      <p:sp>
        <p:nvSpPr>
          <p:cNvPr id="28" name="track"/>
          <p:cNvSpPr/>
          <p:nvPr/>
        </p:nvSpPr>
        <p:spPr>
          <a:xfrm>
            <a:off x="3383280" y="6510528"/>
            <a:ext cx="7132320" cy="0"/>
          </a:xfrm>
          <a:prstGeom prst="line">
            <a:avLst/>
          </a:prstGeom>
          <a:noFill/>
          <a:ln w="12700">
            <a:solidFill>
              <a:schemeClr val="bg2">
                <a:alpha val="45000"/>
              </a:schemeClr>
            </a:solidFill>
            <a:prstDash val="dash"/>
          </a:ln>
        </p:spPr>
      </p:sp>
      <p:sp>
        <p:nvSpPr>
          <p:cNvPr id="29" name="progress"/>
          <p:cNvSpPr/>
          <p:nvPr/>
        </p:nvSpPr>
        <p:spPr>
          <a:xfrm>
            <a:off x="3383280" y="6510528"/>
            <a:ext cx="6394494" cy="0"/>
          </a:xfrm>
          <a:prstGeom prst="line">
            <a:avLst/>
          </a:prstGeom>
          <a:noFill/>
          <a:ln w="28575">
            <a:solidFill>
              <a:schemeClr val="accent2"/>
            </a:solidFill>
            <a:prstDash val="solid"/>
          </a:ln>
        </p:spPr>
      </p:sp>
      <p:sp>
        <p:nvSpPr>
          <p:cNvPr id="30" name="wp0"/>
          <p:cNvSpPr/>
          <p:nvPr/>
        </p:nvSpPr>
        <p:spPr>
          <a:xfrm>
            <a:off x="3834016" y="6469380"/>
            <a:ext cx="82296" cy="82296"/>
          </a:xfrm>
          <a:prstGeom prst="ellipse">
            <a:avLst/>
          </a:prstGeom>
          <a:solidFill>
            <a:schemeClr val="accent2"/>
          </a:solidFill>
          <a:ln/>
        </p:spPr>
      </p:sp>
      <p:sp>
        <p:nvSpPr>
          <p:cNvPr id="31" name="wp1"/>
          <p:cNvSpPr/>
          <p:nvPr/>
        </p:nvSpPr>
        <p:spPr>
          <a:xfrm>
            <a:off x="4817784" y="6469380"/>
            <a:ext cx="82296" cy="82296"/>
          </a:xfrm>
          <a:prstGeom prst="ellipse">
            <a:avLst/>
          </a:prstGeom>
          <a:solidFill>
            <a:schemeClr val="accent2"/>
          </a:solidFill>
          <a:ln/>
        </p:spPr>
      </p:sp>
      <p:sp>
        <p:nvSpPr>
          <p:cNvPr id="32" name="wp2"/>
          <p:cNvSpPr/>
          <p:nvPr/>
        </p:nvSpPr>
        <p:spPr>
          <a:xfrm>
            <a:off x="7277205" y="6469380"/>
            <a:ext cx="82296" cy="82296"/>
          </a:xfrm>
          <a:prstGeom prst="ellipse">
            <a:avLst/>
          </a:prstGeom>
          <a:solidFill>
            <a:schemeClr val="accent2"/>
          </a:solidFill>
          <a:ln/>
        </p:spPr>
      </p:sp>
      <p:sp>
        <p:nvSpPr>
          <p:cNvPr id="33" name="wp3"/>
          <p:cNvSpPr/>
          <p:nvPr/>
        </p:nvSpPr>
        <p:spPr>
          <a:xfrm>
            <a:off x="8506915" y="6469380"/>
            <a:ext cx="82296" cy="82296"/>
          </a:xfrm>
          <a:prstGeom prst="ellipse">
            <a:avLst/>
          </a:prstGeom>
          <a:solidFill>
            <a:schemeClr val="accent2"/>
          </a:solidFill>
          <a:ln/>
        </p:spPr>
      </p:sp>
      <p:sp>
        <p:nvSpPr>
          <p:cNvPr id="34" name="wp4"/>
          <p:cNvSpPr/>
          <p:nvPr/>
        </p:nvSpPr>
        <p:spPr>
          <a:xfrm>
            <a:off x="9982568" y="6469380"/>
            <a:ext cx="82296" cy="82296"/>
          </a:xfrm>
          <a:prstGeom prst="ellipse">
            <a:avLst/>
          </a:prstGeom>
          <a:solidFill>
            <a:schemeClr val="accent2"/>
          </a:solidFill>
          <a:ln/>
        </p:spPr>
      </p:sp>
      <p:sp>
        <p:nvSpPr>
          <p:cNvPr id="35" name="progress_ext"/>
          <p:cNvSpPr/>
          <p:nvPr/>
        </p:nvSpPr>
        <p:spPr>
          <a:xfrm>
            <a:off x="9777774" y="6510528"/>
            <a:ext cx="245942" cy="0"/>
          </a:xfrm>
          <a:prstGeom prst="line">
            <a:avLst/>
          </a:prstGeom>
          <a:noFill/>
          <a:ln w="28575">
            <a:solidFill>
              <a:schemeClr val="accent2"/>
            </a:solidFill>
            <a:prstDash val="solid"/>
          </a:ln>
        </p:spPr>
      </p:sp>
      <p:pic>
        <p:nvPicPr>
          <p:cNvPr id="36" name="!!tracker" descr="Progress marker">    </p:cNvPr>
          <p:cNvPicPr>
            <a:picLocks noChangeAspect="1"/>
          </p:cNvPicPr>
          <p:nvPr/>
        </p:nvPicPr>
        <p:blipFill>
          <a:blip r:embed="rId6"/>
          <a:stretch>
            <a:fillRect/>
          </a:stretch>
        </p:blipFill>
        <p:spPr>
          <a:xfrm>
            <a:off x="9594894"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28</a:t>
            </a:fld>
            <a:endParaRPr lang="en-US"/>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42" presetClass="entr" presetSubtype="0" fill="hold" grpId="0" nodeType="afterEffect">
                                  <p:stCondLst>
                                    <p:cond delay="200"/>
                                  </p:stCondLst>
                                  <p:iterate type="wd">
                                    <p:tmPct val="10000"/>
                                  </p:iterate>
                                  <p:childTnLst>
                                    <p:set>
                                      <p:cBhvr>
                                        <p:cTn id="14" dur="1" fill="hold">
                                          <p:stCondLst>
                                            <p:cond delay="0"/>
                                          </p:stCondLst>
                                        </p:cTn>
                                        <p:tgtEl>
                                          <p:spTgt spid="5">
                                            <p:txEl>
                                              <p:pRg st="0" end="0"/>
                                            </p:txEl>
                                          </p:spTgt>
                                        </p:tgtEl>
                                        <p:attrNameLst>
                                          <p:attrName>style.visibility</p:attrName>
                                        </p:attrNameLst>
                                      </p:cBhvr>
                                      <p:to>
                                        <p:strVal val="visible"/>
                                      </p:to>
                                    </p:set>
                                    <p:anim calcmode="lin" valueType="num">
                                      <p:cBhvr additive="base">
                                        <p:cTn id="15" dur="900" fill="hold"/>
                                        <p:tgtEl>
                                          <p:spTgt spid="5">
                                            <p:txEl>
                                              <p:pRg st="0" end="0"/>
                                            </p:txEl>
                                          </p:spTgt>
                                        </p:tgtEl>
                                        <p:attrNameLst>
                                          <p:attrName>ppt_y</p:attrName>
                                        </p:attrNameLst>
                                      </p:cBhvr>
                                      <p:tavLst>
                                        <p:tav tm="0">
                                          <p:val>
                                            <p:strVal val="#ppt_y+.1"/>
                                          </p:val>
                                        </p:tav>
                                        <p:tav tm="100000">
                                          <p:val>
                                            <p:strVal val="#ppt_y"/>
                                          </p:val>
                                        </p:tav>
                                      </p:tavLst>
                                    </p:anim>
                                    <p:animEffect transition="in" filter="fade">
                                      <p:cBhvr>
                                        <p:cTn id="16" dur="900"/>
                                        <p:tgtEl>
                                          <p:spTgt spid="5">
                                            <p:txEl>
                                              <p:pRg st="0" end="0"/>
                                            </p:txEl>
                                          </p:spTgt>
                                        </p:tgtEl>
                                      </p:cBhvr>
                                    </p:animEffect>
                                  </p:childTnLst>
                                </p:cTn>
                              </p:par>
                              <p:par>
                                <p:cTn id="17" presetID="10" presetClass="entr" presetSubtype="0" fill="hold" grpId="0" nodeType="withEffect">
                                  <p:stCondLst>
                                    <p:cond delay="220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800"/>
                                        <p:tgtEl>
                                          <p:spTgt spid="6"/>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left)">
                                      <p:cBhvr>
                                        <p:cTn id="24" dur="500"/>
                                        <p:tgtEl>
                                          <p:spTgt spid="7"/>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500"/>
                                        <p:tgtEl>
                                          <p:spTgt spid="8"/>
                                        </p:tgtEl>
                                      </p:cBhvr>
                                    </p:animEffect>
                                  </p:childTnLst>
                                </p:cTn>
                              </p:par>
                              <p:par>
                                <p:cTn id="28" presetID="22" presetClass="entr" presetSubtype="8"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500"/>
                                        <p:tgtEl>
                                          <p:spTgt spid="9"/>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wipe(left)">
                                      <p:cBhvr>
                                        <p:cTn id="33" dur="500"/>
                                        <p:tgtEl>
                                          <p:spTgt spid="10"/>
                                        </p:tgtEl>
                                      </p:cBhvr>
                                    </p:animEffect>
                                  </p:childTnLst>
                                </p:cTn>
                              </p:par>
                              <p:par>
                                <p:cTn id="34" presetID="22" presetClass="entr" presetSubtype="8" fill="hold" grpId="0" nodeType="withEffect">
                                  <p:stCondLst>
                                    <p:cond delay="5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2" presetClass="entr" presetSubtype="8" fill="hold" grpId="0" nodeType="withEffect">
                                  <p:stCondLst>
                                    <p:cond delay="500"/>
                                  </p:stCondLst>
                                  <p:childTnLst>
                                    <p:set>
                                      <p:cBhvr>
                                        <p:cTn id="38" dur="1" fill="hold">
                                          <p:stCondLst>
                                            <p:cond delay="0"/>
                                          </p:stCondLst>
                                        </p:cTn>
                                        <p:tgtEl>
                                          <p:spTgt spid="12"/>
                                        </p:tgtEl>
                                        <p:attrNameLst>
                                          <p:attrName>style.visibility</p:attrName>
                                        </p:attrNameLst>
                                      </p:cBhvr>
                                      <p:to>
                                        <p:strVal val="visible"/>
                                      </p:to>
                                    </p:set>
                                    <p:animEffect transition="in" filter="wipe(left)">
                                      <p:cBhvr>
                                        <p:cTn id="39" dur="500"/>
                                        <p:tgtEl>
                                          <p:spTgt spid="12"/>
                                        </p:tgtEl>
                                      </p:cBhvr>
                                    </p:animEffect>
                                  </p:childTnLst>
                                </p:cTn>
                              </p:par>
                              <p:par>
                                <p:cTn id="40" presetID="22" presetClass="entr" presetSubtype="8" fill="hold" nodeType="withEffect">
                                  <p:stCondLst>
                                    <p:cond delay="50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par>
                                <p:cTn id="43" presetID="22" presetClass="entr" presetSubtype="8" fill="hold" grpId="0" nodeType="withEffect">
                                  <p:stCondLst>
                                    <p:cond delay="500"/>
                                  </p:stCondLst>
                                  <p:childTnLst>
                                    <p:set>
                                      <p:cBhvr>
                                        <p:cTn id="44" dur="1" fill="hold">
                                          <p:stCondLst>
                                            <p:cond delay="0"/>
                                          </p:stCondLst>
                                        </p:cTn>
                                        <p:tgtEl>
                                          <p:spTgt spid="14"/>
                                        </p:tgtEl>
                                        <p:attrNameLst>
                                          <p:attrName>style.visibility</p:attrName>
                                        </p:attrNameLst>
                                      </p:cBhvr>
                                      <p:to>
                                        <p:strVal val="visible"/>
                                      </p:to>
                                    </p:set>
                                    <p:animEffect transition="in" filter="wipe(left)">
                                      <p:cBhvr>
                                        <p:cTn id="45" dur="500"/>
                                        <p:tgtEl>
                                          <p:spTgt spid="14"/>
                                        </p:tgtEl>
                                      </p:cBhvr>
                                    </p:animEffect>
                                  </p:childTnLst>
                                </p:cTn>
                              </p:par>
                              <p:par>
                                <p:cTn id="46" presetID="22" presetClass="entr" presetSubtype="8" fill="hold" grpId="0" nodeType="withEffect">
                                  <p:stCondLst>
                                    <p:cond delay="1000"/>
                                  </p:stCondLst>
                                  <p:childTnLst>
                                    <p:set>
                                      <p:cBhvr>
                                        <p:cTn id="47" dur="1" fill="hold">
                                          <p:stCondLst>
                                            <p:cond delay="0"/>
                                          </p:stCondLst>
                                        </p:cTn>
                                        <p:tgtEl>
                                          <p:spTgt spid="15"/>
                                        </p:tgtEl>
                                        <p:attrNameLst>
                                          <p:attrName>style.visibility</p:attrName>
                                        </p:attrNameLst>
                                      </p:cBhvr>
                                      <p:to>
                                        <p:strVal val="visible"/>
                                      </p:to>
                                    </p:set>
                                    <p:animEffect transition="in" filter="wipe(left)">
                                      <p:cBhvr>
                                        <p:cTn id="48" dur="500"/>
                                        <p:tgtEl>
                                          <p:spTgt spid="15"/>
                                        </p:tgtEl>
                                      </p:cBhvr>
                                    </p:animEffect>
                                  </p:childTnLst>
                                </p:cTn>
                              </p:par>
                              <p:par>
                                <p:cTn id="49" presetID="22" presetClass="entr" presetSubtype="8" fill="hold" grpId="0" nodeType="withEffect">
                                  <p:stCondLst>
                                    <p:cond delay="1000"/>
                                  </p:stCondLst>
                                  <p:childTnLst>
                                    <p:set>
                                      <p:cBhvr>
                                        <p:cTn id="50" dur="1" fill="hold">
                                          <p:stCondLst>
                                            <p:cond delay="0"/>
                                          </p:stCondLst>
                                        </p:cTn>
                                        <p:tgtEl>
                                          <p:spTgt spid="16"/>
                                        </p:tgtEl>
                                        <p:attrNameLst>
                                          <p:attrName>style.visibility</p:attrName>
                                        </p:attrNameLst>
                                      </p:cBhvr>
                                      <p:to>
                                        <p:strVal val="visible"/>
                                      </p:to>
                                    </p:set>
                                    <p:animEffect transition="in" filter="wipe(left)">
                                      <p:cBhvr>
                                        <p:cTn id="51" dur="500"/>
                                        <p:tgtEl>
                                          <p:spTgt spid="16"/>
                                        </p:tgtEl>
                                      </p:cBhvr>
                                    </p:animEffect>
                                  </p:childTnLst>
                                </p:cTn>
                              </p:par>
                              <p:par>
                                <p:cTn id="52" presetID="22" presetClass="entr" presetSubtype="8" fill="hold" nodeType="withEffect">
                                  <p:stCondLst>
                                    <p:cond delay="1000"/>
                                  </p:stCondLst>
                                  <p:childTnLst>
                                    <p:set>
                                      <p:cBhvr>
                                        <p:cTn id="53" dur="1" fill="hold">
                                          <p:stCondLst>
                                            <p:cond delay="0"/>
                                          </p:stCondLst>
                                        </p:cTn>
                                        <p:tgtEl>
                                          <p:spTgt spid="17"/>
                                        </p:tgtEl>
                                        <p:attrNameLst>
                                          <p:attrName>style.visibility</p:attrName>
                                        </p:attrNameLst>
                                      </p:cBhvr>
                                      <p:to>
                                        <p:strVal val="visible"/>
                                      </p:to>
                                    </p:set>
                                    <p:animEffect transition="in" filter="wipe(left)">
                                      <p:cBhvr>
                                        <p:cTn id="54" dur="500"/>
                                        <p:tgtEl>
                                          <p:spTgt spid="17"/>
                                        </p:tgtEl>
                                      </p:cBhvr>
                                    </p:animEffect>
                                  </p:childTnLst>
                                </p:cTn>
                              </p:par>
                              <p:par>
                                <p:cTn id="55" presetID="22" presetClass="entr" presetSubtype="8" fill="hold" grpId="0" nodeType="withEffect">
                                  <p:stCondLst>
                                    <p:cond delay="1000"/>
                                  </p:stCondLst>
                                  <p:childTnLst>
                                    <p:set>
                                      <p:cBhvr>
                                        <p:cTn id="56" dur="1" fill="hold">
                                          <p:stCondLst>
                                            <p:cond delay="0"/>
                                          </p:stCondLst>
                                        </p:cTn>
                                        <p:tgtEl>
                                          <p:spTgt spid="18"/>
                                        </p:tgtEl>
                                        <p:attrNameLst>
                                          <p:attrName>style.visibility</p:attrName>
                                        </p:attrNameLst>
                                      </p:cBhvr>
                                      <p:to>
                                        <p:strVal val="visible"/>
                                      </p:to>
                                    </p:set>
                                    <p:animEffect transition="in" filter="wipe(left)">
                                      <p:cBhvr>
                                        <p:cTn id="57" dur="500"/>
                                        <p:tgtEl>
                                          <p:spTgt spid="18"/>
                                        </p:tgtEl>
                                      </p:cBhvr>
                                    </p:animEffect>
                                  </p:childTnLst>
                                </p:cTn>
                              </p:par>
                              <p:par>
                                <p:cTn id="58" presetID="22" presetClass="entr" presetSubtype="8" fill="hold" grpId="0" nodeType="withEffect">
                                  <p:stCondLst>
                                    <p:cond delay="1500"/>
                                  </p:stCondLst>
                                  <p:childTnLst>
                                    <p:set>
                                      <p:cBhvr>
                                        <p:cTn id="59" dur="1" fill="hold">
                                          <p:stCondLst>
                                            <p:cond delay="0"/>
                                          </p:stCondLst>
                                        </p:cTn>
                                        <p:tgtEl>
                                          <p:spTgt spid="19"/>
                                        </p:tgtEl>
                                        <p:attrNameLst>
                                          <p:attrName>style.visibility</p:attrName>
                                        </p:attrNameLst>
                                      </p:cBhvr>
                                      <p:to>
                                        <p:strVal val="visible"/>
                                      </p:to>
                                    </p:set>
                                    <p:animEffect transition="in" filter="wipe(left)">
                                      <p:cBhvr>
                                        <p:cTn id="60" dur="500"/>
                                        <p:tgtEl>
                                          <p:spTgt spid="19"/>
                                        </p:tgtEl>
                                      </p:cBhvr>
                                    </p:animEffect>
                                  </p:childTnLst>
                                </p:cTn>
                              </p:par>
                              <p:par>
                                <p:cTn id="61" presetID="22" presetClass="entr" presetSubtype="8" fill="hold" grpId="0" nodeType="withEffect">
                                  <p:stCondLst>
                                    <p:cond delay="1500"/>
                                  </p:stCondLst>
                                  <p:childTnLst>
                                    <p:set>
                                      <p:cBhvr>
                                        <p:cTn id="62" dur="1" fill="hold">
                                          <p:stCondLst>
                                            <p:cond delay="0"/>
                                          </p:stCondLst>
                                        </p:cTn>
                                        <p:tgtEl>
                                          <p:spTgt spid="20"/>
                                        </p:tgtEl>
                                        <p:attrNameLst>
                                          <p:attrName>style.visibility</p:attrName>
                                        </p:attrNameLst>
                                      </p:cBhvr>
                                      <p:to>
                                        <p:strVal val="visible"/>
                                      </p:to>
                                    </p:set>
                                    <p:animEffect transition="in" filter="wipe(left)">
                                      <p:cBhvr>
                                        <p:cTn id="63" dur="500"/>
                                        <p:tgtEl>
                                          <p:spTgt spid="20"/>
                                        </p:tgtEl>
                                      </p:cBhvr>
                                    </p:animEffect>
                                  </p:childTnLst>
                                </p:cTn>
                              </p:par>
                              <p:par>
                                <p:cTn id="64" presetID="22" presetClass="entr" presetSubtype="8" fill="hold" nodeType="withEffect">
                                  <p:stCondLst>
                                    <p:cond delay="1500"/>
                                  </p:stCondLst>
                                  <p:childTnLst>
                                    <p:set>
                                      <p:cBhvr>
                                        <p:cTn id="65" dur="1" fill="hold">
                                          <p:stCondLst>
                                            <p:cond delay="0"/>
                                          </p:stCondLst>
                                        </p:cTn>
                                        <p:tgtEl>
                                          <p:spTgt spid="21"/>
                                        </p:tgtEl>
                                        <p:attrNameLst>
                                          <p:attrName>style.visibility</p:attrName>
                                        </p:attrNameLst>
                                      </p:cBhvr>
                                      <p:to>
                                        <p:strVal val="visible"/>
                                      </p:to>
                                    </p:set>
                                    <p:animEffect transition="in" filter="wipe(left)">
                                      <p:cBhvr>
                                        <p:cTn id="66" dur="500"/>
                                        <p:tgtEl>
                                          <p:spTgt spid="21"/>
                                        </p:tgtEl>
                                      </p:cBhvr>
                                    </p:animEffect>
                                  </p:childTnLst>
                                </p:cTn>
                              </p:par>
                              <p:par>
                                <p:cTn id="67" presetID="22" presetClass="entr" presetSubtype="8" fill="hold" grpId="0" nodeType="withEffect">
                                  <p:stCondLst>
                                    <p:cond delay="1500"/>
                                  </p:stCondLst>
                                  <p:childTnLst>
                                    <p:set>
                                      <p:cBhvr>
                                        <p:cTn id="68" dur="1" fill="hold">
                                          <p:stCondLst>
                                            <p:cond delay="0"/>
                                          </p:stCondLst>
                                        </p:cTn>
                                        <p:tgtEl>
                                          <p:spTgt spid="22"/>
                                        </p:tgtEl>
                                        <p:attrNameLst>
                                          <p:attrName>style.visibility</p:attrName>
                                        </p:attrNameLst>
                                      </p:cBhvr>
                                      <p:to>
                                        <p:strVal val="visible"/>
                                      </p:to>
                                    </p:set>
                                    <p:animEffect transition="in" filter="wipe(left)">
                                      <p:cBhvr>
                                        <p:cTn id="69" dur="500"/>
                                        <p:tgtEl>
                                          <p:spTgt spid="22"/>
                                        </p:tgtEl>
                                      </p:cBhvr>
                                    </p:animEffect>
                                  </p:childTnLst>
                                </p:cTn>
                              </p:par>
                              <p:par>
                                <p:cTn id="70" presetID="22" presetClass="entr" presetSubtype="8" fill="hold" grpId="0" nodeType="withEffect">
                                  <p:stCondLst>
                                    <p:cond delay="2000"/>
                                  </p:stCondLst>
                                  <p:childTnLst>
                                    <p:set>
                                      <p:cBhvr>
                                        <p:cTn id="71" dur="1" fill="hold">
                                          <p:stCondLst>
                                            <p:cond delay="0"/>
                                          </p:stCondLst>
                                        </p:cTn>
                                        <p:tgtEl>
                                          <p:spTgt spid="23"/>
                                        </p:tgtEl>
                                        <p:attrNameLst>
                                          <p:attrName>style.visibility</p:attrName>
                                        </p:attrNameLst>
                                      </p:cBhvr>
                                      <p:to>
                                        <p:strVal val="visible"/>
                                      </p:to>
                                    </p:set>
                                    <p:animEffect transition="in" filter="wipe(left)">
                                      <p:cBhvr>
                                        <p:cTn id="72" dur="500"/>
                                        <p:tgtEl>
                                          <p:spTgt spid="23"/>
                                        </p:tgtEl>
                                      </p:cBhvr>
                                    </p:animEffect>
                                  </p:childTnLst>
                                </p:cTn>
                              </p:par>
                              <p:par>
                                <p:cTn id="73" presetID="22" presetClass="entr" presetSubtype="8" fill="hold" grpId="0" nodeType="withEffect">
                                  <p:stCondLst>
                                    <p:cond delay="2000"/>
                                  </p:stCondLst>
                                  <p:childTnLst>
                                    <p:set>
                                      <p:cBhvr>
                                        <p:cTn id="74" dur="1" fill="hold">
                                          <p:stCondLst>
                                            <p:cond delay="0"/>
                                          </p:stCondLst>
                                        </p:cTn>
                                        <p:tgtEl>
                                          <p:spTgt spid="24"/>
                                        </p:tgtEl>
                                        <p:attrNameLst>
                                          <p:attrName>style.visibility</p:attrName>
                                        </p:attrNameLst>
                                      </p:cBhvr>
                                      <p:to>
                                        <p:strVal val="visible"/>
                                      </p:to>
                                    </p:set>
                                    <p:animEffect transition="in" filter="wipe(left)">
                                      <p:cBhvr>
                                        <p:cTn id="75" dur="500"/>
                                        <p:tgtEl>
                                          <p:spTgt spid="24"/>
                                        </p:tgtEl>
                                      </p:cBhvr>
                                    </p:animEffect>
                                  </p:childTnLst>
                                </p:cTn>
                              </p:par>
                              <p:par>
                                <p:cTn id="76" presetID="22" presetClass="entr" presetSubtype="8" fill="hold" nodeType="withEffect">
                                  <p:stCondLst>
                                    <p:cond delay="2000"/>
                                  </p:stCondLst>
                                  <p:childTnLst>
                                    <p:set>
                                      <p:cBhvr>
                                        <p:cTn id="77" dur="1" fill="hold">
                                          <p:stCondLst>
                                            <p:cond delay="0"/>
                                          </p:stCondLst>
                                        </p:cTn>
                                        <p:tgtEl>
                                          <p:spTgt spid="25"/>
                                        </p:tgtEl>
                                        <p:attrNameLst>
                                          <p:attrName>style.visibility</p:attrName>
                                        </p:attrNameLst>
                                      </p:cBhvr>
                                      <p:to>
                                        <p:strVal val="visible"/>
                                      </p:to>
                                    </p:set>
                                    <p:animEffect transition="in" filter="wipe(left)">
                                      <p:cBhvr>
                                        <p:cTn id="78" dur="500"/>
                                        <p:tgtEl>
                                          <p:spTgt spid="25"/>
                                        </p:tgtEl>
                                      </p:cBhvr>
                                    </p:animEffect>
                                  </p:childTnLst>
                                </p:cTn>
                              </p:par>
                              <p:par>
                                <p:cTn id="79" presetID="22" presetClass="entr" presetSubtype="8" fill="hold" grpId="0" nodeType="withEffect">
                                  <p:stCondLst>
                                    <p:cond delay="2000"/>
                                  </p:stCondLst>
                                  <p:childTnLst>
                                    <p:set>
                                      <p:cBhvr>
                                        <p:cTn id="80" dur="1" fill="hold">
                                          <p:stCondLst>
                                            <p:cond delay="0"/>
                                          </p:stCondLst>
                                        </p:cTn>
                                        <p:tgtEl>
                                          <p:spTgt spid="26"/>
                                        </p:tgtEl>
                                        <p:attrNameLst>
                                          <p:attrName>style.visibility</p:attrName>
                                        </p:attrNameLst>
                                      </p:cBhvr>
                                      <p:to>
                                        <p:strVal val="visible"/>
                                      </p:to>
                                    </p:set>
                                    <p:animEffect transition="in" filter="wipe(left)">
                                      <p:cBhvr>
                                        <p:cTn id="81" dur="500"/>
                                        <p:tgtEl>
                                          <p:spTgt spid="26"/>
                                        </p:tgtEl>
                                      </p:cBhvr>
                                    </p:animEffect>
                                  </p:childTnLst>
                                </p:cTn>
                              </p:par>
                              <p:par>
                                <p:cTn id="82" presetID="10" presetClass="entr" presetSubtype="0" fill="hold" grpId="0" nodeType="withEffect">
                                  <p:stCondLst>
                                    <p:cond delay="300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600"/>
                                        <p:tgtEl>
                                          <p:spTgt spid="27"/>
                                        </p:tgtEl>
                                      </p:cBhvr>
                                    </p:animEffect>
                                  </p:childTnLst>
                                </p:cTn>
                              </p:par>
                              <p:par>
                                <p:cTn id="85" presetID="22" presetClass="entr" presetSubtype="8" fill="hold" grpId="0" nodeType="withEffect">
                                  <p:stCondLst>
                                    <p:cond delay="600"/>
                                  </p:stCondLst>
                                  <p:childTnLst>
                                    <p:set>
                                      <p:cBhvr>
                                        <p:cTn id="86" dur="1" fill="hold">
                                          <p:stCondLst>
                                            <p:cond delay="0"/>
                                          </p:stCondLst>
                                        </p:cTn>
                                        <p:tgtEl>
                                          <p:spTgt spid="35"/>
                                        </p:tgtEl>
                                        <p:attrNameLst>
                                          <p:attrName>style.visibility</p:attrName>
                                        </p:attrNameLst>
                                      </p:cBhvr>
                                      <p:to>
                                        <p:strVal val="visible"/>
                                      </p:to>
                                    </p:set>
                                    <p:animEffect transition="in" filter="wipe(left)">
                                      <p:cBhvr>
                                        <p:cTn id="87" dur="1100"/>
                                        <p:tgtEl>
                                          <p:spTgt spid="35"/>
                                        </p:tgtEl>
                                      </p:cBhvr>
                                    </p:animEffect>
                                  </p:childTnLst>
                                </p:cTn>
                              </p:par>
                              <p:par>
                                <p:cTn id="89" presetID="0" presetClass="path" presetSubtype="0" fill="hold" accel="30000" decel="30000" nodeType="withEffect">
                                  <p:stCondLst>
                                    <p:cond delay="600"/>
                                  </p:stCondLst>
                                  <p:childTnLst>
                                    <p:animMotion origin="layout" path="M 0 0 L 0.02017 0 E" pathEditMode="relative" rAng="0" ptsTypes="AA">
                                      <p:cBhvr>
                                        <p:cTn id="88" dur="1100" fill="hold"/>
                                        <p:tgtEl>
                                          <p:spTgt spid="36"/>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5" grpId="0" build="p"/>
      <p:bldP spid="6" grpId="0" animBg="1"/>
      <p:bldP spid="7" grpId="0" animBg="1"/>
      <p:bldP spid="8" grpId="0" animBg="1"/>
      <p:bldP spid="10" grpId="0" animBg="1"/>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35"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3" name="kicker"/>
          <p:cNvSpPr txBox="1"/>
          <p:nvPr/>
        </p:nvSpPr>
        <p:spPr>
          <a:xfrm>
            <a:off x="548640" y="347472"/>
            <a:ext cx="73152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PART 05  ·  LANDING</a:t>
            </a:r>
            <a:endParaRPr lang="en-US" sz="1200" dirty="0"/>
          </a:p>
        </p:txBody>
      </p:sp>
      <p:sp>
        <p:nvSpPr>
          <p:cNvPr id="4" name="Title"/>
          <p:cNvSpPr/>
          <p:nvPr>
            <p:ph idx="100" type="title" hasCustomPrompt="1"/>
          </p:nvPr>
        </p:nvSpPr>
        <p:spPr>
          <a:xfrm>
            <a:off x="548640" y="658368"/>
            <a:ext cx="11064240" cy="777240"/>
          </a:xfrm>
          <a:prstGeom prst="rect">
            <a:avLst/>
          </a:prstGeom>
          <a:noFill/>
          <a:ln/>
        </p:spPr>
        <p:txBody>
          <a:bodyPr wrap="square" lIns="0" tIns="0" rIns="0" bIns="0" rtlCol="0" anchor="ctr"/>
          <a:lstStyle/>
          <a:p>
            <a:pPr algn="l" indent="0" marL="0">
              <a:buNone/>
            </a:pPr>
            <a:r>
              <a:rPr lang="en-US" sz="3600" b="1" dirty="0">
                <a:solidFill>
                  <a:schemeClr val="bg1"/>
                </a:solidFill>
              </a:rPr>
              <a:t>Future enhancements</a:t>
            </a:r>
            <a:endParaRPr lang="en-US" sz="3600" dirty="0"/>
          </a:p>
        </p:txBody>
      </p:sp>
      <p:sp>
        <p:nvSpPr>
          <p:cNvPr id="5" name="prop"/>
          <p:cNvSpPr txBox="1"/>
          <p:nvPr/>
        </p:nvSpPr>
        <p:spPr>
          <a:xfrm>
            <a:off x="548640" y="1645920"/>
            <a:ext cx="5486400" cy="274320"/>
          </a:xfrm>
          <a:prstGeom prst="rect">
            <a:avLst/>
          </a:prstGeom>
          <a:noFill/>
          <a:ln/>
        </p:spPr>
        <p:txBody>
          <a:bodyPr wrap="square" lIns="0" tIns="0" rIns="0" bIns="0" rtlCol="0" anchor="t"/>
          <a:lstStyle/>
          <a:p>
            <a:pPr algn="l" indent="0" marL="0">
              <a:buNone/>
            </a:pPr>
            <a:r>
              <a:rPr lang="en-US" sz="1200" b="1" spc="300" kern="0" dirty="0">
                <a:solidFill>
                  <a:schemeClr val="accent3"/>
                </a:solidFill>
              </a:rPr>
              <a:t>PROPOSED, NOT YET IMPLEMENTED</a:t>
            </a:r>
            <a:endParaRPr lang="en-US" sz="1200" dirty="0"/>
          </a:p>
        </p:txBody>
      </p:sp>
      <p:sp>
        <p:nvSpPr>
          <p:cNvPr id="6" name="roadline"/>
          <p:cNvSpPr/>
          <p:nvPr/>
        </p:nvSpPr>
        <p:spPr>
          <a:xfrm>
            <a:off x="822960" y="2514600"/>
            <a:ext cx="10515600" cy="0"/>
          </a:xfrm>
          <a:prstGeom prst="line">
            <a:avLst/>
          </a:prstGeom>
          <a:noFill/>
          <a:ln w="25400">
            <a:solidFill>
              <a:schemeClr val="accent3"/>
            </a:solidFill>
            <a:prstDash val="dash"/>
          </a:ln>
        </p:spPr>
      </p:sp>
      <p:sp>
        <p:nvSpPr>
          <p:cNvPr id="7" name="fu0dot"/>
          <p:cNvSpPr/>
          <p:nvPr/>
        </p:nvSpPr>
        <p:spPr>
          <a:xfrm>
            <a:off x="1691640" y="2377440"/>
            <a:ext cx="274320" cy="274320"/>
          </a:xfrm>
          <a:prstGeom prst="ellipse">
            <a:avLst/>
          </a:prstGeom>
          <a:solidFill>
            <a:schemeClr val="accent6"/>
          </a:solidFill>
          <a:ln/>
        </p:spPr>
      </p:sp>
      <p:sp>
        <p:nvSpPr>
          <p:cNvPr id="8" name="fu0c"/>
          <p:cNvSpPr/>
          <p:nvPr/>
        </p:nvSpPr>
        <p:spPr>
          <a:xfrm>
            <a:off x="548640" y="2926080"/>
            <a:ext cx="2697480" cy="2926080"/>
          </a:xfrm>
          <a:prstGeom prst="roundRect">
            <a:avLst>
              <a:gd name="adj" fmla="val 4068"/>
            </a:avLst>
          </a:prstGeom>
          <a:solidFill>
            <a:schemeClr val="bg1">
              <a:alpha val="9000"/>
            </a:schemeClr>
          </a:solidFill>
          <a:ln w="9525">
            <a:solidFill>
              <a:schemeClr val="accent6">
                <a:alpha val="50000"/>
              </a:schemeClr>
            </a:solidFill>
            <a:prstDash val="solid"/>
          </a:ln>
        </p:spPr>
      </p:sp>
      <p:sp>
        <p:nvSpPr>
          <p:cNvPr id="9" name="fu0w"/>
          <p:cNvSpPr txBox="1"/>
          <p:nvPr/>
        </p:nvSpPr>
        <p:spPr>
          <a:xfrm>
            <a:off x="749808"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6"/>
                </a:solidFill>
              </a:rPr>
              <a:t>NEXT</a:t>
            </a:r>
            <a:endParaRPr lang="en-US" sz="1200" dirty="0"/>
          </a:p>
        </p:txBody>
      </p:sp>
      <p:sp>
        <p:nvSpPr>
          <p:cNvPr id="10" name="fu0t"/>
          <p:cNvSpPr txBox="1"/>
          <p:nvPr/>
        </p:nvSpPr>
        <p:spPr>
          <a:xfrm>
            <a:off x="749808"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Scheduled refresh</a:t>
            </a:r>
            <a:endParaRPr lang="en-US" sz="2000" dirty="0"/>
          </a:p>
        </p:txBody>
      </p:sp>
      <p:sp>
        <p:nvSpPr>
          <p:cNvPr id="11" name="fu0d"/>
          <p:cNvSpPr txBox="1"/>
          <p:nvPr/>
        </p:nvSpPr>
        <p:spPr>
          <a:xfrm>
            <a:off x="749808"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Periodic retrieval within the quota so history builds up.</a:t>
            </a:r>
            <a:endParaRPr lang="en-US" sz="1400" dirty="0"/>
          </a:p>
        </p:txBody>
      </p:sp>
      <p:sp>
        <p:nvSpPr>
          <p:cNvPr id="12" name="fu1dot"/>
          <p:cNvSpPr/>
          <p:nvPr/>
        </p:nvSpPr>
        <p:spPr>
          <a:xfrm>
            <a:off x="4498848" y="2377440"/>
            <a:ext cx="274320" cy="274320"/>
          </a:xfrm>
          <a:prstGeom prst="ellipse">
            <a:avLst/>
          </a:prstGeom>
          <a:solidFill>
            <a:schemeClr val="accent1"/>
          </a:solidFill>
          <a:ln/>
        </p:spPr>
      </p:sp>
      <p:sp>
        <p:nvSpPr>
          <p:cNvPr id="13" name="fu1c"/>
          <p:cNvSpPr/>
          <p:nvPr/>
        </p:nvSpPr>
        <p:spPr>
          <a:xfrm>
            <a:off x="3355848" y="2926080"/>
            <a:ext cx="2697480" cy="2926080"/>
          </a:xfrm>
          <a:prstGeom prst="roundRect">
            <a:avLst>
              <a:gd name="adj" fmla="val 4068"/>
            </a:avLst>
          </a:prstGeom>
          <a:solidFill>
            <a:schemeClr val="bg1">
              <a:alpha val="9000"/>
            </a:schemeClr>
          </a:solidFill>
          <a:ln w="9525">
            <a:solidFill>
              <a:schemeClr val="accent1">
                <a:alpha val="50000"/>
              </a:schemeClr>
            </a:solidFill>
            <a:prstDash val="solid"/>
          </a:ln>
        </p:spPr>
      </p:sp>
      <p:sp>
        <p:nvSpPr>
          <p:cNvPr id="14" name="fu1w"/>
          <p:cNvSpPr txBox="1"/>
          <p:nvPr/>
        </p:nvSpPr>
        <p:spPr>
          <a:xfrm>
            <a:off x="3557016"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1"/>
                </a:solidFill>
              </a:rPr>
              <a:t>THEN</a:t>
            </a:r>
            <a:endParaRPr lang="en-US" sz="1200" dirty="0"/>
          </a:p>
        </p:txBody>
      </p:sp>
      <p:sp>
        <p:nvSpPr>
          <p:cNvPr id="15" name="fu1t"/>
          <p:cNvSpPr txBox="1"/>
          <p:nvPr/>
        </p:nvSpPr>
        <p:spPr>
          <a:xfrm>
            <a:off x="3557016"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Trend analysis</a:t>
            </a:r>
            <a:endParaRPr lang="en-US" sz="2000" dirty="0"/>
          </a:p>
        </p:txBody>
      </p:sp>
      <p:sp>
        <p:nvSpPr>
          <p:cNvPr id="16" name="fu1d"/>
          <p:cNvSpPr txBox="1"/>
          <p:nvPr/>
        </p:nvSpPr>
        <p:spPr>
          <a:xfrm>
            <a:off x="3557016"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Delay patterns by airline, airport and hour across many days.</a:t>
            </a:r>
            <a:endParaRPr lang="en-US" sz="1400" dirty="0"/>
          </a:p>
        </p:txBody>
      </p:sp>
      <p:sp>
        <p:nvSpPr>
          <p:cNvPr id="17" name="fu2dot"/>
          <p:cNvSpPr/>
          <p:nvPr/>
        </p:nvSpPr>
        <p:spPr>
          <a:xfrm>
            <a:off x="7306056" y="2377440"/>
            <a:ext cx="274320" cy="274320"/>
          </a:xfrm>
          <a:prstGeom prst="ellipse">
            <a:avLst/>
          </a:prstGeom>
          <a:solidFill>
            <a:schemeClr val="accent4"/>
          </a:solidFill>
          <a:ln/>
        </p:spPr>
      </p:sp>
      <p:sp>
        <p:nvSpPr>
          <p:cNvPr id="18" name="fu2c"/>
          <p:cNvSpPr/>
          <p:nvPr/>
        </p:nvSpPr>
        <p:spPr>
          <a:xfrm>
            <a:off x="6163056" y="2926080"/>
            <a:ext cx="2697480" cy="2926080"/>
          </a:xfrm>
          <a:prstGeom prst="roundRect">
            <a:avLst>
              <a:gd name="adj" fmla="val 4068"/>
            </a:avLst>
          </a:prstGeom>
          <a:solidFill>
            <a:schemeClr val="bg1">
              <a:alpha val="9000"/>
            </a:schemeClr>
          </a:solidFill>
          <a:ln w="9525">
            <a:solidFill>
              <a:schemeClr val="accent4">
                <a:alpha val="50000"/>
              </a:schemeClr>
            </a:solidFill>
            <a:prstDash val="solid"/>
          </a:ln>
        </p:spPr>
      </p:sp>
      <p:sp>
        <p:nvSpPr>
          <p:cNvPr id="19" name="fu2w"/>
          <p:cNvSpPr txBox="1"/>
          <p:nvPr/>
        </p:nvSpPr>
        <p:spPr>
          <a:xfrm>
            <a:off x="6364224"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4"/>
                </a:solidFill>
              </a:rPr>
              <a:t>LATER</a:t>
            </a:r>
            <a:endParaRPr lang="en-US" sz="1200" dirty="0"/>
          </a:p>
        </p:txBody>
      </p:sp>
      <p:sp>
        <p:nvSpPr>
          <p:cNvPr id="20" name="fu2t"/>
          <p:cNvSpPr txBox="1"/>
          <p:nvPr/>
        </p:nvSpPr>
        <p:spPr>
          <a:xfrm>
            <a:off x="6364224"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Delay prediction</a:t>
            </a:r>
            <a:endParaRPr lang="en-US" sz="2000" dirty="0"/>
          </a:p>
        </p:txBody>
      </p:sp>
      <p:sp>
        <p:nvSpPr>
          <p:cNvPr id="21" name="fu2d"/>
          <p:cNvSpPr txBox="1"/>
          <p:nvPr/>
        </p:nvSpPr>
        <p:spPr>
          <a:xfrm>
            <a:off x="6364224"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A simple model, once enough history exists to justify it.</a:t>
            </a:r>
            <a:endParaRPr lang="en-US" sz="1400" dirty="0"/>
          </a:p>
        </p:txBody>
      </p:sp>
      <p:sp>
        <p:nvSpPr>
          <p:cNvPr id="22" name="fu3dot"/>
          <p:cNvSpPr/>
          <p:nvPr/>
        </p:nvSpPr>
        <p:spPr>
          <a:xfrm>
            <a:off x="10113264" y="2377440"/>
            <a:ext cx="274320" cy="274320"/>
          </a:xfrm>
          <a:prstGeom prst="ellipse">
            <a:avLst/>
          </a:prstGeom>
          <a:solidFill>
            <a:schemeClr val="accent2"/>
          </a:solidFill>
          <a:ln/>
        </p:spPr>
      </p:sp>
      <p:sp>
        <p:nvSpPr>
          <p:cNvPr id="23" name="fu3c"/>
          <p:cNvSpPr/>
          <p:nvPr/>
        </p:nvSpPr>
        <p:spPr>
          <a:xfrm>
            <a:off x="8970264" y="2926080"/>
            <a:ext cx="2697480" cy="2926080"/>
          </a:xfrm>
          <a:prstGeom prst="roundRect">
            <a:avLst>
              <a:gd name="adj" fmla="val 4068"/>
            </a:avLst>
          </a:prstGeom>
          <a:solidFill>
            <a:schemeClr val="bg1">
              <a:alpha val="9000"/>
            </a:schemeClr>
          </a:solidFill>
          <a:ln w="9525">
            <a:solidFill>
              <a:schemeClr val="accent2">
                <a:alpha val="50000"/>
              </a:schemeClr>
            </a:solidFill>
            <a:prstDash val="solid"/>
          </a:ln>
        </p:spPr>
      </p:sp>
      <p:sp>
        <p:nvSpPr>
          <p:cNvPr id="24" name="fu3w"/>
          <p:cNvSpPr txBox="1"/>
          <p:nvPr/>
        </p:nvSpPr>
        <p:spPr>
          <a:xfrm>
            <a:off x="9171432" y="3090672"/>
            <a:ext cx="2286000" cy="274320"/>
          </a:xfrm>
          <a:prstGeom prst="rect">
            <a:avLst/>
          </a:prstGeom>
          <a:noFill/>
          <a:ln/>
        </p:spPr>
        <p:txBody>
          <a:bodyPr wrap="square" lIns="0" tIns="0" rIns="0" bIns="0" rtlCol="0" anchor="t"/>
          <a:lstStyle/>
          <a:p>
            <a:pPr algn="l" indent="0" marL="0">
              <a:buNone/>
            </a:pPr>
            <a:r>
              <a:rPr lang="en-US" sz="1200" b="1" spc="300" kern="0" dirty="0">
                <a:solidFill>
                  <a:schemeClr val="accent2"/>
                </a:solidFill>
              </a:rPr>
              <a:t>LATER</a:t>
            </a:r>
            <a:endParaRPr lang="en-US" sz="1200" dirty="0"/>
          </a:p>
        </p:txBody>
      </p:sp>
      <p:sp>
        <p:nvSpPr>
          <p:cNvPr id="25" name="fu3t"/>
          <p:cNvSpPr txBox="1"/>
          <p:nvPr/>
        </p:nvSpPr>
        <p:spPr>
          <a:xfrm>
            <a:off x="9171432" y="3456432"/>
            <a:ext cx="2331720" cy="777240"/>
          </a:xfrm>
          <a:prstGeom prst="rect">
            <a:avLst/>
          </a:prstGeom>
          <a:noFill/>
          <a:ln/>
        </p:spPr>
        <p:txBody>
          <a:bodyPr wrap="square" lIns="0" tIns="0" rIns="0" bIns="0" rtlCol="0" anchor="t"/>
          <a:lstStyle/>
          <a:p>
            <a:pPr algn="l" indent="0" marL="0">
              <a:buNone/>
            </a:pPr>
            <a:r>
              <a:rPr lang="en-US" sz="2000" b="1" dirty="0">
                <a:solidFill>
                  <a:schemeClr val="bg1"/>
                </a:solidFill>
              </a:rPr>
              <a:t>Live map and packaging</a:t>
            </a:r>
            <a:endParaRPr lang="en-US" sz="2000" dirty="0"/>
          </a:p>
        </p:txBody>
      </p:sp>
      <p:sp>
        <p:nvSpPr>
          <p:cNvPr id="26" name="fu3d"/>
          <p:cNvSpPr txBox="1"/>
          <p:nvPr/>
        </p:nvSpPr>
        <p:spPr>
          <a:xfrm>
            <a:off x="9171432" y="4297680"/>
            <a:ext cx="2331720" cy="1463040"/>
          </a:xfrm>
          <a:prstGeom prst="rect">
            <a:avLst/>
          </a:prstGeom>
          <a:noFill/>
          <a:ln/>
        </p:spPr>
        <p:txBody>
          <a:bodyPr wrap="square" lIns="0" tIns="0" rIns="0" bIns="0" rtlCol="0" anchor="t"/>
          <a:lstStyle/>
          <a:p>
            <a:pPr algn="l" indent="0" marL="0">
              <a:buNone/>
            </a:pPr>
            <a:r>
              <a:rPr lang="en-US" sz="1400" dirty="0">
                <a:solidFill>
                  <a:schemeClr val="bg2"/>
                </a:solidFill>
              </a:rPr>
              <a:t>Plot live positions when available; ship an installer.</a:t>
            </a:r>
            <a:endParaRPr lang="en-US" sz="1400" dirty="0"/>
          </a:p>
        </p:txBody>
      </p:sp>
      <p:sp>
        <p:nvSpPr>
          <p:cNvPr id="27" name="track"/>
          <p:cNvSpPr/>
          <p:nvPr/>
        </p:nvSpPr>
        <p:spPr>
          <a:xfrm>
            <a:off x="3383280" y="6510528"/>
            <a:ext cx="7132320" cy="0"/>
          </a:xfrm>
          <a:prstGeom prst="line">
            <a:avLst/>
          </a:prstGeom>
          <a:noFill/>
          <a:ln w="12700">
            <a:solidFill>
              <a:schemeClr val="bg2">
                <a:alpha val="45000"/>
              </a:schemeClr>
            </a:solidFill>
            <a:prstDash val="dash"/>
          </a:ln>
        </p:spPr>
      </p:sp>
      <p:sp>
        <p:nvSpPr>
          <p:cNvPr id="28" name="progress"/>
          <p:cNvSpPr/>
          <p:nvPr/>
        </p:nvSpPr>
        <p:spPr>
          <a:xfrm>
            <a:off x="3383280" y="6510528"/>
            <a:ext cx="6640436" cy="0"/>
          </a:xfrm>
          <a:prstGeom prst="line">
            <a:avLst/>
          </a:prstGeom>
          <a:noFill/>
          <a:ln w="28575">
            <a:solidFill>
              <a:schemeClr val="accent2"/>
            </a:solidFill>
            <a:prstDash val="solid"/>
          </a:ln>
        </p:spPr>
      </p:sp>
      <p:sp>
        <p:nvSpPr>
          <p:cNvPr id="29" name="wp0"/>
          <p:cNvSpPr/>
          <p:nvPr/>
        </p:nvSpPr>
        <p:spPr>
          <a:xfrm>
            <a:off x="3834016" y="6469380"/>
            <a:ext cx="82296" cy="82296"/>
          </a:xfrm>
          <a:prstGeom prst="ellipse">
            <a:avLst/>
          </a:prstGeom>
          <a:solidFill>
            <a:schemeClr val="accent2"/>
          </a:solidFill>
          <a:ln/>
        </p:spPr>
      </p:sp>
      <p:sp>
        <p:nvSpPr>
          <p:cNvPr id="30" name="wp1"/>
          <p:cNvSpPr/>
          <p:nvPr/>
        </p:nvSpPr>
        <p:spPr>
          <a:xfrm>
            <a:off x="4817784" y="6469380"/>
            <a:ext cx="82296" cy="82296"/>
          </a:xfrm>
          <a:prstGeom prst="ellipse">
            <a:avLst/>
          </a:prstGeom>
          <a:solidFill>
            <a:schemeClr val="accent2"/>
          </a:solidFill>
          <a:ln/>
        </p:spPr>
      </p:sp>
      <p:sp>
        <p:nvSpPr>
          <p:cNvPr id="31" name="wp2"/>
          <p:cNvSpPr/>
          <p:nvPr/>
        </p:nvSpPr>
        <p:spPr>
          <a:xfrm>
            <a:off x="7277205" y="6469380"/>
            <a:ext cx="82296" cy="82296"/>
          </a:xfrm>
          <a:prstGeom prst="ellipse">
            <a:avLst/>
          </a:prstGeom>
          <a:solidFill>
            <a:schemeClr val="accent2"/>
          </a:solidFill>
          <a:ln/>
        </p:spPr>
      </p:sp>
      <p:sp>
        <p:nvSpPr>
          <p:cNvPr id="32" name="wp3"/>
          <p:cNvSpPr/>
          <p:nvPr/>
        </p:nvSpPr>
        <p:spPr>
          <a:xfrm>
            <a:off x="8506915" y="6469380"/>
            <a:ext cx="82296" cy="82296"/>
          </a:xfrm>
          <a:prstGeom prst="ellipse">
            <a:avLst/>
          </a:prstGeom>
          <a:solidFill>
            <a:schemeClr val="accent2"/>
          </a:solidFill>
          <a:ln/>
        </p:spPr>
      </p:sp>
      <p:sp>
        <p:nvSpPr>
          <p:cNvPr id="33" name="wp4"/>
          <p:cNvSpPr/>
          <p:nvPr/>
        </p:nvSpPr>
        <p:spPr>
          <a:xfrm>
            <a:off x="9982568" y="6469380"/>
            <a:ext cx="82296" cy="82296"/>
          </a:xfrm>
          <a:prstGeom prst="ellipse">
            <a:avLst/>
          </a:prstGeom>
          <a:solidFill>
            <a:schemeClr val="accent2"/>
          </a:solidFill>
          <a:ln/>
        </p:spPr>
      </p:sp>
      <p:sp>
        <p:nvSpPr>
          <p:cNvPr id="34" name="progress_ext"/>
          <p:cNvSpPr/>
          <p:nvPr/>
        </p:nvSpPr>
        <p:spPr>
          <a:xfrm>
            <a:off x="10023716" y="6510528"/>
            <a:ext cx="245942" cy="0"/>
          </a:xfrm>
          <a:prstGeom prst="line">
            <a:avLst/>
          </a:prstGeom>
          <a:noFill/>
          <a:ln w="28575">
            <a:solidFill>
              <a:schemeClr val="accent2"/>
            </a:solidFill>
            <a:prstDash val="solid"/>
          </a:ln>
        </p:spPr>
      </p:sp>
      <p:pic>
        <p:nvPicPr>
          <p:cNvPr id="35" name="!!tracker" descr="Progress marker">    </p:cNvPr>
          <p:cNvPicPr>
            <a:picLocks noChangeAspect="1"/>
          </p:cNvPicPr>
          <p:nvPr/>
        </p:nvPicPr>
        <p:blipFill>
          <a:blip r:embed="rId1"/>
          <a:stretch>
            <a:fillRect/>
          </a:stretch>
        </p:blipFill>
        <p:spPr>
          <a:xfrm>
            <a:off x="9840836" y="6347936"/>
            <a:ext cx="365760" cy="325184"/>
          </a:xfrm>
          <a:prstGeom prst="rect">
            <a:avLst/>
          </a:prstGeom>
        </p:spPr>
      </p:pic>
      <p:sp>
        <p:nvSpPr>
          <p:cNvPr id="25" name="Slide Number Placeholder 0"/>
          <p:cNvSpPr>
            <a:spLocks noGrp="1"/>
          </p:cNvSpPr>
          <p:nvPr>
            <p:ph type="sldNum" sz="quarter" idx="4294967295"/>
          </p:nvPr>
        </p:nvSpPr>
        <p:spPr>
          <a:xfrm>
            <a:off x="10881360" y="6373368"/>
            <a:ext cx="758952"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EBBD0"/>
                </a:solidFill>
              </a:defRPr>
            </a:lvl1pPr>
          </a:lstStyle>
          <a:p>
            <a:pPr algn="r"/>
            <a:fld id="{F7021451-1387-4CA6-816F-3879F97B5CBC}" type="slidenum">
              <a:rPr b="0" lang="en-US"/>
              <a:t>29</a:t>
            </a:fld>
            <a:endParaRPr lang="en-US"/>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600"/>
                                        <p:tgtEl>
                                          <p:spTgt spid="3"/>
                                        </p:tgtEl>
                                      </p:cBhvr>
                                    </p:animEffect>
                                  </p:childTnLst>
                                </p:cTn>
                              </p:par>
                              <p:par>
                                <p:cTn id="8" presetID="42" presetClass="entr" presetSubtype="0" fill="hold" grpId="0" nodeType="withEffect">
                                  <p:stCondLst>
                                    <p:cond delay="150"/>
                                  </p:stCondLst>
                                  <p:iterate type="wd">
                                    <p:tmPct val="10000"/>
                                  </p:iterate>
                                  <p:childTnLst>
                                    <p:set>
                                      <p:cBhvr>
                                        <p:cTn id="9" dur="1" fill="hold">
                                          <p:stCondLst>
                                            <p:cond delay="0"/>
                                          </p:stCondLst>
                                        </p:cTn>
                                        <p:tgtEl>
                                          <p:spTgt spid="4">
                                            <p:txEl>
                                              <p:pRg st="0" end="0"/>
                                            </p:txEl>
                                          </p:spTgt>
                                        </p:tgtEl>
                                        <p:attrNameLst>
                                          <p:attrName>style.visibility</p:attrName>
                                        </p:attrNameLst>
                                      </p:cBhvr>
                                      <p:to>
                                        <p:strVal val="visible"/>
                                      </p:to>
                                    </p:set>
                                    <p:anim calcmode="lin" valueType="num">
                                      <p:cBhvr additive="base">
                                        <p:cTn id="10" dur="700" fill="hold"/>
                                        <p:tgtEl>
                                          <p:spTgt spid="4">
                                            <p:txEl>
                                              <p:pRg st="0" end="0"/>
                                            </p:txEl>
                                          </p:spTgt>
                                        </p:tgtEl>
                                        <p:attrNameLst>
                                          <p:attrName>ppt_y</p:attrName>
                                        </p:attrNameLst>
                                      </p:cBhvr>
                                      <p:tavLst>
                                        <p:tav tm="0">
                                          <p:val>
                                            <p:strVal val="#ppt_y+.1"/>
                                          </p:val>
                                        </p:tav>
                                        <p:tav tm="100000">
                                          <p:val>
                                            <p:strVal val="#ppt_y"/>
                                          </p:val>
                                        </p:tav>
                                      </p:tavLst>
                                    </p:anim>
                                    <p:animEffect transition="in" filter="fade">
                                      <p:cBhvr>
                                        <p:cTn id="11" dur="700"/>
                                        <p:tgtEl>
                                          <p:spTgt spid="4">
                                            <p:txEl>
                                              <p:pRg st="0" end="0"/>
                                            </p:txEl>
                                          </p:spTgt>
                                        </p:tgtEl>
                                      </p:cBhvr>
                                    </p:animEffect>
                                  </p:childTnLst>
                                </p:cTn>
                              </p:par>
                            </p:childTnLst>
                          </p:cTn>
                        </p:par>
                        <p:par>
                          <p:cTn id="12" fill="hold">
                            <p:stCondLst>
                              <p:cond delay="850"/>
                            </p:stCondLst>
                            <p:childTnLst>
                              <p:par>
                                <p:cTn id="13" presetID="22" presetClass="entr" presetSubtype="8" fill="hold" grpId="0" nodeType="afterEffect">
                                  <p:stCondLst>
                                    <p:cond delay="200"/>
                                  </p:stCondLst>
                                  <p:childTnLst>
                                    <p:set>
                                      <p:cBhvr>
                                        <p:cTn id="14" dur="1" fill="hold">
                                          <p:stCondLst>
                                            <p:cond delay="0"/>
                                          </p:stCondLst>
                                        </p:cTn>
                                        <p:tgtEl>
                                          <p:spTgt spid="6"/>
                                        </p:tgtEl>
                                        <p:attrNameLst>
                                          <p:attrName>style.visibility</p:attrName>
                                        </p:attrNameLst>
                                      </p:cBhvr>
                                      <p:to>
                                        <p:strVal val="visible"/>
                                      </p:to>
                                    </p:set>
                                    <p:animEffect transition="in" filter="wipe(left)">
                                      <p:cBhvr>
                                        <p:cTn id="15" dur="1400"/>
                                        <p:tgtEl>
                                          <p:spTgt spid="6"/>
                                        </p:tgtEl>
                                      </p:cBhvr>
                                    </p:animEffect>
                                  </p:childTnLst>
                                </p:cTn>
                              </p:par>
                              <p:par>
                                <p:cTn id="16" presetID="42" presetClass="entr" presetSubtype="0" fill="hold" grpId="0" nodeType="withEffect">
                                  <p:stCondLst>
                                    <p:cond delay="60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600" fill="hold"/>
                                        <p:tgtEl>
                                          <p:spTgt spid="7"/>
                                        </p:tgtEl>
                                        <p:attrNameLst>
                                          <p:attrName>ppt_y</p:attrName>
                                        </p:attrNameLst>
                                      </p:cBhvr>
                                      <p:tavLst>
                                        <p:tav tm="0">
                                          <p:val>
                                            <p:strVal val="#ppt_y+.1"/>
                                          </p:val>
                                        </p:tav>
                                        <p:tav tm="100000">
                                          <p:val>
                                            <p:strVal val="#ppt_y"/>
                                          </p:val>
                                        </p:tav>
                                      </p:tavLst>
                                    </p:anim>
                                    <p:animEffect transition="in" filter="fade">
                                      <p:cBhvr>
                                        <p:cTn id="19" dur="600"/>
                                        <p:tgtEl>
                                          <p:spTgt spid="7"/>
                                        </p:tgtEl>
                                      </p:cBhvr>
                                    </p:animEffect>
                                  </p:childTnLst>
                                </p:cTn>
                              </p:par>
                              <p:par>
                                <p:cTn id="20" presetID="42" presetClass="entr" presetSubtype="0" fill="hold" grpId="0" nodeType="withEffect">
                                  <p:stCondLst>
                                    <p:cond delay="600"/>
                                  </p:stCondLst>
                                  <p:childTnLst>
                                    <p:set>
                                      <p:cBhvr>
                                        <p:cTn id="21" dur="1" fill="hold">
                                          <p:stCondLst>
                                            <p:cond delay="0"/>
                                          </p:stCondLst>
                                        </p:cTn>
                                        <p:tgtEl>
                                          <p:spTgt spid="8"/>
                                        </p:tgtEl>
                                        <p:attrNameLst>
                                          <p:attrName>style.visibility</p:attrName>
                                        </p:attrNameLst>
                                      </p:cBhvr>
                                      <p:to>
                                        <p:strVal val="visible"/>
                                      </p:to>
                                    </p:set>
                                    <p:anim calcmode="lin" valueType="num">
                                      <p:cBhvr additive="base">
                                        <p:cTn id="22" dur="600" fill="hold"/>
                                        <p:tgtEl>
                                          <p:spTgt spid="8"/>
                                        </p:tgtEl>
                                        <p:attrNameLst>
                                          <p:attrName>ppt_y</p:attrName>
                                        </p:attrNameLst>
                                      </p:cBhvr>
                                      <p:tavLst>
                                        <p:tav tm="0">
                                          <p:val>
                                            <p:strVal val="#ppt_y+.1"/>
                                          </p:val>
                                        </p:tav>
                                        <p:tav tm="100000">
                                          <p:val>
                                            <p:strVal val="#ppt_y"/>
                                          </p:val>
                                        </p:tav>
                                      </p:tavLst>
                                    </p:anim>
                                    <p:animEffect transition="in" filter="fade">
                                      <p:cBhvr>
                                        <p:cTn id="23" dur="600"/>
                                        <p:tgtEl>
                                          <p:spTgt spid="8"/>
                                        </p:tgtEl>
                                      </p:cBhvr>
                                    </p:animEffect>
                                  </p:childTnLst>
                                </p:cTn>
                              </p:par>
                              <p:par>
                                <p:cTn id="24" presetID="42" presetClass="entr" presetSubtype="0" fill="hold" grpId="0" nodeType="withEffect">
                                  <p:stCondLst>
                                    <p:cond delay="600"/>
                                  </p:stCondLst>
                                  <p:childTnLst>
                                    <p:set>
                                      <p:cBhvr>
                                        <p:cTn id="25" dur="1" fill="hold">
                                          <p:stCondLst>
                                            <p:cond delay="0"/>
                                          </p:stCondLst>
                                        </p:cTn>
                                        <p:tgtEl>
                                          <p:spTgt spid="9"/>
                                        </p:tgtEl>
                                        <p:attrNameLst>
                                          <p:attrName>style.visibility</p:attrName>
                                        </p:attrNameLst>
                                      </p:cBhvr>
                                      <p:to>
                                        <p:strVal val="visible"/>
                                      </p:to>
                                    </p:set>
                                    <p:anim calcmode="lin" valueType="num">
                                      <p:cBhvr additive="base">
                                        <p:cTn id="26" dur="600" fill="hold"/>
                                        <p:tgtEl>
                                          <p:spTgt spid="9"/>
                                        </p:tgtEl>
                                        <p:attrNameLst>
                                          <p:attrName>ppt_y</p:attrName>
                                        </p:attrNameLst>
                                      </p:cBhvr>
                                      <p:tavLst>
                                        <p:tav tm="0">
                                          <p:val>
                                            <p:strVal val="#ppt_y+.1"/>
                                          </p:val>
                                        </p:tav>
                                        <p:tav tm="100000">
                                          <p:val>
                                            <p:strVal val="#ppt_y"/>
                                          </p:val>
                                        </p:tav>
                                      </p:tavLst>
                                    </p:anim>
                                    <p:animEffect transition="in" filter="fade">
                                      <p:cBhvr>
                                        <p:cTn id="27" dur="600"/>
                                        <p:tgtEl>
                                          <p:spTgt spid="9"/>
                                        </p:tgtEl>
                                      </p:cBhvr>
                                    </p:animEffect>
                                  </p:childTnLst>
                                </p:cTn>
                              </p:par>
                              <p:par>
                                <p:cTn id="28" presetID="42" presetClass="entr" presetSubtype="0" fill="hold" grpId="0" nodeType="withEffect">
                                  <p:stCondLst>
                                    <p:cond delay="600"/>
                                  </p:stCondLst>
                                  <p:childTnLst>
                                    <p:set>
                                      <p:cBhvr>
                                        <p:cTn id="29" dur="1" fill="hold">
                                          <p:stCondLst>
                                            <p:cond delay="0"/>
                                          </p:stCondLst>
                                        </p:cTn>
                                        <p:tgtEl>
                                          <p:spTgt spid="10"/>
                                        </p:tgtEl>
                                        <p:attrNameLst>
                                          <p:attrName>style.visibility</p:attrName>
                                        </p:attrNameLst>
                                      </p:cBhvr>
                                      <p:to>
                                        <p:strVal val="visible"/>
                                      </p:to>
                                    </p:set>
                                    <p:anim calcmode="lin" valueType="num">
                                      <p:cBhvr additive="base">
                                        <p:cTn id="30" dur="600" fill="hold"/>
                                        <p:tgtEl>
                                          <p:spTgt spid="10"/>
                                        </p:tgtEl>
                                        <p:attrNameLst>
                                          <p:attrName>ppt_y</p:attrName>
                                        </p:attrNameLst>
                                      </p:cBhvr>
                                      <p:tavLst>
                                        <p:tav tm="0">
                                          <p:val>
                                            <p:strVal val="#ppt_y+.1"/>
                                          </p:val>
                                        </p:tav>
                                        <p:tav tm="100000">
                                          <p:val>
                                            <p:strVal val="#ppt_y"/>
                                          </p:val>
                                        </p:tav>
                                      </p:tavLst>
                                    </p:anim>
                                    <p:animEffect transition="in" filter="fade">
                                      <p:cBhvr>
                                        <p:cTn id="31" dur="600"/>
                                        <p:tgtEl>
                                          <p:spTgt spid="10"/>
                                        </p:tgtEl>
                                      </p:cBhvr>
                                    </p:animEffect>
                                  </p:childTnLst>
                                </p:cTn>
                              </p:par>
                              <p:par>
                                <p:cTn id="32" presetID="42" presetClass="entr" presetSubtype="0" fill="hold" grpId="0" nodeType="withEffect">
                                  <p:stCondLst>
                                    <p:cond delay="600"/>
                                  </p:stCondLst>
                                  <p:childTnLst>
                                    <p:set>
                                      <p:cBhvr>
                                        <p:cTn id="33" dur="1" fill="hold">
                                          <p:stCondLst>
                                            <p:cond delay="0"/>
                                          </p:stCondLst>
                                        </p:cTn>
                                        <p:tgtEl>
                                          <p:spTgt spid="11"/>
                                        </p:tgtEl>
                                        <p:attrNameLst>
                                          <p:attrName>style.visibility</p:attrName>
                                        </p:attrNameLst>
                                      </p:cBhvr>
                                      <p:to>
                                        <p:strVal val="visible"/>
                                      </p:to>
                                    </p:set>
                                    <p:anim calcmode="lin" valueType="num">
                                      <p:cBhvr additive="base">
                                        <p:cTn id="34" dur="600" fill="hold"/>
                                        <p:tgtEl>
                                          <p:spTgt spid="11"/>
                                        </p:tgtEl>
                                        <p:attrNameLst>
                                          <p:attrName>ppt_y</p:attrName>
                                        </p:attrNameLst>
                                      </p:cBhvr>
                                      <p:tavLst>
                                        <p:tav tm="0">
                                          <p:val>
                                            <p:strVal val="#ppt_y+.1"/>
                                          </p:val>
                                        </p:tav>
                                        <p:tav tm="100000">
                                          <p:val>
                                            <p:strVal val="#ppt_y"/>
                                          </p:val>
                                        </p:tav>
                                      </p:tavLst>
                                    </p:anim>
                                    <p:animEffect transition="in" filter="fade">
                                      <p:cBhvr>
                                        <p:cTn id="35" dur="600"/>
                                        <p:tgtEl>
                                          <p:spTgt spid="11"/>
                                        </p:tgtEl>
                                      </p:cBhvr>
                                    </p:animEffect>
                                  </p:childTnLst>
                                </p:cTn>
                              </p:par>
                              <p:par>
                                <p:cTn id="36" presetID="42" presetClass="entr" presetSubtype="0" fill="hold" grpId="0" nodeType="withEffect">
                                  <p:stCondLst>
                                    <p:cond delay="1050"/>
                                  </p:stCondLst>
                                  <p:childTnLst>
                                    <p:set>
                                      <p:cBhvr>
                                        <p:cTn id="37" dur="1" fill="hold">
                                          <p:stCondLst>
                                            <p:cond delay="0"/>
                                          </p:stCondLst>
                                        </p:cTn>
                                        <p:tgtEl>
                                          <p:spTgt spid="12"/>
                                        </p:tgtEl>
                                        <p:attrNameLst>
                                          <p:attrName>style.visibility</p:attrName>
                                        </p:attrNameLst>
                                      </p:cBhvr>
                                      <p:to>
                                        <p:strVal val="visible"/>
                                      </p:to>
                                    </p:set>
                                    <p:anim calcmode="lin" valueType="num">
                                      <p:cBhvr additive="base">
                                        <p:cTn id="38" dur="600" fill="hold"/>
                                        <p:tgtEl>
                                          <p:spTgt spid="12"/>
                                        </p:tgtEl>
                                        <p:attrNameLst>
                                          <p:attrName>ppt_y</p:attrName>
                                        </p:attrNameLst>
                                      </p:cBhvr>
                                      <p:tavLst>
                                        <p:tav tm="0">
                                          <p:val>
                                            <p:strVal val="#ppt_y+.1"/>
                                          </p:val>
                                        </p:tav>
                                        <p:tav tm="100000">
                                          <p:val>
                                            <p:strVal val="#ppt_y"/>
                                          </p:val>
                                        </p:tav>
                                      </p:tavLst>
                                    </p:anim>
                                    <p:animEffect transition="in" filter="fade">
                                      <p:cBhvr>
                                        <p:cTn id="39" dur="600"/>
                                        <p:tgtEl>
                                          <p:spTgt spid="12"/>
                                        </p:tgtEl>
                                      </p:cBhvr>
                                    </p:animEffect>
                                  </p:childTnLst>
                                </p:cTn>
                              </p:par>
                              <p:par>
                                <p:cTn id="40" presetID="42" presetClass="entr" presetSubtype="0" fill="hold" grpId="0" nodeType="withEffect">
                                  <p:stCondLst>
                                    <p:cond delay="1050"/>
                                  </p:stCondLst>
                                  <p:childTnLst>
                                    <p:set>
                                      <p:cBhvr>
                                        <p:cTn id="41" dur="1" fill="hold">
                                          <p:stCondLst>
                                            <p:cond delay="0"/>
                                          </p:stCondLst>
                                        </p:cTn>
                                        <p:tgtEl>
                                          <p:spTgt spid="13"/>
                                        </p:tgtEl>
                                        <p:attrNameLst>
                                          <p:attrName>style.visibility</p:attrName>
                                        </p:attrNameLst>
                                      </p:cBhvr>
                                      <p:to>
                                        <p:strVal val="visible"/>
                                      </p:to>
                                    </p:set>
                                    <p:anim calcmode="lin" valueType="num">
                                      <p:cBhvr additive="base">
                                        <p:cTn id="42" dur="600" fill="hold"/>
                                        <p:tgtEl>
                                          <p:spTgt spid="13"/>
                                        </p:tgtEl>
                                        <p:attrNameLst>
                                          <p:attrName>ppt_y</p:attrName>
                                        </p:attrNameLst>
                                      </p:cBhvr>
                                      <p:tavLst>
                                        <p:tav tm="0">
                                          <p:val>
                                            <p:strVal val="#ppt_y+.1"/>
                                          </p:val>
                                        </p:tav>
                                        <p:tav tm="100000">
                                          <p:val>
                                            <p:strVal val="#ppt_y"/>
                                          </p:val>
                                        </p:tav>
                                      </p:tavLst>
                                    </p:anim>
                                    <p:animEffect transition="in" filter="fade">
                                      <p:cBhvr>
                                        <p:cTn id="43" dur="600"/>
                                        <p:tgtEl>
                                          <p:spTgt spid="13"/>
                                        </p:tgtEl>
                                      </p:cBhvr>
                                    </p:animEffect>
                                  </p:childTnLst>
                                </p:cTn>
                              </p:par>
                              <p:par>
                                <p:cTn id="44" presetID="42" presetClass="entr" presetSubtype="0" fill="hold" grpId="0" nodeType="withEffect">
                                  <p:stCondLst>
                                    <p:cond delay="1050"/>
                                  </p:stCondLst>
                                  <p:childTnLst>
                                    <p:set>
                                      <p:cBhvr>
                                        <p:cTn id="45" dur="1" fill="hold">
                                          <p:stCondLst>
                                            <p:cond delay="0"/>
                                          </p:stCondLst>
                                        </p:cTn>
                                        <p:tgtEl>
                                          <p:spTgt spid="14"/>
                                        </p:tgtEl>
                                        <p:attrNameLst>
                                          <p:attrName>style.visibility</p:attrName>
                                        </p:attrNameLst>
                                      </p:cBhvr>
                                      <p:to>
                                        <p:strVal val="visible"/>
                                      </p:to>
                                    </p:set>
                                    <p:anim calcmode="lin" valueType="num">
                                      <p:cBhvr additive="base">
                                        <p:cTn id="46" dur="600" fill="hold"/>
                                        <p:tgtEl>
                                          <p:spTgt spid="14"/>
                                        </p:tgtEl>
                                        <p:attrNameLst>
                                          <p:attrName>ppt_y</p:attrName>
                                        </p:attrNameLst>
                                      </p:cBhvr>
                                      <p:tavLst>
                                        <p:tav tm="0">
                                          <p:val>
                                            <p:strVal val="#ppt_y+.1"/>
                                          </p:val>
                                        </p:tav>
                                        <p:tav tm="100000">
                                          <p:val>
                                            <p:strVal val="#ppt_y"/>
                                          </p:val>
                                        </p:tav>
                                      </p:tavLst>
                                    </p:anim>
                                    <p:animEffect transition="in" filter="fade">
                                      <p:cBhvr>
                                        <p:cTn id="47" dur="600"/>
                                        <p:tgtEl>
                                          <p:spTgt spid="14"/>
                                        </p:tgtEl>
                                      </p:cBhvr>
                                    </p:animEffect>
                                  </p:childTnLst>
                                </p:cTn>
                              </p:par>
                              <p:par>
                                <p:cTn id="48" presetID="42" presetClass="entr" presetSubtype="0" fill="hold" grpId="0" nodeType="withEffect">
                                  <p:stCondLst>
                                    <p:cond delay="1050"/>
                                  </p:stCondLst>
                                  <p:childTnLst>
                                    <p:set>
                                      <p:cBhvr>
                                        <p:cTn id="49" dur="1" fill="hold">
                                          <p:stCondLst>
                                            <p:cond delay="0"/>
                                          </p:stCondLst>
                                        </p:cTn>
                                        <p:tgtEl>
                                          <p:spTgt spid="15"/>
                                        </p:tgtEl>
                                        <p:attrNameLst>
                                          <p:attrName>style.visibility</p:attrName>
                                        </p:attrNameLst>
                                      </p:cBhvr>
                                      <p:to>
                                        <p:strVal val="visible"/>
                                      </p:to>
                                    </p:set>
                                    <p:anim calcmode="lin" valueType="num">
                                      <p:cBhvr additive="base">
                                        <p:cTn id="50" dur="600" fill="hold"/>
                                        <p:tgtEl>
                                          <p:spTgt spid="15"/>
                                        </p:tgtEl>
                                        <p:attrNameLst>
                                          <p:attrName>ppt_y</p:attrName>
                                        </p:attrNameLst>
                                      </p:cBhvr>
                                      <p:tavLst>
                                        <p:tav tm="0">
                                          <p:val>
                                            <p:strVal val="#ppt_y+.1"/>
                                          </p:val>
                                        </p:tav>
                                        <p:tav tm="100000">
                                          <p:val>
                                            <p:strVal val="#ppt_y"/>
                                          </p:val>
                                        </p:tav>
                                      </p:tavLst>
                                    </p:anim>
                                    <p:animEffect transition="in" filter="fade">
                                      <p:cBhvr>
                                        <p:cTn id="51" dur="600"/>
                                        <p:tgtEl>
                                          <p:spTgt spid="15"/>
                                        </p:tgtEl>
                                      </p:cBhvr>
                                    </p:animEffect>
                                  </p:childTnLst>
                                </p:cTn>
                              </p:par>
                              <p:par>
                                <p:cTn id="52" presetID="42" presetClass="entr" presetSubtype="0" fill="hold" grpId="0" nodeType="withEffect">
                                  <p:stCondLst>
                                    <p:cond delay="1050"/>
                                  </p:stCondLst>
                                  <p:childTnLst>
                                    <p:set>
                                      <p:cBhvr>
                                        <p:cTn id="53" dur="1" fill="hold">
                                          <p:stCondLst>
                                            <p:cond delay="0"/>
                                          </p:stCondLst>
                                        </p:cTn>
                                        <p:tgtEl>
                                          <p:spTgt spid="16"/>
                                        </p:tgtEl>
                                        <p:attrNameLst>
                                          <p:attrName>style.visibility</p:attrName>
                                        </p:attrNameLst>
                                      </p:cBhvr>
                                      <p:to>
                                        <p:strVal val="visible"/>
                                      </p:to>
                                    </p:set>
                                    <p:anim calcmode="lin" valueType="num">
                                      <p:cBhvr additive="base">
                                        <p:cTn id="54" dur="600" fill="hold"/>
                                        <p:tgtEl>
                                          <p:spTgt spid="16"/>
                                        </p:tgtEl>
                                        <p:attrNameLst>
                                          <p:attrName>ppt_y</p:attrName>
                                        </p:attrNameLst>
                                      </p:cBhvr>
                                      <p:tavLst>
                                        <p:tav tm="0">
                                          <p:val>
                                            <p:strVal val="#ppt_y+.1"/>
                                          </p:val>
                                        </p:tav>
                                        <p:tav tm="100000">
                                          <p:val>
                                            <p:strVal val="#ppt_y"/>
                                          </p:val>
                                        </p:tav>
                                      </p:tavLst>
                                    </p:anim>
                                    <p:animEffect transition="in" filter="fade">
                                      <p:cBhvr>
                                        <p:cTn id="55" dur="600"/>
                                        <p:tgtEl>
                                          <p:spTgt spid="16"/>
                                        </p:tgtEl>
                                      </p:cBhvr>
                                    </p:animEffect>
                                  </p:childTnLst>
                                </p:cTn>
                              </p:par>
                              <p:par>
                                <p:cTn id="56" presetID="42" presetClass="entr" presetSubtype="0" fill="hold" grpId="0" nodeType="withEffect">
                                  <p:stCondLst>
                                    <p:cond delay="1500"/>
                                  </p:stCondLst>
                                  <p:childTnLst>
                                    <p:set>
                                      <p:cBhvr>
                                        <p:cTn id="57" dur="1" fill="hold">
                                          <p:stCondLst>
                                            <p:cond delay="0"/>
                                          </p:stCondLst>
                                        </p:cTn>
                                        <p:tgtEl>
                                          <p:spTgt spid="17"/>
                                        </p:tgtEl>
                                        <p:attrNameLst>
                                          <p:attrName>style.visibility</p:attrName>
                                        </p:attrNameLst>
                                      </p:cBhvr>
                                      <p:to>
                                        <p:strVal val="visible"/>
                                      </p:to>
                                    </p:set>
                                    <p:anim calcmode="lin" valueType="num">
                                      <p:cBhvr additive="base">
                                        <p:cTn id="58" dur="600" fill="hold"/>
                                        <p:tgtEl>
                                          <p:spTgt spid="17"/>
                                        </p:tgtEl>
                                        <p:attrNameLst>
                                          <p:attrName>ppt_y</p:attrName>
                                        </p:attrNameLst>
                                      </p:cBhvr>
                                      <p:tavLst>
                                        <p:tav tm="0">
                                          <p:val>
                                            <p:strVal val="#ppt_y+.1"/>
                                          </p:val>
                                        </p:tav>
                                        <p:tav tm="100000">
                                          <p:val>
                                            <p:strVal val="#ppt_y"/>
                                          </p:val>
                                        </p:tav>
                                      </p:tavLst>
                                    </p:anim>
                                    <p:animEffect transition="in" filter="fade">
                                      <p:cBhvr>
                                        <p:cTn id="59" dur="600"/>
                                        <p:tgtEl>
                                          <p:spTgt spid="17"/>
                                        </p:tgtEl>
                                      </p:cBhvr>
                                    </p:animEffect>
                                  </p:childTnLst>
                                </p:cTn>
                              </p:par>
                              <p:par>
                                <p:cTn id="60" presetID="42" presetClass="entr" presetSubtype="0" fill="hold" grpId="0" nodeType="withEffect">
                                  <p:stCondLst>
                                    <p:cond delay="1500"/>
                                  </p:stCondLst>
                                  <p:childTnLst>
                                    <p:set>
                                      <p:cBhvr>
                                        <p:cTn id="61" dur="1" fill="hold">
                                          <p:stCondLst>
                                            <p:cond delay="0"/>
                                          </p:stCondLst>
                                        </p:cTn>
                                        <p:tgtEl>
                                          <p:spTgt spid="18"/>
                                        </p:tgtEl>
                                        <p:attrNameLst>
                                          <p:attrName>style.visibility</p:attrName>
                                        </p:attrNameLst>
                                      </p:cBhvr>
                                      <p:to>
                                        <p:strVal val="visible"/>
                                      </p:to>
                                    </p:set>
                                    <p:anim calcmode="lin" valueType="num">
                                      <p:cBhvr additive="base">
                                        <p:cTn id="62" dur="600" fill="hold"/>
                                        <p:tgtEl>
                                          <p:spTgt spid="18"/>
                                        </p:tgtEl>
                                        <p:attrNameLst>
                                          <p:attrName>ppt_y</p:attrName>
                                        </p:attrNameLst>
                                      </p:cBhvr>
                                      <p:tavLst>
                                        <p:tav tm="0">
                                          <p:val>
                                            <p:strVal val="#ppt_y+.1"/>
                                          </p:val>
                                        </p:tav>
                                        <p:tav tm="100000">
                                          <p:val>
                                            <p:strVal val="#ppt_y"/>
                                          </p:val>
                                        </p:tav>
                                      </p:tavLst>
                                    </p:anim>
                                    <p:animEffect transition="in" filter="fade">
                                      <p:cBhvr>
                                        <p:cTn id="63" dur="600"/>
                                        <p:tgtEl>
                                          <p:spTgt spid="18"/>
                                        </p:tgtEl>
                                      </p:cBhvr>
                                    </p:animEffect>
                                  </p:childTnLst>
                                </p:cTn>
                              </p:par>
                              <p:par>
                                <p:cTn id="64" presetID="42" presetClass="entr" presetSubtype="0" fill="hold" grpId="0" nodeType="withEffect">
                                  <p:stCondLst>
                                    <p:cond delay="1500"/>
                                  </p:stCondLst>
                                  <p:childTnLst>
                                    <p:set>
                                      <p:cBhvr>
                                        <p:cTn id="65" dur="1" fill="hold">
                                          <p:stCondLst>
                                            <p:cond delay="0"/>
                                          </p:stCondLst>
                                        </p:cTn>
                                        <p:tgtEl>
                                          <p:spTgt spid="19"/>
                                        </p:tgtEl>
                                        <p:attrNameLst>
                                          <p:attrName>style.visibility</p:attrName>
                                        </p:attrNameLst>
                                      </p:cBhvr>
                                      <p:to>
                                        <p:strVal val="visible"/>
                                      </p:to>
                                    </p:set>
                                    <p:anim calcmode="lin" valueType="num">
                                      <p:cBhvr additive="base">
                                        <p:cTn id="66" dur="600" fill="hold"/>
                                        <p:tgtEl>
                                          <p:spTgt spid="19"/>
                                        </p:tgtEl>
                                        <p:attrNameLst>
                                          <p:attrName>ppt_y</p:attrName>
                                        </p:attrNameLst>
                                      </p:cBhvr>
                                      <p:tavLst>
                                        <p:tav tm="0">
                                          <p:val>
                                            <p:strVal val="#ppt_y+.1"/>
                                          </p:val>
                                        </p:tav>
                                        <p:tav tm="100000">
                                          <p:val>
                                            <p:strVal val="#ppt_y"/>
                                          </p:val>
                                        </p:tav>
                                      </p:tavLst>
                                    </p:anim>
                                    <p:animEffect transition="in" filter="fade">
                                      <p:cBhvr>
                                        <p:cTn id="67" dur="600"/>
                                        <p:tgtEl>
                                          <p:spTgt spid="19"/>
                                        </p:tgtEl>
                                      </p:cBhvr>
                                    </p:animEffect>
                                  </p:childTnLst>
                                </p:cTn>
                              </p:par>
                              <p:par>
                                <p:cTn id="68" presetID="42" presetClass="entr" presetSubtype="0" fill="hold" grpId="0" nodeType="withEffect">
                                  <p:stCondLst>
                                    <p:cond delay="1500"/>
                                  </p:stCondLst>
                                  <p:childTnLst>
                                    <p:set>
                                      <p:cBhvr>
                                        <p:cTn id="69" dur="1" fill="hold">
                                          <p:stCondLst>
                                            <p:cond delay="0"/>
                                          </p:stCondLst>
                                        </p:cTn>
                                        <p:tgtEl>
                                          <p:spTgt spid="20"/>
                                        </p:tgtEl>
                                        <p:attrNameLst>
                                          <p:attrName>style.visibility</p:attrName>
                                        </p:attrNameLst>
                                      </p:cBhvr>
                                      <p:to>
                                        <p:strVal val="visible"/>
                                      </p:to>
                                    </p:set>
                                    <p:anim calcmode="lin" valueType="num">
                                      <p:cBhvr additive="base">
                                        <p:cTn id="70" dur="600" fill="hold"/>
                                        <p:tgtEl>
                                          <p:spTgt spid="20"/>
                                        </p:tgtEl>
                                        <p:attrNameLst>
                                          <p:attrName>ppt_y</p:attrName>
                                        </p:attrNameLst>
                                      </p:cBhvr>
                                      <p:tavLst>
                                        <p:tav tm="0">
                                          <p:val>
                                            <p:strVal val="#ppt_y+.1"/>
                                          </p:val>
                                        </p:tav>
                                        <p:tav tm="100000">
                                          <p:val>
                                            <p:strVal val="#ppt_y"/>
                                          </p:val>
                                        </p:tav>
                                      </p:tavLst>
                                    </p:anim>
                                    <p:animEffect transition="in" filter="fade">
                                      <p:cBhvr>
                                        <p:cTn id="71" dur="600"/>
                                        <p:tgtEl>
                                          <p:spTgt spid="20"/>
                                        </p:tgtEl>
                                      </p:cBhvr>
                                    </p:animEffect>
                                  </p:childTnLst>
                                </p:cTn>
                              </p:par>
                              <p:par>
                                <p:cTn id="72" presetID="42" presetClass="entr" presetSubtype="0" fill="hold" grpId="0" nodeType="withEffect">
                                  <p:stCondLst>
                                    <p:cond delay="1500"/>
                                  </p:stCondLst>
                                  <p:childTnLst>
                                    <p:set>
                                      <p:cBhvr>
                                        <p:cTn id="73" dur="1" fill="hold">
                                          <p:stCondLst>
                                            <p:cond delay="0"/>
                                          </p:stCondLst>
                                        </p:cTn>
                                        <p:tgtEl>
                                          <p:spTgt spid="21"/>
                                        </p:tgtEl>
                                        <p:attrNameLst>
                                          <p:attrName>style.visibility</p:attrName>
                                        </p:attrNameLst>
                                      </p:cBhvr>
                                      <p:to>
                                        <p:strVal val="visible"/>
                                      </p:to>
                                    </p:set>
                                    <p:anim calcmode="lin" valueType="num">
                                      <p:cBhvr additive="base">
                                        <p:cTn id="74" dur="600" fill="hold"/>
                                        <p:tgtEl>
                                          <p:spTgt spid="21"/>
                                        </p:tgtEl>
                                        <p:attrNameLst>
                                          <p:attrName>ppt_y</p:attrName>
                                        </p:attrNameLst>
                                      </p:cBhvr>
                                      <p:tavLst>
                                        <p:tav tm="0">
                                          <p:val>
                                            <p:strVal val="#ppt_y+.1"/>
                                          </p:val>
                                        </p:tav>
                                        <p:tav tm="100000">
                                          <p:val>
                                            <p:strVal val="#ppt_y"/>
                                          </p:val>
                                        </p:tav>
                                      </p:tavLst>
                                    </p:anim>
                                    <p:animEffect transition="in" filter="fade">
                                      <p:cBhvr>
                                        <p:cTn id="75" dur="600"/>
                                        <p:tgtEl>
                                          <p:spTgt spid="21"/>
                                        </p:tgtEl>
                                      </p:cBhvr>
                                    </p:animEffect>
                                  </p:childTnLst>
                                </p:cTn>
                              </p:par>
                              <p:par>
                                <p:cTn id="76" presetID="42" presetClass="entr" presetSubtype="0" fill="hold" grpId="0" nodeType="withEffect">
                                  <p:stCondLst>
                                    <p:cond delay="1950"/>
                                  </p:stCondLst>
                                  <p:childTnLst>
                                    <p:set>
                                      <p:cBhvr>
                                        <p:cTn id="77" dur="1" fill="hold">
                                          <p:stCondLst>
                                            <p:cond delay="0"/>
                                          </p:stCondLst>
                                        </p:cTn>
                                        <p:tgtEl>
                                          <p:spTgt spid="22"/>
                                        </p:tgtEl>
                                        <p:attrNameLst>
                                          <p:attrName>style.visibility</p:attrName>
                                        </p:attrNameLst>
                                      </p:cBhvr>
                                      <p:to>
                                        <p:strVal val="visible"/>
                                      </p:to>
                                    </p:set>
                                    <p:anim calcmode="lin" valueType="num">
                                      <p:cBhvr additive="base">
                                        <p:cTn id="78" dur="600" fill="hold"/>
                                        <p:tgtEl>
                                          <p:spTgt spid="22"/>
                                        </p:tgtEl>
                                        <p:attrNameLst>
                                          <p:attrName>ppt_y</p:attrName>
                                        </p:attrNameLst>
                                      </p:cBhvr>
                                      <p:tavLst>
                                        <p:tav tm="0">
                                          <p:val>
                                            <p:strVal val="#ppt_y+.1"/>
                                          </p:val>
                                        </p:tav>
                                        <p:tav tm="100000">
                                          <p:val>
                                            <p:strVal val="#ppt_y"/>
                                          </p:val>
                                        </p:tav>
                                      </p:tavLst>
                                    </p:anim>
                                    <p:animEffect transition="in" filter="fade">
                                      <p:cBhvr>
                                        <p:cTn id="79" dur="600"/>
                                        <p:tgtEl>
                                          <p:spTgt spid="22"/>
                                        </p:tgtEl>
                                      </p:cBhvr>
                                    </p:animEffect>
                                  </p:childTnLst>
                                </p:cTn>
                              </p:par>
                              <p:par>
                                <p:cTn id="80" presetID="42" presetClass="entr" presetSubtype="0" fill="hold" grpId="0" nodeType="withEffect">
                                  <p:stCondLst>
                                    <p:cond delay="1950"/>
                                  </p:stCondLst>
                                  <p:childTnLst>
                                    <p:set>
                                      <p:cBhvr>
                                        <p:cTn id="81" dur="1" fill="hold">
                                          <p:stCondLst>
                                            <p:cond delay="0"/>
                                          </p:stCondLst>
                                        </p:cTn>
                                        <p:tgtEl>
                                          <p:spTgt spid="23"/>
                                        </p:tgtEl>
                                        <p:attrNameLst>
                                          <p:attrName>style.visibility</p:attrName>
                                        </p:attrNameLst>
                                      </p:cBhvr>
                                      <p:to>
                                        <p:strVal val="visible"/>
                                      </p:to>
                                    </p:set>
                                    <p:anim calcmode="lin" valueType="num">
                                      <p:cBhvr additive="base">
                                        <p:cTn id="82" dur="600" fill="hold"/>
                                        <p:tgtEl>
                                          <p:spTgt spid="23"/>
                                        </p:tgtEl>
                                        <p:attrNameLst>
                                          <p:attrName>ppt_y</p:attrName>
                                        </p:attrNameLst>
                                      </p:cBhvr>
                                      <p:tavLst>
                                        <p:tav tm="0">
                                          <p:val>
                                            <p:strVal val="#ppt_y+.1"/>
                                          </p:val>
                                        </p:tav>
                                        <p:tav tm="100000">
                                          <p:val>
                                            <p:strVal val="#ppt_y"/>
                                          </p:val>
                                        </p:tav>
                                      </p:tavLst>
                                    </p:anim>
                                    <p:animEffect transition="in" filter="fade">
                                      <p:cBhvr>
                                        <p:cTn id="83" dur="600"/>
                                        <p:tgtEl>
                                          <p:spTgt spid="23"/>
                                        </p:tgtEl>
                                      </p:cBhvr>
                                    </p:animEffect>
                                  </p:childTnLst>
                                </p:cTn>
                              </p:par>
                              <p:par>
                                <p:cTn id="84" presetID="42" presetClass="entr" presetSubtype="0" fill="hold" grpId="0" nodeType="withEffect">
                                  <p:stCondLst>
                                    <p:cond delay="1950"/>
                                  </p:stCondLst>
                                  <p:childTnLst>
                                    <p:set>
                                      <p:cBhvr>
                                        <p:cTn id="85" dur="1" fill="hold">
                                          <p:stCondLst>
                                            <p:cond delay="0"/>
                                          </p:stCondLst>
                                        </p:cTn>
                                        <p:tgtEl>
                                          <p:spTgt spid="24"/>
                                        </p:tgtEl>
                                        <p:attrNameLst>
                                          <p:attrName>style.visibility</p:attrName>
                                        </p:attrNameLst>
                                      </p:cBhvr>
                                      <p:to>
                                        <p:strVal val="visible"/>
                                      </p:to>
                                    </p:set>
                                    <p:anim calcmode="lin" valueType="num">
                                      <p:cBhvr additive="base">
                                        <p:cTn id="86" dur="600" fill="hold"/>
                                        <p:tgtEl>
                                          <p:spTgt spid="24"/>
                                        </p:tgtEl>
                                        <p:attrNameLst>
                                          <p:attrName>ppt_y</p:attrName>
                                        </p:attrNameLst>
                                      </p:cBhvr>
                                      <p:tavLst>
                                        <p:tav tm="0">
                                          <p:val>
                                            <p:strVal val="#ppt_y+.1"/>
                                          </p:val>
                                        </p:tav>
                                        <p:tav tm="100000">
                                          <p:val>
                                            <p:strVal val="#ppt_y"/>
                                          </p:val>
                                        </p:tav>
                                      </p:tavLst>
                                    </p:anim>
                                    <p:animEffect transition="in" filter="fade">
                                      <p:cBhvr>
                                        <p:cTn id="87" dur="600"/>
                                        <p:tgtEl>
                                          <p:spTgt spid="24"/>
                                        </p:tgtEl>
                                      </p:cBhvr>
                                    </p:animEffect>
                                  </p:childTnLst>
                                </p:cTn>
                              </p:par>
                              <p:par>
                                <p:cTn id="88" presetID="42" presetClass="entr" presetSubtype="0" fill="hold" grpId="0" nodeType="withEffect">
                                  <p:stCondLst>
                                    <p:cond delay="1950"/>
                                  </p:stCondLst>
                                  <p:childTnLst>
                                    <p:set>
                                      <p:cBhvr>
                                        <p:cTn id="89" dur="1" fill="hold">
                                          <p:stCondLst>
                                            <p:cond delay="0"/>
                                          </p:stCondLst>
                                        </p:cTn>
                                        <p:tgtEl>
                                          <p:spTgt spid="25"/>
                                        </p:tgtEl>
                                        <p:attrNameLst>
                                          <p:attrName>style.visibility</p:attrName>
                                        </p:attrNameLst>
                                      </p:cBhvr>
                                      <p:to>
                                        <p:strVal val="visible"/>
                                      </p:to>
                                    </p:set>
                                    <p:anim calcmode="lin" valueType="num">
                                      <p:cBhvr additive="base">
                                        <p:cTn id="90" dur="600" fill="hold"/>
                                        <p:tgtEl>
                                          <p:spTgt spid="25"/>
                                        </p:tgtEl>
                                        <p:attrNameLst>
                                          <p:attrName>ppt_y</p:attrName>
                                        </p:attrNameLst>
                                      </p:cBhvr>
                                      <p:tavLst>
                                        <p:tav tm="0">
                                          <p:val>
                                            <p:strVal val="#ppt_y+.1"/>
                                          </p:val>
                                        </p:tav>
                                        <p:tav tm="100000">
                                          <p:val>
                                            <p:strVal val="#ppt_y"/>
                                          </p:val>
                                        </p:tav>
                                      </p:tavLst>
                                    </p:anim>
                                    <p:animEffect transition="in" filter="fade">
                                      <p:cBhvr>
                                        <p:cTn id="91" dur="600"/>
                                        <p:tgtEl>
                                          <p:spTgt spid="25"/>
                                        </p:tgtEl>
                                      </p:cBhvr>
                                    </p:animEffect>
                                  </p:childTnLst>
                                </p:cTn>
                              </p:par>
                              <p:par>
                                <p:cTn id="92" presetID="42" presetClass="entr" presetSubtype="0" fill="hold" grpId="0" nodeType="withEffect">
                                  <p:stCondLst>
                                    <p:cond delay="1950"/>
                                  </p:stCondLst>
                                  <p:childTnLst>
                                    <p:set>
                                      <p:cBhvr>
                                        <p:cTn id="93" dur="1" fill="hold">
                                          <p:stCondLst>
                                            <p:cond delay="0"/>
                                          </p:stCondLst>
                                        </p:cTn>
                                        <p:tgtEl>
                                          <p:spTgt spid="26"/>
                                        </p:tgtEl>
                                        <p:attrNameLst>
                                          <p:attrName>style.visibility</p:attrName>
                                        </p:attrNameLst>
                                      </p:cBhvr>
                                      <p:to>
                                        <p:strVal val="visible"/>
                                      </p:to>
                                    </p:set>
                                    <p:anim calcmode="lin" valueType="num">
                                      <p:cBhvr additive="base">
                                        <p:cTn id="94" dur="600" fill="hold"/>
                                        <p:tgtEl>
                                          <p:spTgt spid="26"/>
                                        </p:tgtEl>
                                        <p:attrNameLst>
                                          <p:attrName>ppt_y</p:attrName>
                                        </p:attrNameLst>
                                      </p:cBhvr>
                                      <p:tavLst>
                                        <p:tav tm="0">
                                          <p:val>
                                            <p:strVal val="#ppt_y+.1"/>
                                          </p:val>
                                        </p:tav>
                                        <p:tav tm="100000">
                                          <p:val>
                                            <p:strVal val="#ppt_y"/>
                                          </p:val>
                                        </p:tav>
                                      </p:tavLst>
                                    </p:anim>
                                    <p:animEffect transition="in" filter="fade">
                                      <p:cBhvr>
                                        <p:cTn id="95" dur="600"/>
                                        <p:tgtEl>
                                          <p:spTgt spid="26"/>
                                        </p:tgtEl>
                                      </p:cBhvr>
                                    </p:animEffect>
                                  </p:childTnLst>
                                </p:cTn>
                              </p:par>
                              <p:par>
                                <p:cTn id="96" presetID="22" presetClass="entr" presetSubtype="8" fill="hold" grpId="0" nodeType="withEffect">
                                  <p:stCondLst>
                                    <p:cond delay="600"/>
                                  </p:stCondLst>
                                  <p:childTnLst>
                                    <p:set>
                                      <p:cBhvr>
                                        <p:cTn id="97" dur="1" fill="hold">
                                          <p:stCondLst>
                                            <p:cond delay="0"/>
                                          </p:stCondLst>
                                        </p:cTn>
                                        <p:tgtEl>
                                          <p:spTgt spid="34"/>
                                        </p:tgtEl>
                                        <p:attrNameLst>
                                          <p:attrName>style.visibility</p:attrName>
                                        </p:attrNameLst>
                                      </p:cBhvr>
                                      <p:to>
                                        <p:strVal val="visible"/>
                                      </p:to>
                                    </p:set>
                                    <p:animEffect transition="in" filter="wipe(left)">
                                      <p:cBhvr>
                                        <p:cTn id="98" dur="1100"/>
                                        <p:tgtEl>
                                          <p:spTgt spid="34"/>
                                        </p:tgtEl>
                                      </p:cBhvr>
                                    </p:animEffect>
                                  </p:childTnLst>
                                </p:cTn>
                              </p:par>
                              <p:par>
                                <p:cTn id="100" presetID="0" presetClass="path" presetSubtype="0" fill="hold" accel="30000" decel="30000" nodeType="withEffect">
                                  <p:stCondLst>
                                    <p:cond delay="600"/>
                                  </p:stCondLst>
                                  <p:childTnLst>
                                    <p:animMotion origin="layout" path="M 0 0 L 0.02017 0 E" pathEditMode="relative" rAng="0" ptsTypes="AA">
                                      <p:cBhvr>
                                        <p:cTn id="99" dur="1100" fill="hold"/>
                                        <p:tgtEl>
                                          <p:spTgt spid="35"/>
                                        </p:tgtEl>
                                        <p:attrNameLst>
                                          <p:attrName>ppt_x</p:attrName>
                                          <p:attrName>ppt_y</p:attrName>
                                        </p:attrNameLst>
                                      </p:cBhvr>
                                      <p:rCtr x="0.01009"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build="p"/>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3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3" name="runway"/>
          <p:cNvSpPr/>
          <p:nvPr/>
        </p:nvSpPr>
        <p:spPr>
          <a:xfrm>
            <a:off x="0" y="6035040"/>
            <a:ext cx="12191695" cy="822960"/>
          </a:xfrm>
          <a:prstGeom prst="rect">
            <a:avLst/>
          </a:prstGeom>
          <a:solidFill>
            <a:schemeClr val="tx1">
              <a:alpha val="65000"/>
            </a:schemeClr>
          </a:solidFill>
          <a:ln/>
        </p:spPr>
      </p:sp>
      <p:sp>
        <p:nvSpPr>
          <p:cNvPr id="4" name="runwaydash"/>
          <p:cNvSpPr/>
          <p:nvPr/>
        </p:nvSpPr>
        <p:spPr>
          <a:xfrm>
            <a:off x="365760" y="6400800"/>
            <a:ext cx="11430000" cy="0"/>
          </a:xfrm>
          <a:prstGeom prst="line">
            <a:avLst/>
          </a:prstGeom>
          <a:noFill/>
          <a:ln w="25400">
            <a:solidFill>
              <a:schemeClr val="bg1">
                <a:alpha val="60000"/>
              </a:schemeClr>
            </a:solidFill>
            <a:prstDash val="dash"/>
          </a:ln>
        </p:spPr>
      </p:sp>
      <p:pic>
        <p:nvPicPr>
          <p:cNvPr id="5" name="cloud1" descr="Cloud">    </p:cNvPr>
          <p:cNvPicPr>
            <a:picLocks noChangeAspect="1"/>
          </p:cNvPicPr>
          <p:nvPr/>
        </p:nvPicPr>
        <p:blipFill>
          <a:blip r:embed="rId1"/>
          <a:stretch>
            <a:fillRect/>
          </a:stretch>
        </p:blipFill>
        <p:spPr>
          <a:xfrm>
            <a:off x="-548640" y="4663440"/>
            <a:ext cx="5486400" cy="2304288"/>
          </a:xfrm>
          <a:prstGeom prst="rect">
            <a:avLst/>
          </a:prstGeom>
        </p:spPr>
      </p:pic>
      <p:pic>
        <p:nvPicPr>
          <p:cNvPr id="6" name="cloud2" descr="Cloud">    </p:cNvPr>
          <p:cNvPicPr>
            <a:picLocks noChangeAspect="1"/>
          </p:cNvPicPr>
          <p:nvPr/>
        </p:nvPicPr>
        <p:blipFill>
          <a:blip r:embed="rId2"/>
          <a:stretch>
            <a:fillRect/>
          </a:stretch>
        </p:blipFill>
        <p:spPr>
          <a:xfrm>
            <a:off x="7680960" y="4023360"/>
            <a:ext cx="5852160" cy="2457907"/>
          </a:xfrm>
          <a:prstGeom prst="rect">
            <a:avLst/>
          </a:prstGeom>
        </p:spPr>
      </p:pic>
      <p:pic>
        <p:nvPicPr>
          <p:cNvPr id="7" name="trail3" descr="Dashed flight route">    </p:cNvPr>
          <p:cNvPicPr>
            <a:picLocks noChangeAspect="1"/>
          </p:cNvPicPr>
          <p:nvPr/>
        </p:nvPicPr>
        <p:blipFill>
          <a:blip r:embed="rId3"/>
          <a:stretch>
            <a:fillRect/>
          </a:stretch>
        </p:blipFill>
        <p:spPr>
          <a:xfrm>
            <a:off x="0" y="667171"/>
            <a:ext cx="10607040" cy="5276429"/>
          </a:xfrm>
          <a:prstGeom prst="rect">
            <a:avLst/>
          </a:prstGeom>
        </p:spPr>
      </p:pic>
      <p:pic>
        <p:nvPicPr>
          <p:cNvPr id="8" name="!!plane" descr="Airplane">    </p:cNvPr>
          <p:cNvPicPr>
            <a:picLocks noChangeAspect="1"/>
          </p:cNvPicPr>
          <p:nvPr/>
        </p:nvPicPr>
        <p:blipFill>
          <a:blip r:embed="rId4"/>
          <a:stretch>
            <a:fillRect/>
          </a:stretch>
        </p:blipFill>
        <p:spPr>
          <a:xfrm rot="143157">
            <a:off x="-2194560" y="-10287"/>
            <a:ext cx="1463040" cy="1300734"/>
          </a:xfrm>
          <a:prstGeom prst="rect">
            <a:avLst/>
          </a:prstGeom>
        </p:spPr>
      </p:pic>
      <p:sp>
        <p:nvSpPr>
          <p:cNvPr id="9" name="hero"/>
          <p:cNvSpPr txBox="1"/>
          <p:nvPr/>
        </p:nvSpPr>
        <p:spPr>
          <a:xfrm>
            <a:off x="822960" y="1554480"/>
            <a:ext cx="8229600" cy="1554480"/>
          </a:xfrm>
          <a:prstGeom prst="rect">
            <a:avLst/>
          </a:prstGeom>
          <a:noFill/>
          <a:ln/>
        </p:spPr>
        <p:txBody>
          <a:bodyPr wrap="square" lIns="0" tIns="0" rIns="0" bIns="0" rtlCol="0" anchor="ctr"/>
          <a:lstStyle/>
          <a:p>
            <a:pPr algn="l" indent="0" marL="0">
              <a:buNone/>
            </a:pPr>
            <a:r>
              <a:rPr lang="en-US" sz="9000" b="1" dirty="0">
                <a:solidFill>
                  <a:schemeClr val="bg1"/>
                </a:solidFill>
                <a:latin typeface="+mj-lt" pitchFamily="34" charset="0"/>
                <a:ea typeface="+mj-lt" pitchFamily="34" charset="-122"/>
                <a:cs typeface="+mj-lt" pitchFamily="34" charset="-120"/>
              </a:rPr>
              <a:t>Thank you</a:t>
            </a:r>
            <a:endParaRPr lang="en-US" sz="9000" dirty="0"/>
          </a:p>
        </p:txBody>
      </p:sp>
      <p:sp>
        <p:nvSpPr>
          <p:cNvPr id="10" name="sub"/>
          <p:cNvSpPr txBox="1"/>
          <p:nvPr/>
        </p:nvSpPr>
        <p:spPr>
          <a:xfrm>
            <a:off x="868680" y="3154680"/>
            <a:ext cx="7315200" cy="640080"/>
          </a:xfrm>
          <a:prstGeom prst="rect">
            <a:avLst/>
          </a:prstGeom>
          <a:noFill/>
          <a:ln/>
        </p:spPr>
        <p:txBody>
          <a:bodyPr wrap="square" lIns="0" tIns="0" rIns="0" bIns="0" rtlCol="0" anchor="t"/>
          <a:lstStyle/>
          <a:p>
            <a:pPr algn="l" indent="0" marL="0">
              <a:buNone/>
            </a:pPr>
            <a:r>
              <a:rPr lang="en-US" sz="3000" dirty="0">
                <a:solidFill>
                  <a:schemeClr val="bg1"/>
                </a:solidFill>
              </a:rPr>
              <a:t>Questions and discussion</a:t>
            </a:r>
            <a:endParaRPr lang="en-US" sz="3000" dirty="0"/>
          </a:p>
        </p:txBody>
      </p:sp>
      <p:sp>
        <p:nvSpPr>
          <p:cNvPr id="11" name="tag"/>
          <p:cNvSpPr txBox="1"/>
          <p:nvPr/>
        </p:nvSpPr>
        <p:spPr>
          <a:xfrm>
            <a:off x="868680" y="3931920"/>
            <a:ext cx="7315200" cy="320040"/>
          </a:xfrm>
          <a:prstGeom prst="rect">
            <a:avLst/>
          </a:prstGeom>
          <a:noFill/>
          <a:ln/>
        </p:spPr>
        <p:txBody>
          <a:bodyPr wrap="square" lIns="0" tIns="0" rIns="0" bIns="0" rtlCol="0" anchor="t"/>
          <a:lstStyle/>
          <a:p>
            <a:pPr algn="l" indent="0" marL="0">
              <a:buNone/>
            </a:pPr>
            <a:r>
              <a:rPr lang="en-US" sz="1500" b="1" spc="400" kern="0" dirty="0">
                <a:solidFill>
                  <a:schemeClr val="accent2"/>
                </a:solidFill>
              </a:rPr>
              <a:t>SKYLENS  ·  FLIGHT AND AIRPORT ANALYTICS</a:t>
            </a:r>
            <a:endParaRPr lang="en-US" sz="1500" dirty="0"/>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6" presetID="0" presetClass="path" presetSubtype="0" fill="hold" nodeType="withEffect">
                                  <p:stCondLst>
                                    <p:cond delay="0"/>
                                  </p:stCondLst>
                                  <p:childTnLst>
                                    <p:animMotion origin="layout" path="M 0 0 L 0.075 0 E" pathEditMode="relative" rAng="0" ptsTypes="AA">
                                      <p:cBhvr>
                                        <p:cTn id="5" dur="16000" fill="hold"/>
                                        <p:tgtEl>
                                          <p:spTgt spid="5"/>
                                        </p:tgtEl>
                                        <p:attrNameLst>
                                          <p:attrName>ppt_x</p:attrName>
                                          <p:attrName>ppt_y</p:attrName>
                                        </p:attrNameLst>
                                      </p:cBhvr>
                                      <p:rCtr x="0.0375" y="0"/>
                                    </p:animMotion>
                                  </p:childTnLst>
                                </p:cTn>
                              </p:par>
                              <p:par>
                                <p:cTn id="8" presetID="0" presetClass="path" presetSubtype="0" fill="hold" nodeType="withEffect">
                                  <p:stCondLst>
                                    <p:cond delay="0"/>
                                  </p:stCondLst>
                                  <p:childTnLst>
                                    <p:animMotion origin="layout" path="M 0 0 L -0.075 0 E" pathEditMode="relative" rAng="0" ptsTypes="AA">
                                      <p:cBhvr>
                                        <p:cTn id="7" dur="18000" fill="hold"/>
                                        <p:tgtEl>
                                          <p:spTgt spid="6"/>
                                        </p:tgtEl>
                                        <p:attrNameLst>
                                          <p:attrName>ppt_x</p:attrName>
                                          <p:attrName>ppt_y</p:attrName>
                                        </p:attrNameLst>
                                      </p:cBhvr>
                                      <p:rCtr x="-0.0375" y="0"/>
                                    </p:animMotion>
                                  </p:childTnLst>
                                </p:cTn>
                              </p:par>
                              <p:par>
                                <p:cTn id="9" presetID="22" presetClass="entr" presetSubtype="8" fill="hold" accel="10000" decel="60000" nodeType="withEffect">
                                  <p:stCondLst>
                                    <p:cond delay="1395"/>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425"/>
                                        <p:tgtEl>
                                          <p:spTgt spid="7"/>
                                        </p:tgtEl>
                                      </p:cBhvr>
                                    </p:animEffect>
                                  </p:childTnLst>
                                </p:cTn>
                              </p:par>
                              <p:par>
                                <p:cTn id="13" presetID="0" presetClass="path" presetSubtype="0" fill="hold" accel="10000" decel="60000" nodeType="withEffect">
                                  <p:stCondLst>
                                    <p:cond delay="600"/>
                                  </p:stCondLst>
                                  <p:childTnLst>
                                    <p:animMotion origin="layout" path="M 0 0 C 0.36001 0.02667 0.68252 0.66667 0.97502 0.74667 E" pathEditMode="relative" rAng="0" ptsTypes="AAAA">
                                      <p:cBhvr>
                                        <p:cTn id="12" dur="6000" fill="hold"/>
                                        <p:tgtEl>
                                          <p:spTgt spid="8"/>
                                        </p:tgtEl>
                                        <p:attrNameLst>
                                          <p:attrName>ppt_x</p:attrName>
                                          <p:attrName>ppt_y</p:attrName>
                                        </p:attrNameLst>
                                      </p:cBhvr>
                                      <p:rCtr x="0.48751" y="0.37333"/>
                                    </p:animMotion>
                                  </p:childTnLst>
                                </p:cTn>
                              </p:par>
                              <p:par>
                                <p:cTn id="15" presetID="8" presetClass="emph" presetSubtype="0" fill="hold" nodeType="withEffect">
                                  <p:stCondLst>
                                    <p:cond delay="600"/>
                                  </p:stCondLst>
                                  <p:childTnLst>
                                    <p:animRot by="925200">
                                      <p:cBhvr>
                                        <p:cTn id="14" dur="1000" fill="hold"/>
                                        <p:tgtEl>
                                          <p:spTgt spid="8"/>
                                        </p:tgtEl>
                                        <p:attrNameLst>
                                          <p:attrName>r</p:attrName>
                                        </p:attrNameLst>
                                      </p:cBhvr>
                                    </p:animRot>
                                  </p:childTnLst>
                                </p:cTn>
                              </p:par>
                              <p:par>
                                <p:cTn id="17" presetID="8" presetClass="emph" presetSubtype="0" fill="hold" nodeType="withEffect">
                                  <p:stCondLst>
                                    <p:cond delay="1600"/>
                                  </p:stCondLst>
                                  <p:childTnLst>
                                    <p:animRot by="556200">
                                      <p:cBhvr>
                                        <p:cTn id="16" dur="1000" fill="hold"/>
                                        <p:tgtEl>
                                          <p:spTgt spid="8"/>
                                        </p:tgtEl>
                                        <p:attrNameLst>
                                          <p:attrName>r</p:attrName>
                                        </p:attrNameLst>
                                      </p:cBhvr>
                                    </p:animRot>
                                  </p:childTnLst>
                                </p:cTn>
                              </p:par>
                              <p:par>
                                <p:cTn id="19" presetID="8" presetClass="emph" presetSubtype="0" fill="hold" nodeType="withEffect">
                                  <p:stCondLst>
                                    <p:cond delay="2600"/>
                                  </p:stCondLst>
                                  <p:childTnLst>
                                    <p:animRot by="236400">
                                      <p:cBhvr>
                                        <p:cTn id="18" dur="1000" fill="hold"/>
                                        <p:tgtEl>
                                          <p:spTgt spid="8"/>
                                        </p:tgtEl>
                                        <p:attrNameLst>
                                          <p:attrName>r</p:attrName>
                                        </p:attrNameLst>
                                      </p:cBhvr>
                                    </p:animRot>
                                  </p:childTnLst>
                                </p:cTn>
                              </p:par>
                              <p:par>
                                <p:cTn id="21" presetID="8" presetClass="emph" presetSubtype="0" fill="hold" nodeType="withEffect">
                                  <p:stCondLst>
                                    <p:cond delay="3600"/>
                                  </p:stCondLst>
                                  <p:childTnLst>
                                    <p:animRot by="-54600">
                                      <p:cBhvr>
                                        <p:cTn id="20" dur="1000" fill="hold"/>
                                        <p:tgtEl>
                                          <p:spTgt spid="8"/>
                                        </p:tgtEl>
                                        <p:attrNameLst>
                                          <p:attrName>r</p:attrName>
                                        </p:attrNameLst>
                                      </p:cBhvr>
                                    </p:animRot>
                                  </p:childTnLst>
                                </p:cTn>
                              </p:par>
                              <p:par>
                                <p:cTn id="23" presetID="8" presetClass="emph" presetSubtype="0" fill="hold" nodeType="withEffect">
                                  <p:stCondLst>
                                    <p:cond delay="4600"/>
                                  </p:stCondLst>
                                  <p:childTnLst>
                                    <p:animRot by="-396000">
                                      <p:cBhvr>
                                        <p:cTn id="22" dur="1000" fill="hold"/>
                                        <p:tgtEl>
                                          <p:spTgt spid="8"/>
                                        </p:tgtEl>
                                        <p:attrNameLst>
                                          <p:attrName>r</p:attrName>
                                        </p:attrNameLst>
                                      </p:cBhvr>
                                    </p:animRot>
                                  </p:childTnLst>
                                </p:cTn>
                              </p:par>
                              <p:par>
                                <p:cTn id="25" presetID="8" presetClass="emph" presetSubtype="0" fill="hold" nodeType="withEffect">
                                  <p:stCondLst>
                                    <p:cond delay="5600"/>
                                  </p:stCondLst>
                                  <p:childTnLst>
                                    <p:animRot by="-885600">
                                      <p:cBhvr>
                                        <p:cTn id="24" dur="1000" fill="hold"/>
                                        <p:tgtEl>
                                          <p:spTgt spid="8"/>
                                        </p:tgtEl>
                                        <p:attrNameLst>
                                          <p:attrName>r</p:attrName>
                                        </p:attrNameLst>
                                      </p:cBhvr>
                                    </p:animRot>
                                  </p:childTnLst>
                                </p:cTn>
                              </p:par>
                              <p:par>
                                <p:cTn id="27" presetID="6" presetClass="emph" presetSubtype="0" fill="hold" accel="10000" decel="60000" nodeType="withEffect">
                                  <p:stCondLst>
                                    <p:cond delay="600"/>
                                  </p:stCondLst>
                                  <p:childTnLst>
                                    <p:animScale>
                                      <p:cBhvr>
                                        <p:cTn id="26" dur="6000" fill="hold"/>
                                        <p:tgtEl>
                                          <p:spTgt spid="8"/>
                                        </p:tgtEl>
                                      </p:cBhvr>
                                      <p:by x="75000" y="75000"/>
                                    </p:animScale>
                                  </p:childTnLst>
                                </p:cTn>
                              </p:par>
                              <p:par>
                                <p:cTn id="28" presetID="42" presetClass="entr" presetSubtype="0" fill="hold" grpId="0" nodeType="withEffect">
                                  <p:stCondLst>
                                    <p:cond delay="400"/>
                                  </p:stCondLst>
                                  <p:iterate type="wd">
                                    <p:tmPct val="10000"/>
                                  </p:iterate>
                                  <p:childTnLst>
                                    <p:set>
                                      <p:cBhvr>
                                        <p:cTn id="29" dur="1" fill="hold">
                                          <p:stCondLst>
                                            <p:cond delay="0"/>
                                          </p:stCondLst>
                                        </p:cTn>
                                        <p:tgtEl>
                                          <p:spTgt spid="9">
                                            <p:txEl>
                                              <p:pRg st="0" end="0"/>
                                            </p:txEl>
                                          </p:spTgt>
                                        </p:tgtEl>
                                        <p:attrNameLst>
                                          <p:attrName>style.visibility</p:attrName>
                                        </p:attrNameLst>
                                      </p:cBhvr>
                                      <p:to>
                                        <p:strVal val="visible"/>
                                      </p:to>
                                    </p:set>
                                    <p:anim calcmode="lin" valueType="num">
                                      <p:cBhvr additive="base">
                                        <p:cTn id="30" dur="800" fill="hold"/>
                                        <p:tgtEl>
                                          <p:spTgt spid="9">
                                            <p:txEl>
                                              <p:pRg st="0" end="0"/>
                                            </p:txEl>
                                          </p:spTgt>
                                        </p:tgtEl>
                                        <p:attrNameLst>
                                          <p:attrName>ppt_y</p:attrName>
                                        </p:attrNameLst>
                                      </p:cBhvr>
                                      <p:tavLst>
                                        <p:tav tm="0">
                                          <p:val>
                                            <p:strVal val="#ppt_y+.1"/>
                                          </p:val>
                                        </p:tav>
                                        <p:tav tm="100000">
                                          <p:val>
                                            <p:strVal val="#ppt_y"/>
                                          </p:val>
                                        </p:tav>
                                      </p:tavLst>
                                    </p:anim>
                                    <p:animEffect transition="in" filter="fade">
                                      <p:cBhvr>
                                        <p:cTn id="31" dur="800"/>
                                        <p:tgtEl>
                                          <p:spTgt spid="9">
                                            <p:txEl>
                                              <p:pRg st="0" end="0"/>
                                            </p:txEl>
                                          </p:spTgt>
                                        </p:tgtEl>
                                      </p:cBhvr>
                                    </p:animEffect>
                                  </p:childTnLst>
                                </p:cTn>
                              </p:par>
                              <p:par>
                                <p:cTn id="32" presetID="22" presetClass="entr" presetSubtype="8" fill="hold" grpId="0" nodeType="withEffect">
                                  <p:stCondLst>
                                    <p:cond delay="160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900"/>
                                        <p:tgtEl>
                                          <p:spTgt spid="10"/>
                                        </p:tgtEl>
                                      </p:cBhvr>
                                    </p:animEffect>
                                  </p:childTnLst>
                                </p:cTn>
                              </p:par>
                              <p:par>
                                <p:cTn id="35" presetID="10" presetClass="entr" presetSubtype="0" fill="hold" grpId="0" nodeType="withEffect">
                                  <p:stCondLst>
                                    <p:cond delay="2600"/>
                                  </p:stCondLst>
                                  <p:childTnLst>
                                    <p:set>
                                      <p:cBhvr>
                                        <p:cTn id="36" dur="1" fill="hold">
                                          <p:stCondLst>
                                            <p:cond delay="0"/>
                                          </p:stCondLst>
                                        </p:cTn>
                                        <p:tgtEl>
                                          <p:spTgt spid="11"/>
                                        </p:tgtEl>
                                        <p:attrNameLst>
                                          <p:attrName>style.visibility</p:attrName>
                                        </p:attrNameLst>
                                      </p:cBhvr>
                                      <p:to>
                                        <p:strVal val="visible"/>
                                      </p:to>
                                    </p:set>
                                    <p:animEffect transition="in" filter="fade">
                                      <p:cBhvr>
                                        <p:cTn id="37" dur="8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P spid="10" grpId="0" animBg="1"/>
      <p:bldP spid="11" grpId="0" animBg="1"/>
    </p:bldLst>
  </p:timing>
</p:sld>
</file>

<file path=ppt/theme/theme1.xml><?xml version="1.0" encoding="utf-8"?>
<a:theme xmlns:a="http://schemas.openxmlformats.org/drawingml/2006/main" name="SkyLens Night Flight">
  <a:themeElements>
    <a:clrScheme name="SkyLens Night Flight">
      <a:dk1>
        <a:srgbClr val="060F24"/>
      </a:dk1>
      <a:lt1>
        <a:srgbClr val="F1F5FA"/>
      </a:lt1>
      <a:dk2>
        <a:srgbClr val="0B2545"/>
      </a:dk2>
      <a:lt2>
        <a:srgbClr val="AEBBD0"/>
      </a:lt2>
      <a:accent1>
        <a:srgbClr val="4C8DFF"/>
      </a:accent1>
      <a:accent2>
        <a:srgbClr val="2DD4BF"/>
      </a:accent2>
      <a:accent3>
        <a:srgbClr val="F5B544"/>
      </a:accent3>
      <a:accent4>
        <a:srgbClr val="9B8CFF"/>
      </a:accent4>
      <a:accent5>
        <a:srgbClr val="F87171"/>
      </a:accent5>
      <a:accent6>
        <a:srgbClr val="34D399"/>
      </a:accent6>
      <a:hlink>
        <a:srgbClr val="4C8DFF"/>
      </a:hlink>
      <a:folHlink>
        <a:srgbClr val="9B8CFF"/>
      </a:folHlink>
    </a:clrScheme>
    <a:fontScheme name="SkyLens Night Flig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SkyLens - Flight and Airport Analytics</dc:title>
  <dc:subject>Project presentation</dc:subject>
  <dc:creator>PptxGenJS</dc:creator>
  <cp:lastModifiedBy>PptxGenJS</cp:lastModifiedBy>
  <cp:revision>1</cp:revision>
  <dcterms:created xsi:type="dcterms:W3CDTF">2026-10-13T11:25:59Z</dcterms:created>
  <dcterms:modified xsi:type="dcterms:W3CDTF">2026-10-13T11:25:59Z</dcterms:modified>
</cp:coreProperties>
</file>